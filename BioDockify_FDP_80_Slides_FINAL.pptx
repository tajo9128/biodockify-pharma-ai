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theme" Target="theme/theme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61" Type="http://schemas.openxmlformats.org/officeDocument/2006/relationships/slide" Target="slides/slide60.xml"/><Relationship Id="rId8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iodockify_fdp_2026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biodockify_fdp_2026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31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0" y="0"/>
            <a:ext cx="12192000" cy="533400"/>
            <a:chOff x="0" y="0"/>
            <a:chExt cx="12192000" cy="5334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533400"/>
            </a:xfrm>
            <a:prstGeom prst="rect">
              <a:avLst/>
            </a:prstGeom>
            <a:solidFill>
              <a:srgbClr val="0D0F24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" name="Ellipse 3"/>
            <p:cNvSpPr/>
            <p:nvPr/>
          </p:nvSpPr>
          <p:spPr>
            <a:xfrm>
              <a:off x="171450" y="95250"/>
              <a:ext cx="342900" cy="342900"/>
            </a:xfrm>
            <a:prstGeom prst="ellipse">
              <a:avLst/>
            </a:prstGeom>
            <a:solidFill>
              <a:schemeClr val="accent1">
                <a:alpha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240630" y="178118"/>
              <a:ext cx="2045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🧬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82168" y="136208"/>
              <a:ext cx="119586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Bio</a:t>
              </a:r>
              <a:r>
                <a:rPr lang="en" sz="16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Dockify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900047" y="209074"/>
              <a:ext cx="348653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dirty="0">
                  <a:solidFill>
                    <a:srgbClr val="7A85A8"/>
                  </a:solidFill>
                  <a:latin typeface="+mn-lt"/>
                  <a:ea typeface="+mn-ea"/>
                  <a:cs typeface="+mn-cs"/>
                </a:rPr>
                <a:t>AI Operating System for Pharmaceutical Research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0" y="514350"/>
              <a:ext cx="12192000" cy="19050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8191500" y="5905500"/>
            <a:ext cx="3619500" cy="514350"/>
            <a:chOff x="8191500" y="5905500"/>
            <a:chExt cx="3619500" cy="514350"/>
          </a:xfrm>
        </p:grpSpPr>
        <p:sp>
          <p:nvSpPr>
            <p:cNvPr id="9" name="Rectangle 9"/>
            <p:cNvSpPr/>
            <p:nvPr/>
          </p:nvSpPr>
          <p:spPr>
            <a:xfrm>
              <a:off x="8191500" y="5905500"/>
              <a:ext cx="3619500" cy="514350"/>
            </a:xfrm>
            <a:prstGeom prst="roundRect">
              <a:avLst>
                <a:gd name="adj" fmla="val 22222"/>
              </a:avLst>
            </a:prstGeom>
            <a:solidFill>
              <a:schemeClr val="accent1">
                <a:alpha val="12000"/>
              </a:schemeClr>
            </a:solidFill>
            <a:ln w="14288">
              <a:solidFill>
                <a:schemeClr val="accent1">
                  <a:alpha val="12000"/>
                </a:schemeClr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654326" y="6000274"/>
              <a:ext cx="26938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98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🚀 Join Faculty Beta Testing Programme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552075" y="6198870"/>
              <a:ext cx="289835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90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www.biodockify.com/beta — Free ₹2,500 credits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667875" y="1666875"/>
            <a:ext cx="1800225" cy="3524250"/>
            <a:chOff x="9667875" y="1666875"/>
            <a:chExt cx="1800225" cy="3524250"/>
          </a:xfrm>
        </p:grpSpPr>
        <p:sp>
          <p:nvSpPr>
            <p:cNvPr id="13" name="Ellipse 13"/>
            <p:cNvSpPr/>
            <p:nvPr/>
          </p:nvSpPr>
          <p:spPr>
            <a:xfrm>
              <a:off x="9944100" y="1847850"/>
              <a:ext cx="114300" cy="114300"/>
            </a:xfrm>
            <a:prstGeom prst="ellipse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Ellipse 14"/>
            <p:cNvSpPr/>
            <p:nvPr/>
          </p:nvSpPr>
          <p:spPr>
            <a:xfrm>
              <a:off x="10439400" y="2438400"/>
              <a:ext cx="76200" cy="76200"/>
            </a:xfrm>
            <a:prstGeom prst="ellipse">
              <a:avLst/>
            </a:prstGeom>
            <a:solidFill>
              <a:schemeClr val="accent2">
                <a:alpha val="4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Line 15"/>
            <p:cNvSpPr/>
            <p:nvPr/>
          </p:nvSpPr>
          <p:spPr>
            <a:xfrm>
              <a:off x="10001250" y="1905000"/>
              <a:ext cx="476250" cy="571500"/>
            </a:xfrm>
            <a:custGeom>
              <a:avLst/>
              <a:gdLst/>
              <a:ahLst/>
              <a:cxnLst/>
              <a:rect l="l" t="t" r="r" b="b"/>
              <a:pathLst>
                <a:path w="476250" h="571500">
                  <a:moveTo>
                    <a:pt x="0" y="0"/>
                  </a:moveTo>
                  <a:lnTo>
                    <a:pt x="476250" y="571500"/>
                  </a:lnTo>
                </a:path>
              </a:pathLst>
            </a:custGeom>
            <a:noFill/>
            <a:ln w="9525">
              <a:solidFill>
                <a:schemeClr val="accent1">
                  <a:alpha val="20000"/>
                </a:schemeClr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Ellipse 16"/>
            <p:cNvSpPr/>
            <p:nvPr/>
          </p:nvSpPr>
          <p:spPr>
            <a:xfrm>
              <a:off x="10906125" y="1666875"/>
              <a:ext cx="95250" cy="95250"/>
            </a:xfrm>
            <a:prstGeom prst="ellipse">
              <a:avLst/>
            </a:prstGeom>
            <a:solidFill>
              <a:schemeClr val="accent1">
                <a:alpha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Line 17"/>
            <p:cNvSpPr/>
            <p:nvPr/>
          </p:nvSpPr>
          <p:spPr>
            <a:xfrm>
              <a:off x="10477500" y="1714500"/>
              <a:ext cx="476250" cy="762000"/>
            </a:xfrm>
            <a:custGeom>
              <a:avLst/>
              <a:gdLst/>
              <a:ahLst/>
              <a:cxnLst/>
              <a:rect l="l" t="t" r="r" b="b"/>
              <a:pathLst>
                <a:path w="476250" h="762000">
                  <a:moveTo>
                    <a:pt x="0" y="762000"/>
                  </a:moveTo>
                  <a:lnTo>
                    <a:pt x="476250" y="0"/>
                  </a:lnTo>
                </a:path>
              </a:pathLst>
            </a:custGeom>
            <a:noFill/>
            <a:ln w="9525">
              <a:solidFill>
                <a:schemeClr val="accent2">
                  <a:alpha val="20000"/>
                </a:schemeClr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Ellipse 18"/>
            <p:cNvSpPr/>
            <p:nvPr/>
          </p:nvSpPr>
          <p:spPr>
            <a:xfrm>
              <a:off x="11172825" y="2981325"/>
              <a:ext cx="133350" cy="133350"/>
            </a:xfrm>
            <a:prstGeom prst="ellipse">
              <a:avLst/>
            </a:prstGeom>
            <a:solidFill>
              <a:schemeClr val="accent2">
                <a:alpha val="3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Line 19"/>
            <p:cNvSpPr/>
            <p:nvPr/>
          </p:nvSpPr>
          <p:spPr>
            <a:xfrm>
              <a:off x="10477500" y="2476500"/>
              <a:ext cx="762000" cy="571500"/>
            </a:xfrm>
            <a:custGeom>
              <a:avLst/>
              <a:gdLst/>
              <a:ahLst/>
              <a:cxnLst/>
              <a:rect l="l" t="t" r="r" b="b"/>
              <a:pathLst>
                <a:path w="762000" h="571500">
                  <a:moveTo>
                    <a:pt x="0" y="0"/>
                  </a:moveTo>
                  <a:lnTo>
                    <a:pt x="762000" y="571500"/>
                  </a:lnTo>
                </a:path>
              </a:pathLst>
            </a:custGeom>
            <a:noFill/>
            <a:ln w="9525">
              <a:solidFill>
                <a:schemeClr val="accent1">
                  <a:alpha val="15000"/>
                </a:schemeClr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Ellipse 20"/>
            <p:cNvSpPr/>
            <p:nvPr/>
          </p:nvSpPr>
          <p:spPr>
            <a:xfrm>
              <a:off x="9667875" y="3286125"/>
              <a:ext cx="95250" cy="95250"/>
            </a:xfrm>
            <a:prstGeom prst="ellipse">
              <a:avLst/>
            </a:prstGeom>
            <a:solidFill>
              <a:schemeClr val="accent1">
                <a:alpha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Line 21"/>
            <p:cNvSpPr/>
            <p:nvPr/>
          </p:nvSpPr>
          <p:spPr>
            <a:xfrm>
              <a:off x="9715500" y="1905000"/>
              <a:ext cx="285750" cy="1428750"/>
            </a:xfrm>
            <a:custGeom>
              <a:avLst/>
              <a:gdLst/>
              <a:ahLst/>
              <a:cxnLst/>
              <a:rect l="l" t="t" r="r" b="b"/>
              <a:pathLst>
                <a:path w="285750" h="1428750">
                  <a:moveTo>
                    <a:pt x="285750" y="0"/>
                  </a:moveTo>
                  <a:lnTo>
                    <a:pt x="0" y="1428750"/>
                  </a:lnTo>
                </a:path>
              </a:pathLst>
            </a:custGeom>
            <a:noFill/>
            <a:ln w="9525">
              <a:solidFill>
                <a:schemeClr val="accent2">
                  <a:alpha val="20000"/>
                </a:schemeClr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Ellipse 22"/>
            <p:cNvSpPr/>
            <p:nvPr/>
          </p:nvSpPr>
          <p:spPr>
            <a:xfrm>
              <a:off x="10610850" y="3752850"/>
              <a:ext cx="114300" cy="114300"/>
            </a:xfrm>
            <a:prstGeom prst="ellipse">
              <a:avLst/>
            </a:prstGeom>
            <a:solidFill>
              <a:schemeClr val="accent2">
                <a:alpha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Line 23"/>
            <p:cNvSpPr/>
            <p:nvPr/>
          </p:nvSpPr>
          <p:spPr>
            <a:xfrm>
              <a:off x="9715500" y="3333750"/>
              <a:ext cx="952500" cy="476250"/>
            </a:xfrm>
            <a:custGeom>
              <a:avLst/>
              <a:gdLst/>
              <a:ahLst/>
              <a:cxnLst/>
              <a:rect l="l" t="t" r="r" b="b"/>
              <a:pathLst>
                <a:path w="952500" h="476250">
                  <a:moveTo>
                    <a:pt x="0" y="0"/>
                  </a:moveTo>
                  <a:lnTo>
                    <a:pt x="952500" y="476250"/>
                  </a:lnTo>
                </a:path>
              </a:pathLst>
            </a:custGeom>
            <a:noFill/>
            <a:ln w="9525">
              <a:solidFill>
                <a:schemeClr val="accent1">
                  <a:alpha val="20000"/>
                </a:schemeClr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Line 24"/>
            <p:cNvSpPr/>
            <p:nvPr/>
          </p:nvSpPr>
          <p:spPr>
            <a:xfrm>
              <a:off x="10668000" y="3048000"/>
              <a:ext cx="571500" cy="762000"/>
            </a:xfrm>
            <a:custGeom>
              <a:avLst/>
              <a:gdLst/>
              <a:ahLst/>
              <a:cxnLst/>
              <a:rect l="l" t="t" r="r" b="b"/>
              <a:pathLst>
                <a:path w="571500" h="762000">
                  <a:moveTo>
                    <a:pt x="571500" y="0"/>
                  </a:moveTo>
                  <a:lnTo>
                    <a:pt x="0" y="762000"/>
                  </a:lnTo>
                </a:path>
              </a:pathLst>
            </a:custGeom>
            <a:noFill/>
            <a:ln w="9525">
              <a:solidFill>
                <a:schemeClr val="accent2">
                  <a:alpha val="15000"/>
                </a:schemeClr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Ellipse 25"/>
            <p:cNvSpPr/>
            <p:nvPr/>
          </p:nvSpPr>
          <p:spPr>
            <a:xfrm>
              <a:off x="11391900" y="4248150"/>
              <a:ext cx="76200" cy="76200"/>
            </a:xfrm>
            <a:prstGeom prst="ellipse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Line 26"/>
            <p:cNvSpPr/>
            <p:nvPr/>
          </p:nvSpPr>
          <p:spPr>
            <a:xfrm>
              <a:off x="10668000" y="3810000"/>
              <a:ext cx="762000" cy="476250"/>
            </a:xfrm>
            <a:custGeom>
              <a:avLst/>
              <a:gdLst/>
              <a:ahLst/>
              <a:cxnLst/>
              <a:rect l="l" t="t" r="r" b="b"/>
              <a:pathLst>
                <a:path w="762000" h="476250">
                  <a:moveTo>
                    <a:pt x="0" y="0"/>
                  </a:moveTo>
                  <a:lnTo>
                    <a:pt x="762000" y="476250"/>
                  </a:lnTo>
                </a:path>
              </a:pathLst>
            </a:custGeom>
            <a:noFill/>
            <a:ln w="9525">
              <a:solidFill>
                <a:schemeClr val="accent1">
                  <a:alpha val="20000"/>
                </a:schemeClr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Ellipse 27"/>
            <p:cNvSpPr/>
            <p:nvPr/>
          </p:nvSpPr>
          <p:spPr>
            <a:xfrm>
              <a:off x="10020300" y="4495800"/>
              <a:ext cx="152400" cy="152400"/>
            </a:xfrm>
            <a:prstGeom prst="ellipse">
              <a:avLst/>
            </a:prstGeom>
            <a:solidFill>
              <a:schemeClr val="accent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Line 28"/>
            <p:cNvSpPr/>
            <p:nvPr/>
          </p:nvSpPr>
          <p:spPr>
            <a:xfrm>
              <a:off x="10096500" y="3810000"/>
              <a:ext cx="571500" cy="762000"/>
            </a:xfrm>
            <a:custGeom>
              <a:avLst/>
              <a:gdLst/>
              <a:ahLst/>
              <a:cxnLst/>
              <a:rect l="l" t="t" r="r" b="b"/>
              <a:pathLst>
                <a:path w="571500" h="762000">
                  <a:moveTo>
                    <a:pt x="571500" y="0"/>
                  </a:moveTo>
                  <a:lnTo>
                    <a:pt x="0" y="762000"/>
                  </a:lnTo>
                </a:path>
              </a:pathLst>
            </a:custGeom>
            <a:noFill/>
            <a:ln w="9525">
              <a:solidFill>
                <a:schemeClr val="accent2">
                  <a:alpha val="15000"/>
                </a:schemeClr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9" name="Ellipse 29"/>
            <p:cNvSpPr/>
            <p:nvPr/>
          </p:nvSpPr>
          <p:spPr>
            <a:xfrm>
              <a:off x="11001375" y="5095875"/>
              <a:ext cx="95250" cy="95250"/>
            </a:xfrm>
            <a:prstGeom prst="ellipse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Line 30"/>
            <p:cNvSpPr/>
            <p:nvPr/>
          </p:nvSpPr>
          <p:spPr>
            <a:xfrm>
              <a:off x="10096500" y="4572000"/>
              <a:ext cx="952500" cy="571500"/>
            </a:xfrm>
            <a:custGeom>
              <a:avLst/>
              <a:gdLst/>
              <a:ahLst/>
              <a:cxnLst/>
              <a:rect l="l" t="t" r="r" b="b"/>
              <a:pathLst>
                <a:path w="952500" h="571500">
                  <a:moveTo>
                    <a:pt x="0" y="0"/>
                  </a:moveTo>
                  <a:lnTo>
                    <a:pt x="952500" y="571500"/>
                  </a:lnTo>
                </a:path>
              </a:pathLst>
            </a:custGeom>
            <a:noFill/>
            <a:ln w="9525">
              <a:solidFill>
                <a:schemeClr val="accent1">
                  <a:alpha val="20000"/>
                </a:schemeClr>
              </a:solidFill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40308" y="1277874"/>
            <a:ext cx="7135087" cy="4460177"/>
            <a:chOff x="940308" y="1277874"/>
            <a:chExt cx="7135087" cy="4460177"/>
          </a:xfrm>
        </p:grpSpPr>
        <p:sp>
          <p:nvSpPr>
            <p:cNvPr id="32" name="TextBox 32"/>
            <p:cNvSpPr txBox="1"/>
            <p:nvPr/>
          </p:nvSpPr>
          <p:spPr>
            <a:xfrm>
              <a:off x="1588905" y="1277874"/>
              <a:ext cx="65" cy="5539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endParaRPr lang="en" sz="3600" b="1" dirty="0">
                <a:solidFill>
                  <a:schemeClr val="dk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952500" y="2286000"/>
              <a:ext cx="26670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40308" y="2598420"/>
              <a:ext cx="713508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4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From Research Question to Scientific Insight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43356" y="3329940"/>
              <a:ext cx="63737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AI • Computational Science • Research Automation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44118" y="3822382"/>
              <a:ext cx="3899273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Community Edition &amp; Premium Web Platform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45642" y="5188268"/>
              <a:ext cx="424417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Mr. Tajuddin Shaik | Co-Founder, BioDockify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45642" y="5474018"/>
              <a:ext cx="68037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Assistant Professor, Malla Reddy College of Pharmacy | 20 August 2026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0" y="6619875"/>
            <a:ext cx="12192000" cy="238125"/>
            <a:chOff x="0" y="6619875"/>
            <a:chExt cx="12192000" cy="238125"/>
          </a:xfrm>
        </p:grpSpPr>
        <p:sp>
          <p:nvSpPr>
            <p:cNvPr id="40" name="Rectangle 40"/>
            <p:cNvSpPr/>
            <p:nvPr/>
          </p:nvSpPr>
          <p:spPr>
            <a:xfrm>
              <a:off x="0" y="6619875"/>
              <a:ext cx="12192000" cy="238125"/>
            </a:xfrm>
            <a:prstGeom prst="rect">
              <a:avLst/>
            </a:prstGeom>
            <a:solidFill>
              <a:srgbClr val="0D0F24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203998" y="6692741"/>
              <a:ext cx="378400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dirty="0">
                  <a:solidFill>
                    <a:srgbClr val="7A85A8"/>
                  </a:solidFill>
                  <a:latin typeface="+mj-lt"/>
                  <a:ea typeface="+mj-ea"/>
                  <a:cs typeface="+mj-cs"/>
                </a:rPr>
                <a:t>BioDockify — Building the Future of AI-Driven Pharmaceutical Research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lt1"/>
            </a:gs>
            <a:gs pos="100000">
              <a:schemeClr val="l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190500" y="-476250"/>
            <a:ext cx="12192000" cy="7715250"/>
            <a:chOff x="190500" y="-476250"/>
            <a:chExt cx="12192000" cy="7715250"/>
          </a:xfrm>
        </p:grpSpPr>
        <p:sp>
          <p:nvSpPr>
            <p:cNvPr id="2" name="Ellipse 2"/>
            <p:cNvSpPr/>
            <p:nvPr/>
          </p:nvSpPr>
          <p:spPr>
            <a:xfrm>
              <a:off x="8572500" y="-476250"/>
              <a:ext cx="3810000" cy="3810000"/>
            </a:xfrm>
            <a:prstGeom prst="ellipse">
              <a:avLst/>
            </a:prstGeom>
            <a:solidFill>
              <a:schemeClr val="accent1">
                <a:alpha val="6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" name="Ellipse 3"/>
            <p:cNvSpPr/>
            <p:nvPr/>
          </p:nvSpPr>
          <p:spPr>
            <a:xfrm>
              <a:off x="190500" y="4191000"/>
              <a:ext cx="3048000" cy="3048000"/>
            </a:xfrm>
            <a:prstGeom prst="ellipse">
              <a:avLst/>
            </a:prstGeom>
            <a:solidFill>
              <a:schemeClr val="accent2">
                <a:alpha val="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43712" y="2087880"/>
            <a:ext cx="6484348" cy="2260854"/>
            <a:chOff x="743712" y="2087880"/>
            <a:chExt cx="6484348" cy="2260854"/>
          </a:xfrm>
        </p:grpSpPr>
        <p:sp>
          <p:nvSpPr>
            <p:cNvPr id="5" name="TextBox 5"/>
            <p:cNvSpPr txBox="1"/>
            <p:nvPr/>
          </p:nvSpPr>
          <p:spPr>
            <a:xfrm>
              <a:off x="743712" y="2087880"/>
              <a:ext cx="2609698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6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BioDockify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50570" y="2805112"/>
              <a:ext cx="647749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2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AI-Powered Computational Drug Discovery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50570" y="3233738"/>
              <a:ext cx="371701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2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for Pharmacy Education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762000" y="3810000"/>
              <a:ext cx="11430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52856" y="3996690"/>
              <a:ext cx="409437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Faculty Development Programme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753618" y="4965382"/>
            <a:ext cx="4217194" cy="982219"/>
            <a:chOff x="753618" y="4965382"/>
            <a:chExt cx="4217194" cy="982219"/>
          </a:xfrm>
        </p:grpSpPr>
        <p:sp>
          <p:nvSpPr>
            <p:cNvPr id="11" name="TextBox 11"/>
            <p:cNvSpPr txBox="1"/>
            <p:nvPr/>
          </p:nvSpPr>
          <p:spPr>
            <a:xfrm>
              <a:off x="753618" y="4965382"/>
              <a:ext cx="21828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Mr. Tajuddin Shaik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5142" y="5378768"/>
              <a:ext cx="42156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Malla Reddy College of Pharmacy, Hyderabad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55142" y="5683568"/>
              <a:ext cx="144566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20 August 2026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7953375" y="1381125"/>
            <a:ext cx="3476625" cy="3667125"/>
            <a:chOff x="7953375" y="1381125"/>
            <a:chExt cx="3476625" cy="3667125"/>
          </a:xfrm>
        </p:grpSpPr>
        <p:sp>
          <p:nvSpPr>
            <p:cNvPr id="15" name="Ellipse 15"/>
            <p:cNvSpPr/>
            <p:nvPr/>
          </p:nvSpPr>
          <p:spPr>
            <a:xfrm>
              <a:off x="8763000" y="2286000"/>
              <a:ext cx="1524000" cy="1524000"/>
            </a:xfrm>
            <a:prstGeom prst="ellipse">
              <a:avLst/>
            </a:prstGeom>
            <a:noFill/>
            <a:ln w="14288">
              <a:solidFill>
                <a:schemeClr val="accent1">
                  <a:alpha val="30000"/>
                </a:schemeClr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Ellipse 16"/>
            <p:cNvSpPr/>
            <p:nvPr/>
          </p:nvSpPr>
          <p:spPr>
            <a:xfrm>
              <a:off x="9144000" y="2667000"/>
              <a:ext cx="762000" cy="762000"/>
            </a:xfrm>
            <a:prstGeom prst="ellipse">
              <a:avLst/>
            </a:prstGeom>
            <a:noFill/>
            <a:ln w="9525">
              <a:solidFill>
                <a:schemeClr val="accent2">
                  <a:alpha val="40000"/>
                </a:schemeClr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Ellipse 17"/>
            <p:cNvSpPr/>
            <p:nvPr/>
          </p:nvSpPr>
          <p:spPr>
            <a:xfrm>
              <a:off x="9467850" y="2990850"/>
              <a:ext cx="114300" cy="114300"/>
            </a:xfrm>
            <a:prstGeom prst="ellipse">
              <a:avLst/>
            </a:prstGeom>
            <a:solidFill>
              <a:schemeClr val="accent1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Line 18"/>
            <p:cNvSpPr/>
            <p:nvPr/>
          </p:nvSpPr>
          <p:spPr>
            <a:xfrm>
              <a:off x="9525000" y="2571750"/>
              <a:ext cx="666750" cy="476250"/>
            </a:xfrm>
            <a:custGeom>
              <a:avLst/>
              <a:gdLst/>
              <a:ahLst/>
              <a:cxnLst/>
              <a:rect l="l" t="t" r="r" b="b"/>
              <a:pathLst>
                <a:path w="666750" h="476250">
                  <a:moveTo>
                    <a:pt x="0" y="476250"/>
                  </a:moveTo>
                  <a:lnTo>
                    <a:pt x="666750" y="0"/>
                  </a:lnTo>
                </a:path>
              </a:pathLst>
            </a:custGeom>
            <a:noFill/>
            <a:ln w="14288">
              <a:solidFill>
                <a:schemeClr val="accent1">
                  <a:alpha val="40000"/>
                </a:schemeClr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Ellipse 19"/>
            <p:cNvSpPr/>
            <p:nvPr/>
          </p:nvSpPr>
          <p:spPr>
            <a:xfrm>
              <a:off x="10144125" y="2524125"/>
              <a:ext cx="95250" cy="95250"/>
            </a:xfrm>
            <a:prstGeom prst="ellipse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Line 20"/>
            <p:cNvSpPr/>
            <p:nvPr/>
          </p:nvSpPr>
          <p:spPr>
            <a:xfrm>
              <a:off x="8953500" y="2476500"/>
              <a:ext cx="571500" cy="571500"/>
            </a:xfrm>
            <a:custGeom>
              <a:avLst/>
              <a:gdLst/>
              <a:ahLst/>
              <a:cxnLst/>
              <a:rect l="l" t="t" r="r" b="b"/>
              <a:pathLst>
                <a:path w="571500" h="571500">
                  <a:moveTo>
                    <a:pt x="571500" y="571500"/>
                  </a:moveTo>
                  <a:lnTo>
                    <a:pt x="0" y="0"/>
                  </a:lnTo>
                </a:path>
              </a:pathLst>
            </a:custGeom>
            <a:noFill/>
            <a:ln w="14288">
              <a:solidFill>
                <a:schemeClr val="accent2">
                  <a:alpha val="40000"/>
                </a:schemeClr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Ellipse 21"/>
            <p:cNvSpPr/>
            <p:nvPr/>
          </p:nvSpPr>
          <p:spPr>
            <a:xfrm>
              <a:off x="8905875" y="2428875"/>
              <a:ext cx="95250" cy="95250"/>
            </a:xfrm>
            <a:prstGeom prst="ellipse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Line 22"/>
            <p:cNvSpPr/>
            <p:nvPr/>
          </p:nvSpPr>
          <p:spPr>
            <a:xfrm>
              <a:off x="9525000" y="3048000"/>
              <a:ext cx="571500" cy="571500"/>
            </a:xfrm>
            <a:custGeom>
              <a:avLst/>
              <a:gdLst/>
              <a:ahLst/>
              <a:cxnLst/>
              <a:rect l="l" t="t" r="r" b="b"/>
              <a:pathLst>
                <a:path w="571500" h="571500">
                  <a:moveTo>
                    <a:pt x="0" y="0"/>
                  </a:moveTo>
                  <a:lnTo>
                    <a:pt x="571500" y="571500"/>
                  </a:lnTo>
                </a:path>
              </a:pathLst>
            </a:custGeom>
            <a:noFill/>
            <a:ln w="14288">
              <a:solidFill>
                <a:schemeClr val="accent1">
                  <a:alpha val="30000"/>
                </a:schemeClr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Ellipse 23"/>
            <p:cNvSpPr/>
            <p:nvPr/>
          </p:nvSpPr>
          <p:spPr>
            <a:xfrm>
              <a:off x="10058400" y="3581400"/>
              <a:ext cx="76200" cy="76200"/>
            </a:xfrm>
            <a:prstGeom prst="ellipse">
              <a:avLst/>
            </a:prstGeom>
            <a:solidFill>
              <a:schemeClr val="accent2">
                <a:alpha val="6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Line 24"/>
            <p:cNvSpPr/>
            <p:nvPr/>
          </p:nvSpPr>
          <p:spPr>
            <a:xfrm>
              <a:off x="8858250" y="3048000"/>
              <a:ext cx="666750" cy="476250"/>
            </a:xfrm>
            <a:custGeom>
              <a:avLst/>
              <a:gdLst/>
              <a:ahLst/>
              <a:cxnLst/>
              <a:rect l="l" t="t" r="r" b="b"/>
              <a:pathLst>
                <a:path w="666750" h="476250">
                  <a:moveTo>
                    <a:pt x="666750" y="0"/>
                  </a:moveTo>
                  <a:lnTo>
                    <a:pt x="0" y="476250"/>
                  </a:lnTo>
                </a:path>
              </a:pathLst>
            </a:custGeom>
            <a:noFill/>
            <a:ln w="14288">
              <a:solidFill>
                <a:schemeClr val="accent2">
                  <a:alpha val="30000"/>
                </a:schemeClr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Ellipse 25"/>
            <p:cNvSpPr/>
            <p:nvPr/>
          </p:nvSpPr>
          <p:spPr>
            <a:xfrm>
              <a:off x="8820150" y="3486150"/>
              <a:ext cx="76200" cy="76200"/>
            </a:xfrm>
            <a:prstGeom prst="ellipse">
              <a:avLst/>
            </a:prstGeom>
            <a:solidFill>
              <a:schemeClr val="accent1">
                <a:alpha val="6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Ellipse 26"/>
            <p:cNvSpPr/>
            <p:nvPr/>
          </p:nvSpPr>
          <p:spPr>
            <a:xfrm>
              <a:off x="10477500" y="4095750"/>
              <a:ext cx="952500" cy="952500"/>
            </a:xfrm>
            <a:prstGeom prst="ellipse">
              <a:avLst/>
            </a:prstGeom>
            <a:noFill/>
            <a:ln w="9525">
              <a:solidFill>
                <a:schemeClr val="accent1">
                  <a:alpha val="20000"/>
                </a:schemeClr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Ellipse 27"/>
            <p:cNvSpPr/>
            <p:nvPr/>
          </p:nvSpPr>
          <p:spPr>
            <a:xfrm>
              <a:off x="10715625" y="4333875"/>
              <a:ext cx="476250" cy="476250"/>
            </a:xfrm>
            <a:prstGeom prst="ellipse">
              <a:avLst/>
            </a:prstGeom>
            <a:noFill/>
            <a:ln w="7620">
              <a:solidFill>
                <a:schemeClr val="accent2">
                  <a:alpha val="30000"/>
                </a:schemeClr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Ellipse 28"/>
            <p:cNvSpPr/>
            <p:nvPr/>
          </p:nvSpPr>
          <p:spPr>
            <a:xfrm>
              <a:off x="7953375" y="1381125"/>
              <a:ext cx="666750" cy="666750"/>
            </a:xfrm>
            <a:prstGeom prst="ellipse">
              <a:avLst/>
            </a:prstGeom>
            <a:noFill/>
            <a:ln w="9525">
              <a:solidFill>
                <a:schemeClr val="accent2">
                  <a:alpha val="20000"/>
                </a:schemeClr>
              </a:solidFill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30" name="Rectangle 30"/>
          <p:cNvSpPr/>
          <p:nvPr/>
        </p:nvSpPr>
        <p:spPr>
          <a:xfrm>
            <a:off x="0" y="6667500"/>
            <a:ext cx="12192000" cy="38100"/>
          </a:xfrm>
          <a:prstGeom prst="rect">
            <a:avLst/>
          </a:prstGeom>
          <a:gradFill>
            <a:gsLst>
              <a:gs pos="0">
                <a:schemeClr val="accent1">
                  <a:alpha val="60000"/>
                </a:schemeClr>
              </a:gs>
              <a:gs pos="100000">
                <a:schemeClr val="accent2">
                  <a:alpha val="60000"/>
                </a:schemeClr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en-IN"/>
          </a:p>
        </p:txBody>
      </p:sp>
      <p:grpSp>
        <p:nvGrpSpPr>
          <p:cNvPr id="33" name="Group 33"/>
          <p:cNvGrpSpPr/>
          <p:nvPr/>
        </p:nvGrpSpPr>
        <p:grpSpPr>
          <a:xfrm>
            <a:off x="0" y="6619875"/>
            <a:ext cx="12192000" cy="238125"/>
            <a:chOff x="0" y="6619875"/>
            <a:chExt cx="12192000" cy="238125"/>
          </a:xfrm>
        </p:grpSpPr>
        <p:sp>
          <p:nvSpPr>
            <p:cNvPr id="31" name="Rectangle 31"/>
            <p:cNvSpPr/>
            <p:nvPr/>
          </p:nvSpPr>
          <p:spPr>
            <a:xfrm>
              <a:off x="0" y="6619875"/>
              <a:ext cx="12192000" cy="238125"/>
            </a:xfrm>
            <a:prstGeom prst="rect">
              <a:avLst/>
            </a:prstGeom>
            <a:solidFill>
              <a:srgbClr val="0D0F24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203998" y="6692741"/>
              <a:ext cx="378400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dirty="0">
                  <a:solidFill>
                    <a:srgbClr val="7A85A8"/>
                  </a:solidFill>
                  <a:latin typeface="+mj-lt"/>
                  <a:ea typeface="+mj-ea"/>
                  <a:cs typeface="+mj-cs"/>
                </a:rPr>
                <a:t>BioDockify — Building the Future of AI-Driven Pharmaceutical Research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55498" y="421958"/>
            <a:ext cx="3600410" cy="616077"/>
            <a:chOff x="555498" y="421958"/>
            <a:chExt cx="3600410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555498" y="421958"/>
              <a:ext cx="360041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Session Roadmap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571500" y="904875"/>
              <a:ext cx="762000" cy="28575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571500" y="1405890"/>
            <a:ext cx="5197504" cy="3998785"/>
            <a:chOff x="571500" y="1405890"/>
            <a:chExt cx="5197504" cy="3998785"/>
          </a:xfrm>
        </p:grpSpPr>
        <p:grpSp>
          <p:nvGrpSpPr>
            <p:cNvPr id="9" name="Group 9"/>
            <p:cNvGrpSpPr/>
            <p:nvPr/>
          </p:nvGrpSpPr>
          <p:grpSpPr>
            <a:xfrm>
              <a:off x="571500" y="1405890"/>
              <a:ext cx="4406287" cy="569785"/>
              <a:chOff x="571500" y="1405890"/>
              <a:chExt cx="4406287" cy="569785"/>
            </a:xfrm>
          </p:grpSpPr>
          <p:sp>
            <p:nvSpPr>
              <p:cNvPr id="5" name="Rectangle 5"/>
              <p:cNvSpPr/>
              <p:nvPr/>
            </p:nvSpPr>
            <p:spPr>
              <a:xfrm>
                <a:off x="571500" y="1428750"/>
                <a:ext cx="419100" cy="419100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715123" y="1552575"/>
                <a:ext cx="13185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" sz="1500" b="1" dirty="0">
                    <a:solidFill>
                      <a:schemeClr val="dk1"/>
                    </a:solidFill>
                    <a:latin typeface="+mj-lt"/>
                    <a:ea typeface="+mj-ea"/>
                    <a:cs typeface="+mj-cs"/>
                  </a:rPr>
                  <a:t>1</a:t>
                </a:r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1171956" y="1405890"/>
                <a:ext cx="150158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800" b="1" dirty="0">
                    <a:solidFill>
                      <a:schemeClr val="dk1"/>
                    </a:solidFill>
                    <a:latin typeface="+mj-lt"/>
                    <a:ea typeface="+mj-ea"/>
                    <a:cs typeface="+mj-cs"/>
                  </a:rPr>
                  <a:t>Foundations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1174242" y="1711642"/>
                <a:ext cx="380354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350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Drug Discovery Landscape (Slides 3–12)</a:t>
                </a:r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571500" y="2263140"/>
              <a:ext cx="4017340" cy="569785"/>
              <a:chOff x="571500" y="2263140"/>
              <a:chExt cx="4017340" cy="569785"/>
            </a:xfrm>
          </p:grpSpPr>
          <p:sp>
            <p:nvSpPr>
              <p:cNvPr id="10" name="Rectangle 10"/>
              <p:cNvSpPr/>
              <p:nvPr/>
            </p:nvSpPr>
            <p:spPr>
              <a:xfrm>
                <a:off x="571500" y="2286000"/>
                <a:ext cx="419100" cy="419100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715123" y="2409825"/>
                <a:ext cx="13185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" sz="1500" b="1" dirty="0">
                    <a:solidFill>
                      <a:schemeClr val="dk1"/>
                    </a:solidFill>
                    <a:latin typeface="+mj-lt"/>
                    <a:ea typeface="+mj-ea"/>
                    <a:cs typeface="+mj-cs"/>
                  </a:rPr>
                  <a:t>2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1171956" y="2263140"/>
                <a:ext cx="276891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800" b="1" dirty="0">
                    <a:solidFill>
                      <a:schemeClr val="dk1"/>
                    </a:solidFill>
                    <a:latin typeface="+mj-lt"/>
                    <a:ea typeface="+mj-ea"/>
                    <a:cs typeface="+mj-cs"/>
                  </a:rPr>
                  <a:t>Platform Introduction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174242" y="2568892"/>
                <a:ext cx="341459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350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BioDockify Overview (Slides 13–20)</a:t>
                </a:r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571500" y="3120390"/>
              <a:ext cx="5197504" cy="569785"/>
              <a:chOff x="571500" y="3120390"/>
              <a:chExt cx="5197504" cy="569785"/>
            </a:xfrm>
          </p:grpSpPr>
          <p:sp>
            <p:nvSpPr>
              <p:cNvPr id="15" name="Rectangle 15"/>
              <p:cNvSpPr/>
              <p:nvPr/>
            </p:nvSpPr>
            <p:spPr>
              <a:xfrm>
                <a:off x="571500" y="3143250"/>
                <a:ext cx="419100" cy="419100"/>
              </a:xfrm>
              <a:prstGeom prst="roundRect">
                <a:avLst>
                  <a:gd name="adj" fmla="val 50000"/>
                </a:avLst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715123" y="3267075"/>
                <a:ext cx="13185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" sz="1500" b="1" dirty="0">
                    <a:solidFill>
                      <a:schemeClr val="dk1"/>
                    </a:solidFill>
                    <a:latin typeface="+mj-lt"/>
                    <a:ea typeface="+mj-ea"/>
                    <a:cs typeface="+mj-cs"/>
                  </a:rPr>
                  <a:t>3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171956" y="3120390"/>
                <a:ext cx="2218307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800" b="1" dirty="0">
                    <a:solidFill>
                      <a:schemeClr val="dk1"/>
                    </a:solidFill>
                    <a:latin typeface="+mj-lt"/>
                    <a:ea typeface="+mj-ea"/>
                    <a:cs typeface="+mj-cs"/>
                  </a:rPr>
                  <a:t>Module Deep Dives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174242" y="3426142"/>
                <a:ext cx="459476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350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Docking, ADMET, MD, Jarvis AI (Slides 21–38)</a:t>
                </a: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571500" y="3977640"/>
              <a:ext cx="4542072" cy="569785"/>
              <a:chOff x="571500" y="3977640"/>
              <a:chExt cx="4542072" cy="569785"/>
            </a:xfrm>
          </p:grpSpPr>
          <p:sp>
            <p:nvSpPr>
              <p:cNvPr id="20" name="Rectangle 20"/>
              <p:cNvSpPr/>
              <p:nvPr/>
            </p:nvSpPr>
            <p:spPr>
              <a:xfrm>
                <a:off x="571500" y="4000500"/>
                <a:ext cx="419100" cy="419100"/>
              </a:xfrm>
              <a:prstGeom prst="roundRect">
                <a:avLst>
                  <a:gd name="adj" fmla="val 50000"/>
                </a:avLst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715123" y="4124325"/>
                <a:ext cx="13185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" sz="1500" b="1" dirty="0">
                    <a:solidFill>
                      <a:schemeClr val="dk1"/>
                    </a:solidFill>
                    <a:latin typeface="+mj-lt"/>
                    <a:ea typeface="+mj-ea"/>
                    <a:cs typeface="+mj-cs"/>
                  </a:rPr>
                  <a:t>4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1171956" y="3977640"/>
                <a:ext cx="257776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800" b="1" dirty="0">
                    <a:solidFill>
                      <a:schemeClr val="dk1"/>
                    </a:solidFill>
                    <a:latin typeface="+mj-lt"/>
                    <a:ea typeface="+mj-ea"/>
                    <a:cs typeface="+mj-cs"/>
                  </a:rPr>
                  <a:t>Teaching Integration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1174242" y="4283392"/>
                <a:ext cx="393933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350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Curriculum &amp; Collaboration (Slides 39–44)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571500" y="4834890"/>
              <a:ext cx="4297404" cy="569785"/>
              <a:chOff x="571500" y="4834890"/>
              <a:chExt cx="4297404" cy="569785"/>
            </a:xfrm>
          </p:grpSpPr>
          <p:sp>
            <p:nvSpPr>
              <p:cNvPr id="25" name="Rectangle 25"/>
              <p:cNvSpPr/>
              <p:nvPr/>
            </p:nvSpPr>
            <p:spPr>
              <a:xfrm>
                <a:off x="571500" y="4857750"/>
                <a:ext cx="419100" cy="419100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715123" y="4981575"/>
                <a:ext cx="13185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" sz="1500" b="1" dirty="0">
                    <a:solidFill>
                      <a:schemeClr val="dk1"/>
                    </a:solidFill>
                    <a:latin typeface="+mj-lt"/>
                    <a:ea typeface="+mj-ea"/>
                    <a:cs typeface="+mj-cs"/>
                  </a:rPr>
                  <a:t>5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1171956" y="4834890"/>
                <a:ext cx="2856643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800" b="1" dirty="0">
                    <a:solidFill>
                      <a:schemeClr val="dk1"/>
                    </a:solidFill>
                    <a:latin typeface="+mj-lt"/>
                    <a:ea typeface="+mj-ea"/>
                    <a:cs typeface="+mj-cs"/>
                  </a:rPr>
                  <a:t>Hands-On &amp; Next Steps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1174242" y="5140642"/>
                <a:ext cx="369466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350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Live Demo &amp; Action Plan (Slides 45–50)</a:t>
                </a:r>
              </a:p>
            </p:txBody>
          </p:sp>
        </p:grpSp>
      </p:grpSp>
      <p:grpSp>
        <p:nvGrpSpPr>
          <p:cNvPr id="36" name="Group 36"/>
          <p:cNvGrpSpPr/>
          <p:nvPr/>
        </p:nvGrpSpPr>
        <p:grpSpPr>
          <a:xfrm>
            <a:off x="9518904" y="1584960"/>
            <a:ext cx="516167" cy="3613666"/>
            <a:chOff x="9518904" y="1584960"/>
            <a:chExt cx="516167" cy="3613666"/>
          </a:xfrm>
        </p:grpSpPr>
        <p:sp>
          <p:nvSpPr>
            <p:cNvPr id="31" name="TextBox 31"/>
            <p:cNvSpPr txBox="1"/>
            <p:nvPr/>
          </p:nvSpPr>
          <p:spPr>
            <a:xfrm>
              <a:off x="9518904" y="1584960"/>
              <a:ext cx="516167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~10 min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518904" y="2442210"/>
              <a:ext cx="516167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~15 min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518904" y="3299460"/>
              <a:ext cx="516167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~10 min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518904" y="4156710"/>
              <a:ext cx="516167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~10 min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518904" y="5013960"/>
              <a:ext cx="516167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~45 min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0" y="6619875"/>
            <a:ext cx="12192000" cy="238125"/>
            <a:chOff x="0" y="6619875"/>
            <a:chExt cx="12192000" cy="238125"/>
          </a:xfrm>
        </p:grpSpPr>
        <p:sp>
          <p:nvSpPr>
            <p:cNvPr id="37" name="Rectangle 37"/>
            <p:cNvSpPr/>
            <p:nvPr/>
          </p:nvSpPr>
          <p:spPr>
            <a:xfrm>
              <a:off x="0" y="6619875"/>
              <a:ext cx="12192000" cy="238125"/>
            </a:xfrm>
            <a:prstGeom prst="rect">
              <a:avLst/>
            </a:prstGeom>
            <a:solidFill>
              <a:srgbClr val="0D0F24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203998" y="6692741"/>
              <a:ext cx="378400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dirty="0">
                  <a:solidFill>
                    <a:srgbClr val="7A85A8"/>
                  </a:solidFill>
                  <a:latin typeface="+mj-lt"/>
                  <a:ea typeface="+mj-ea"/>
                  <a:cs typeface="+mj-cs"/>
                </a:rPr>
                <a:t>BioDockify — Building the Future of AI-Driven Pharmaceutical Research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2690698" y="2007454"/>
            <a:ext cx="6715354" cy="898017"/>
            <a:chOff x="2738323" y="1455420"/>
            <a:chExt cx="6715354" cy="898017"/>
          </a:xfrm>
        </p:grpSpPr>
        <p:sp>
          <p:nvSpPr>
            <p:cNvPr id="2" name="TextBox 2"/>
            <p:cNvSpPr txBox="1"/>
            <p:nvPr/>
          </p:nvSpPr>
          <p:spPr>
            <a:xfrm>
              <a:off x="2884714" y="1455420"/>
              <a:ext cx="642257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“How many tools do we need to answer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2738323" y="1884045"/>
              <a:ext cx="671535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one pharmaceutical research question?”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47700" y="3238500"/>
            <a:ext cx="10810875" cy="381000"/>
            <a:chOff x="647700" y="3238500"/>
            <a:chExt cx="10810875" cy="381000"/>
          </a:xfrm>
        </p:grpSpPr>
        <p:sp>
          <p:nvSpPr>
            <p:cNvPr id="5" name="Rectangle 5"/>
            <p:cNvSpPr/>
            <p:nvPr/>
          </p:nvSpPr>
          <p:spPr>
            <a:xfrm>
              <a:off x="647700" y="3238500"/>
              <a:ext cx="1143000" cy="381000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alpha val="9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86651" y="3356610"/>
              <a:ext cx="86509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Literature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841849" y="332422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→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2028825" y="3238500"/>
              <a:ext cx="1143000" cy="381000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alpha val="9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195957" y="3356610"/>
              <a:ext cx="808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Chemistry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222974" y="332422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→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3409950" y="3238500"/>
              <a:ext cx="1143000" cy="381000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alpha val="9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682223" y="3356610"/>
              <a:ext cx="59845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Docking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604099" y="332422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→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4791075" y="3238500"/>
              <a:ext cx="1143000" cy="381000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alpha val="9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104714" y="3356610"/>
              <a:ext cx="51572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ADMET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985224" y="332422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→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6172200" y="3238500"/>
              <a:ext cx="1143000" cy="381000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alpha val="9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532778" y="3356610"/>
              <a:ext cx="42184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QSAR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366349" y="332422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→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7553325" y="3238500"/>
              <a:ext cx="1143000" cy="381000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alpha val="9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007782" y="3356610"/>
              <a:ext cx="2340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MD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747474" y="332422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→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8934450" y="3238500"/>
              <a:ext cx="1143000" cy="381000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alpha val="9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093708" y="3356610"/>
              <a:ext cx="824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Statistics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128599" y="332422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→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10315575" y="3238500"/>
              <a:ext cx="1143000" cy="381000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alpha val="9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591920" y="3356610"/>
              <a:ext cx="59031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Writing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2085011" y="5139690"/>
            <a:ext cx="8021977" cy="352044"/>
            <a:chOff x="2085011" y="5139690"/>
            <a:chExt cx="8021977" cy="352044"/>
          </a:xfrm>
        </p:grpSpPr>
        <p:sp>
          <p:nvSpPr>
            <p:cNvPr id="29" name="TextBox 29"/>
            <p:cNvSpPr txBox="1"/>
            <p:nvPr/>
          </p:nvSpPr>
          <p:spPr>
            <a:xfrm>
              <a:off x="2085011" y="5139690"/>
              <a:ext cx="802197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The problem is not lack of tools. The problem is fragmentation.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0" y="6619875"/>
            <a:ext cx="12192000" cy="238125"/>
            <a:chOff x="0" y="6619875"/>
            <a:chExt cx="12192000" cy="238125"/>
          </a:xfrm>
        </p:grpSpPr>
        <p:sp>
          <p:nvSpPr>
            <p:cNvPr id="31" name="Rectangle 31"/>
            <p:cNvSpPr/>
            <p:nvPr/>
          </p:nvSpPr>
          <p:spPr>
            <a:xfrm>
              <a:off x="0" y="6619875"/>
              <a:ext cx="12192000" cy="238125"/>
            </a:xfrm>
            <a:prstGeom prst="rect">
              <a:avLst/>
            </a:prstGeom>
            <a:solidFill>
              <a:srgbClr val="0D0F24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203998" y="6692741"/>
              <a:ext cx="378400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dirty="0">
                  <a:solidFill>
                    <a:srgbClr val="7A85A8"/>
                  </a:solidFill>
                  <a:latin typeface="+mj-lt"/>
                  <a:ea typeface="+mj-ea"/>
                  <a:cs typeface="+mj-cs"/>
                </a:rPr>
                <a:t>BioDockify — Building the Future of AI-Driven Pharmaceutical Research</a:t>
              </a:r>
            </a:p>
          </p:txBody>
        </p: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FE6A094B-ED2F-8287-9B43-A06AA5F213DD}"/>
              </a:ext>
            </a:extLst>
          </p:cNvPr>
          <p:cNvSpPr txBox="1"/>
          <p:nvPr/>
        </p:nvSpPr>
        <p:spPr>
          <a:xfrm>
            <a:off x="2932340" y="918331"/>
            <a:ext cx="719625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" sz="36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            Problem Statement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936498" y="421958"/>
            <a:ext cx="6820052" cy="616077"/>
            <a:chOff x="936498" y="421958"/>
            <a:chExt cx="6820052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936498" y="421958"/>
              <a:ext cx="682005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Pharmaceutical Research Today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52500" y="1143000"/>
            <a:ext cx="2095500" cy="4362450"/>
            <a:chOff x="952500" y="1143000"/>
            <a:chExt cx="2095500" cy="4362450"/>
          </a:xfrm>
        </p:grpSpPr>
        <p:sp>
          <p:nvSpPr>
            <p:cNvPr id="4" name="Rectangle 4"/>
            <p:cNvSpPr/>
            <p:nvPr/>
          </p:nvSpPr>
          <p:spPr>
            <a:xfrm>
              <a:off x="952500" y="1143000"/>
              <a:ext cx="2095500" cy="361950"/>
            </a:xfrm>
            <a:prstGeom prst="roundRect">
              <a:avLst>
                <a:gd name="adj" fmla="val 21053"/>
              </a:avLst>
            </a:prstGeom>
            <a:solidFill>
              <a:schemeClr val="lt2"/>
            </a:solidFill>
            <a:ln w="9525">
              <a:solidFill>
                <a:schemeClr val="accent1">
                  <a:alpha val="30000"/>
                </a:schemeClr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307454" y="1259681"/>
              <a:ext cx="13855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12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Research Question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949729" y="150876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↓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952500" y="1714500"/>
              <a:ext cx="2095500" cy="361950"/>
            </a:xfrm>
            <a:prstGeom prst="roundRect">
              <a:avLst>
                <a:gd name="adj" fmla="val 21053"/>
              </a:avLst>
            </a:prstGeom>
            <a:solidFill>
              <a:schemeClr val="lt2"/>
            </a:solidFill>
            <a:ln w="9525">
              <a:solidFill>
                <a:schemeClr val="accent1">
                  <a:alpha val="30000"/>
                </a:schemeClr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200611" y="1831181"/>
              <a:ext cx="159927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12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Literature databases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949729" y="208026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↓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952500" y="2286000"/>
              <a:ext cx="2095500" cy="361950"/>
            </a:xfrm>
            <a:prstGeom prst="roundRect">
              <a:avLst>
                <a:gd name="adj" fmla="val 21053"/>
              </a:avLst>
            </a:prstGeom>
            <a:solidFill>
              <a:schemeClr val="lt2"/>
            </a:solidFill>
            <a:ln w="9525">
              <a:solidFill>
                <a:schemeClr val="accent1">
                  <a:alpha val="30000"/>
                </a:schemeClr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249499" y="2402681"/>
              <a:ext cx="150150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12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Compound databases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949729" y="265176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↓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952500" y="2857500"/>
              <a:ext cx="2095500" cy="361950"/>
            </a:xfrm>
            <a:prstGeom prst="roundRect">
              <a:avLst>
                <a:gd name="adj" fmla="val 21053"/>
              </a:avLst>
            </a:prstGeom>
            <a:solidFill>
              <a:schemeClr val="lt2"/>
            </a:solidFill>
            <a:ln w="9525">
              <a:solidFill>
                <a:schemeClr val="accent1">
                  <a:alpha val="30000"/>
                </a:schemeClr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313650" y="2974181"/>
              <a:ext cx="13732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12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Chemical software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949729" y="322326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↓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952500" y="3429000"/>
              <a:ext cx="2095500" cy="361950"/>
            </a:xfrm>
            <a:prstGeom prst="roundRect">
              <a:avLst>
                <a:gd name="adj" fmla="val 21053"/>
              </a:avLst>
            </a:prstGeom>
            <a:solidFill>
              <a:schemeClr val="lt2"/>
            </a:solidFill>
            <a:ln w="9525">
              <a:solidFill>
                <a:schemeClr val="accent1">
                  <a:alpha val="30000"/>
                </a:schemeClr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351326" y="3545681"/>
              <a:ext cx="12978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12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Docking software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949729" y="379476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↓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952500" y="4000500"/>
              <a:ext cx="2095500" cy="361950"/>
            </a:xfrm>
            <a:prstGeom prst="roundRect">
              <a:avLst>
                <a:gd name="adj" fmla="val 21053"/>
              </a:avLst>
            </a:prstGeom>
            <a:solidFill>
              <a:schemeClr val="lt2"/>
            </a:solidFill>
            <a:ln w="9525">
              <a:solidFill>
                <a:schemeClr val="accent1">
                  <a:alpha val="30000"/>
                </a:schemeClr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548790" y="4117181"/>
              <a:ext cx="9029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12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ADMET tools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949729" y="436626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↓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952500" y="4572000"/>
              <a:ext cx="2095500" cy="361950"/>
            </a:xfrm>
            <a:prstGeom prst="roundRect">
              <a:avLst>
                <a:gd name="adj" fmla="val 21053"/>
              </a:avLst>
            </a:prstGeom>
            <a:solidFill>
              <a:schemeClr val="lt2"/>
            </a:solidFill>
            <a:ln w="9525">
              <a:solidFill>
                <a:schemeClr val="accent1">
                  <a:alpha val="30000"/>
                </a:schemeClr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55598" y="4688681"/>
              <a:ext cx="18893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12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Statistics / MD software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949729" y="493776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↓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952500" y="5143500"/>
              <a:ext cx="2095500" cy="361950"/>
            </a:xfrm>
            <a:prstGeom prst="roundRect">
              <a:avLst>
                <a:gd name="adj" fmla="val 21053"/>
              </a:avLst>
            </a:prstGeom>
            <a:solidFill>
              <a:schemeClr val="lt2"/>
            </a:solidFill>
            <a:ln w="9525">
              <a:solidFill>
                <a:schemeClr val="accent1">
                  <a:alpha val="30000"/>
                </a:schemeClr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235922" y="5260181"/>
              <a:ext cx="15286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12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Writing → Publication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5323332" y="3011805"/>
            <a:ext cx="4424172" cy="1596390"/>
            <a:chOff x="5323332" y="3011805"/>
            <a:chExt cx="4424172" cy="1596390"/>
          </a:xfrm>
        </p:grpSpPr>
        <p:sp>
          <p:nvSpPr>
            <p:cNvPr id="28" name="TextBox 28"/>
            <p:cNvSpPr txBox="1"/>
            <p:nvPr/>
          </p:nvSpPr>
          <p:spPr>
            <a:xfrm>
              <a:off x="5323332" y="3011805"/>
              <a:ext cx="353392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1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The researcher becomes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323332" y="3392805"/>
              <a:ext cx="324201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1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the integration layer.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326380" y="4029075"/>
              <a:ext cx="423418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Each transition requires manual effort,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326380" y="4314825"/>
              <a:ext cx="44211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format conversion, and domain expertise.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0" y="6619875"/>
            <a:ext cx="12192000" cy="238125"/>
            <a:chOff x="0" y="6619875"/>
            <a:chExt cx="12192000" cy="238125"/>
          </a:xfrm>
        </p:grpSpPr>
        <p:sp>
          <p:nvSpPr>
            <p:cNvPr id="33" name="Rectangle 33"/>
            <p:cNvSpPr/>
            <p:nvPr/>
          </p:nvSpPr>
          <p:spPr>
            <a:xfrm>
              <a:off x="0" y="6619875"/>
              <a:ext cx="12192000" cy="238125"/>
            </a:xfrm>
            <a:prstGeom prst="rect">
              <a:avLst/>
            </a:prstGeom>
            <a:solidFill>
              <a:srgbClr val="0D0F24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203998" y="6692741"/>
              <a:ext cx="378400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dirty="0">
                  <a:solidFill>
                    <a:srgbClr val="7A85A8"/>
                  </a:solidFill>
                  <a:latin typeface="+mj-lt"/>
                  <a:ea typeface="+mj-ea"/>
                  <a:cs typeface="+mj-cs"/>
                </a:rPr>
                <a:t>BioDockify — Building the Future of AI-Driven Pharmaceutical Research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936498" y="421958"/>
            <a:ext cx="6808963" cy="616077"/>
            <a:chOff x="936498" y="421958"/>
            <a:chExt cx="6808963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936498" y="421958"/>
              <a:ext cx="6808963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Where AI Changes the Workflow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714500" y="1234440"/>
            <a:ext cx="1524000" cy="3451860"/>
            <a:chOff x="1714500" y="1234440"/>
            <a:chExt cx="1524000" cy="3451860"/>
          </a:xfrm>
        </p:grpSpPr>
        <p:sp>
          <p:nvSpPr>
            <p:cNvPr id="4" name="TextBox 4"/>
            <p:cNvSpPr txBox="1"/>
            <p:nvPr/>
          </p:nvSpPr>
          <p:spPr>
            <a:xfrm>
              <a:off x="1789642" y="1234440"/>
              <a:ext cx="13737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800" b="1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Traditional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1714500" y="1714500"/>
              <a:ext cx="1524000" cy="381000"/>
            </a:xfrm>
            <a:prstGeom prst="roundRect">
              <a:avLst>
                <a:gd name="adj" fmla="val 20000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2198545" y="1816418"/>
              <a:ext cx="55590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Human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2419664" y="2102168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↓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1714500" y="2362200"/>
              <a:ext cx="1524000" cy="381000"/>
            </a:xfrm>
            <a:prstGeom prst="roundRect">
              <a:avLst>
                <a:gd name="adj" fmla="val 20000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289941" y="2464118"/>
              <a:ext cx="37311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Tool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419664" y="2749868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↓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1714500" y="3009900"/>
              <a:ext cx="1524000" cy="381000"/>
            </a:xfrm>
            <a:prstGeom prst="roundRect">
              <a:avLst>
                <a:gd name="adj" fmla="val 20000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198545" y="3111818"/>
              <a:ext cx="55590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Human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419664" y="3397568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↓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714500" y="3657600"/>
              <a:ext cx="1524000" cy="381000"/>
            </a:xfrm>
            <a:prstGeom prst="roundRect">
              <a:avLst>
                <a:gd name="adj" fmla="val 20000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289941" y="3759518"/>
              <a:ext cx="37311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Tool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419664" y="4045268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↓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1714500" y="4305300"/>
              <a:ext cx="1524000" cy="381000"/>
            </a:xfrm>
            <a:prstGeom prst="roundRect">
              <a:avLst>
                <a:gd name="adj" fmla="val 20000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198545" y="4407218"/>
              <a:ext cx="55590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Human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8001000" y="1234440"/>
            <a:ext cx="1524000" cy="3451860"/>
            <a:chOff x="8001000" y="1234440"/>
            <a:chExt cx="1524000" cy="3451860"/>
          </a:xfrm>
        </p:grpSpPr>
        <p:sp>
          <p:nvSpPr>
            <p:cNvPr id="20" name="TextBox 20"/>
            <p:cNvSpPr txBox="1"/>
            <p:nvPr/>
          </p:nvSpPr>
          <p:spPr>
            <a:xfrm>
              <a:off x="8047448" y="1234440"/>
              <a:ext cx="143110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8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AI-Powered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001000" y="1714500"/>
              <a:ext cx="1524000" cy="381000"/>
            </a:xfrm>
            <a:prstGeom prst="roundRect">
              <a:avLst>
                <a:gd name="adj" fmla="val 20000"/>
              </a:avLst>
            </a:prstGeom>
            <a:solidFill>
              <a:schemeClr val="lt2"/>
            </a:solidFill>
            <a:ln w="9525">
              <a:solidFill>
                <a:schemeClr val="accent1"/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485045" y="1816418"/>
              <a:ext cx="55590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Human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706164" y="2102168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↓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8001000" y="2362200"/>
              <a:ext cx="1524000" cy="381000"/>
            </a:xfrm>
            <a:prstGeom prst="roundRect">
              <a:avLst>
                <a:gd name="adj" fmla="val 20000"/>
              </a:avLst>
            </a:prstGeom>
            <a:solidFill>
              <a:schemeClr val="lt2"/>
            </a:solidFill>
            <a:ln w="9525">
              <a:solidFill>
                <a:schemeClr val="accent1"/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073276" y="2464118"/>
              <a:ext cx="137944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Research Agent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706164" y="2749868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↓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8001000" y="3009900"/>
              <a:ext cx="1524000" cy="381000"/>
            </a:xfrm>
            <a:prstGeom prst="roundRect">
              <a:avLst>
                <a:gd name="adj" fmla="val 20000"/>
              </a:avLst>
            </a:prstGeom>
            <a:solidFill>
              <a:schemeClr val="lt2"/>
            </a:solidFill>
            <a:ln w="9525">
              <a:solidFill>
                <a:schemeClr val="accent1"/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526399" y="3111818"/>
              <a:ext cx="4732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Tools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706164" y="3397568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↓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8001000" y="3657600"/>
              <a:ext cx="1524000" cy="381000"/>
            </a:xfrm>
            <a:prstGeom prst="roundRect">
              <a:avLst>
                <a:gd name="adj" fmla="val 20000"/>
              </a:avLst>
            </a:prstGeom>
            <a:solidFill>
              <a:schemeClr val="lt2"/>
            </a:solidFill>
            <a:ln w="9525">
              <a:solidFill>
                <a:schemeClr val="accent1"/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376370" y="3759518"/>
              <a:ext cx="77326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Evidence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706164" y="4045268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↓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8001000" y="4305300"/>
              <a:ext cx="1524000" cy="381000"/>
            </a:xfrm>
            <a:prstGeom prst="roundRect">
              <a:avLst>
                <a:gd name="adj" fmla="val 20000"/>
              </a:avLst>
            </a:prstGeom>
            <a:solidFill>
              <a:schemeClr val="lt2"/>
            </a:solidFill>
            <a:ln w="9525">
              <a:solidFill>
                <a:schemeClr val="accent1"/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023708" y="4407218"/>
              <a:ext cx="14785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Human Validation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52500" y="5334000"/>
            <a:ext cx="10287000" cy="762000"/>
            <a:chOff x="952500" y="5334000"/>
            <a:chExt cx="10287000" cy="762000"/>
          </a:xfrm>
        </p:grpSpPr>
        <p:sp>
          <p:nvSpPr>
            <p:cNvPr id="36" name="Rectangle 36"/>
            <p:cNvSpPr/>
            <p:nvPr/>
          </p:nvSpPr>
          <p:spPr>
            <a:xfrm>
              <a:off x="952500" y="5334000"/>
              <a:ext cx="10287000" cy="762000"/>
            </a:xfrm>
            <a:prstGeom prst="roundRect">
              <a:avLst>
                <a:gd name="adj" fmla="val 17500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80793" y="5536882"/>
              <a:ext cx="1023041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AI should help researchers: plan, search, retrieve, execute, analyze, verify, document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167127" y="5852160"/>
              <a:ext cx="385774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The human validates — the agent orchestrates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0" y="6619875"/>
            <a:ext cx="12192000" cy="238125"/>
            <a:chOff x="0" y="6619875"/>
            <a:chExt cx="12192000" cy="238125"/>
          </a:xfrm>
        </p:grpSpPr>
        <p:sp>
          <p:nvSpPr>
            <p:cNvPr id="40" name="Rectangle 40"/>
            <p:cNvSpPr/>
            <p:nvPr/>
          </p:nvSpPr>
          <p:spPr>
            <a:xfrm>
              <a:off x="0" y="6619875"/>
              <a:ext cx="12192000" cy="238125"/>
            </a:xfrm>
            <a:prstGeom prst="rect">
              <a:avLst/>
            </a:prstGeom>
            <a:solidFill>
              <a:srgbClr val="0D0F24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203998" y="6692741"/>
              <a:ext cx="378400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dirty="0">
                  <a:solidFill>
                    <a:srgbClr val="7A85A8"/>
                  </a:solidFill>
                  <a:latin typeface="+mj-lt"/>
                  <a:ea typeface="+mj-ea"/>
                  <a:cs typeface="+mj-cs"/>
                </a:rPr>
                <a:t>BioDockify — Building the Future of AI-Driven Pharmaceutical Research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936498" y="421958"/>
            <a:ext cx="7338078" cy="1212151"/>
            <a:chOff x="936498" y="421958"/>
            <a:chExt cx="7338078" cy="1212151"/>
          </a:xfrm>
        </p:grpSpPr>
        <p:sp>
          <p:nvSpPr>
            <p:cNvPr id="2" name="TextBox 2"/>
            <p:cNvSpPr txBox="1"/>
            <p:nvPr/>
          </p:nvSpPr>
          <p:spPr>
            <a:xfrm>
              <a:off x="936498" y="421958"/>
              <a:ext cx="427663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What Is BioDockify?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943356" y="996315"/>
              <a:ext cx="73312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An AI-powered research environment designed specifically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943356" y="1282065"/>
              <a:ext cx="36923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for pharmaceutical sciences.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762000" y="1905000"/>
            <a:ext cx="3690671" cy="2095500"/>
            <a:chOff x="762000" y="1905000"/>
            <a:chExt cx="3690671" cy="2095500"/>
          </a:xfrm>
        </p:grpSpPr>
        <p:sp>
          <p:nvSpPr>
            <p:cNvPr id="6" name="Rectangle 6"/>
            <p:cNvSpPr/>
            <p:nvPr/>
          </p:nvSpPr>
          <p:spPr>
            <a:xfrm>
              <a:off x="762000" y="1905000"/>
              <a:ext cx="3429000" cy="2095500"/>
            </a:xfrm>
            <a:prstGeom prst="roundRect">
              <a:avLst>
                <a:gd name="adj" fmla="val 6364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Rectangle 7"/>
            <p:cNvSpPr/>
            <p:nvPr/>
          </p:nvSpPr>
          <p:spPr>
            <a:xfrm>
              <a:off x="762000" y="1905000"/>
              <a:ext cx="38100" cy="20955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134618" y="2203132"/>
              <a:ext cx="271472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AI Research Intelligence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36142" y="2616518"/>
              <a:ext cx="29468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Autonomous research planning,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36142" y="2854642"/>
              <a:ext cx="29516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literature analysis, hypothesis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36142" y="3092768"/>
              <a:ext cx="33165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generation, and evidence synthesis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3429000" y="3429000"/>
              <a:ext cx="381000" cy="381000"/>
            </a:xfrm>
            <a:prstGeom prst="ellipse">
              <a:avLst/>
            </a:prstGeom>
            <a:solidFill>
              <a:schemeClr val="accent1">
                <a:alpha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521773" y="3540442"/>
              <a:ext cx="1954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🧠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4381500" y="1905000"/>
            <a:ext cx="3429000" cy="2095500"/>
            <a:chOff x="4381500" y="1905000"/>
            <a:chExt cx="3429000" cy="2095500"/>
          </a:xfrm>
        </p:grpSpPr>
        <p:sp>
          <p:nvSpPr>
            <p:cNvPr id="15" name="Rectangle 15"/>
            <p:cNvSpPr/>
            <p:nvPr/>
          </p:nvSpPr>
          <p:spPr>
            <a:xfrm>
              <a:off x="4381500" y="1905000"/>
              <a:ext cx="3429000" cy="2095500"/>
            </a:xfrm>
            <a:prstGeom prst="roundRect">
              <a:avLst>
                <a:gd name="adj" fmla="val 6364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Rectangle 16"/>
            <p:cNvSpPr/>
            <p:nvPr/>
          </p:nvSpPr>
          <p:spPr>
            <a:xfrm>
              <a:off x="4381500" y="1905000"/>
              <a:ext cx="38100" cy="20955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754118" y="2203132"/>
              <a:ext cx="280585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Scientific Computational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754118" y="2469832"/>
              <a:ext cx="60643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Tools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755642" y="2883218"/>
              <a:ext cx="26424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Molecular docking, ADMET,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755642" y="3121342"/>
              <a:ext cx="299780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QSAR modeling, MD simulation,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755642" y="3359468"/>
              <a:ext cx="22315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pharmacophore analysis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7048500" y="3429000"/>
              <a:ext cx="381000" cy="381000"/>
            </a:xfrm>
            <a:prstGeom prst="ellipse">
              <a:avLst/>
            </a:prstGeom>
            <a:solidFill>
              <a:schemeClr val="accent2">
                <a:alpha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141274" y="3540442"/>
              <a:ext cx="1954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⚗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8001000" y="1905000"/>
            <a:ext cx="3429000" cy="2095500"/>
            <a:chOff x="8001000" y="1905000"/>
            <a:chExt cx="3429000" cy="2095500"/>
          </a:xfrm>
        </p:grpSpPr>
        <p:sp>
          <p:nvSpPr>
            <p:cNvPr id="25" name="Rectangle 25"/>
            <p:cNvSpPr/>
            <p:nvPr/>
          </p:nvSpPr>
          <p:spPr>
            <a:xfrm>
              <a:off x="8001000" y="1905000"/>
              <a:ext cx="3429000" cy="2095500"/>
            </a:xfrm>
            <a:prstGeom prst="roundRect">
              <a:avLst>
                <a:gd name="adj" fmla="val 6364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Rectangle 26"/>
            <p:cNvSpPr/>
            <p:nvPr/>
          </p:nvSpPr>
          <p:spPr>
            <a:xfrm>
              <a:off x="8001000" y="1905000"/>
              <a:ext cx="38100" cy="20955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373618" y="2203132"/>
              <a:ext cx="164122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Research Data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373618" y="2469832"/>
              <a:ext cx="113244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&amp; Analysis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375142" y="2883218"/>
              <a:ext cx="24460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Statistical analysis, data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375142" y="3121342"/>
              <a:ext cx="28844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visualization, knowledge base,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375142" y="3359468"/>
              <a:ext cx="242361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automated documentation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10668000" y="3429000"/>
              <a:ext cx="381000" cy="381000"/>
            </a:xfrm>
            <a:prstGeom prst="ellipse">
              <a:avLst/>
            </a:prstGeom>
            <a:solidFill>
              <a:schemeClr val="accent3">
                <a:alpha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760774" y="3540442"/>
              <a:ext cx="1954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📊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3826241" y="4965382"/>
            <a:ext cx="4539519" cy="322707"/>
            <a:chOff x="3826241" y="4965382"/>
            <a:chExt cx="4539519" cy="322707"/>
          </a:xfrm>
        </p:grpSpPr>
        <p:sp>
          <p:nvSpPr>
            <p:cNvPr id="35" name="TextBox 35"/>
            <p:cNvSpPr txBox="1"/>
            <p:nvPr/>
          </p:nvSpPr>
          <p:spPr>
            <a:xfrm>
              <a:off x="3826241" y="4965382"/>
              <a:ext cx="453951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Human-in-the-loop scientific validation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0" y="6619875"/>
            <a:ext cx="12192000" cy="238125"/>
            <a:chOff x="0" y="6619875"/>
            <a:chExt cx="12192000" cy="238125"/>
          </a:xfrm>
        </p:grpSpPr>
        <p:sp>
          <p:nvSpPr>
            <p:cNvPr id="37" name="Rectangle 37"/>
            <p:cNvSpPr/>
            <p:nvPr/>
          </p:nvSpPr>
          <p:spPr>
            <a:xfrm>
              <a:off x="0" y="6619875"/>
              <a:ext cx="12192000" cy="238125"/>
            </a:xfrm>
            <a:prstGeom prst="rect">
              <a:avLst/>
            </a:prstGeom>
            <a:solidFill>
              <a:srgbClr val="0D0F24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203998" y="6692741"/>
              <a:ext cx="378400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dirty="0">
                  <a:solidFill>
                    <a:srgbClr val="7A85A8"/>
                  </a:solidFill>
                  <a:latin typeface="+mj-lt"/>
                  <a:ea typeface="+mj-ea"/>
                  <a:cs typeface="+mj-cs"/>
                </a:rPr>
                <a:t>BioDockify — Building the Future of AI-Driven Pharmaceutical Research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936498" y="421958"/>
            <a:ext cx="3676852" cy="616077"/>
            <a:chOff x="936498" y="421958"/>
            <a:chExt cx="3676852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936498" y="421958"/>
              <a:ext cx="367685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BioDockify Vision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690564" y="1392555"/>
            <a:ext cx="8810872" cy="791718"/>
            <a:chOff x="1690564" y="1392555"/>
            <a:chExt cx="8810872" cy="791718"/>
          </a:xfrm>
        </p:grpSpPr>
        <p:sp>
          <p:nvSpPr>
            <p:cNvPr id="4" name="TextBox 4"/>
            <p:cNvSpPr txBox="1"/>
            <p:nvPr/>
          </p:nvSpPr>
          <p:spPr>
            <a:xfrm>
              <a:off x="1690564" y="1392555"/>
              <a:ext cx="881087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Move pharmaceutical research from tool-centric workflows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3747973" y="1773555"/>
              <a:ext cx="469605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to question-centric workflows.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762000" y="2667000"/>
            <a:ext cx="10668000" cy="1905000"/>
            <a:chOff x="762000" y="2667000"/>
            <a:chExt cx="10668000" cy="1905000"/>
          </a:xfrm>
        </p:grpSpPr>
        <p:sp>
          <p:nvSpPr>
            <p:cNvPr id="7" name="Rectangle 7"/>
            <p:cNvSpPr/>
            <p:nvPr/>
          </p:nvSpPr>
          <p:spPr>
            <a:xfrm>
              <a:off x="762000" y="2667000"/>
              <a:ext cx="4953000" cy="1905000"/>
            </a:xfrm>
            <a:prstGeom prst="roundRect">
              <a:avLst>
                <a:gd name="adj" fmla="val 7000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515109" y="2869882"/>
              <a:ext cx="144678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b="1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Tool-centric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1714500" y="3238500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9525">
              <a:solidFill>
                <a:schemeClr val="accent3">
                  <a:alpha val="30000"/>
                </a:schemeClr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613167" y="3631882"/>
              <a:ext cx="325066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“I need to learn AutoDock.”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477000" y="2667000"/>
              <a:ext cx="4953000" cy="1905000"/>
            </a:xfrm>
            <a:prstGeom prst="roundRect">
              <a:avLst>
                <a:gd name="adj" fmla="val 7000"/>
              </a:avLst>
            </a:prstGeom>
            <a:solidFill>
              <a:schemeClr val="lt2"/>
            </a:solidFill>
            <a:ln w="19050">
              <a:solidFill>
                <a:schemeClr val="accent1"/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950154" y="2869882"/>
              <a:ext cx="200669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Question-centric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7429500" y="3238500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9525">
              <a:solidFill>
                <a:schemeClr val="accent1">
                  <a:alpha val="30000"/>
                </a:schemeClr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990436" y="3552825"/>
              <a:ext cx="392612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“I want to investigate whether these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918960" y="3838575"/>
              <a:ext cx="40690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compounds interact with this target.”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3371495" y="5441632"/>
            <a:ext cx="5449009" cy="322707"/>
            <a:chOff x="3371495" y="5441632"/>
            <a:chExt cx="5449009" cy="322707"/>
          </a:xfrm>
        </p:grpSpPr>
        <p:sp>
          <p:nvSpPr>
            <p:cNvPr id="17" name="TextBox 17"/>
            <p:cNvSpPr txBox="1"/>
            <p:nvPr/>
          </p:nvSpPr>
          <p:spPr>
            <a:xfrm>
              <a:off x="3371495" y="5441632"/>
              <a:ext cx="544900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The agent helps determine: What should I do next?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0" y="6619875"/>
            <a:ext cx="12192000" cy="238125"/>
            <a:chOff x="0" y="6619875"/>
            <a:chExt cx="12192000" cy="238125"/>
          </a:xfrm>
        </p:grpSpPr>
        <p:sp>
          <p:nvSpPr>
            <p:cNvPr id="19" name="Rectangle 19"/>
            <p:cNvSpPr/>
            <p:nvPr/>
          </p:nvSpPr>
          <p:spPr>
            <a:xfrm>
              <a:off x="0" y="6619875"/>
              <a:ext cx="12192000" cy="238125"/>
            </a:xfrm>
            <a:prstGeom prst="rect">
              <a:avLst/>
            </a:prstGeom>
            <a:solidFill>
              <a:srgbClr val="0D0F24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203998" y="6692741"/>
              <a:ext cx="378400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dirty="0">
                  <a:solidFill>
                    <a:srgbClr val="7A85A8"/>
                  </a:solidFill>
                  <a:latin typeface="+mj-lt"/>
                  <a:ea typeface="+mj-ea"/>
                  <a:cs typeface="+mj-cs"/>
                </a:rPr>
                <a:t>BioDockify — Building the Future of AI-Driven Pharmaceutical Research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555498" y="421958"/>
            <a:ext cx="8117490" cy="616077"/>
            <a:chOff x="555498" y="421958"/>
            <a:chExt cx="8117490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555498" y="421958"/>
              <a:ext cx="811749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The Drug Discovery Attrition Problem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762000" y="1428750"/>
            <a:ext cx="6096000" cy="4290251"/>
            <a:chOff x="762000" y="1428750"/>
            <a:chExt cx="6096000" cy="4290251"/>
          </a:xfrm>
        </p:grpSpPr>
        <p:sp>
          <p:nvSpPr>
            <p:cNvPr id="4" name="Rectangle 4"/>
            <p:cNvSpPr/>
            <p:nvPr/>
          </p:nvSpPr>
          <p:spPr>
            <a:xfrm>
              <a:off x="762000" y="1428750"/>
              <a:ext cx="6096000" cy="857250"/>
            </a:xfrm>
            <a:prstGeom prst="roundRect">
              <a:avLst>
                <a:gd name="adj" fmla="val 8889"/>
              </a:avLst>
            </a:prstGeom>
            <a:solidFill>
              <a:schemeClr val="accent1">
                <a:alpha val="9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2492502" y="1678305"/>
              <a:ext cx="263499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1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10,000 Compounds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3029260" y="2025968"/>
              <a:ext cx="156148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dk1">
                      <a:alphaMod val="80000"/>
                    </a:schemeClr>
                  </a:solidFill>
                  <a:latin typeface="+mn-lt"/>
                  <a:ea typeface="+mn-ea"/>
                  <a:cs typeface="+mn-cs"/>
                </a:rPr>
                <a:t>Initial Discovery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1524000" y="2571750"/>
              <a:ext cx="4572000" cy="857250"/>
            </a:xfrm>
            <a:prstGeom prst="roundRect">
              <a:avLst>
                <a:gd name="adj" fmla="val 8889"/>
              </a:avLst>
            </a:prstGeom>
            <a:solidFill>
              <a:srgbClr val="D43E8E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755056" y="2821305"/>
              <a:ext cx="210988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1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250 Preclinical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247438" y="3168968"/>
              <a:ext cx="11251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dk1">
                      <a:alphaMod val="80000"/>
                    </a:schemeClr>
                  </a:solidFill>
                  <a:latin typeface="+mn-lt"/>
                  <a:ea typeface="+mn-ea"/>
                  <a:cs typeface="+mn-cs"/>
                </a:rPr>
                <a:t>Lab Testing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2286000" y="3714750"/>
              <a:ext cx="3048000" cy="857250"/>
            </a:xfrm>
            <a:prstGeom prst="roundRect">
              <a:avLst>
                <a:gd name="adj" fmla="val 8889"/>
              </a:avLst>
            </a:prstGeom>
            <a:solidFill>
              <a:srgbClr val="B836C8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617344" y="3964305"/>
              <a:ext cx="2385311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1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10 Clinical Trials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121971" y="4311968"/>
              <a:ext cx="137605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dk1">
                      <a:alphaMod val="80000"/>
                    </a:schemeClr>
                  </a:solidFill>
                  <a:latin typeface="+mn-lt"/>
                  <a:ea typeface="+mn-ea"/>
                  <a:cs typeface="+mn-cs"/>
                </a:rPr>
                <a:t>Human Testing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3048000" y="4857750"/>
              <a:ext cx="1524000" cy="857250"/>
            </a:xfrm>
            <a:prstGeom prst="roundRect">
              <a:avLst>
                <a:gd name="adj" fmla="val 8889"/>
              </a:avLst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014621" y="5107305"/>
              <a:ext cx="159075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1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1 Approved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149762" y="5454968"/>
              <a:ext cx="13204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dk1">
                      <a:alphaMod val="80000"/>
                    </a:schemeClr>
                  </a:solidFill>
                  <a:latin typeface="+mn-lt"/>
                  <a:ea typeface="+mn-ea"/>
                  <a:cs typeface="+mn-cs"/>
                </a:rPr>
                <a:t>Market Ready</a:t>
              </a:r>
            </a:p>
          </p:txBody>
        </p:sp>
        <p:sp>
          <p:nvSpPr>
            <p:cNvPr id="16" name="Polygon 16"/>
            <p:cNvSpPr/>
            <p:nvPr/>
          </p:nvSpPr>
          <p:spPr>
            <a:xfrm>
              <a:off x="762000" y="2286000"/>
              <a:ext cx="762000" cy="285750"/>
            </a:xfrm>
            <a:custGeom>
              <a:avLst/>
              <a:gdLst/>
              <a:ahLst/>
              <a:cxnLst/>
              <a:rect l="l" t="t" r="r" b="b"/>
              <a:pathLst>
                <a:path w="762000" h="285750">
                  <a:moveTo>
                    <a:pt x="0" y="0"/>
                  </a:moveTo>
                  <a:lnTo>
                    <a:pt x="762000" y="285750"/>
                  </a:lnTo>
                  <a:lnTo>
                    <a:pt x="762000" y="1905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>
                <a:alpha val="3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Polygon 17"/>
            <p:cNvSpPr/>
            <p:nvPr/>
          </p:nvSpPr>
          <p:spPr>
            <a:xfrm>
              <a:off x="6096000" y="2286000"/>
              <a:ext cx="762000" cy="285750"/>
            </a:xfrm>
            <a:custGeom>
              <a:avLst/>
              <a:gdLst/>
              <a:ahLst/>
              <a:cxnLst/>
              <a:rect l="l" t="t" r="r" b="b"/>
              <a:pathLst>
                <a:path w="762000" h="285750">
                  <a:moveTo>
                    <a:pt x="762000" y="0"/>
                  </a:moveTo>
                  <a:lnTo>
                    <a:pt x="0" y="285750"/>
                  </a:lnTo>
                  <a:lnTo>
                    <a:pt x="0" y="190500"/>
                  </a:lnTo>
                  <a:lnTo>
                    <a:pt x="762000" y="0"/>
                  </a:lnTo>
                  <a:close/>
                </a:path>
              </a:pathLst>
            </a:custGeom>
            <a:solidFill>
              <a:schemeClr val="lt1">
                <a:alpha val="3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7715250" y="1619250"/>
            <a:ext cx="3810000" cy="4000500"/>
            <a:chOff x="7715250" y="1619250"/>
            <a:chExt cx="3810000" cy="4000500"/>
          </a:xfrm>
        </p:grpSpPr>
        <p:sp>
          <p:nvSpPr>
            <p:cNvPr id="19" name="Rectangle 19"/>
            <p:cNvSpPr/>
            <p:nvPr/>
          </p:nvSpPr>
          <p:spPr>
            <a:xfrm>
              <a:off x="7715250" y="1619250"/>
              <a:ext cx="3810000" cy="1143000"/>
            </a:xfrm>
            <a:prstGeom prst="roundRect">
              <a:avLst>
                <a:gd name="adj" fmla="val 11667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487226" y="1756410"/>
              <a:ext cx="2266048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7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12–15 Years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919961" y="2279332"/>
              <a:ext cx="340057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Average development timeline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7715250" y="3048000"/>
              <a:ext cx="3810000" cy="1143000"/>
            </a:xfrm>
            <a:prstGeom prst="roundRect">
              <a:avLst>
                <a:gd name="adj" fmla="val 11667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203439" y="3185160"/>
              <a:ext cx="283362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7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$2.6B Per Drug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399831" y="3708082"/>
              <a:ext cx="244083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Total cost to market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7715250" y="4476750"/>
              <a:ext cx="3810000" cy="1143000"/>
            </a:xfrm>
            <a:prstGeom prst="roundRect">
              <a:avLst>
                <a:gd name="adj" fmla="val 11667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442714" y="4613910"/>
              <a:ext cx="2355071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7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&gt;90% Failure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050108" y="5136832"/>
              <a:ext cx="314028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Clinical trial attrition rate</a:t>
              </a:r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564642" y="6331268"/>
            <a:ext cx="450739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" sz="135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Source: Tufts CSDD, PhRMA Industry Reports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0" y="6619875"/>
            <a:ext cx="12192000" cy="238125"/>
            <a:chOff x="0" y="6619875"/>
            <a:chExt cx="12192000" cy="238125"/>
          </a:xfrm>
        </p:grpSpPr>
        <p:sp>
          <p:nvSpPr>
            <p:cNvPr id="30" name="Rectangle 30"/>
            <p:cNvSpPr/>
            <p:nvPr/>
          </p:nvSpPr>
          <p:spPr>
            <a:xfrm>
              <a:off x="0" y="6619875"/>
              <a:ext cx="12192000" cy="238125"/>
            </a:xfrm>
            <a:prstGeom prst="rect">
              <a:avLst/>
            </a:prstGeom>
            <a:solidFill>
              <a:srgbClr val="0D0F24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203998" y="6692741"/>
              <a:ext cx="378400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dirty="0">
                  <a:solidFill>
                    <a:srgbClr val="7A85A8"/>
                  </a:solidFill>
                  <a:latin typeface="+mj-lt"/>
                  <a:ea typeface="+mj-ea"/>
                  <a:cs typeface="+mj-cs"/>
                </a:rPr>
                <a:t>BioDockify — Building the Future of AI-Driven Pharmaceutical Research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555498" y="421958"/>
            <a:ext cx="9705361" cy="616077"/>
            <a:chOff x="555498" y="421958"/>
            <a:chExt cx="9705361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555498" y="421958"/>
              <a:ext cx="9705361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Traditional Lab vs Computational Approaches</a:t>
              </a:r>
            </a:p>
          </p:txBody>
        </p:sp>
      </p:grpSp>
      <p:sp>
        <p:nvSpPr>
          <p:cNvPr id="4" name="Line 4"/>
          <p:cNvSpPr/>
          <p:nvPr/>
        </p:nvSpPr>
        <p:spPr>
          <a:xfrm>
            <a:off x="6096000" y="1238250"/>
            <a:ext cx="9525" cy="4476750"/>
          </a:xfrm>
          <a:custGeom>
            <a:avLst/>
            <a:gdLst/>
            <a:ahLst/>
            <a:cxnLst/>
            <a:rect l="l" t="t" r="r" b="b"/>
            <a:pathLst>
              <a:path w="9525" h="4476750">
                <a:moveTo>
                  <a:pt x="0" y="0"/>
                </a:moveTo>
                <a:lnTo>
                  <a:pt x="0" y="4476750"/>
                </a:lnTo>
              </a:path>
            </a:pathLst>
          </a:custGeom>
          <a:noFill/>
          <a:ln w="9525">
            <a:solidFill>
              <a:schemeClr val="accent3">
                <a:alpha val="30000"/>
              </a:schemeClr>
            </a:solidFill>
          </a:ln>
        </p:spPr>
        <p:txBody>
          <a:bodyPr/>
          <a:lstStyle/>
          <a:p>
            <a:endParaRPr lang="en-IN"/>
          </a:p>
        </p:txBody>
      </p:sp>
      <p:grpSp>
        <p:nvGrpSpPr>
          <p:cNvPr id="22" name="Group 22"/>
          <p:cNvGrpSpPr/>
          <p:nvPr/>
        </p:nvGrpSpPr>
        <p:grpSpPr>
          <a:xfrm>
            <a:off x="762000" y="1264920"/>
            <a:ext cx="4762500" cy="4164330"/>
            <a:chOff x="762000" y="1264920"/>
            <a:chExt cx="4762500" cy="4164330"/>
          </a:xfrm>
        </p:grpSpPr>
        <p:sp>
          <p:nvSpPr>
            <p:cNvPr id="5" name="TextBox 5"/>
            <p:cNvSpPr txBox="1"/>
            <p:nvPr/>
          </p:nvSpPr>
          <p:spPr>
            <a:xfrm>
              <a:off x="2132190" y="1264920"/>
              <a:ext cx="183162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400" b="1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Traditional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762000" y="1809750"/>
              <a:ext cx="4762500" cy="762000"/>
            </a:xfrm>
            <a:prstGeom prst="roundRect">
              <a:avLst>
                <a:gd name="adj" fmla="val 17500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Ellipse 7"/>
            <p:cNvSpPr/>
            <p:nvPr/>
          </p:nvSpPr>
          <p:spPr>
            <a:xfrm>
              <a:off x="1009650" y="2057400"/>
              <a:ext cx="266700" cy="266700"/>
            </a:xfrm>
            <a:prstGeom prst="ellipse">
              <a:avLst/>
            </a:prstGeom>
            <a:solidFill>
              <a:schemeClr val="accent3">
                <a:alpha val="4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420368" y="1965008"/>
              <a:ext cx="247648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Months per compound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421892" y="2254568"/>
              <a:ext cx="279287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Slow iterative wet-lab cycles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762000" y="2762250"/>
              <a:ext cx="4762500" cy="762000"/>
            </a:xfrm>
            <a:prstGeom prst="roundRect">
              <a:avLst>
                <a:gd name="adj" fmla="val 17500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Ellipse 11"/>
            <p:cNvSpPr/>
            <p:nvPr/>
          </p:nvSpPr>
          <p:spPr>
            <a:xfrm>
              <a:off x="1009650" y="3009900"/>
              <a:ext cx="266700" cy="266700"/>
            </a:xfrm>
            <a:prstGeom prst="ellipse">
              <a:avLst/>
            </a:prstGeom>
            <a:solidFill>
              <a:schemeClr val="accent3">
                <a:alpha val="4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420368" y="2917508"/>
              <a:ext cx="244297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$10K–50K per screen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421892" y="3207068"/>
              <a:ext cx="28422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Reagents, consumables, labor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762000" y="3714750"/>
              <a:ext cx="4762500" cy="762000"/>
            </a:xfrm>
            <a:prstGeom prst="roundRect">
              <a:avLst>
                <a:gd name="adj" fmla="val 17500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Ellipse 15"/>
            <p:cNvSpPr/>
            <p:nvPr/>
          </p:nvSpPr>
          <p:spPr>
            <a:xfrm>
              <a:off x="1009650" y="3962400"/>
              <a:ext cx="266700" cy="266700"/>
            </a:xfrm>
            <a:prstGeom prst="ellipse">
              <a:avLst/>
            </a:prstGeom>
            <a:solidFill>
              <a:schemeClr val="accent3">
                <a:alpha val="4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420368" y="3870008"/>
              <a:ext cx="34242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Limited by physical resources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421892" y="4159568"/>
              <a:ext cx="27367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Equipment, space, personnel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762000" y="4667250"/>
              <a:ext cx="4762500" cy="762000"/>
            </a:xfrm>
            <a:prstGeom prst="roundRect">
              <a:avLst>
                <a:gd name="adj" fmla="val 17500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Ellipse 19"/>
            <p:cNvSpPr/>
            <p:nvPr/>
          </p:nvSpPr>
          <p:spPr>
            <a:xfrm>
              <a:off x="1009650" y="4914900"/>
              <a:ext cx="266700" cy="266700"/>
            </a:xfrm>
            <a:prstGeom prst="ellipse">
              <a:avLst/>
            </a:prstGeom>
            <a:solidFill>
              <a:schemeClr val="accent3">
                <a:alpha val="4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420368" y="4822508"/>
              <a:ext cx="213188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Sequential testing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421892" y="5112068"/>
              <a:ext cx="223856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One compound at a time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6477000" y="1264920"/>
            <a:ext cx="4762500" cy="4164330"/>
            <a:chOff x="6477000" y="1264920"/>
            <a:chExt cx="4762500" cy="4164330"/>
          </a:xfrm>
        </p:grpSpPr>
        <p:sp>
          <p:nvSpPr>
            <p:cNvPr id="23" name="TextBox 23"/>
            <p:cNvSpPr txBox="1"/>
            <p:nvPr/>
          </p:nvSpPr>
          <p:spPr>
            <a:xfrm>
              <a:off x="7774344" y="1264920"/>
              <a:ext cx="235831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4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Computational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6477000" y="1809750"/>
              <a:ext cx="4762500" cy="762000"/>
            </a:xfrm>
            <a:prstGeom prst="roundRect">
              <a:avLst>
                <a:gd name="adj" fmla="val 17500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Ellipse 25"/>
            <p:cNvSpPr/>
            <p:nvPr/>
          </p:nvSpPr>
          <p:spPr>
            <a:xfrm>
              <a:off x="6724650" y="2057400"/>
              <a:ext cx="266700" cy="266700"/>
            </a:xfrm>
            <a:prstGeom prst="ellipse">
              <a:avLst/>
            </a:prstGeom>
            <a:solidFill>
              <a:schemeClr val="accent1">
                <a:alpha val="6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135368" y="1965008"/>
              <a:ext cx="25460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Minutes per compound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136892" y="2254568"/>
              <a:ext cx="234916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Rapid in-silico evaluation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6477000" y="2762250"/>
              <a:ext cx="4762500" cy="762000"/>
            </a:xfrm>
            <a:prstGeom prst="roundRect">
              <a:avLst>
                <a:gd name="adj" fmla="val 17500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9" name="Ellipse 29"/>
            <p:cNvSpPr/>
            <p:nvPr/>
          </p:nvSpPr>
          <p:spPr>
            <a:xfrm>
              <a:off x="6724650" y="3009900"/>
              <a:ext cx="266700" cy="266700"/>
            </a:xfrm>
            <a:prstGeom prst="ellipse">
              <a:avLst/>
            </a:prstGeom>
            <a:solidFill>
              <a:schemeClr val="accent1">
                <a:alpha val="6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135368" y="2917508"/>
              <a:ext cx="271835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Negligible marginal cost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136892" y="3207068"/>
              <a:ext cx="17568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Only compute time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477000" y="3714750"/>
              <a:ext cx="4762500" cy="762000"/>
            </a:xfrm>
            <a:prstGeom prst="roundRect">
              <a:avLst>
                <a:gd name="adj" fmla="val 17500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Ellipse 33"/>
            <p:cNvSpPr/>
            <p:nvPr/>
          </p:nvSpPr>
          <p:spPr>
            <a:xfrm>
              <a:off x="6724650" y="3962400"/>
              <a:ext cx="266700" cy="266700"/>
            </a:xfrm>
            <a:prstGeom prst="ellipse">
              <a:avLst/>
            </a:prstGeom>
            <a:solidFill>
              <a:schemeClr val="accent1">
                <a:alpha val="6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135368" y="3870008"/>
              <a:ext cx="31757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Unlimited parallel screening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136892" y="4159568"/>
              <a:ext cx="25332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Scale with cloud resources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477000" y="4667250"/>
              <a:ext cx="4762500" cy="762000"/>
            </a:xfrm>
            <a:prstGeom prst="roundRect">
              <a:avLst>
                <a:gd name="adj" fmla="val 17500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Ellipse 37"/>
            <p:cNvSpPr/>
            <p:nvPr/>
          </p:nvSpPr>
          <p:spPr>
            <a:xfrm>
              <a:off x="6724650" y="4914900"/>
              <a:ext cx="266700" cy="266700"/>
            </a:xfrm>
            <a:prstGeom prst="ellipse">
              <a:avLst/>
            </a:prstGeom>
            <a:solidFill>
              <a:schemeClr val="accent1">
                <a:alpha val="6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135368" y="4822508"/>
              <a:ext cx="257734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Iterative optimization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136892" y="5112068"/>
              <a:ext cx="195681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Rapid feedback loops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4148965" y="6139815"/>
            <a:ext cx="3894071" cy="352044"/>
            <a:chOff x="4148965" y="6139815"/>
            <a:chExt cx="3894071" cy="352044"/>
          </a:xfrm>
        </p:grpSpPr>
        <p:sp>
          <p:nvSpPr>
            <p:cNvPr id="41" name="TextBox 41"/>
            <p:cNvSpPr txBox="1"/>
            <p:nvPr/>
          </p:nvSpPr>
          <p:spPr>
            <a:xfrm>
              <a:off x="4148965" y="6139815"/>
              <a:ext cx="389407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8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Not replacement — acceleration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0" y="6619875"/>
            <a:ext cx="12192000" cy="238125"/>
            <a:chOff x="0" y="6619875"/>
            <a:chExt cx="12192000" cy="238125"/>
          </a:xfrm>
        </p:grpSpPr>
        <p:sp>
          <p:nvSpPr>
            <p:cNvPr id="43" name="Rectangle 43"/>
            <p:cNvSpPr/>
            <p:nvPr/>
          </p:nvSpPr>
          <p:spPr>
            <a:xfrm>
              <a:off x="0" y="6619875"/>
              <a:ext cx="12192000" cy="238125"/>
            </a:xfrm>
            <a:prstGeom prst="rect">
              <a:avLst/>
            </a:prstGeom>
            <a:solidFill>
              <a:srgbClr val="0D0F24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4203998" y="6692741"/>
              <a:ext cx="378400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dirty="0">
                  <a:solidFill>
                    <a:srgbClr val="7A85A8"/>
                  </a:solidFill>
                  <a:latin typeface="+mj-lt"/>
                  <a:ea typeface="+mj-ea"/>
                  <a:cs typeface="+mj-cs"/>
                </a:rPr>
                <a:t>BioDockify — Building the Future of AI-Driven Pharmaceutical Research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555498" y="421958"/>
            <a:ext cx="7452982" cy="616077"/>
            <a:chOff x="555498" y="421958"/>
            <a:chExt cx="7452982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555498" y="421958"/>
              <a:ext cx="745298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Why Pharmacy Faculty Should Care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71500" y="1428750"/>
            <a:ext cx="3524250" cy="4191000"/>
            <a:chOff x="571500" y="1428750"/>
            <a:chExt cx="3524250" cy="4191000"/>
          </a:xfrm>
        </p:grpSpPr>
        <p:sp>
          <p:nvSpPr>
            <p:cNvPr id="4" name="Rectangle 4"/>
            <p:cNvSpPr/>
            <p:nvPr/>
          </p:nvSpPr>
          <p:spPr>
            <a:xfrm>
              <a:off x="571500" y="1428750"/>
              <a:ext cx="3524250" cy="4191000"/>
            </a:xfrm>
            <a:prstGeom prst="roundRect">
              <a:avLst>
                <a:gd name="adj" fmla="val 3784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Ellipse 5"/>
            <p:cNvSpPr/>
            <p:nvPr/>
          </p:nvSpPr>
          <p:spPr>
            <a:xfrm>
              <a:off x="1952625" y="1809750"/>
              <a:ext cx="762000" cy="762000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Ellipse 6"/>
            <p:cNvSpPr/>
            <p:nvPr/>
          </p:nvSpPr>
          <p:spPr>
            <a:xfrm>
              <a:off x="2105025" y="1962150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2209390" y="2105025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133488" y="2726055"/>
              <a:ext cx="240027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1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Industry Demand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497940" y="3298508"/>
              <a:ext cx="16713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78% of pharma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521409" y="3584258"/>
              <a:ext cx="16244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companies use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21409" y="3870008"/>
              <a:ext cx="16244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computational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773707" y="4155758"/>
              <a:ext cx="111983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screening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966885" y="4756785"/>
              <a:ext cx="733480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7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78%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4333875" y="1428750"/>
            <a:ext cx="3524250" cy="4191000"/>
            <a:chOff x="4333875" y="1428750"/>
            <a:chExt cx="3524250" cy="4191000"/>
          </a:xfrm>
        </p:grpSpPr>
        <p:sp>
          <p:nvSpPr>
            <p:cNvPr id="15" name="Rectangle 15"/>
            <p:cNvSpPr/>
            <p:nvPr/>
          </p:nvSpPr>
          <p:spPr>
            <a:xfrm>
              <a:off x="4333875" y="1428750"/>
              <a:ext cx="3524250" cy="4191000"/>
            </a:xfrm>
            <a:prstGeom prst="roundRect">
              <a:avLst>
                <a:gd name="adj" fmla="val 3784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Ellipse 16"/>
            <p:cNvSpPr/>
            <p:nvPr/>
          </p:nvSpPr>
          <p:spPr>
            <a:xfrm>
              <a:off x="5715000" y="1809750"/>
              <a:ext cx="762000" cy="762000"/>
            </a:xfrm>
            <a:prstGeom prst="ellipse">
              <a:avLst/>
            </a:prstGeom>
            <a:solidFill>
              <a:schemeClr val="accent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Ellipse 17"/>
            <p:cNvSpPr/>
            <p:nvPr/>
          </p:nvSpPr>
          <p:spPr>
            <a:xfrm>
              <a:off x="5867400" y="1962150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971765" y="2105025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02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844161" y="2726055"/>
              <a:ext cx="250367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1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Research Enabler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842262" y="3298508"/>
              <a:ext cx="250747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Publish computational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219243" y="3584258"/>
              <a:ext cx="175351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papers without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336591" y="3870008"/>
              <a:ext cx="151881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million-dollar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213375" y="4155758"/>
              <a:ext cx="176524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infrastructure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499947" y="4821555"/>
              <a:ext cx="119210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1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$0 Infra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8096250" y="1428750"/>
            <a:ext cx="3524250" cy="4191000"/>
            <a:chOff x="8096250" y="1428750"/>
            <a:chExt cx="3524250" cy="4191000"/>
          </a:xfrm>
        </p:grpSpPr>
        <p:sp>
          <p:nvSpPr>
            <p:cNvPr id="26" name="Rectangle 26"/>
            <p:cNvSpPr/>
            <p:nvPr/>
          </p:nvSpPr>
          <p:spPr>
            <a:xfrm>
              <a:off x="8096250" y="1428750"/>
              <a:ext cx="3524250" cy="4191000"/>
            </a:xfrm>
            <a:prstGeom prst="roundRect">
              <a:avLst>
                <a:gd name="adj" fmla="val 3784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Ellipse 27"/>
            <p:cNvSpPr/>
            <p:nvPr/>
          </p:nvSpPr>
          <p:spPr>
            <a:xfrm>
              <a:off x="9477375" y="1809750"/>
              <a:ext cx="762000" cy="762000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Ellipse 28"/>
            <p:cNvSpPr/>
            <p:nvPr/>
          </p:nvSpPr>
          <p:spPr>
            <a:xfrm>
              <a:off x="9629775" y="1962150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734140" y="2105025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03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324818" y="2726055"/>
              <a:ext cx="306711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1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Curriculum Relevance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015832" y="3298508"/>
              <a:ext cx="168508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PCI and AICTE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582635" y="3584258"/>
              <a:ext cx="25514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encourage integrating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717585" y="3870008"/>
              <a:ext cx="228158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computational tools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600237" y="4155758"/>
              <a:ext cx="251627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in pharmacy programs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160151" y="4821555"/>
              <a:ext cx="139644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1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Mandated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0" y="6619875"/>
            <a:ext cx="12192000" cy="238125"/>
            <a:chOff x="0" y="6619875"/>
            <a:chExt cx="12192000" cy="238125"/>
          </a:xfrm>
        </p:grpSpPr>
        <p:sp>
          <p:nvSpPr>
            <p:cNvPr id="37" name="Rectangle 37"/>
            <p:cNvSpPr/>
            <p:nvPr/>
          </p:nvSpPr>
          <p:spPr>
            <a:xfrm>
              <a:off x="0" y="6619875"/>
              <a:ext cx="12192000" cy="238125"/>
            </a:xfrm>
            <a:prstGeom prst="rect">
              <a:avLst/>
            </a:prstGeom>
            <a:solidFill>
              <a:srgbClr val="0D0F24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203998" y="6692741"/>
              <a:ext cx="378400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dirty="0">
                  <a:solidFill>
                    <a:srgbClr val="7A85A8"/>
                  </a:solidFill>
                  <a:latin typeface="+mj-lt"/>
                  <a:ea typeface="+mj-ea"/>
                  <a:cs typeface="+mj-cs"/>
                </a:rPr>
                <a:t>BioDockify — Building the Future of AI-Driven Pharmaceutical Research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555498" y="421958"/>
            <a:ext cx="10252102" cy="616077"/>
            <a:chOff x="555498" y="421958"/>
            <a:chExt cx="10252102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555498" y="421958"/>
              <a:ext cx="1025210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Molecular Docking — The Lock-and-Key Principle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42058" y="1714500"/>
            <a:ext cx="3739442" cy="3287839"/>
            <a:chOff x="642058" y="1714500"/>
            <a:chExt cx="3739442" cy="3287839"/>
          </a:xfrm>
        </p:grpSpPr>
        <p:sp>
          <p:nvSpPr>
            <p:cNvPr id="4" name="Rectangle 4"/>
            <p:cNvSpPr/>
            <p:nvPr/>
          </p:nvSpPr>
          <p:spPr>
            <a:xfrm>
              <a:off x="1714500" y="2286000"/>
              <a:ext cx="2667000" cy="2095500"/>
            </a:xfrm>
            <a:prstGeom prst="roundRect">
              <a:avLst>
                <a:gd name="adj" fmla="val 13636"/>
              </a:avLst>
            </a:prstGeom>
            <a:solidFill>
              <a:schemeClr val="lt2"/>
            </a:solidFill>
            <a:ln w="19050">
              <a:solidFill>
                <a:schemeClr val="accent1"/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Rectangle 5"/>
            <p:cNvSpPr/>
            <p:nvPr/>
          </p:nvSpPr>
          <p:spPr>
            <a:xfrm>
              <a:off x="2667000" y="1714500"/>
              <a:ext cx="762000" cy="762000"/>
            </a:xfrm>
            <a:prstGeom prst="roundRect">
              <a:avLst>
                <a:gd name="adj" fmla="val 50000"/>
              </a:avLst>
            </a:prstGeom>
            <a:noFill/>
            <a:ln w="19050">
              <a:solidFill>
                <a:schemeClr val="accent1"/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Rectangle 6"/>
            <p:cNvSpPr/>
            <p:nvPr/>
          </p:nvSpPr>
          <p:spPr>
            <a:xfrm>
              <a:off x="2809875" y="3048000"/>
              <a:ext cx="476250" cy="666750"/>
            </a:xfrm>
            <a:prstGeom prst="roundRect">
              <a:avLst>
                <a:gd name="adj" fmla="val 12000"/>
              </a:avLst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Rectangle 7"/>
            <p:cNvSpPr/>
            <p:nvPr/>
          </p:nvSpPr>
          <p:spPr>
            <a:xfrm>
              <a:off x="2905125" y="3143250"/>
              <a:ext cx="285750" cy="476250"/>
            </a:xfrm>
            <a:prstGeom prst="roundRect">
              <a:avLst>
                <a:gd name="adj" fmla="val 13333"/>
              </a:avLst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191352" y="4679632"/>
              <a:ext cx="171329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b="1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Protein (Lock)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762000" y="3143250"/>
              <a:ext cx="952500" cy="285750"/>
            </a:xfrm>
            <a:prstGeom prst="roundRect">
              <a:avLst>
                <a:gd name="adj" fmla="val 13333"/>
              </a:avLst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Polygon 10"/>
            <p:cNvSpPr/>
            <p:nvPr/>
          </p:nvSpPr>
          <p:spPr>
            <a:xfrm>
              <a:off x="1714500" y="3143250"/>
              <a:ext cx="190500" cy="285750"/>
            </a:xfrm>
            <a:custGeom>
              <a:avLst/>
              <a:gdLst/>
              <a:ahLst/>
              <a:cxnLst/>
              <a:rect l="l" t="t" r="r" b="b"/>
              <a:pathLst>
                <a:path w="190500" h="285750">
                  <a:moveTo>
                    <a:pt x="0" y="0"/>
                  </a:moveTo>
                  <a:lnTo>
                    <a:pt x="0" y="285750"/>
                  </a:lnTo>
                  <a:lnTo>
                    <a:pt x="190500" y="14287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42058" y="3569018"/>
              <a:ext cx="11923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b="1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Ligand (Key)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277356" y="1901190"/>
            <a:ext cx="3282696" cy="2542794"/>
            <a:chOff x="6277356" y="1901190"/>
            <a:chExt cx="3282696" cy="2542794"/>
          </a:xfrm>
        </p:grpSpPr>
        <p:sp>
          <p:nvSpPr>
            <p:cNvPr id="13" name="TextBox 13"/>
            <p:cNvSpPr txBox="1"/>
            <p:nvPr/>
          </p:nvSpPr>
          <p:spPr>
            <a:xfrm>
              <a:off x="6277356" y="1901190"/>
              <a:ext cx="312359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Think of the protein as a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277356" y="2282190"/>
              <a:ext cx="328269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lock and the drug molecule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277356" y="2663190"/>
              <a:ext cx="115763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as a key.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277356" y="3329940"/>
              <a:ext cx="301718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Docking computationally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277356" y="3710940"/>
              <a:ext cx="306506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tests </a:t>
              </a:r>
              <a:r>
                <a:rPr lang="e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thousands of keys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277356" y="4091940"/>
              <a:ext cx="259141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to find the best fit.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64642" y="5524500"/>
            <a:ext cx="11055858" cy="880301"/>
            <a:chOff x="564642" y="5524500"/>
            <a:chExt cx="11055858" cy="880301"/>
          </a:xfrm>
        </p:grpSpPr>
        <p:sp>
          <p:nvSpPr>
            <p:cNvPr id="20" name="Line 20"/>
            <p:cNvSpPr/>
            <p:nvPr/>
          </p:nvSpPr>
          <p:spPr>
            <a:xfrm>
              <a:off x="571500" y="55245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3">
                  <a:alpha val="20000"/>
                </a:schemeClr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64642" y="5855018"/>
              <a:ext cx="88509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Molecular docking predicts the preferred orientation of a ligand within a protein binding site,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64642" y="6140768"/>
              <a:ext cx="51311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estimating binding affinity through scoring functions.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0" y="6619875"/>
            <a:ext cx="12192000" cy="238125"/>
            <a:chOff x="0" y="6619875"/>
            <a:chExt cx="12192000" cy="238125"/>
          </a:xfrm>
        </p:grpSpPr>
        <p:sp>
          <p:nvSpPr>
            <p:cNvPr id="24" name="Rectangle 24"/>
            <p:cNvSpPr/>
            <p:nvPr/>
          </p:nvSpPr>
          <p:spPr>
            <a:xfrm>
              <a:off x="0" y="6619875"/>
              <a:ext cx="12192000" cy="238125"/>
            </a:xfrm>
            <a:prstGeom prst="rect">
              <a:avLst/>
            </a:prstGeom>
            <a:solidFill>
              <a:srgbClr val="0D0F24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203998" y="6692741"/>
              <a:ext cx="378400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dirty="0">
                  <a:solidFill>
                    <a:srgbClr val="7A85A8"/>
                  </a:solidFill>
                  <a:latin typeface="+mj-lt"/>
                  <a:ea typeface="+mj-ea"/>
                  <a:cs typeface="+mj-cs"/>
                </a:rPr>
                <a:t>BioDockify — Building the Future of AI-Driven Pharmaceutical Research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555498" y="421958"/>
            <a:ext cx="8044085" cy="616077"/>
            <a:chOff x="555498" y="421958"/>
            <a:chExt cx="8044085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555498" y="421958"/>
              <a:ext cx="804408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Molecular Docking — 5-Step Workflow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714500" y="2667000"/>
            <a:ext cx="8763000" cy="9525"/>
            <a:chOff x="1714500" y="2667000"/>
            <a:chExt cx="8763000" cy="9525"/>
          </a:xfrm>
        </p:grpSpPr>
        <p:sp>
          <p:nvSpPr>
            <p:cNvPr id="4" name="Line 4"/>
            <p:cNvSpPr/>
            <p:nvPr/>
          </p:nvSpPr>
          <p:spPr>
            <a:xfrm>
              <a:off x="1714500" y="2667000"/>
              <a:ext cx="8763000" cy="9525"/>
            </a:xfrm>
            <a:custGeom>
              <a:avLst/>
              <a:gdLst/>
              <a:ahLst/>
              <a:cxnLst/>
              <a:rect l="l" t="t" r="r" b="b"/>
              <a:pathLst>
                <a:path w="8763000" h="9525">
                  <a:moveTo>
                    <a:pt x="0" y="0"/>
                  </a:moveTo>
                  <a:lnTo>
                    <a:pt x="8763000" y="0"/>
                  </a:lnTo>
                </a:path>
              </a:pathLst>
            </a:custGeom>
            <a:noFill/>
            <a:ln w="19050">
              <a:solidFill>
                <a:schemeClr val="accent3">
                  <a:alpha val="30000"/>
                </a:schemeClr>
              </a:solidFill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004961" y="2286000"/>
            <a:ext cx="1419078" cy="2070925"/>
            <a:chOff x="1004961" y="2286000"/>
            <a:chExt cx="1419078" cy="2070925"/>
          </a:xfrm>
        </p:grpSpPr>
        <p:sp>
          <p:nvSpPr>
            <p:cNvPr id="6" name="Ellipse 6"/>
            <p:cNvSpPr/>
            <p:nvPr/>
          </p:nvSpPr>
          <p:spPr>
            <a:xfrm>
              <a:off x="1333500" y="2286000"/>
              <a:ext cx="762000" cy="762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622202" y="2554605"/>
              <a:ext cx="18459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1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1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1047750" y="3238500"/>
              <a:ext cx="1333500" cy="4191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 w="14288">
              <a:solidFill>
                <a:schemeClr val="accent1"/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39093" y="3375660"/>
              <a:ext cx="11508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Select Target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04961" y="3854768"/>
              <a:ext cx="14190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Choose protein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251634" y="4092892"/>
              <a:ext cx="92573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from PDB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3143250" y="2286000"/>
            <a:ext cx="1524000" cy="2070925"/>
            <a:chOff x="3143250" y="2286000"/>
            <a:chExt cx="1524000" cy="2070925"/>
          </a:xfrm>
        </p:grpSpPr>
        <p:sp>
          <p:nvSpPr>
            <p:cNvPr id="13" name="Ellipse 13"/>
            <p:cNvSpPr/>
            <p:nvPr/>
          </p:nvSpPr>
          <p:spPr>
            <a:xfrm>
              <a:off x="3524250" y="2286000"/>
              <a:ext cx="762000" cy="762000"/>
            </a:xfrm>
            <a:prstGeom prst="ellipse">
              <a:avLst/>
            </a:prstGeom>
            <a:solidFill>
              <a:srgbClr val="D43E8E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812952" y="2554605"/>
              <a:ext cx="18459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1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2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3143250" y="3238500"/>
              <a:ext cx="1524000" cy="4191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 w="14288">
              <a:solidFill>
                <a:srgbClr val="D43E8E"/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236557" y="3375660"/>
              <a:ext cx="13373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Prepare Protein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183851" y="3854768"/>
              <a:ext cx="144279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Remove water,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235909" y="4092892"/>
              <a:ext cx="13386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add hydrogens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5334000" y="2286000"/>
            <a:ext cx="1524000" cy="2070925"/>
            <a:chOff x="5334000" y="2286000"/>
            <a:chExt cx="1524000" cy="2070925"/>
          </a:xfrm>
        </p:grpSpPr>
        <p:sp>
          <p:nvSpPr>
            <p:cNvPr id="20" name="Ellipse 20"/>
            <p:cNvSpPr/>
            <p:nvPr/>
          </p:nvSpPr>
          <p:spPr>
            <a:xfrm>
              <a:off x="5715000" y="2286000"/>
              <a:ext cx="762000" cy="762000"/>
            </a:xfrm>
            <a:prstGeom prst="ellipse">
              <a:avLst/>
            </a:prstGeom>
            <a:solidFill>
              <a:srgbClr val="B836C8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003702" y="2554605"/>
              <a:ext cx="18459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1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3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0" y="3238500"/>
              <a:ext cx="1524000" cy="4191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 w="14288">
              <a:solidFill>
                <a:srgbClr val="B836C8"/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473950" y="3375660"/>
              <a:ext cx="12441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Prepare Ligand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515813" y="3854768"/>
              <a:ext cx="116037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Optimize 3D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647487" y="4092892"/>
              <a:ext cx="89702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geometry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7425385" y="2286000"/>
            <a:ext cx="1722730" cy="2070925"/>
            <a:chOff x="7425385" y="2286000"/>
            <a:chExt cx="1722730" cy="2070925"/>
          </a:xfrm>
        </p:grpSpPr>
        <p:sp>
          <p:nvSpPr>
            <p:cNvPr id="27" name="Ellipse 27"/>
            <p:cNvSpPr/>
            <p:nvPr/>
          </p:nvSpPr>
          <p:spPr>
            <a:xfrm>
              <a:off x="7905750" y="2286000"/>
              <a:ext cx="762000" cy="762000"/>
            </a:xfrm>
            <a:prstGeom prst="ellipse">
              <a:avLst/>
            </a:prstGeom>
            <a:solidFill>
              <a:srgbClr val="A030D8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194452" y="2554605"/>
              <a:ext cx="18459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1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4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7429500" y="3238500"/>
              <a:ext cx="1714500" cy="4191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 w="14288">
              <a:solidFill>
                <a:srgbClr val="A030D8"/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449774" y="3375660"/>
              <a:ext cx="167395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Define Search Space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706186" y="3854768"/>
              <a:ext cx="11611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Set grid box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425385" y="4092892"/>
              <a:ext cx="17227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around active site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15500" y="2286000"/>
            <a:ext cx="1524000" cy="2070925"/>
            <a:chOff x="9715500" y="2286000"/>
            <a:chExt cx="1524000" cy="2070925"/>
          </a:xfrm>
        </p:grpSpPr>
        <p:sp>
          <p:nvSpPr>
            <p:cNvPr id="34" name="Ellipse 34"/>
            <p:cNvSpPr/>
            <p:nvPr/>
          </p:nvSpPr>
          <p:spPr>
            <a:xfrm>
              <a:off x="10096500" y="2286000"/>
              <a:ext cx="762000" cy="762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0385202" y="2554605"/>
              <a:ext cx="18459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1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5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9715500" y="3238500"/>
              <a:ext cx="1524000" cy="4191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 w="14288">
              <a:solidFill>
                <a:schemeClr val="accent2"/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040493" y="3375660"/>
              <a:ext cx="8740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Run &amp; Rank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845192" y="3854768"/>
              <a:ext cx="126461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Score binding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206609" y="4092892"/>
              <a:ext cx="5417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poses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571500" y="5334000"/>
            <a:ext cx="11049000" cy="952500"/>
            <a:chOff x="571500" y="5334000"/>
            <a:chExt cx="11049000" cy="952500"/>
          </a:xfrm>
        </p:grpSpPr>
        <p:sp>
          <p:nvSpPr>
            <p:cNvPr id="41" name="Rectangle 41"/>
            <p:cNvSpPr/>
            <p:nvPr/>
          </p:nvSpPr>
          <p:spPr>
            <a:xfrm>
              <a:off x="571500" y="5334000"/>
              <a:ext cx="11049000" cy="952500"/>
            </a:xfrm>
            <a:prstGeom prst="roundRect">
              <a:avLst>
                <a:gd name="adj" fmla="val 14000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852364" y="5536882"/>
              <a:ext cx="848727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Output: Ranked list of compounds by predicted binding affinity (kcal/mol)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2937091" y="5902642"/>
              <a:ext cx="631781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Lower energy = stronger predicted binding = better drug candidate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0" y="6619875"/>
            <a:ext cx="12192000" cy="238125"/>
            <a:chOff x="0" y="6619875"/>
            <a:chExt cx="12192000" cy="238125"/>
          </a:xfrm>
        </p:grpSpPr>
        <p:sp>
          <p:nvSpPr>
            <p:cNvPr id="45" name="Rectangle 45"/>
            <p:cNvSpPr/>
            <p:nvPr/>
          </p:nvSpPr>
          <p:spPr>
            <a:xfrm>
              <a:off x="0" y="6619875"/>
              <a:ext cx="12192000" cy="238125"/>
            </a:xfrm>
            <a:prstGeom prst="rect">
              <a:avLst/>
            </a:prstGeom>
            <a:solidFill>
              <a:srgbClr val="0D0F24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4203998" y="6692741"/>
              <a:ext cx="378400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dirty="0">
                  <a:solidFill>
                    <a:srgbClr val="7A85A8"/>
                  </a:solidFill>
                  <a:latin typeface="+mj-lt"/>
                  <a:ea typeface="+mj-ea"/>
                  <a:cs typeface="+mj-cs"/>
                </a:rPr>
                <a:t>BioDockify — Building the Future of AI-Driven Pharmaceutical Research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555498" y="421958"/>
            <a:ext cx="7109049" cy="616077"/>
            <a:chOff x="555498" y="421958"/>
            <a:chExt cx="7109049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555498" y="421958"/>
              <a:ext cx="7109049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ADMET — The Drug Viability Filter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4953000" y="2952750"/>
            <a:ext cx="2286000" cy="666750"/>
            <a:chOff x="4953000" y="2952750"/>
            <a:chExt cx="2286000" cy="666750"/>
          </a:xfrm>
        </p:grpSpPr>
        <p:sp>
          <p:nvSpPr>
            <p:cNvPr id="4" name="Rectangle 4"/>
            <p:cNvSpPr/>
            <p:nvPr/>
          </p:nvSpPr>
          <p:spPr>
            <a:xfrm>
              <a:off x="4953000" y="2952750"/>
              <a:ext cx="2286000" cy="6667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588908" y="3138488"/>
              <a:ext cx="101418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2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ADMET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571500" y="1333500"/>
            <a:ext cx="4381500" cy="1809750"/>
            <a:chOff x="571500" y="1333500"/>
            <a:chExt cx="4381500" cy="1809750"/>
          </a:xfrm>
        </p:grpSpPr>
        <p:sp>
          <p:nvSpPr>
            <p:cNvPr id="7" name="Line 7"/>
            <p:cNvSpPr/>
            <p:nvPr/>
          </p:nvSpPr>
          <p:spPr>
            <a:xfrm>
              <a:off x="3429000" y="2000250"/>
              <a:ext cx="1524000" cy="1143000"/>
            </a:xfrm>
            <a:custGeom>
              <a:avLst/>
              <a:gdLst/>
              <a:ahLst/>
              <a:cxnLst/>
              <a:rect l="l" t="t" r="r" b="b"/>
              <a:pathLst>
                <a:path w="1524000" h="1143000">
                  <a:moveTo>
                    <a:pt x="1524000" y="11430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chemeClr val="accent1">
                  <a:alpha val="50000"/>
                </a:schemeClr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Rectangle 8"/>
            <p:cNvSpPr/>
            <p:nvPr/>
          </p:nvSpPr>
          <p:spPr>
            <a:xfrm>
              <a:off x="571500" y="1333500"/>
              <a:ext cx="3238500" cy="1333500"/>
            </a:xfrm>
            <a:prstGeom prst="roundRect">
              <a:avLst>
                <a:gd name="adj" fmla="val 10000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40308" y="1455420"/>
              <a:ext cx="22152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4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A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276731" y="1520190"/>
              <a:ext cx="13616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8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Absorption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45642" y="1949768"/>
              <a:ext cx="23621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How well the drug enters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45642" y="2187892"/>
              <a:ext cx="15403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the bloodstream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239000" y="1333500"/>
            <a:ext cx="4381500" cy="1809750"/>
            <a:chOff x="7239000" y="1333500"/>
            <a:chExt cx="4381500" cy="1809750"/>
          </a:xfrm>
        </p:grpSpPr>
        <p:sp>
          <p:nvSpPr>
            <p:cNvPr id="14" name="Line 14"/>
            <p:cNvSpPr/>
            <p:nvPr/>
          </p:nvSpPr>
          <p:spPr>
            <a:xfrm>
              <a:off x="7239000" y="2000250"/>
              <a:ext cx="1524000" cy="1143000"/>
            </a:xfrm>
            <a:custGeom>
              <a:avLst/>
              <a:gdLst/>
              <a:ahLst/>
              <a:cxnLst/>
              <a:rect l="l" t="t" r="r" b="b"/>
              <a:pathLst>
                <a:path w="1524000" h="1143000">
                  <a:moveTo>
                    <a:pt x="0" y="1143000"/>
                  </a:moveTo>
                  <a:lnTo>
                    <a:pt x="1524000" y="0"/>
                  </a:lnTo>
                </a:path>
              </a:pathLst>
            </a:custGeom>
            <a:noFill/>
            <a:ln w="19050">
              <a:solidFill>
                <a:schemeClr val="accent2">
                  <a:alpha val="50000"/>
                </a:schemeClr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Rectangle 15"/>
            <p:cNvSpPr/>
            <p:nvPr/>
          </p:nvSpPr>
          <p:spPr>
            <a:xfrm>
              <a:off x="8382000" y="1333500"/>
              <a:ext cx="3238500" cy="1333500"/>
            </a:xfrm>
            <a:prstGeom prst="roundRect">
              <a:avLst>
                <a:gd name="adj" fmla="val 10000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750808" y="1455420"/>
              <a:ext cx="22152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4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D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087231" y="1520190"/>
              <a:ext cx="151373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8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Distribution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756142" y="1949768"/>
              <a:ext cx="204566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How the drug spreads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756142" y="2187892"/>
              <a:ext cx="160751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through the body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71500" y="3524250"/>
            <a:ext cx="4381500" cy="2000250"/>
            <a:chOff x="571500" y="3524250"/>
            <a:chExt cx="4381500" cy="2000250"/>
          </a:xfrm>
        </p:grpSpPr>
        <p:sp>
          <p:nvSpPr>
            <p:cNvPr id="21" name="Line 21"/>
            <p:cNvSpPr/>
            <p:nvPr/>
          </p:nvSpPr>
          <p:spPr>
            <a:xfrm>
              <a:off x="3429000" y="3524250"/>
              <a:ext cx="1524000" cy="1333500"/>
            </a:xfrm>
            <a:custGeom>
              <a:avLst/>
              <a:gdLst/>
              <a:ahLst/>
              <a:cxnLst/>
              <a:rect l="l" t="t" r="r" b="b"/>
              <a:pathLst>
                <a:path w="1524000" h="1333500">
                  <a:moveTo>
                    <a:pt x="1524000" y="0"/>
                  </a:moveTo>
                  <a:lnTo>
                    <a:pt x="0" y="1333500"/>
                  </a:lnTo>
                </a:path>
              </a:pathLst>
            </a:custGeom>
            <a:noFill/>
            <a:ln w="19050">
              <a:solidFill>
                <a:schemeClr val="accent1">
                  <a:alpha val="50000"/>
                </a:schemeClr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71500" y="4191000"/>
              <a:ext cx="3238500" cy="1333500"/>
            </a:xfrm>
            <a:prstGeom prst="roundRect">
              <a:avLst>
                <a:gd name="adj" fmla="val 10000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0308" y="4312920"/>
              <a:ext cx="29321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4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M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324356" y="4377690"/>
              <a:ext cx="139999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8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Metabolism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5642" y="4807268"/>
              <a:ext cx="194021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How the body breaks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5642" y="5045392"/>
              <a:ext cx="13290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down the drug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7239000" y="3524250"/>
            <a:ext cx="4381500" cy="2000250"/>
            <a:chOff x="7239000" y="3524250"/>
            <a:chExt cx="4381500" cy="2000250"/>
          </a:xfrm>
        </p:grpSpPr>
        <p:sp>
          <p:nvSpPr>
            <p:cNvPr id="28" name="Line 28"/>
            <p:cNvSpPr/>
            <p:nvPr/>
          </p:nvSpPr>
          <p:spPr>
            <a:xfrm>
              <a:off x="7239000" y="3524250"/>
              <a:ext cx="1524000" cy="1333500"/>
            </a:xfrm>
            <a:custGeom>
              <a:avLst/>
              <a:gdLst/>
              <a:ahLst/>
              <a:cxnLst/>
              <a:rect l="l" t="t" r="r" b="b"/>
              <a:pathLst>
                <a:path w="1524000" h="1333500">
                  <a:moveTo>
                    <a:pt x="0" y="0"/>
                  </a:moveTo>
                  <a:lnTo>
                    <a:pt x="1524000" y="1333500"/>
                  </a:lnTo>
                </a:path>
              </a:pathLst>
            </a:custGeom>
            <a:noFill/>
            <a:ln w="19050">
              <a:solidFill>
                <a:schemeClr val="accent2">
                  <a:alpha val="50000"/>
                </a:schemeClr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9" name="Rectangle 29"/>
            <p:cNvSpPr/>
            <p:nvPr/>
          </p:nvSpPr>
          <p:spPr>
            <a:xfrm>
              <a:off x="8382000" y="4191000"/>
              <a:ext cx="3238500" cy="1333500"/>
            </a:xfrm>
            <a:prstGeom prst="roundRect">
              <a:avLst>
                <a:gd name="adj" fmla="val 10000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750808" y="4312920"/>
              <a:ext cx="22152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4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E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087231" y="4377690"/>
              <a:ext cx="122163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8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Excretion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756142" y="4807268"/>
              <a:ext cx="23051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How the drug is removed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756142" y="5045392"/>
              <a:ext cx="13290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from the body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4476750" y="3619500"/>
            <a:ext cx="3238500" cy="2714625"/>
            <a:chOff x="4476750" y="3619500"/>
            <a:chExt cx="3238500" cy="2714625"/>
          </a:xfrm>
        </p:grpSpPr>
        <p:sp>
          <p:nvSpPr>
            <p:cNvPr id="35" name="Line 35"/>
            <p:cNvSpPr/>
            <p:nvPr/>
          </p:nvSpPr>
          <p:spPr>
            <a:xfrm>
              <a:off x="6096000" y="3619500"/>
              <a:ext cx="9525" cy="1524000"/>
            </a:xfrm>
            <a:custGeom>
              <a:avLst/>
              <a:gdLst/>
              <a:ahLst/>
              <a:cxnLst/>
              <a:rect l="l" t="t" r="r" b="b"/>
              <a:pathLst>
                <a:path w="9525" h="1524000">
                  <a:moveTo>
                    <a:pt x="0" y="0"/>
                  </a:moveTo>
                  <a:lnTo>
                    <a:pt x="0" y="1524000"/>
                  </a:lnTo>
                </a:path>
              </a:pathLst>
            </a:custGeom>
            <a:noFill/>
            <a:ln w="19050">
              <a:solidFill>
                <a:schemeClr val="accent1">
                  <a:alpha val="50000"/>
                </a:schemeClr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6" name="Rectangle 36"/>
            <p:cNvSpPr/>
            <p:nvPr/>
          </p:nvSpPr>
          <p:spPr>
            <a:xfrm>
              <a:off x="4476750" y="5191125"/>
              <a:ext cx="3238500" cy="1143000"/>
            </a:xfrm>
            <a:prstGeom prst="roundRect">
              <a:avLst>
                <a:gd name="adj" fmla="val 11667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845558" y="5313045"/>
              <a:ext cx="22152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4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T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181981" y="5377815"/>
              <a:ext cx="101759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8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Toxicity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850892" y="5807392"/>
              <a:ext cx="247514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Potential harmful effects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850892" y="6045518"/>
              <a:ext cx="17803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on organs and cells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0" y="6619875"/>
            <a:ext cx="12192000" cy="238125"/>
            <a:chOff x="0" y="6619875"/>
            <a:chExt cx="12192000" cy="238125"/>
          </a:xfrm>
        </p:grpSpPr>
        <p:sp>
          <p:nvSpPr>
            <p:cNvPr id="42" name="Rectangle 42"/>
            <p:cNvSpPr/>
            <p:nvPr/>
          </p:nvSpPr>
          <p:spPr>
            <a:xfrm>
              <a:off x="0" y="6619875"/>
              <a:ext cx="12192000" cy="238125"/>
            </a:xfrm>
            <a:prstGeom prst="rect">
              <a:avLst/>
            </a:prstGeom>
            <a:solidFill>
              <a:srgbClr val="0D0F24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203998" y="6692741"/>
              <a:ext cx="378400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dirty="0">
                  <a:solidFill>
                    <a:srgbClr val="7A85A8"/>
                  </a:solidFill>
                  <a:latin typeface="+mj-lt"/>
                  <a:ea typeface="+mj-ea"/>
                  <a:cs typeface="+mj-cs"/>
                </a:rPr>
                <a:t>BioDockify — Building the Future of AI-Driven Pharmaceutical Research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555498" y="421958"/>
            <a:ext cx="10102442" cy="616077"/>
            <a:chOff x="555498" y="421958"/>
            <a:chExt cx="10102442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555498" y="421958"/>
              <a:ext cx="1010244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Molecular Dynamics — Watching Molecules Move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52500" y="1524000"/>
            <a:ext cx="4191000" cy="3452051"/>
            <a:chOff x="952500" y="1524000"/>
            <a:chExt cx="4191000" cy="3452051"/>
          </a:xfrm>
        </p:grpSpPr>
        <p:sp>
          <p:nvSpPr>
            <p:cNvPr id="4" name="Rectangle 4"/>
            <p:cNvSpPr/>
            <p:nvPr/>
          </p:nvSpPr>
          <p:spPr>
            <a:xfrm>
              <a:off x="952500" y="1524000"/>
              <a:ext cx="4191000" cy="3048000"/>
            </a:xfrm>
            <a:prstGeom prst="roundRect">
              <a:avLst>
                <a:gd name="adj" fmla="val 4375"/>
              </a:avLst>
            </a:prstGeom>
            <a:solidFill>
              <a:schemeClr val="lt2">
                <a:alpha val="50000"/>
              </a:schemeClr>
            </a:solidFill>
            <a:ln w="9525">
              <a:solidFill>
                <a:schemeClr val="accent3">
                  <a:alpha val="50000"/>
                </a:schemeClr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Ellipse 5"/>
            <p:cNvSpPr/>
            <p:nvPr/>
          </p:nvSpPr>
          <p:spPr>
            <a:xfrm>
              <a:off x="1714500" y="2286000"/>
              <a:ext cx="381000" cy="381000"/>
            </a:xfrm>
            <a:prstGeom prst="ellipse">
              <a:avLst/>
            </a:prstGeom>
            <a:solidFill>
              <a:schemeClr val="accent1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Line 6"/>
            <p:cNvSpPr/>
            <p:nvPr/>
          </p:nvSpPr>
          <p:spPr>
            <a:xfrm>
              <a:off x="2095500" y="2286000"/>
              <a:ext cx="285750" cy="142875"/>
            </a:xfrm>
            <a:custGeom>
              <a:avLst/>
              <a:gdLst/>
              <a:ahLst/>
              <a:cxnLst/>
              <a:rect l="l" t="t" r="r" b="b"/>
              <a:pathLst>
                <a:path w="285750" h="142875">
                  <a:moveTo>
                    <a:pt x="0" y="142875"/>
                  </a:moveTo>
                  <a:lnTo>
                    <a:pt x="285750" y="0"/>
                  </a:lnTo>
                </a:path>
              </a:pathLst>
            </a:custGeom>
            <a:noFill/>
            <a:ln w="19050">
              <a:solidFill>
                <a:schemeClr val="accent1">
                  <a:alpha val="60000"/>
                </a:schemeClr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Polygon 7"/>
            <p:cNvSpPr/>
            <p:nvPr/>
          </p:nvSpPr>
          <p:spPr>
            <a:xfrm>
              <a:off x="2333625" y="2238375"/>
              <a:ext cx="95250" cy="123825"/>
            </a:xfrm>
            <a:custGeom>
              <a:avLst/>
              <a:gdLst/>
              <a:ahLst/>
              <a:cxnLst/>
              <a:rect l="l" t="t" r="r" b="b"/>
              <a:pathLst>
                <a:path w="95250" h="123825">
                  <a:moveTo>
                    <a:pt x="0" y="28575"/>
                  </a:moveTo>
                  <a:lnTo>
                    <a:pt x="95250" y="0"/>
                  </a:lnTo>
                  <a:lnTo>
                    <a:pt x="47625" y="123825"/>
                  </a:lnTo>
                  <a:close/>
                </a:path>
              </a:pathLst>
            </a:custGeom>
            <a:solidFill>
              <a:schemeClr val="accent1">
                <a:alpha val="6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Ellipse 8"/>
            <p:cNvSpPr/>
            <p:nvPr/>
          </p:nvSpPr>
          <p:spPr>
            <a:xfrm>
              <a:off x="3181350" y="2038350"/>
              <a:ext cx="304800" cy="304800"/>
            </a:xfrm>
            <a:prstGeom prst="ellipse">
              <a:avLst/>
            </a:prstGeom>
            <a:solidFill>
              <a:schemeClr val="accent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Line 9"/>
            <p:cNvSpPr/>
            <p:nvPr/>
          </p:nvSpPr>
          <p:spPr>
            <a:xfrm>
              <a:off x="3476625" y="2000250"/>
              <a:ext cx="238125" cy="142875"/>
            </a:xfrm>
            <a:custGeom>
              <a:avLst/>
              <a:gdLst/>
              <a:ahLst/>
              <a:cxnLst/>
              <a:rect l="l" t="t" r="r" b="b"/>
              <a:pathLst>
                <a:path w="238125" h="142875">
                  <a:moveTo>
                    <a:pt x="0" y="142875"/>
                  </a:moveTo>
                  <a:lnTo>
                    <a:pt x="238125" y="0"/>
                  </a:lnTo>
                </a:path>
              </a:pathLst>
            </a:custGeom>
            <a:noFill/>
            <a:ln w="19050">
              <a:solidFill>
                <a:schemeClr val="accent2">
                  <a:alpha val="60000"/>
                </a:schemeClr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Polygon 10"/>
            <p:cNvSpPr/>
            <p:nvPr/>
          </p:nvSpPr>
          <p:spPr>
            <a:xfrm>
              <a:off x="3667125" y="1952625"/>
              <a:ext cx="95250" cy="123825"/>
            </a:xfrm>
            <a:custGeom>
              <a:avLst/>
              <a:gdLst/>
              <a:ahLst/>
              <a:cxnLst/>
              <a:rect l="l" t="t" r="r" b="b"/>
              <a:pathLst>
                <a:path w="95250" h="123825">
                  <a:moveTo>
                    <a:pt x="0" y="28575"/>
                  </a:moveTo>
                  <a:lnTo>
                    <a:pt x="95250" y="0"/>
                  </a:lnTo>
                  <a:lnTo>
                    <a:pt x="47625" y="123825"/>
                  </a:lnTo>
                  <a:close/>
                </a:path>
              </a:pathLst>
            </a:custGeom>
            <a:solidFill>
              <a:schemeClr val="accent2">
                <a:alpha val="6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Ellipse 11"/>
            <p:cNvSpPr/>
            <p:nvPr/>
          </p:nvSpPr>
          <p:spPr>
            <a:xfrm>
              <a:off x="2438400" y="3009900"/>
              <a:ext cx="457200" cy="457200"/>
            </a:xfrm>
            <a:prstGeom prst="ellipse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Line 12"/>
            <p:cNvSpPr/>
            <p:nvPr/>
          </p:nvSpPr>
          <p:spPr>
            <a:xfrm>
              <a:off x="2857500" y="2952750"/>
              <a:ext cx="285750" cy="190500"/>
            </a:xfrm>
            <a:custGeom>
              <a:avLst/>
              <a:gdLst/>
              <a:ahLst/>
              <a:cxnLst/>
              <a:rect l="l" t="t" r="r" b="b"/>
              <a:pathLst>
                <a:path w="285750" h="190500">
                  <a:moveTo>
                    <a:pt x="0" y="190500"/>
                  </a:moveTo>
                  <a:lnTo>
                    <a:pt x="285750" y="0"/>
                  </a:lnTo>
                </a:path>
              </a:pathLst>
            </a:custGeom>
            <a:noFill/>
            <a:ln w="19050">
              <a:solidFill>
                <a:schemeClr val="accent1">
                  <a:alpha val="60000"/>
                </a:schemeClr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Polygon 13"/>
            <p:cNvSpPr/>
            <p:nvPr/>
          </p:nvSpPr>
          <p:spPr>
            <a:xfrm>
              <a:off x="3095625" y="2905125"/>
              <a:ext cx="95250" cy="123825"/>
            </a:xfrm>
            <a:custGeom>
              <a:avLst/>
              <a:gdLst/>
              <a:ahLst/>
              <a:cxnLst/>
              <a:rect l="l" t="t" r="r" b="b"/>
              <a:pathLst>
                <a:path w="95250" h="123825">
                  <a:moveTo>
                    <a:pt x="0" y="28575"/>
                  </a:moveTo>
                  <a:lnTo>
                    <a:pt x="95250" y="0"/>
                  </a:lnTo>
                  <a:lnTo>
                    <a:pt x="47625" y="123825"/>
                  </a:lnTo>
                  <a:close/>
                </a:path>
              </a:pathLst>
            </a:custGeom>
            <a:solidFill>
              <a:schemeClr val="accent1">
                <a:alpha val="6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Ellipse 14"/>
            <p:cNvSpPr/>
            <p:nvPr/>
          </p:nvSpPr>
          <p:spPr>
            <a:xfrm>
              <a:off x="3924300" y="2781300"/>
              <a:ext cx="342900" cy="342900"/>
            </a:xfrm>
            <a:prstGeom prst="ellipse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Line 15"/>
            <p:cNvSpPr/>
            <p:nvPr/>
          </p:nvSpPr>
          <p:spPr>
            <a:xfrm>
              <a:off x="4238625" y="2667000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0" y="190500"/>
                  </a:moveTo>
                  <a:lnTo>
                    <a:pt x="190500" y="0"/>
                  </a:lnTo>
                </a:path>
              </a:pathLst>
            </a:custGeom>
            <a:noFill/>
            <a:ln w="19050">
              <a:solidFill>
                <a:schemeClr val="accent2">
                  <a:alpha val="60000"/>
                </a:schemeClr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Polygon 16"/>
            <p:cNvSpPr/>
            <p:nvPr/>
          </p:nvSpPr>
          <p:spPr>
            <a:xfrm>
              <a:off x="4381500" y="2619375"/>
              <a:ext cx="95250" cy="123825"/>
            </a:xfrm>
            <a:custGeom>
              <a:avLst/>
              <a:gdLst/>
              <a:ahLst/>
              <a:cxnLst/>
              <a:rect l="l" t="t" r="r" b="b"/>
              <a:pathLst>
                <a:path w="95250" h="123825">
                  <a:moveTo>
                    <a:pt x="0" y="28575"/>
                  </a:moveTo>
                  <a:lnTo>
                    <a:pt x="95250" y="0"/>
                  </a:lnTo>
                  <a:lnTo>
                    <a:pt x="47625" y="123825"/>
                  </a:lnTo>
                  <a:close/>
                </a:path>
              </a:pathLst>
            </a:custGeom>
            <a:solidFill>
              <a:schemeClr val="accent2">
                <a:alpha val="6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Ellipse 17"/>
            <p:cNvSpPr/>
            <p:nvPr/>
          </p:nvSpPr>
          <p:spPr>
            <a:xfrm>
              <a:off x="1581150" y="3676650"/>
              <a:ext cx="266700" cy="266700"/>
            </a:xfrm>
            <a:prstGeom prst="ellipse">
              <a:avLst/>
            </a:prstGeom>
            <a:solidFill>
              <a:schemeClr val="dk1">
                <a:alpha val="4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Line 18"/>
            <p:cNvSpPr/>
            <p:nvPr/>
          </p:nvSpPr>
          <p:spPr>
            <a:xfrm>
              <a:off x="1828800" y="3600450"/>
              <a:ext cx="171450" cy="142875"/>
            </a:xfrm>
            <a:custGeom>
              <a:avLst/>
              <a:gdLst/>
              <a:ahLst/>
              <a:cxnLst/>
              <a:rect l="l" t="t" r="r" b="b"/>
              <a:pathLst>
                <a:path w="171450" h="142875">
                  <a:moveTo>
                    <a:pt x="0" y="142875"/>
                  </a:moveTo>
                  <a:lnTo>
                    <a:pt x="171450" y="0"/>
                  </a:lnTo>
                </a:path>
              </a:pathLst>
            </a:custGeom>
            <a:noFill/>
            <a:ln w="14288">
              <a:solidFill>
                <a:schemeClr val="dk1">
                  <a:alpha val="40000"/>
                </a:schemeClr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Polygon 19"/>
            <p:cNvSpPr/>
            <p:nvPr/>
          </p:nvSpPr>
          <p:spPr>
            <a:xfrm>
              <a:off x="1962150" y="3552825"/>
              <a:ext cx="76200" cy="104775"/>
            </a:xfrm>
            <a:custGeom>
              <a:avLst/>
              <a:gdLst/>
              <a:ahLst/>
              <a:cxnLst/>
              <a:rect l="l" t="t" r="r" b="b"/>
              <a:pathLst>
                <a:path w="76200" h="104775">
                  <a:moveTo>
                    <a:pt x="0" y="28575"/>
                  </a:moveTo>
                  <a:lnTo>
                    <a:pt x="76200" y="0"/>
                  </a:lnTo>
                  <a:lnTo>
                    <a:pt x="38100" y="104775"/>
                  </a:lnTo>
                  <a:close/>
                </a:path>
              </a:pathLst>
            </a:custGeom>
            <a:solidFill>
              <a:schemeClr val="dk1">
                <a:alpha val="4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Ellipse 20"/>
            <p:cNvSpPr/>
            <p:nvPr/>
          </p:nvSpPr>
          <p:spPr>
            <a:xfrm>
              <a:off x="3409950" y="3790950"/>
              <a:ext cx="419100" cy="419100"/>
            </a:xfrm>
            <a:prstGeom prst="ellipse">
              <a:avLst/>
            </a:prstGeom>
            <a:solidFill>
              <a:schemeClr val="accent1">
                <a:alpha val="6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Line 21"/>
            <p:cNvSpPr/>
            <p:nvPr/>
          </p:nvSpPr>
          <p:spPr>
            <a:xfrm>
              <a:off x="3790950" y="3733800"/>
              <a:ext cx="209550" cy="171450"/>
            </a:xfrm>
            <a:custGeom>
              <a:avLst/>
              <a:gdLst/>
              <a:ahLst/>
              <a:cxnLst/>
              <a:rect l="l" t="t" r="r" b="b"/>
              <a:pathLst>
                <a:path w="209550" h="171450">
                  <a:moveTo>
                    <a:pt x="0" y="171450"/>
                  </a:moveTo>
                  <a:lnTo>
                    <a:pt x="209550" y="0"/>
                  </a:lnTo>
                </a:path>
              </a:pathLst>
            </a:custGeom>
            <a:noFill/>
            <a:ln w="19050">
              <a:solidFill>
                <a:schemeClr val="accent1">
                  <a:alpha val="60000"/>
                </a:schemeClr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Polygon 22"/>
            <p:cNvSpPr/>
            <p:nvPr/>
          </p:nvSpPr>
          <p:spPr>
            <a:xfrm>
              <a:off x="3962400" y="3686175"/>
              <a:ext cx="76200" cy="123825"/>
            </a:xfrm>
            <a:custGeom>
              <a:avLst/>
              <a:gdLst/>
              <a:ahLst/>
              <a:cxnLst/>
              <a:rect l="l" t="t" r="r" b="b"/>
              <a:pathLst>
                <a:path w="76200" h="123825">
                  <a:moveTo>
                    <a:pt x="0" y="28575"/>
                  </a:moveTo>
                  <a:lnTo>
                    <a:pt x="76200" y="0"/>
                  </a:lnTo>
                  <a:lnTo>
                    <a:pt x="38100" y="123825"/>
                  </a:lnTo>
                  <a:close/>
                </a:path>
              </a:pathLst>
            </a:custGeom>
            <a:solidFill>
              <a:schemeClr val="accent1">
                <a:alpha val="6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Ellipse 23"/>
            <p:cNvSpPr/>
            <p:nvPr/>
          </p:nvSpPr>
          <p:spPr>
            <a:xfrm>
              <a:off x="4457700" y="3505200"/>
              <a:ext cx="228600" cy="228600"/>
            </a:xfrm>
            <a:prstGeom prst="ellipse">
              <a:avLst/>
            </a:prstGeom>
            <a:solidFill>
              <a:schemeClr val="accent2">
                <a:alpha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Line 24"/>
            <p:cNvSpPr/>
            <p:nvPr/>
          </p:nvSpPr>
          <p:spPr>
            <a:xfrm>
              <a:off x="1905000" y="2476500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0" y="0"/>
                  </a:moveTo>
                  <a:lnTo>
                    <a:pt x="762000" y="762000"/>
                  </a:lnTo>
                </a:path>
              </a:pathLst>
            </a:custGeom>
            <a:noFill/>
            <a:ln w="9525">
              <a:solidFill>
                <a:schemeClr val="accent3">
                  <a:alpha val="30000"/>
                </a:schemeClr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Line 25"/>
            <p:cNvSpPr/>
            <p:nvPr/>
          </p:nvSpPr>
          <p:spPr>
            <a:xfrm>
              <a:off x="2667000" y="2190750"/>
              <a:ext cx="666750" cy="1047750"/>
            </a:xfrm>
            <a:custGeom>
              <a:avLst/>
              <a:gdLst/>
              <a:ahLst/>
              <a:cxnLst/>
              <a:rect l="l" t="t" r="r" b="b"/>
              <a:pathLst>
                <a:path w="666750" h="1047750">
                  <a:moveTo>
                    <a:pt x="666750" y="0"/>
                  </a:moveTo>
                  <a:lnTo>
                    <a:pt x="0" y="1047750"/>
                  </a:lnTo>
                </a:path>
              </a:pathLst>
            </a:custGeom>
            <a:noFill/>
            <a:ln w="9525">
              <a:solidFill>
                <a:schemeClr val="accent3">
                  <a:alpha val="30000"/>
                </a:schemeClr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Line 26"/>
            <p:cNvSpPr/>
            <p:nvPr/>
          </p:nvSpPr>
          <p:spPr>
            <a:xfrm>
              <a:off x="2667000" y="3238500"/>
              <a:ext cx="952500" cy="762000"/>
            </a:xfrm>
            <a:custGeom>
              <a:avLst/>
              <a:gdLst/>
              <a:ahLst/>
              <a:cxnLst/>
              <a:rect l="l" t="t" r="r" b="b"/>
              <a:pathLst>
                <a:path w="952500" h="762000">
                  <a:moveTo>
                    <a:pt x="0" y="0"/>
                  </a:moveTo>
                  <a:lnTo>
                    <a:pt x="952500" y="762000"/>
                  </a:lnTo>
                </a:path>
              </a:pathLst>
            </a:custGeom>
            <a:noFill/>
            <a:ln w="9525">
              <a:solidFill>
                <a:schemeClr val="accent3">
                  <a:alpha val="30000"/>
                </a:schemeClr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835711" y="4712018"/>
              <a:ext cx="24245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b="1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Atoms in motion over time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6286500" y="1714500"/>
            <a:ext cx="5143500" cy="1905000"/>
            <a:chOff x="6286500" y="1714500"/>
            <a:chExt cx="5143500" cy="1905000"/>
          </a:xfrm>
        </p:grpSpPr>
        <p:sp>
          <p:nvSpPr>
            <p:cNvPr id="29" name="Rectangle 29"/>
            <p:cNvSpPr/>
            <p:nvPr/>
          </p:nvSpPr>
          <p:spPr>
            <a:xfrm>
              <a:off x="6286500" y="1714500"/>
              <a:ext cx="5143500" cy="1905000"/>
            </a:xfrm>
            <a:prstGeom prst="roundRect">
              <a:avLst>
                <a:gd name="adj" fmla="val 7000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847419" y="2075498"/>
              <a:ext cx="202166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9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Key Difference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303130" y="2663190"/>
              <a:ext cx="311024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Docking is a </a:t>
              </a:r>
              <a:r>
                <a:rPr lang="e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photograph</a:t>
              </a:r>
              <a:r>
                <a:rPr lang="e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.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293346" y="3091815"/>
              <a:ext cx="312980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MD simulation is a </a:t>
              </a:r>
              <a:r>
                <a:rPr lang="en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video</a:t>
              </a:r>
              <a:r>
                <a:rPr lang="e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.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6277356" y="4282440"/>
            <a:ext cx="4004256" cy="1114044"/>
            <a:chOff x="6277356" y="4282440"/>
            <a:chExt cx="4004256" cy="1114044"/>
          </a:xfrm>
        </p:grpSpPr>
        <p:sp>
          <p:nvSpPr>
            <p:cNvPr id="34" name="TextBox 34"/>
            <p:cNvSpPr txBox="1"/>
            <p:nvPr/>
          </p:nvSpPr>
          <p:spPr>
            <a:xfrm>
              <a:off x="6277356" y="4282440"/>
              <a:ext cx="32472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Confirms binding stability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277356" y="4663440"/>
              <a:ext cx="400425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Reveals conformational changes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277356" y="5044440"/>
              <a:ext cx="365928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Predicts drug residence time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6279642" y="5855018"/>
            <a:ext cx="5807367" cy="264033"/>
            <a:chOff x="6279642" y="5855018"/>
            <a:chExt cx="5807367" cy="264033"/>
          </a:xfrm>
        </p:grpSpPr>
        <p:sp>
          <p:nvSpPr>
            <p:cNvPr id="38" name="TextBox 38"/>
            <p:cNvSpPr txBox="1"/>
            <p:nvPr/>
          </p:nvSpPr>
          <p:spPr>
            <a:xfrm>
              <a:off x="6279642" y="5855018"/>
              <a:ext cx="58073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Simulates nanoseconds to microseconds of molecular behavior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0" y="6619875"/>
            <a:ext cx="12192000" cy="238125"/>
            <a:chOff x="0" y="6619875"/>
            <a:chExt cx="12192000" cy="238125"/>
          </a:xfrm>
        </p:grpSpPr>
        <p:sp>
          <p:nvSpPr>
            <p:cNvPr id="40" name="Rectangle 40"/>
            <p:cNvSpPr/>
            <p:nvPr/>
          </p:nvSpPr>
          <p:spPr>
            <a:xfrm>
              <a:off x="0" y="6619875"/>
              <a:ext cx="12192000" cy="238125"/>
            </a:xfrm>
            <a:prstGeom prst="rect">
              <a:avLst/>
            </a:prstGeom>
            <a:solidFill>
              <a:srgbClr val="0D0F24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203998" y="6692741"/>
              <a:ext cx="378400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dirty="0">
                  <a:solidFill>
                    <a:srgbClr val="7A85A8"/>
                  </a:solidFill>
                  <a:latin typeface="+mj-lt"/>
                  <a:ea typeface="+mj-ea"/>
                  <a:cs typeface="+mj-cs"/>
                </a:rPr>
                <a:t>BioDockify — Building the Future of AI-Driven Pharmaceutical Research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2857500"/>
            <a:ext cx="12192000" cy="1905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3" name="Rectangle 3"/>
          <p:cNvSpPr/>
          <p:nvPr/>
        </p:nvSpPr>
        <p:spPr>
          <a:xfrm>
            <a:off x="0" y="2857500"/>
            <a:ext cx="3048000" cy="1905000"/>
          </a:xfrm>
          <a:prstGeom prst="rect">
            <a:avLst/>
          </a:prstGeom>
          <a:solidFill>
            <a:schemeClr val="lt2">
              <a:alpha val="15000"/>
            </a:schemeClr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4" name="Rectangle 4"/>
          <p:cNvSpPr/>
          <p:nvPr/>
        </p:nvSpPr>
        <p:spPr>
          <a:xfrm>
            <a:off x="3048000" y="2857500"/>
            <a:ext cx="3048000" cy="1905000"/>
          </a:xfrm>
          <a:prstGeom prst="rect">
            <a:avLst/>
          </a:prstGeom>
          <a:solidFill>
            <a:schemeClr val="lt2">
              <a:alpha val="10000"/>
            </a:schemeClr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5" name="Rectangle 5"/>
          <p:cNvSpPr/>
          <p:nvPr/>
        </p:nvSpPr>
        <p:spPr>
          <a:xfrm>
            <a:off x="6096000" y="2857500"/>
            <a:ext cx="3048000" cy="1905000"/>
          </a:xfrm>
          <a:prstGeom prst="rect">
            <a:avLst/>
          </a:prstGeom>
          <a:solidFill>
            <a:schemeClr val="lt2">
              <a:alpha val="5000"/>
            </a:schemeClr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grpSp>
        <p:nvGrpSpPr>
          <p:cNvPr id="7" name="Group 7"/>
          <p:cNvGrpSpPr/>
          <p:nvPr/>
        </p:nvGrpSpPr>
        <p:grpSpPr>
          <a:xfrm>
            <a:off x="555498" y="421958"/>
            <a:ext cx="11202544" cy="616077"/>
            <a:chOff x="555498" y="421958"/>
            <a:chExt cx="11202544" cy="616077"/>
          </a:xfrm>
        </p:grpSpPr>
        <p:sp>
          <p:nvSpPr>
            <p:cNvPr id="6" name="TextBox 6"/>
            <p:cNvSpPr txBox="1"/>
            <p:nvPr/>
          </p:nvSpPr>
          <p:spPr>
            <a:xfrm>
              <a:off x="555498" y="421958"/>
              <a:ext cx="11202544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The Complete Computational Drug Discovery Pipeline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762000" y="1714500"/>
            <a:ext cx="2095500" cy="2667000"/>
            <a:chOff x="762000" y="1714500"/>
            <a:chExt cx="2095500" cy="2667000"/>
          </a:xfrm>
        </p:grpSpPr>
        <p:sp>
          <p:nvSpPr>
            <p:cNvPr id="8" name="Rectangle 8"/>
            <p:cNvSpPr/>
            <p:nvPr/>
          </p:nvSpPr>
          <p:spPr>
            <a:xfrm>
              <a:off x="762000" y="1714500"/>
              <a:ext cx="2095500" cy="2667000"/>
            </a:xfrm>
            <a:prstGeom prst="roundRect">
              <a:avLst>
                <a:gd name="adj" fmla="val 6364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Rectangle 9"/>
            <p:cNvSpPr/>
            <p:nvPr/>
          </p:nvSpPr>
          <p:spPr>
            <a:xfrm>
              <a:off x="762000" y="1714500"/>
              <a:ext cx="2095500" cy="571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511587" y="1897380"/>
              <a:ext cx="59632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3600" b="1" dirty="0">
                  <a:solidFill>
                    <a:schemeClr val="accent1">
                      <a:alphaMod val="30000"/>
                    </a:schemeClr>
                  </a:solidFill>
                  <a:latin typeface="+mj-lt"/>
                  <a:ea typeface="+mj-ea"/>
                  <a:cs typeface="+mj-cs"/>
                </a:rPr>
                <a:t>01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407550" y="2584132"/>
              <a:ext cx="80440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Virtual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249832" y="2869882"/>
              <a:ext cx="111983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Screening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55889" y="3473768"/>
              <a:ext cx="13077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Screen 100K+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45210" y="3711892"/>
              <a:ext cx="13290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compounds via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457249" y="3950018"/>
              <a:ext cx="7050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docking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3048000" y="3381375"/>
            <a:ext cx="285750" cy="285750"/>
            <a:chOff x="3048000" y="3381375"/>
            <a:chExt cx="285750" cy="285750"/>
          </a:xfrm>
        </p:grpSpPr>
        <p:sp>
          <p:nvSpPr>
            <p:cNvPr id="17" name="Polygon 17"/>
            <p:cNvSpPr/>
            <p:nvPr/>
          </p:nvSpPr>
          <p:spPr>
            <a:xfrm>
              <a:off x="3048000" y="3381375"/>
              <a:ext cx="285750" cy="285750"/>
            </a:xfrm>
            <a:custGeom>
              <a:avLst/>
              <a:gdLst/>
              <a:ahLst/>
              <a:cxnLst/>
              <a:rect l="l" t="t" r="r" b="b"/>
              <a:pathLst>
                <a:path w="285750" h="285750">
                  <a:moveTo>
                    <a:pt x="0" y="0"/>
                  </a:moveTo>
                  <a:lnTo>
                    <a:pt x="285750" y="142875"/>
                  </a:lnTo>
                  <a:lnTo>
                    <a:pt x="0" y="285750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3619500" y="1714500"/>
            <a:ext cx="2095500" cy="2667000"/>
            <a:chOff x="3619500" y="1714500"/>
            <a:chExt cx="2095500" cy="2667000"/>
          </a:xfrm>
        </p:grpSpPr>
        <p:sp>
          <p:nvSpPr>
            <p:cNvPr id="19" name="Rectangle 19"/>
            <p:cNvSpPr/>
            <p:nvPr/>
          </p:nvSpPr>
          <p:spPr>
            <a:xfrm>
              <a:off x="3619500" y="1714500"/>
              <a:ext cx="2095500" cy="2667000"/>
            </a:xfrm>
            <a:prstGeom prst="roundRect">
              <a:avLst>
                <a:gd name="adj" fmla="val 6364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Rectangle 20"/>
            <p:cNvSpPr/>
            <p:nvPr/>
          </p:nvSpPr>
          <p:spPr>
            <a:xfrm>
              <a:off x="3619500" y="1714500"/>
              <a:ext cx="2095500" cy="57150"/>
            </a:xfrm>
            <a:prstGeom prst="roundRect">
              <a:avLst>
                <a:gd name="adj" fmla="val 50000"/>
              </a:avLst>
            </a:prstGeom>
            <a:solidFill>
              <a:srgbClr val="D43E8E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369087" y="1897380"/>
              <a:ext cx="59632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3600" b="1" dirty="0">
                  <a:solidFill>
                    <a:srgbClr val="D43E8E">
                      <a:alphaMod val="30000"/>
                    </a:srgbClr>
                  </a:solidFill>
                  <a:latin typeface="+mj-lt"/>
                  <a:ea typeface="+mj-ea"/>
                  <a:cs typeface="+mj-cs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295383" y="2584132"/>
              <a:ext cx="74373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ADMET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166006" y="2869882"/>
              <a:ext cx="100248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Filtering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986989" y="3473768"/>
              <a:ext cx="13605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Eliminate poor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021912" y="3711892"/>
              <a:ext cx="12906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drug-likeness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156329" y="3950018"/>
              <a:ext cx="102184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candidates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5905500" y="3381375"/>
            <a:ext cx="285750" cy="285750"/>
            <a:chOff x="5905500" y="3381375"/>
            <a:chExt cx="285750" cy="285750"/>
          </a:xfrm>
        </p:grpSpPr>
        <p:sp>
          <p:nvSpPr>
            <p:cNvPr id="28" name="Polygon 28"/>
            <p:cNvSpPr/>
            <p:nvPr/>
          </p:nvSpPr>
          <p:spPr>
            <a:xfrm>
              <a:off x="5905500" y="3381375"/>
              <a:ext cx="285750" cy="285750"/>
            </a:xfrm>
            <a:custGeom>
              <a:avLst/>
              <a:gdLst/>
              <a:ahLst/>
              <a:cxnLst/>
              <a:rect l="l" t="t" r="r" b="b"/>
              <a:pathLst>
                <a:path w="285750" h="285750">
                  <a:moveTo>
                    <a:pt x="0" y="0"/>
                  </a:moveTo>
                  <a:lnTo>
                    <a:pt x="285750" y="142875"/>
                  </a:lnTo>
                  <a:lnTo>
                    <a:pt x="0" y="285750"/>
                  </a:lnTo>
                  <a:close/>
                </a:path>
              </a:pathLst>
            </a:custGeom>
            <a:solidFill>
              <a:srgbClr val="D43E8E">
                <a:alpha val="70000"/>
              </a:srgb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477000" y="1714500"/>
            <a:ext cx="2095500" cy="2667000"/>
            <a:chOff x="6477000" y="1714500"/>
            <a:chExt cx="2095500" cy="2667000"/>
          </a:xfrm>
        </p:grpSpPr>
        <p:sp>
          <p:nvSpPr>
            <p:cNvPr id="30" name="Rectangle 30"/>
            <p:cNvSpPr/>
            <p:nvPr/>
          </p:nvSpPr>
          <p:spPr>
            <a:xfrm>
              <a:off x="6477000" y="1714500"/>
              <a:ext cx="2095500" cy="2667000"/>
            </a:xfrm>
            <a:prstGeom prst="roundRect">
              <a:avLst>
                <a:gd name="adj" fmla="val 6364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477000" y="1714500"/>
              <a:ext cx="2095500" cy="57150"/>
            </a:xfrm>
            <a:prstGeom prst="roundRect">
              <a:avLst>
                <a:gd name="adj" fmla="val 50000"/>
              </a:avLst>
            </a:prstGeom>
            <a:solidFill>
              <a:srgbClr val="B836C8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226587" y="1897380"/>
              <a:ext cx="59632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3600" b="1" dirty="0">
                  <a:solidFill>
                    <a:srgbClr val="B836C8">
                      <a:alphaMod val="30000"/>
                    </a:srgbClr>
                  </a:solidFill>
                  <a:latin typeface="+mj-lt"/>
                  <a:ea typeface="+mj-ea"/>
                  <a:cs typeface="+mj-cs"/>
                </a:rPr>
                <a:t>03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356188" y="2584132"/>
              <a:ext cx="33712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MD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959313" y="2869882"/>
              <a:ext cx="113087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Validation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791654" y="3473768"/>
              <a:ext cx="14661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Confirm binding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874612" y="3711892"/>
              <a:ext cx="13002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stability over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311466" y="3950018"/>
              <a:ext cx="4265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time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8763000" y="3381375"/>
            <a:ext cx="285750" cy="285750"/>
            <a:chOff x="8763000" y="3381375"/>
            <a:chExt cx="285750" cy="285750"/>
          </a:xfrm>
        </p:grpSpPr>
        <p:sp>
          <p:nvSpPr>
            <p:cNvPr id="39" name="Polygon 39"/>
            <p:cNvSpPr/>
            <p:nvPr/>
          </p:nvSpPr>
          <p:spPr>
            <a:xfrm>
              <a:off x="8763000" y="3381375"/>
              <a:ext cx="285750" cy="285750"/>
            </a:xfrm>
            <a:custGeom>
              <a:avLst/>
              <a:gdLst/>
              <a:ahLst/>
              <a:cxnLst/>
              <a:rect l="l" t="t" r="r" b="b"/>
              <a:pathLst>
                <a:path w="285750" h="285750">
                  <a:moveTo>
                    <a:pt x="0" y="0"/>
                  </a:moveTo>
                  <a:lnTo>
                    <a:pt x="285750" y="142875"/>
                  </a:lnTo>
                  <a:lnTo>
                    <a:pt x="0" y="285750"/>
                  </a:lnTo>
                  <a:close/>
                </a:path>
              </a:pathLst>
            </a:custGeom>
            <a:solidFill>
              <a:srgbClr val="B836C8">
                <a:alpha val="70000"/>
              </a:srgb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9334500" y="1714500"/>
            <a:ext cx="2095500" cy="2667000"/>
            <a:chOff x="9334500" y="1714500"/>
            <a:chExt cx="2095500" cy="2667000"/>
          </a:xfrm>
        </p:grpSpPr>
        <p:sp>
          <p:nvSpPr>
            <p:cNvPr id="41" name="Rectangle 41"/>
            <p:cNvSpPr/>
            <p:nvPr/>
          </p:nvSpPr>
          <p:spPr>
            <a:xfrm>
              <a:off x="9334500" y="1714500"/>
              <a:ext cx="2095500" cy="2667000"/>
            </a:xfrm>
            <a:prstGeom prst="roundRect">
              <a:avLst>
                <a:gd name="adj" fmla="val 6364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2" name="Rectangle 42"/>
            <p:cNvSpPr/>
            <p:nvPr/>
          </p:nvSpPr>
          <p:spPr>
            <a:xfrm>
              <a:off x="9334500" y="1714500"/>
              <a:ext cx="2095500" cy="571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084087" y="1897380"/>
              <a:ext cx="59632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3600" b="1" dirty="0">
                  <a:solidFill>
                    <a:schemeClr val="accent2">
                      <a:alphaMod val="30000"/>
                    </a:schemeClr>
                  </a:solidFill>
                  <a:latin typeface="+mj-lt"/>
                  <a:ea typeface="+mj-ea"/>
                  <a:cs typeface="+mj-cs"/>
                </a:rPr>
                <a:t>04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0113685" y="2584132"/>
              <a:ext cx="53712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Lead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641589" y="2869882"/>
              <a:ext cx="148132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Optimization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567108" y="3473768"/>
              <a:ext cx="163028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Refine structure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631299" y="3711892"/>
              <a:ext cx="15019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for potency and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866528" y="3950018"/>
              <a:ext cx="103144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selectivity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571500" y="5143500"/>
            <a:ext cx="11049000" cy="952500"/>
            <a:chOff x="571500" y="5143500"/>
            <a:chExt cx="11049000" cy="952500"/>
          </a:xfrm>
        </p:grpSpPr>
        <p:sp>
          <p:nvSpPr>
            <p:cNvPr id="50" name="Rectangle 50"/>
            <p:cNvSpPr/>
            <p:nvPr/>
          </p:nvSpPr>
          <p:spPr>
            <a:xfrm>
              <a:off x="571500" y="5143500"/>
              <a:ext cx="11049000" cy="952500"/>
            </a:xfrm>
            <a:prstGeom prst="roundRect">
              <a:avLst>
                <a:gd name="adj" fmla="val 14000"/>
              </a:avLst>
            </a:prstGeom>
            <a:solidFill>
              <a:schemeClr val="lt2">
                <a:alpha val="6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2495889" y="5346382"/>
              <a:ext cx="720022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100,000 compounds → 500 hits → 50 validated → 5 optimized leads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3989105" y="5740718"/>
              <a:ext cx="42137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Entire pipeline executable in days, not years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0" y="6619875"/>
            <a:ext cx="12192000" cy="238125"/>
            <a:chOff x="0" y="6619875"/>
            <a:chExt cx="12192000" cy="238125"/>
          </a:xfrm>
        </p:grpSpPr>
        <p:sp>
          <p:nvSpPr>
            <p:cNvPr id="54" name="Rectangle 54"/>
            <p:cNvSpPr/>
            <p:nvPr/>
          </p:nvSpPr>
          <p:spPr>
            <a:xfrm>
              <a:off x="0" y="6619875"/>
              <a:ext cx="12192000" cy="238125"/>
            </a:xfrm>
            <a:prstGeom prst="rect">
              <a:avLst/>
            </a:prstGeom>
            <a:solidFill>
              <a:srgbClr val="0D0F24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4203998" y="6692741"/>
              <a:ext cx="378400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dirty="0">
                  <a:solidFill>
                    <a:srgbClr val="7A85A8"/>
                  </a:solidFill>
                  <a:latin typeface="+mj-lt"/>
                  <a:ea typeface="+mj-ea"/>
                  <a:cs typeface="+mj-cs"/>
                </a:rPr>
                <a:t>BioDockify — Building the Future of AI-Driven Pharmaceutical Research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555498" y="421958"/>
            <a:ext cx="10250551" cy="616077"/>
            <a:chOff x="555498" y="421958"/>
            <a:chExt cx="10250551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555498" y="421958"/>
              <a:ext cx="10250551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Why Most Pharmacy Departments Don't Do This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71500" y="1428750"/>
            <a:ext cx="3524250" cy="3619500"/>
            <a:chOff x="571500" y="1428750"/>
            <a:chExt cx="3524250" cy="3619500"/>
          </a:xfrm>
        </p:grpSpPr>
        <p:sp>
          <p:nvSpPr>
            <p:cNvPr id="4" name="Rectangle 4"/>
            <p:cNvSpPr/>
            <p:nvPr/>
          </p:nvSpPr>
          <p:spPr>
            <a:xfrm>
              <a:off x="571500" y="1428750"/>
              <a:ext cx="3524250" cy="3619500"/>
            </a:xfrm>
            <a:prstGeom prst="roundRect">
              <a:avLst>
                <a:gd name="adj" fmla="val 3784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Rectangle 5"/>
            <p:cNvSpPr/>
            <p:nvPr/>
          </p:nvSpPr>
          <p:spPr>
            <a:xfrm>
              <a:off x="571500" y="1428750"/>
              <a:ext cx="3524250" cy="381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Rectangle 6"/>
            <p:cNvSpPr/>
            <p:nvPr/>
          </p:nvSpPr>
          <p:spPr>
            <a:xfrm>
              <a:off x="571500" y="1466850"/>
              <a:ext cx="3524250" cy="38100"/>
            </a:xfrm>
            <a:prstGeom prst="rect">
              <a:avLst/>
            </a:prstGeom>
            <a:solidFill>
              <a:srgbClr val="D43E8E">
                <a:alpha val="60000"/>
              </a:srgb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Rectangle 7"/>
            <p:cNvSpPr/>
            <p:nvPr/>
          </p:nvSpPr>
          <p:spPr>
            <a:xfrm>
              <a:off x="571500" y="1504950"/>
              <a:ext cx="3524250" cy="28575"/>
            </a:xfrm>
            <a:prstGeom prst="rect">
              <a:avLst/>
            </a:prstGeom>
            <a:solidFill>
              <a:schemeClr val="accent2">
                <a:alpha val="3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635401" y="1773555"/>
              <a:ext cx="139644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1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Hardware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952500" y="2238375"/>
              <a:ext cx="2762250" cy="9525"/>
            </a:xfrm>
            <a:custGeom>
              <a:avLst/>
              <a:gdLst/>
              <a:ahLst/>
              <a:cxnLst/>
              <a:rect l="l" t="t" r="r" b="b"/>
              <a:pathLst>
                <a:path w="2762250" h="9525">
                  <a:moveTo>
                    <a:pt x="0" y="0"/>
                  </a:moveTo>
                  <a:lnTo>
                    <a:pt x="2762250" y="0"/>
                  </a:lnTo>
                </a:path>
              </a:pathLst>
            </a:custGeom>
            <a:noFill/>
            <a:ln w="9525">
              <a:solidFill>
                <a:schemeClr val="accent3">
                  <a:alpha val="15000"/>
                </a:schemeClr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214209" y="2488882"/>
              <a:ext cx="22388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Linux workstations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67586" y="2869882"/>
              <a:ext cx="153207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GPU clusters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207399" y="3250882"/>
              <a:ext cx="225245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High-speed storage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546700" y="3964305"/>
              <a:ext cx="157385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1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$50K–200K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408652" y="4378642"/>
              <a:ext cx="184994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Capital expenditure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4333875" y="1428750"/>
            <a:ext cx="3524250" cy="3619500"/>
            <a:chOff x="4333875" y="1428750"/>
            <a:chExt cx="3524250" cy="3619500"/>
          </a:xfrm>
        </p:grpSpPr>
        <p:sp>
          <p:nvSpPr>
            <p:cNvPr id="16" name="Rectangle 16"/>
            <p:cNvSpPr/>
            <p:nvPr/>
          </p:nvSpPr>
          <p:spPr>
            <a:xfrm>
              <a:off x="4333875" y="1428750"/>
              <a:ext cx="3524250" cy="3619500"/>
            </a:xfrm>
            <a:prstGeom prst="roundRect">
              <a:avLst>
                <a:gd name="adj" fmla="val 3784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Rectangle 17"/>
            <p:cNvSpPr/>
            <p:nvPr/>
          </p:nvSpPr>
          <p:spPr>
            <a:xfrm>
              <a:off x="4333875" y="1428750"/>
              <a:ext cx="3524250" cy="381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Rectangle 18"/>
            <p:cNvSpPr/>
            <p:nvPr/>
          </p:nvSpPr>
          <p:spPr>
            <a:xfrm>
              <a:off x="4333875" y="1466850"/>
              <a:ext cx="3524250" cy="38100"/>
            </a:xfrm>
            <a:prstGeom prst="rect">
              <a:avLst/>
            </a:prstGeom>
            <a:solidFill>
              <a:srgbClr val="D43E8E">
                <a:alpha val="60000"/>
              </a:srgb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Rectangle 19"/>
            <p:cNvSpPr/>
            <p:nvPr/>
          </p:nvSpPr>
          <p:spPr>
            <a:xfrm>
              <a:off x="4333875" y="1504950"/>
              <a:ext cx="3524250" cy="28575"/>
            </a:xfrm>
            <a:prstGeom prst="rect">
              <a:avLst/>
            </a:prstGeom>
            <a:solidFill>
              <a:schemeClr val="accent2">
                <a:alpha val="3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576877" y="1773555"/>
              <a:ext cx="303824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1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Software Complexity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4714875" y="2238375"/>
              <a:ext cx="2762250" cy="9525"/>
            </a:xfrm>
            <a:custGeom>
              <a:avLst/>
              <a:gdLst/>
              <a:ahLst/>
              <a:cxnLst/>
              <a:rect l="l" t="t" r="r" b="b"/>
              <a:pathLst>
                <a:path w="2762250" h="9525">
                  <a:moveTo>
                    <a:pt x="0" y="0"/>
                  </a:moveTo>
                  <a:lnTo>
                    <a:pt x="2762250" y="0"/>
                  </a:lnTo>
                </a:path>
              </a:pathLst>
            </a:custGeom>
            <a:noFill/>
            <a:ln w="9525">
              <a:solidFill>
                <a:schemeClr val="accent3">
                  <a:alpha val="15000"/>
                </a:schemeClr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981665" y="2488882"/>
              <a:ext cx="222866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Command-line tools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129472" y="2869882"/>
              <a:ext cx="193305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Python scripting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906837" y="3250882"/>
              <a:ext cx="237832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Linux administration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417393" y="3964305"/>
              <a:ext cx="135721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1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20+ Tools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035663" y="4378642"/>
              <a:ext cx="212067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To learn and integrate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8096250" y="1428750"/>
            <a:ext cx="3524250" cy="3619500"/>
            <a:chOff x="8096250" y="1428750"/>
            <a:chExt cx="3524250" cy="3619500"/>
          </a:xfrm>
        </p:grpSpPr>
        <p:sp>
          <p:nvSpPr>
            <p:cNvPr id="28" name="Rectangle 28"/>
            <p:cNvSpPr/>
            <p:nvPr/>
          </p:nvSpPr>
          <p:spPr>
            <a:xfrm>
              <a:off x="8096250" y="1428750"/>
              <a:ext cx="3524250" cy="3619500"/>
            </a:xfrm>
            <a:prstGeom prst="roundRect">
              <a:avLst>
                <a:gd name="adj" fmla="val 3784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9" name="Rectangle 29"/>
            <p:cNvSpPr/>
            <p:nvPr/>
          </p:nvSpPr>
          <p:spPr>
            <a:xfrm>
              <a:off x="8096250" y="1428750"/>
              <a:ext cx="3524250" cy="381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Rectangle 30"/>
            <p:cNvSpPr/>
            <p:nvPr/>
          </p:nvSpPr>
          <p:spPr>
            <a:xfrm>
              <a:off x="8096250" y="1466850"/>
              <a:ext cx="3524250" cy="38100"/>
            </a:xfrm>
            <a:prstGeom prst="rect">
              <a:avLst/>
            </a:prstGeom>
            <a:solidFill>
              <a:srgbClr val="D43E8E">
                <a:alpha val="60000"/>
              </a:srgb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Rectangle 31"/>
            <p:cNvSpPr/>
            <p:nvPr/>
          </p:nvSpPr>
          <p:spPr>
            <a:xfrm>
              <a:off x="8096250" y="1504950"/>
              <a:ext cx="3524250" cy="28575"/>
            </a:xfrm>
            <a:prstGeom prst="rect">
              <a:avLst/>
            </a:prstGeom>
            <a:solidFill>
              <a:schemeClr val="accent2">
                <a:alpha val="3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769788" y="1773555"/>
              <a:ext cx="217717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1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Learning Curve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8477250" y="2238375"/>
              <a:ext cx="2762250" cy="9525"/>
            </a:xfrm>
            <a:custGeom>
              <a:avLst/>
              <a:gdLst/>
              <a:ahLst/>
              <a:cxnLst/>
              <a:rect l="l" t="t" r="r" b="b"/>
              <a:pathLst>
                <a:path w="2762250" h="9525">
                  <a:moveTo>
                    <a:pt x="0" y="0"/>
                  </a:moveTo>
                  <a:lnTo>
                    <a:pt x="2762250" y="0"/>
                  </a:lnTo>
                </a:path>
              </a:pathLst>
            </a:custGeom>
            <a:noFill/>
            <a:ln w="9525">
              <a:solidFill>
                <a:schemeClr val="accent3">
                  <a:alpha val="15000"/>
                </a:schemeClr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608249" y="2488882"/>
              <a:ext cx="250025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Months of self-study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533474" y="2869882"/>
              <a:ext cx="26498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No structured training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985196" y="3250882"/>
              <a:ext cx="174635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Trial and error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948795" y="3964305"/>
              <a:ext cx="1819161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1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6–12 Months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717235" y="4378642"/>
              <a:ext cx="22822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Before first publication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3238242" y="5774055"/>
            <a:ext cx="5715517" cy="410718"/>
            <a:chOff x="3238242" y="5774055"/>
            <a:chExt cx="5715517" cy="410718"/>
          </a:xfrm>
        </p:grpSpPr>
        <p:sp>
          <p:nvSpPr>
            <p:cNvPr id="40" name="TextBox 40"/>
            <p:cNvSpPr txBox="1"/>
            <p:nvPr/>
          </p:nvSpPr>
          <p:spPr>
            <a:xfrm>
              <a:off x="3238242" y="5774055"/>
              <a:ext cx="571551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1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What if all three barriers disappeared?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0" y="6619875"/>
            <a:ext cx="12192000" cy="238125"/>
            <a:chOff x="0" y="6619875"/>
            <a:chExt cx="12192000" cy="238125"/>
          </a:xfrm>
        </p:grpSpPr>
        <p:sp>
          <p:nvSpPr>
            <p:cNvPr id="42" name="Rectangle 42"/>
            <p:cNvSpPr/>
            <p:nvPr/>
          </p:nvSpPr>
          <p:spPr>
            <a:xfrm>
              <a:off x="0" y="6619875"/>
              <a:ext cx="12192000" cy="238125"/>
            </a:xfrm>
            <a:prstGeom prst="rect">
              <a:avLst/>
            </a:prstGeom>
            <a:solidFill>
              <a:srgbClr val="0D0F24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203998" y="6692741"/>
              <a:ext cx="378400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dirty="0">
                  <a:solidFill>
                    <a:srgbClr val="7A85A8"/>
                  </a:solidFill>
                  <a:latin typeface="+mj-lt"/>
                  <a:ea typeface="+mj-ea"/>
                  <a:cs typeface="+mj-cs"/>
                </a:rPr>
                <a:t>BioDockify — Building the Future of AI-Driven Pharmaceutical Research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20"/>
          <p:cNvGrpSpPr/>
          <p:nvPr/>
        </p:nvGrpSpPr>
        <p:grpSpPr>
          <a:xfrm>
            <a:off x="723900" y="733425"/>
            <a:ext cx="10744200" cy="5495925"/>
            <a:chOff x="723900" y="733425"/>
            <a:chExt cx="10744200" cy="5495925"/>
          </a:xfrm>
        </p:grpSpPr>
        <p:sp>
          <p:nvSpPr>
            <p:cNvPr id="2" name="Ellipse 2"/>
            <p:cNvSpPr/>
            <p:nvPr/>
          </p:nvSpPr>
          <p:spPr>
            <a:xfrm>
              <a:off x="1104900" y="1390650"/>
              <a:ext cx="76200" cy="76200"/>
            </a:xfrm>
            <a:prstGeom prst="ellipse">
              <a:avLst/>
            </a:prstGeom>
            <a:solidFill>
              <a:schemeClr val="accent1">
                <a:alpha val="12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" name="Ellipse 3"/>
            <p:cNvSpPr/>
            <p:nvPr/>
          </p:nvSpPr>
          <p:spPr>
            <a:xfrm>
              <a:off x="1876425" y="923925"/>
              <a:ext cx="57150" cy="57150"/>
            </a:xfrm>
            <a:prstGeom prst="ellipse">
              <a:avLst/>
            </a:prstGeom>
            <a:solidFill>
              <a:schemeClr val="accent2">
                <a:alpha val="1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Line 4"/>
            <p:cNvSpPr/>
            <p:nvPr/>
          </p:nvSpPr>
          <p:spPr>
            <a:xfrm>
              <a:off x="1143000" y="952500"/>
              <a:ext cx="762000" cy="476250"/>
            </a:xfrm>
            <a:custGeom>
              <a:avLst/>
              <a:gdLst/>
              <a:ahLst/>
              <a:cxnLst/>
              <a:rect l="l" t="t" r="r" b="b"/>
              <a:pathLst>
                <a:path w="762000" h="476250">
                  <a:moveTo>
                    <a:pt x="0" y="476250"/>
                  </a:moveTo>
                  <a:lnTo>
                    <a:pt x="762000" y="0"/>
                  </a:lnTo>
                </a:path>
              </a:pathLst>
            </a:custGeom>
            <a:noFill/>
            <a:ln w="9525">
              <a:solidFill>
                <a:schemeClr val="accent3">
                  <a:alpha val="6000"/>
                </a:schemeClr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Ellipse 5"/>
            <p:cNvSpPr/>
            <p:nvPr/>
          </p:nvSpPr>
          <p:spPr>
            <a:xfrm>
              <a:off x="10429875" y="5667375"/>
              <a:ext cx="95250" cy="95250"/>
            </a:xfrm>
            <a:prstGeom prst="ellipse">
              <a:avLst/>
            </a:prstGeom>
            <a:solidFill>
              <a:schemeClr val="accent1">
                <a:alpha val="1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Ellipse 6"/>
            <p:cNvSpPr/>
            <p:nvPr/>
          </p:nvSpPr>
          <p:spPr>
            <a:xfrm>
              <a:off x="11210925" y="5305425"/>
              <a:ext cx="57150" cy="57150"/>
            </a:xfrm>
            <a:prstGeom prst="ellipse">
              <a:avLst/>
            </a:prstGeom>
            <a:solidFill>
              <a:schemeClr val="accent2">
                <a:alpha val="8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Line 7"/>
            <p:cNvSpPr/>
            <p:nvPr/>
          </p:nvSpPr>
          <p:spPr>
            <a:xfrm>
              <a:off x="10477500" y="5334000"/>
              <a:ext cx="762000" cy="381000"/>
            </a:xfrm>
            <a:custGeom>
              <a:avLst/>
              <a:gdLst/>
              <a:ahLst/>
              <a:cxnLst/>
              <a:rect l="l" t="t" r="r" b="b"/>
              <a:pathLst>
                <a:path w="762000" h="381000">
                  <a:moveTo>
                    <a:pt x="0" y="381000"/>
                  </a:moveTo>
                  <a:lnTo>
                    <a:pt x="762000" y="0"/>
                  </a:lnTo>
                </a:path>
              </a:pathLst>
            </a:custGeom>
            <a:noFill/>
            <a:ln w="9525">
              <a:solidFill>
                <a:schemeClr val="accent3">
                  <a:alpha val="6000"/>
                </a:schemeClr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Ellipse 8"/>
            <p:cNvSpPr/>
            <p:nvPr/>
          </p:nvSpPr>
          <p:spPr>
            <a:xfrm>
              <a:off x="9963150" y="6153150"/>
              <a:ext cx="76200" cy="76200"/>
            </a:xfrm>
            <a:prstGeom prst="ellipse">
              <a:avLst/>
            </a:prstGeom>
            <a:solidFill>
              <a:schemeClr val="accent3">
                <a:alpha val="8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Line 9"/>
            <p:cNvSpPr/>
            <p:nvPr/>
          </p:nvSpPr>
          <p:spPr>
            <a:xfrm>
              <a:off x="10001250" y="5715000"/>
              <a:ext cx="476250" cy="476250"/>
            </a:xfrm>
            <a:custGeom>
              <a:avLst/>
              <a:gdLst/>
              <a:ahLst/>
              <a:cxnLst/>
              <a:rect l="l" t="t" r="r" b="b"/>
              <a:pathLst>
                <a:path w="476250" h="476250">
                  <a:moveTo>
                    <a:pt x="476250" y="0"/>
                  </a:moveTo>
                  <a:lnTo>
                    <a:pt x="0" y="476250"/>
                  </a:lnTo>
                </a:path>
              </a:pathLst>
            </a:custGeom>
            <a:noFill/>
            <a:ln w="9525">
              <a:solidFill>
                <a:schemeClr val="accent3">
                  <a:alpha val="5000"/>
                </a:schemeClr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Ellipse 10"/>
            <p:cNvSpPr/>
            <p:nvPr/>
          </p:nvSpPr>
          <p:spPr>
            <a:xfrm>
              <a:off x="1400175" y="5495925"/>
              <a:ext cx="57150" cy="57150"/>
            </a:xfrm>
            <a:prstGeom prst="ellipse">
              <a:avLst/>
            </a:prstGeom>
            <a:solidFill>
              <a:schemeClr val="accent2">
                <a:alpha val="1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Ellipse 11"/>
            <p:cNvSpPr/>
            <p:nvPr/>
          </p:nvSpPr>
          <p:spPr>
            <a:xfrm>
              <a:off x="723900" y="5867400"/>
              <a:ext cx="76200" cy="76200"/>
            </a:xfrm>
            <a:prstGeom prst="ellipse">
              <a:avLst/>
            </a:prstGeom>
            <a:solidFill>
              <a:schemeClr val="accent1">
                <a:alpha val="8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Line 12"/>
            <p:cNvSpPr/>
            <p:nvPr/>
          </p:nvSpPr>
          <p:spPr>
            <a:xfrm>
              <a:off x="762000" y="5524500"/>
              <a:ext cx="666750" cy="381000"/>
            </a:xfrm>
            <a:custGeom>
              <a:avLst/>
              <a:gdLst/>
              <a:ahLst/>
              <a:cxnLst/>
              <a:rect l="l" t="t" r="r" b="b"/>
              <a:pathLst>
                <a:path w="666750" h="381000">
                  <a:moveTo>
                    <a:pt x="666750" y="0"/>
                  </a:moveTo>
                  <a:lnTo>
                    <a:pt x="0" y="381000"/>
                  </a:lnTo>
                </a:path>
              </a:pathLst>
            </a:custGeom>
            <a:noFill/>
            <a:ln w="9525">
              <a:solidFill>
                <a:schemeClr val="accent3">
                  <a:alpha val="6000"/>
                </a:schemeClr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Ellipse 13"/>
            <p:cNvSpPr/>
            <p:nvPr/>
          </p:nvSpPr>
          <p:spPr>
            <a:xfrm>
              <a:off x="10925175" y="1114425"/>
              <a:ext cx="57150" cy="57150"/>
            </a:xfrm>
            <a:prstGeom prst="ellipse">
              <a:avLst/>
            </a:prstGeom>
            <a:solidFill>
              <a:schemeClr val="accent1">
                <a:alpha val="1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Ellipse 14"/>
            <p:cNvSpPr/>
            <p:nvPr/>
          </p:nvSpPr>
          <p:spPr>
            <a:xfrm>
              <a:off x="11391900" y="1485900"/>
              <a:ext cx="76200" cy="76200"/>
            </a:xfrm>
            <a:prstGeom prst="ellipse">
              <a:avLst/>
            </a:prstGeom>
            <a:solidFill>
              <a:schemeClr val="accent2">
                <a:alpha val="8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Line 15"/>
            <p:cNvSpPr/>
            <p:nvPr/>
          </p:nvSpPr>
          <p:spPr>
            <a:xfrm>
              <a:off x="10953750" y="1143000"/>
              <a:ext cx="476250" cy="381000"/>
            </a:xfrm>
            <a:custGeom>
              <a:avLst/>
              <a:gdLst/>
              <a:ahLst/>
              <a:cxnLst/>
              <a:rect l="l" t="t" r="r" b="b"/>
              <a:pathLst>
                <a:path w="476250" h="381000">
                  <a:moveTo>
                    <a:pt x="0" y="0"/>
                  </a:moveTo>
                  <a:lnTo>
                    <a:pt x="476250" y="381000"/>
                  </a:lnTo>
                </a:path>
              </a:pathLst>
            </a:custGeom>
            <a:noFill/>
            <a:ln w="9525">
              <a:solidFill>
                <a:schemeClr val="accent3">
                  <a:alpha val="6000"/>
                </a:schemeClr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Ellipse 16"/>
            <p:cNvSpPr/>
            <p:nvPr/>
          </p:nvSpPr>
          <p:spPr>
            <a:xfrm>
              <a:off x="2828925" y="6162675"/>
              <a:ext cx="57150" cy="57150"/>
            </a:xfrm>
            <a:prstGeom prst="ellipse">
              <a:avLst/>
            </a:prstGeom>
            <a:solidFill>
              <a:schemeClr val="accent3">
                <a:alpha val="7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Ellipse 17"/>
            <p:cNvSpPr/>
            <p:nvPr/>
          </p:nvSpPr>
          <p:spPr>
            <a:xfrm>
              <a:off x="9020175" y="733425"/>
              <a:ext cx="57150" cy="57150"/>
            </a:xfrm>
            <a:prstGeom prst="ellipse">
              <a:avLst/>
            </a:prstGeom>
            <a:solidFill>
              <a:schemeClr val="accent3">
                <a:alpha val="7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Ellipse 18"/>
            <p:cNvSpPr/>
            <p:nvPr/>
          </p:nvSpPr>
          <p:spPr>
            <a:xfrm>
              <a:off x="3790950" y="933450"/>
              <a:ext cx="38100" cy="38100"/>
            </a:xfrm>
            <a:prstGeom prst="ellipse">
              <a:avLst/>
            </a:prstGeom>
            <a:solidFill>
              <a:schemeClr val="accent1">
                <a:alpha val="6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Ellipse 19"/>
            <p:cNvSpPr/>
            <p:nvPr/>
          </p:nvSpPr>
          <p:spPr>
            <a:xfrm>
              <a:off x="8553450" y="6172200"/>
              <a:ext cx="38100" cy="38100"/>
            </a:xfrm>
            <a:prstGeom prst="ellipse">
              <a:avLst/>
            </a:prstGeom>
            <a:solidFill>
              <a:schemeClr val="accent2">
                <a:alpha val="6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2115543" y="2422208"/>
            <a:ext cx="7960915" cy="616077"/>
            <a:chOff x="2115543" y="2422208"/>
            <a:chExt cx="7960915" cy="616077"/>
          </a:xfrm>
        </p:grpSpPr>
        <p:sp>
          <p:nvSpPr>
            <p:cNvPr id="21" name="TextBox 21"/>
            <p:cNvSpPr txBox="1"/>
            <p:nvPr/>
          </p:nvSpPr>
          <p:spPr>
            <a:xfrm>
              <a:off x="2115543" y="2422208"/>
              <a:ext cx="796091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What If Your Browser Was Your Lab?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492953" y="3550920"/>
            <a:ext cx="9206094" cy="469392"/>
            <a:chOff x="1492953" y="3550920"/>
            <a:chExt cx="9206094" cy="469392"/>
          </a:xfrm>
        </p:grpSpPr>
        <p:sp>
          <p:nvSpPr>
            <p:cNvPr id="23" name="TextBox 23"/>
            <p:cNvSpPr txBox="1"/>
            <p:nvPr/>
          </p:nvSpPr>
          <p:spPr>
            <a:xfrm>
              <a:off x="1492953" y="3550920"/>
              <a:ext cx="920609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4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No installation. No command line. No hardware budget.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5143500" y="4286250"/>
            <a:ext cx="1905000" cy="28575"/>
            <a:chOff x="5143500" y="4286250"/>
            <a:chExt cx="1905000" cy="28575"/>
          </a:xfrm>
        </p:grpSpPr>
        <p:sp>
          <p:nvSpPr>
            <p:cNvPr id="25" name="Rectangle 25"/>
            <p:cNvSpPr/>
            <p:nvPr/>
          </p:nvSpPr>
          <p:spPr>
            <a:xfrm>
              <a:off x="5143500" y="4286250"/>
              <a:ext cx="1905000" cy="28575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alpha val="6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0" y="6619875"/>
            <a:ext cx="12192000" cy="238125"/>
            <a:chOff x="0" y="6619875"/>
            <a:chExt cx="12192000" cy="238125"/>
          </a:xfrm>
        </p:grpSpPr>
        <p:sp>
          <p:nvSpPr>
            <p:cNvPr id="27" name="Rectangle 27"/>
            <p:cNvSpPr/>
            <p:nvPr/>
          </p:nvSpPr>
          <p:spPr>
            <a:xfrm>
              <a:off x="0" y="6619875"/>
              <a:ext cx="12192000" cy="238125"/>
            </a:xfrm>
            <a:prstGeom prst="rect">
              <a:avLst/>
            </a:prstGeom>
            <a:solidFill>
              <a:srgbClr val="0D0F24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203998" y="6692741"/>
              <a:ext cx="378400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dirty="0">
                  <a:solidFill>
                    <a:srgbClr val="7A85A8"/>
                  </a:solidFill>
                  <a:latin typeface="+mj-lt"/>
                  <a:ea typeface="+mj-ea"/>
                  <a:cs typeface="+mj-cs"/>
                </a:rPr>
                <a:t>BioDockify — Building the Future of AI-Driven Pharmaceutical Research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936498" y="421958"/>
            <a:ext cx="5984988" cy="616077"/>
            <a:chOff x="936498" y="421958"/>
            <a:chExt cx="5984988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936498" y="421958"/>
              <a:ext cx="598498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Two Ways to Use BioDockify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762000" y="1143000"/>
            <a:ext cx="5143500" cy="5143500"/>
            <a:chOff x="762000" y="1143000"/>
            <a:chExt cx="5143500" cy="5143500"/>
          </a:xfrm>
        </p:grpSpPr>
        <p:sp>
          <p:nvSpPr>
            <p:cNvPr id="4" name="Rectangle 4"/>
            <p:cNvSpPr/>
            <p:nvPr/>
          </p:nvSpPr>
          <p:spPr>
            <a:xfrm>
              <a:off x="762000" y="1143000"/>
              <a:ext cx="5143500" cy="5143500"/>
            </a:xfrm>
            <a:prstGeom prst="roundRect">
              <a:avLst>
                <a:gd name="adj" fmla="val 2593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Rectangle 5"/>
            <p:cNvSpPr/>
            <p:nvPr/>
          </p:nvSpPr>
          <p:spPr>
            <a:xfrm>
              <a:off x="762000" y="1143000"/>
              <a:ext cx="5143500" cy="47625"/>
            </a:xfrm>
            <a:prstGeom prst="roundRect">
              <a:avLst>
                <a:gd name="adj" fmla="val 4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2015231" y="1440180"/>
              <a:ext cx="263703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1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Community Edition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2619331" y="1806892"/>
              <a:ext cx="14288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Run it yourself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1428750" y="2143125"/>
              <a:ext cx="3810000" cy="9525"/>
            </a:xfrm>
            <a:custGeom>
              <a:avLst/>
              <a:gdLst/>
              <a:ahLst/>
              <a:cxnLst/>
              <a:rect l="l" t="t" r="r" b="b"/>
              <a:pathLst>
                <a:path w="3810000" h="9525">
                  <a:moveTo>
                    <a:pt x="0" y="0"/>
                  </a:moveTo>
                  <a:lnTo>
                    <a:pt x="3810000" y="0"/>
                  </a:lnTo>
                </a:path>
              </a:pathLst>
            </a:custGeom>
            <a:noFill/>
            <a:ln w="9525">
              <a:solidFill>
                <a:schemeClr val="dk1">
                  <a:alpha val="10000"/>
                </a:schemeClr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516380" y="2409825"/>
              <a:ext cx="283904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61925" indent="-161925" algn="l">
                <a:buClr>
                  <a:schemeClr val="dk1"/>
                </a:buClr>
                <a:buSzTx/>
                <a:buFontTx/>
                <a:buChar char="•"/>
              </a:pPr>
              <a:r>
                <a:rPr lang="e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Docker-based deployment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516380" y="2790825"/>
              <a:ext cx="340394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61925" indent="-161925" algn="l">
                <a:buClr>
                  <a:schemeClr val="dk1"/>
                </a:buClr>
                <a:buSzTx/>
                <a:buFontTx/>
                <a:buChar char="•"/>
              </a:pPr>
              <a:r>
                <a:rPr lang="e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Local / on-premise installation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16380" y="3171825"/>
              <a:ext cx="314842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61925" indent="-161925" algn="l">
                <a:buClr>
                  <a:schemeClr val="dk1"/>
                </a:buClr>
                <a:buSzTx/>
                <a:buFontTx/>
                <a:buChar char="•"/>
              </a:pPr>
              <a:r>
                <a:rPr lang="e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Free access (MIT Licensed)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516380" y="3552825"/>
              <a:ext cx="390454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61925" indent="-161925" algn="l">
                <a:buClr>
                  <a:schemeClr val="dk1"/>
                </a:buClr>
                <a:buSzTx/>
                <a:buFontTx/>
                <a:buChar char="•"/>
              </a:pPr>
              <a:r>
                <a:rPr lang="e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Researcher-controlled environment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516380" y="3933825"/>
              <a:ext cx="284416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61925" indent="-161925" algn="l">
                <a:buClr>
                  <a:schemeClr val="dk1"/>
                </a:buClr>
                <a:buSzTx/>
                <a:buFontTx/>
                <a:buChar char="•"/>
              </a:pPr>
              <a:r>
                <a:rPr lang="e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22 scientific tool modules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516380" y="4314825"/>
              <a:ext cx="305205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61925" indent="-161925" algn="l">
                <a:buClr>
                  <a:schemeClr val="dk1"/>
                </a:buClr>
                <a:buSzTx/>
                <a:buFontTx/>
                <a:buChar char="•"/>
              </a:pPr>
              <a:r>
                <a:rPr lang="e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Students &amp; faculty friendly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517904" y="4918710"/>
              <a:ext cx="312481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Best for: Individual researchers, labs,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517904" y="5156835"/>
              <a:ext cx="280057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institutions with IT infrastructure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6286500" y="1143000"/>
            <a:ext cx="5143500" cy="5143500"/>
            <a:chOff x="6286500" y="1143000"/>
            <a:chExt cx="5143500" cy="5143500"/>
          </a:xfrm>
        </p:grpSpPr>
        <p:sp>
          <p:nvSpPr>
            <p:cNvPr id="18" name="Rectangle 18"/>
            <p:cNvSpPr/>
            <p:nvPr/>
          </p:nvSpPr>
          <p:spPr>
            <a:xfrm>
              <a:off x="6286500" y="1143000"/>
              <a:ext cx="5143500" cy="5143500"/>
            </a:xfrm>
            <a:prstGeom prst="roundRect">
              <a:avLst>
                <a:gd name="adj" fmla="val 2593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Rectangle 19"/>
            <p:cNvSpPr/>
            <p:nvPr/>
          </p:nvSpPr>
          <p:spPr>
            <a:xfrm>
              <a:off x="6286500" y="1143000"/>
              <a:ext cx="5143500" cy="47625"/>
            </a:xfrm>
            <a:prstGeom prst="roundRect">
              <a:avLst>
                <a:gd name="adj" fmla="val 4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229540" y="1440180"/>
              <a:ext cx="325742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1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Premium Web Platform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90431" y="1806892"/>
              <a:ext cx="233563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AI research environment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6953250" y="2143125"/>
              <a:ext cx="3810000" cy="9525"/>
            </a:xfrm>
            <a:custGeom>
              <a:avLst/>
              <a:gdLst/>
              <a:ahLst/>
              <a:cxnLst/>
              <a:rect l="l" t="t" r="r" b="b"/>
              <a:pathLst>
                <a:path w="3810000" h="9525">
                  <a:moveTo>
                    <a:pt x="0" y="0"/>
                  </a:moveTo>
                  <a:lnTo>
                    <a:pt x="3810000" y="0"/>
                  </a:lnTo>
                </a:path>
              </a:pathLst>
            </a:custGeom>
            <a:noFill/>
            <a:ln w="9525">
              <a:solidFill>
                <a:schemeClr val="dk1">
                  <a:alpha val="10000"/>
                </a:schemeClr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040880" y="2409825"/>
              <a:ext cx="20726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61925" indent="-161925" algn="l">
                <a:buClr>
                  <a:schemeClr val="dk1"/>
                </a:buClr>
                <a:buSzTx/>
                <a:buFontTx/>
                <a:buChar char="•"/>
              </a:pPr>
              <a:r>
                <a:rPr lang="e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Web-based access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040880" y="2790825"/>
              <a:ext cx="297353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61925" indent="-161925" algn="l">
                <a:buClr>
                  <a:schemeClr val="dk1"/>
                </a:buClr>
                <a:buSzTx/>
                <a:buFontTx/>
                <a:buChar char="•"/>
              </a:pPr>
              <a:r>
                <a:rPr lang="e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Advanced AI orchestration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040880" y="3171825"/>
              <a:ext cx="240093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61925" indent="-161925" algn="l">
                <a:buClr>
                  <a:schemeClr val="dk1"/>
                </a:buClr>
                <a:buSzTx/>
                <a:buFontTx/>
                <a:buChar char="•"/>
              </a:pPr>
              <a:r>
                <a:rPr lang="e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Workflow automation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040880" y="3552825"/>
              <a:ext cx="31467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61925" indent="-161925" algn="l">
                <a:buClr>
                  <a:schemeClr val="dk1"/>
                </a:buClr>
                <a:buSzTx/>
                <a:buFontTx/>
                <a:buChar char="•"/>
              </a:pPr>
              <a:r>
                <a:rPr lang="e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Team collaboration features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040880" y="3933825"/>
              <a:ext cx="23887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61925" indent="-161925" algn="l">
                <a:buClr>
                  <a:schemeClr val="dk1"/>
                </a:buClr>
                <a:buSzTx/>
                <a:buFontTx/>
                <a:buChar char="•"/>
              </a:pPr>
              <a:r>
                <a:rPr lang="e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Cloud infrastructure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040880" y="4314825"/>
              <a:ext cx="312866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61925" indent="-161925" algn="l">
                <a:buClr>
                  <a:schemeClr val="dk1"/>
                </a:buClr>
                <a:buSzTx/>
                <a:buFontTx/>
                <a:buChar char="•"/>
              </a:pPr>
              <a:r>
                <a:rPr lang="e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Premium features &amp; support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042404" y="4918710"/>
              <a:ext cx="369920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Best for: Research teams, pharma companies,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042404" y="5156835"/>
              <a:ext cx="31865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organizations needing managed solutions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0" y="6619875"/>
            <a:ext cx="12192000" cy="238125"/>
            <a:chOff x="0" y="6619875"/>
            <a:chExt cx="12192000" cy="238125"/>
          </a:xfrm>
        </p:grpSpPr>
        <p:sp>
          <p:nvSpPr>
            <p:cNvPr id="32" name="Rectangle 32"/>
            <p:cNvSpPr/>
            <p:nvPr/>
          </p:nvSpPr>
          <p:spPr>
            <a:xfrm>
              <a:off x="0" y="6619875"/>
              <a:ext cx="12192000" cy="238125"/>
            </a:xfrm>
            <a:prstGeom prst="rect">
              <a:avLst/>
            </a:prstGeom>
            <a:solidFill>
              <a:srgbClr val="0D0F24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203998" y="6692741"/>
              <a:ext cx="378400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dirty="0">
                  <a:solidFill>
                    <a:srgbClr val="7A85A8"/>
                  </a:solidFill>
                  <a:latin typeface="+mj-lt"/>
                  <a:ea typeface="+mj-ea"/>
                  <a:cs typeface="+mj-cs"/>
                </a:rPr>
                <a:t>BioDockify — Building the Future of AI-Driven Pharmaceutical Research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938022" y="454342"/>
            <a:ext cx="8118725" cy="557403"/>
            <a:chOff x="938022" y="454342"/>
            <a:chExt cx="8118725" cy="557403"/>
          </a:xfrm>
        </p:grpSpPr>
        <p:sp>
          <p:nvSpPr>
            <p:cNvPr id="2" name="TextBox 2"/>
            <p:cNvSpPr txBox="1"/>
            <p:nvPr/>
          </p:nvSpPr>
          <p:spPr>
            <a:xfrm>
              <a:off x="938022" y="454342"/>
              <a:ext cx="8118725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8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BioDockify Pharma AI — Community Edition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2824331" y="1884998"/>
            <a:ext cx="6543338" cy="762381"/>
            <a:chOff x="2824331" y="1884998"/>
            <a:chExt cx="6543338" cy="762381"/>
          </a:xfrm>
        </p:grpSpPr>
        <p:sp>
          <p:nvSpPr>
            <p:cNvPr id="4" name="TextBox 4"/>
            <p:cNvSpPr txBox="1"/>
            <p:nvPr/>
          </p:nvSpPr>
          <p:spPr>
            <a:xfrm>
              <a:off x="2824331" y="1884998"/>
              <a:ext cx="654333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Professional pharmaceutical research software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3485769" y="2265998"/>
              <a:ext cx="522046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that researchers can run themselves.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524000" y="3524250"/>
            <a:ext cx="9239250" cy="419100"/>
            <a:chOff x="1524000" y="3524250"/>
            <a:chExt cx="9239250" cy="419100"/>
          </a:xfrm>
        </p:grpSpPr>
        <p:sp>
          <p:nvSpPr>
            <p:cNvPr id="7" name="Rectangle 7"/>
            <p:cNvSpPr/>
            <p:nvPr/>
          </p:nvSpPr>
          <p:spPr>
            <a:xfrm>
              <a:off x="1524000" y="3524250"/>
              <a:ext cx="1428750" cy="419100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alpha val="9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740675" y="3661410"/>
              <a:ext cx="99540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15+ Modules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3429000" y="3524250"/>
              <a:ext cx="1619250" cy="419100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alpha val="9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669899" y="3661410"/>
              <a:ext cx="113745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Docker-based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524500" y="3524250"/>
              <a:ext cx="1524000" cy="419100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alpha val="9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756739" y="3661410"/>
              <a:ext cx="105952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MIT Licensed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7524750" y="3524250"/>
              <a:ext cx="1238250" cy="419100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alpha val="9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857904" y="3661410"/>
              <a:ext cx="5719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v7.9.8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9239250" y="3524250"/>
              <a:ext cx="1524000" cy="419100"/>
            </a:xfrm>
            <a:prstGeom prst="roundRect">
              <a:avLst>
                <a:gd name="adj" fmla="val 50000"/>
              </a:avLst>
            </a:prstGeom>
            <a:solidFill>
              <a:schemeClr val="accent2">
                <a:alpha val="9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544298" y="3661410"/>
              <a:ext cx="91390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Agent Zero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905000" y="4616768"/>
            <a:ext cx="8382000" cy="1479232"/>
            <a:chOff x="1905000" y="4616768"/>
            <a:chExt cx="8382000" cy="1479232"/>
          </a:xfrm>
        </p:grpSpPr>
        <p:sp>
          <p:nvSpPr>
            <p:cNvPr id="18" name="TextBox 18"/>
            <p:cNvSpPr txBox="1"/>
            <p:nvPr/>
          </p:nvSpPr>
          <p:spPr>
            <a:xfrm>
              <a:off x="3055053" y="4616768"/>
              <a:ext cx="608189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Built on Agent Zero framework | 22 integrated research modules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1905000" y="5143500"/>
              <a:ext cx="8382000" cy="952500"/>
            </a:xfrm>
            <a:prstGeom prst="roundRect">
              <a:avLst>
                <a:gd name="adj" fmla="val 14000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677139" y="5314950"/>
              <a:ext cx="683772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Designed for researchers who want full control over their tools,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093464" y="5600700"/>
              <a:ext cx="40050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data, and computational environment.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0" y="6619875"/>
            <a:ext cx="12192000" cy="238125"/>
            <a:chOff x="0" y="6619875"/>
            <a:chExt cx="12192000" cy="238125"/>
          </a:xfrm>
        </p:grpSpPr>
        <p:sp>
          <p:nvSpPr>
            <p:cNvPr id="23" name="Rectangle 23"/>
            <p:cNvSpPr/>
            <p:nvPr/>
          </p:nvSpPr>
          <p:spPr>
            <a:xfrm>
              <a:off x="0" y="6619875"/>
              <a:ext cx="12192000" cy="238125"/>
            </a:xfrm>
            <a:prstGeom prst="rect">
              <a:avLst/>
            </a:prstGeom>
            <a:solidFill>
              <a:srgbClr val="0D0F24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203998" y="6692741"/>
              <a:ext cx="378400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dirty="0">
                  <a:solidFill>
                    <a:srgbClr val="7A85A8"/>
                  </a:solidFill>
                  <a:latin typeface="+mj-lt"/>
                  <a:ea typeface="+mj-ea"/>
                  <a:cs typeface="+mj-cs"/>
                </a:rPr>
                <a:t>BioDockify — Building the Future of AI-Driven Pharmaceutical Research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936498" y="421958"/>
            <a:ext cx="2737142" cy="616077"/>
            <a:chOff x="936498" y="421958"/>
            <a:chExt cx="2737142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936498" y="421958"/>
              <a:ext cx="273714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Why Docker?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333500" y="1155382"/>
            <a:ext cx="3048000" cy="3797618"/>
            <a:chOff x="1333500" y="1155382"/>
            <a:chExt cx="3048000" cy="3797618"/>
          </a:xfrm>
        </p:grpSpPr>
        <p:sp>
          <p:nvSpPr>
            <p:cNvPr id="4" name="TextBox 4"/>
            <p:cNvSpPr txBox="1"/>
            <p:nvPr/>
          </p:nvSpPr>
          <p:spPr>
            <a:xfrm>
              <a:off x="1652562" y="1155382"/>
              <a:ext cx="240987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b="1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Traditional Software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1333500" y="1571625"/>
              <a:ext cx="3048000" cy="381000"/>
            </a:xfrm>
            <a:prstGeom prst="roundRect">
              <a:avLst>
                <a:gd name="adj" fmla="val 20000"/>
              </a:avLst>
            </a:prstGeom>
            <a:solidFill>
              <a:schemeClr val="lt2"/>
            </a:solidFill>
            <a:ln w="9525">
              <a:solidFill>
                <a:srgbClr val="FF4D4D">
                  <a:alpha val="40000"/>
                </a:srgbClr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952528" y="1689735"/>
              <a:ext cx="18099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Installation complexity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2813294" y="196310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050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↓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1333500" y="2171700"/>
              <a:ext cx="3048000" cy="381000"/>
            </a:xfrm>
            <a:prstGeom prst="roundRect">
              <a:avLst>
                <a:gd name="adj" fmla="val 20000"/>
              </a:avLst>
            </a:prstGeom>
            <a:solidFill>
              <a:schemeClr val="lt2"/>
            </a:solidFill>
            <a:ln w="9525">
              <a:solidFill>
                <a:srgbClr val="FF4D4D">
                  <a:alpha val="40000"/>
                </a:srgbClr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021025" y="2289810"/>
              <a:ext cx="167295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Dependency conflicts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813294" y="2563178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050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↓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1333500" y="2771775"/>
              <a:ext cx="3048000" cy="381000"/>
            </a:xfrm>
            <a:prstGeom prst="roundRect">
              <a:avLst>
                <a:gd name="adj" fmla="val 20000"/>
              </a:avLst>
            </a:prstGeom>
            <a:solidFill>
              <a:schemeClr val="lt2"/>
            </a:solidFill>
            <a:ln w="9525">
              <a:solidFill>
                <a:srgbClr val="FF4D4D">
                  <a:alpha val="40000"/>
                </a:srgbClr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996721" y="2889885"/>
              <a:ext cx="17215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Python version issues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813294" y="316325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050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↓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333500" y="3371850"/>
              <a:ext cx="3048000" cy="381000"/>
            </a:xfrm>
            <a:prstGeom prst="roundRect">
              <a:avLst>
                <a:gd name="adj" fmla="val 20000"/>
              </a:avLst>
            </a:prstGeom>
            <a:solidFill>
              <a:schemeClr val="lt2"/>
            </a:solidFill>
            <a:ln w="9525">
              <a:solidFill>
                <a:srgbClr val="FF4D4D">
                  <a:alpha val="40000"/>
                </a:srgbClr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843604" y="3489960"/>
              <a:ext cx="202779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RDKit / Vina build failures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813294" y="3763328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050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↓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1333500" y="3971925"/>
              <a:ext cx="3048000" cy="381000"/>
            </a:xfrm>
            <a:prstGeom prst="roundRect">
              <a:avLst>
                <a:gd name="adj" fmla="val 20000"/>
              </a:avLst>
            </a:prstGeom>
            <a:solidFill>
              <a:schemeClr val="lt2"/>
            </a:solidFill>
            <a:ln w="9525">
              <a:solidFill>
                <a:srgbClr val="FF4D4D">
                  <a:alpha val="40000"/>
                </a:srgbClr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883902" y="4090035"/>
              <a:ext cx="19471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Library incompatibilities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813294" y="436340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050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↓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1333500" y="4572000"/>
              <a:ext cx="3048000" cy="381000"/>
            </a:xfrm>
            <a:prstGeom prst="roundRect">
              <a:avLst>
                <a:gd name="adj" fmla="val 20000"/>
              </a:avLst>
            </a:prstGeom>
            <a:solidFill>
              <a:schemeClr val="lt2"/>
            </a:solidFill>
            <a:ln w="9525">
              <a:solidFill>
                <a:srgbClr val="FF4D4D">
                  <a:alpha val="40000"/>
                </a:srgbClr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936220" y="4690110"/>
              <a:ext cx="18425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Configuration problems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7239000" y="1155382"/>
            <a:ext cx="3429000" cy="3820669"/>
            <a:chOff x="7239000" y="1155382"/>
            <a:chExt cx="3429000" cy="3820669"/>
          </a:xfrm>
        </p:grpSpPr>
        <p:sp>
          <p:nvSpPr>
            <p:cNvPr id="23" name="TextBox 23"/>
            <p:cNvSpPr txBox="1"/>
            <p:nvPr/>
          </p:nvSpPr>
          <p:spPr>
            <a:xfrm>
              <a:off x="8355444" y="1155382"/>
              <a:ext cx="119611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BioDockify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7239000" y="1905000"/>
              <a:ext cx="3429000" cy="571500"/>
            </a:xfrm>
            <a:prstGeom prst="roundRect">
              <a:avLst>
                <a:gd name="adj" fmla="val 20000"/>
              </a:avLst>
            </a:prstGeom>
            <a:solidFill>
              <a:schemeClr val="lt2"/>
            </a:solidFill>
            <a:ln w="19050">
              <a:solidFill>
                <a:srgbClr val="10B981"/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592736" y="2095500"/>
              <a:ext cx="72152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b="1" dirty="0">
                  <a:solidFill>
                    <a:srgbClr val="10B981"/>
                  </a:solidFill>
                  <a:latin typeface="+mj-lt"/>
                  <a:ea typeface="+mj-ea"/>
                  <a:cs typeface="+mj-cs"/>
                </a:rPr>
                <a:t>Docker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896664" y="2521268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rgbClr val="10B981"/>
                  </a:solidFill>
                  <a:latin typeface="+mj-lt"/>
                  <a:ea typeface="+mj-ea"/>
                  <a:cs typeface="+mj-cs"/>
                </a:rPr>
                <a:t>↓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7239000" y="2857500"/>
              <a:ext cx="3429000" cy="571500"/>
            </a:xfrm>
            <a:prstGeom prst="roundRect">
              <a:avLst>
                <a:gd name="adj" fmla="val 20000"/>
              </a:avLst>
            </a:prstGeom>
            <a:solidFill>
              <a:schemeClr val="lt2"/>
            </a:solidFill>
            <a:ln w="19050">
              <a:solidFill>
                <a:srgbClr val="10B981"/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804779" y="3048000"/>
              <a:ext cx="229744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b="1" dirty="0">
                  <a:solidFill>
                    <a:srgbClr val="10B981"/>
                  </a:solidFill>
                  <a:latin typeface="+mj-lt"/>
                  <a:ea typeface="+mj-ea"/>
                  <a:cs typeface="+mj-cs"/>
                </a:rPr>
                <a:t>Environment Packaged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896664" y="3473768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rgbClr val="10B981"/>
                  </a:solidFill>
                  <a:latin typeface="+mj-lt"/>
                  <a:ea typeface="+mj-ea"/>
                  <a:cs typeface="+mj-cs"/>
                </a:rPr>
                <a:t>↓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7239000" y="3810000"/>
              <a:ext cx="3429000" cy="571500"/>
            </a:xfrm>
            <a:prstGeom prst="roundRect">
              <a:avLst>
                <a:gd name="adj" fmla="val 20000"/>
              </a:avLst>
            </a:prstGeom>
            <a:solidFill>
              <a:schemeClr val="lt2"/>
            </a:solidFill>
            <a:ln w="19050">
              <a:solidFill>
                <a:srgbClr val="10B981"/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767658" y="4000500"/>
              <a:ext cx="37168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b="1" dirty="0">
                  <a:solidFill>
                    <a:srgbClr val="10B981"/>
                  </a:solidFill>
                  <a:latin typeface="+mj-lt"/>
                  <a:ea typeface="+mj-ea"/>
                  <a:cs typeface="+mj-cs"/>
                </a:rPr>
                <a:t>Run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354818" y="4712018"/>
              <a:ext cx="31973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One command. Everything works.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269495" y="5727382"/>
            <a:ext cx="9653010" cy="322707"/>
            <a:chOff x="1269495" y="5727382"/>
            <a:chExt cx="9653010" cy="322707"/>
          </a:xfrm>
        </p:grpSpPr>
        <p:sp>
          <p:nvSpPr>
            <p:cNvPr id="34" name="TextBox 34"/>
            <p:cNvSpPr txBox="1"/>
            <p:nvPr/>
          </p:nvSpPr>
          <p:spPr>
            <a:xfrm>
              <a:off x="1269495" y="5727382"/>
              <a:ext cx="9653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Makes Community Edition particularly attractive for institutions and laboratories.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0" y="6619875"/>
            <a:ext cx="12192000" cy="238125"/>
            <a:chOff x="0" y="6619875"/>
            <a:chExt cx="12192000" cy="238125"/>
          </a:xfrm>
        </p:grpSpPr>
        <p:sp>
          <p:nvSpPr>
            <p:cNvPr id="36" name="Rectangle 36"/>
            <p:cNvSpPr/>
            <p:nvPr/>
          </p:nvSpPr>
          <p:spPr>
            <a:xfrm>
              <a:off x="0" y="6619875"/>
              <a:ext cx="12192000" cy="238125"/>
            </a:xfrm>
            <a:prstGeom prst="rect">
              <a:avLst/>
            </a:prstGeom>
            <a:solidFill>
              <a:srgbClr val="0D0F24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203998" y="6692741"/>
              <a:ext cx="378400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dirty="0">
                  <a:solidFill>
                    <a:srgbClr val="7A85A8"/>
                  </a:solidFill>
                  <a:latin typeface="+mj-lt"/>
                  <a:ea typeface="+mj-ea"/>
                  <a:cs typeface="+mj-cs"/>
                </a:rPr>
                <a:t>BioDockify — Building the Future of AI-Driven Pharmaceutical Research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936498" y="279083"/>
            <a:ext cx="7305633" cy="616077"/>
            <a:chOff x="936498" y="279083"/>
            <a:chExt cx="7305633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936498" y="279083"/>
              <a:ext cx="7305633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Community Edition: What's Inside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62000" y="904875"/>
            <a:ext cx="3524250" cy="1809750"/>
            <a:chOff x="762000" y="904875"/>
            <a:chExt cx="3524250" cy="1809750"/>
          </a:xfrm>
        </p:grpSpPr>
        <p:sp>
          <p:nvSpPr>
            <p:cNvPr id="4" name="Rectangle 4"/>
            <p:cNvSpPr/>
            <p:nvPr/>
          </p:nvSpPr>
          <p:spPr>
            <a:xfrm>
              <a:off x="762000" y="904875"/>
              <a:ext cx="3524250" cy="1809750"/>
            </a:xfrm>
            <a:prstGeom prst="roundRect">
              <a:avLst>
                <a:gd name="adj" fmla="val 7368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Rectangle 5"/>
            <p:cNvSpPr/>
            <p:nvPr/>
          </p:nvSpPr>
          <p:spPr>
            <a:xfrm>
              <a:off x="762000" y="904875"/>
              <a:ext cx="3524250" cy="381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039368" y="1107758"/>
              <a:ext cx="10502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Research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41654" y="1470660"/>
              <a:ext cx="208197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29540" indent="-129540" algn="l">
                <a:buClr>
                  <a:schemeClr val="accent3"/>
                </a:buClr>
                <a:buSzTx/>
                <a:buFontTx/>
                <a:buChar char="•"/>
              </a:pPr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Literature Intelligence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41654" y="1718310"/>
              <a:ext cx="13615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29540" indent="-129540" algn="l">
                <a:buClr>
                  <a:schemeClr val="accent3"/>
                </a:buClr>
                <a:buSzTx/>
                <a:buFontTx/>
                <a:buChar char="•"/>
              </a:pPr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Deep Research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41654" y="1965960"/>
              <a:ext cx="14464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29540" indent="-129540" algn="l">
                <a:buClr>
                  <a:schemeClr val="accent3"/>
                </a:buClr>
                <a:buSzTx/>
                <a:buFontTx/>
                <a:buChar char="•"/>
              </a:pPr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Knowledge Base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41654" y="2213610"/>
              <a:ext cx="15023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29540" indent="-129540" algn="l">
                <a:buClr>
                  <a:schemeClr val="accent3"/>
                </a:buClr>
                <a:buSzTx/>
                <a:buFontTx/>
                <a:buChar char="•"/>
              </a:pPr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Web Intelligence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4476750" y="904875"/>
            <a:ext cx="3524250" cy="1809750"/>
            <a:chOff x="4476750" y="904875"/>
            <a:chExt cx="3524250" cy="1809750"/>
          </a:xfrm>
        </p:grpSpPr>
        <p:sp>
          <p:nvSpPr>
            <p:cNvPr id="12" name="Rectangle 12"/>
            <p:cNvSpPr/>
            <p:nvPr/>
          </p:nvSpPr>
          <p:spPr>
            <a:xfrm>
              <a:off x="4476750" y="904875"/>
              <a:ext cx="3524250" cy="1809750"/>
            </a:xfrm>
            <a:prstGeom prst="roundRect">
              <a:avLst>
                <a:gd name="adj" fmla="val 7368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Rectangle 13"/>
            <p:cNvSpPr/>
            <p:nvPr/>
          </p:nvSpPr>
          <p:spPr>
            <a:xfrm>
              <a:off x="4476750" y="904875"/>
              <a:ext cx="3524250" cy="381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754118" y="1107758"/>
              <a:ext cx="171063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Drug Discovery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756404" y="1470660"/>
              <a:ext cx="15963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29540" indent="-129540" algn="l">
                <a:buClr>
                  <a:schemeClr val="accent3"/>
                </a:buClr>
                <a:buSzTx/>
                <a:buFontTx/>
                <a:buChar char="•"/>
              </a:pPr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Molecular Toolkit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756404" y="1718310"/>
              <a:ext cx="7750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29540" indent="-129540" algn="l">
                <a:buClr>
                  <a:schemeClr val="accent3"/>
                </a:buClr>
                <a:buSzTx/>
                <a:buFontTx/>
                <a:buChar char="•"/>
              </a:pPr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Docking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756404" y="1965960"/>
              <a:ext cx="14169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29540" indent="-129540" algn="l">
                <a:buClr>
                  <a:schemeClr val="accent3"/>
                </a:buClr>
                <a:buSzTx/>
                <a:buFontTx/>
                <a:buChar char="•"/>
              </a:pPr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Pharmacophore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756404" y="2213610"/>
              <a:ext cx="16706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29540" indent="-129540" algn="l">
                <a:buClr>
                  <a:schemeClr val="accent3"/>
                </a:buClr>
                <a:buSzTx/>
                <a:buFontTx/>
                <a:buChar char="•"/>
              </a:pPr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ADMET Prediction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8191500" y="904875"/>
            <a:ext cx="3524250" cy="1809750"/>
            <a:chOff x="8191500" y="904875"/>
            <a:chExt cx="3524250" cy="1809750"/>
          </a:xfrm>
        </p:grpSpPr>
        <p:sp>
          <p:nvSpPr>
            <p:cNvPr id="20" name="Rectangle 20"/>
            <p:cNvSpPr/>
            <p:nvPr/>
          </p:nvSpPr>
          <p:spPr>
            <a:xfrm>
              <a:off x="8191500" y="904875"/>
              <a:ext cx="3524250" cy="1809750"/>
            </a:xfrm>
            <a:prstGeom prst="roundRect">
              <a:avLst>
                <a:gd name="adj" fmla="val 7368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191500" y="904875"/>
              <a:ext cx="3524250" cy="38100"/>
            </a:xfrm>
            <a:prstGeom prst="roundRect">
              <a:avLst>
                <a:gd name="adj" fmla="val 50000"/>
              </a:avLst>
            </a:prstGeom>
            <a:solidFill>
              <a:srgbClr val="6366F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468868" y="1107758"/>
              <a:ext cx="195542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Machine Learning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471154" y="1470660"/>
              <a:ext cx="14060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29540" indent="-129540" algn="l">
                <a:buClr>
                  <a:schemeClr val="accent3"/>
                </a:buClr>
                <a:buSzTx/>
                <a:buFontTx/>
                <a:buChar char="•"/>
              </a:pPr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QSAR Modeling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471154" y="1718310"/>
              <a:ext cx="10134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29540" indent="-129540" algn="l">
                <a:buClr>
                  <a:schemeClr val="accent3"/>
                </a:buClr>
                <a:buSzTx/>
                <a:buFontTx/>
                <a:buChar char="•"/>
              </a:pPr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Prediction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471154" y="1965960"/>
              <a:ext cx="16489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29540" indent="-129540" algn="l">
                <a:buClr>
                  <a:schemeClr val="accent3"/>
                </a:buClr>
                <a:buSzTx/>
                <a:buFontTx/>
                <a:buChar char="•"/>
              </a:pPr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Feature Selection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471154" y="2213610"/>
              <a:ext cx="15023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29540" indent="-129540" algn="l">
                <a:buClr>
                  <a:schemeClr val="accent3"/>
                </a:buClr>
                <a:buSzTx/>
                <a:buFontTx/>
                <a:buChar char="•"/>
              </a:pPr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Model Validation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762000" y="2952750"/>
            <a:ext cx="3524250" cy="1809750"/>
            <a:chOff x="762000" y="2952750"/>
            <a:chExt cx="3524250" cy="1809750"/>
          </a:xfrm>
        </p:grpSpPr>
        <p:sp>
          <p:nvSpPr>
            <p:cNvPr id="28" name="Rectangle 28"/>
            <p:cNvSpPr/>
            <p:nvPr/>
          </p:nvSpPr>
          <p:spPr>
            <a:xfrm>
              <a:off x="762000" y="2952750"/>
              <a:ext cx="3524250" cy="1809750"/>
            </a:xfrm>
            <a:prstGeom prst="roundRect">
              <a:avLst>
                <a:gd name="adj" fmla="val 7368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9" name="Rectangle 29"/>
            <p:cNvSpPr/>
            <p:nvPr/>
          </p:nvSpPr>
          <p:spPr>
            <a:xfrm>
              <a:off x="762000" y="2952750"/>
              <a:ext cx="3524250" cy="38100"/>
            </a:xfrm>
            <a:prstGeom prst="roundRect">
              <a:avLst>
                <a:gd name="adj" fmla="val 50000"/>
              </a:avLst>
            </a:prstGeom>
            <a:solidFill>
              <a:srgbClr val="10B98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39368" y="3155632"/>
              <a:ext cx="145410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Data Science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41654" y="3518535"/>
              <a:ext cx="10134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29540" indent="-129540" algn="l">
                <a:buClr>
                  <a:schemeClr val="accent3"/>
                </a:buClr>
                <a:buSzTx/>
                <a:buFontTx/>
                <a:buChar char="•"/>
              </a:pPr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Statistics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041654" y="3766185"/>
              <a:ext cx="12087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29540" indent="-129540" algn="l">
                <a:buClr>
                  <a:schemeClr val="accent3"/>
                </a:buClr>
                <a:buSzTx/>
                <a:buFontTx/>
                <a:buChar char="•"/>
              </a:pPr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Visualization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41654" y="4013835"/>
              <a:ext cx="191546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29540" indent="-129540" algn="l">
                <a:buClr>
                  <a:schemeClr val="accent3"/>
                </a:buClr>
                <a:buSzTx/>
                <a:buFontTx/>
                <a:buChar char="•"/>
              </a:pPr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Data Transformation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041654" y="4261485"/>
              <a:ext cx="169278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29540" indent="-129540" algn="l">
                <a:buClr>
                  <a:schemeClr val="accent3"/>
                </a:buClr>
                <a:buSzTx/>
                <a:buFontTx/>
                <a:buChar char="•"/>
              </a:pPr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Report Generation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4476750" y="2952750"/>
            <a:ext cx="3524250" cy="1809750"/>
            <a:chOff x="4476750" y="2952750"/>
            <a:chExt cx="3524250" cy="1809750"/>
          </a:xfrm>
        </p:grpSpPr>
        <p:sp>
          <p:nvSpPr>
            <p:cNvPr id="36" name="Rectangle 36"/>
            <p:cNvSpPr/>
            <p:nvPr/>
          </p:nvSpPr>
          <p:spPr>
            <a:xfrm>
              <a:off x="4476750" y="2952750"/>
              <a:ext cx="3524250" cy="1809750"/>
            </a:xfrm>
            <a:prstGeom prst="roundRect">
              <a:avLst>
                <a:gd name="adj" fmla="val 7368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Rectangle 37"/>
            <p:cNvSpPr/>
            <p:nvPr/>
          </p:nvSpPr>
          <p:spPr>
            <a:xfrm>
              <a:off x="4476750" y="2952750"/>
              <a:ext cx="3524250" cy="381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754118" y="3155632"/>
              <a:ext cx="117778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Simulation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756404" y="3518535"/>
              <a:ext cx="81259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29540" indent="-129540" algn="l">
                <a:buClr>
                  <a:schemeClr val="accent3"/>
                </a:buClr>
                <a:buSzTx/>
                <a:buFontTx/>
                <a:buChar char="•"/>
              </a:pPr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MD Lite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756404" y="3766185"/>
              <a:ext cx="17931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29540" indent="-129540" algn="l">
                <a:buClr>
                  <a:schemeClr val="accent3"/>
                </a:buClr>
                <a:buSzTx/>
                <a:buFontTx/>
                <a:buChar char="•"/>
              </a:pPr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Trajectory Analysis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756404" y="4013835"/>
              <a:ext cx="181935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29540" indent="-129540" algn="l">
                <a:buClr>
                  <a:schemeClr val="accent3"/>
                </a:buClr>
                <a:buSzTx/>
                <a:buFontTx/>
                <a:buChar char="•"/>
              </a:pPr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Energy Minimization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756404" y="4261485"/>
              <a:ext cx="206825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29540" indent="-129540" algn="l">
                <a:buClr>
                  <a:schemeClr val="accent3"/>
                </a:buClr>
                <a:buSzTx/>
                <a:buFontTx/>
                <a:buChar char="•"/>
              </a:pPr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Structure Preparation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8191500" y="2952750"/>
            <a:ext cx="3524250" cy="1809750"/>
            <a:chOff x="8191500" y="2952750"/>
            <a:chExt cx="3524250" cy="1809750"/>
          </a:xfrm>
        </p:grpSpPr>
        <p:sp>
          <p:nvSpPr>
            <p:cNvPr id="44" name="Rectangle 44"/>
            <p:cNvSpPr/>
            <p:nvPr/>
          </p:nvSpPr>
          <p:spPr>
            <a:xfrm>
              <a:off x="8191500" y="2952750"/>
              <a:ext cx="3524250" cy="1809750"/>
            </a:xfrm>
            <a:prstGeom prst="roundRect">
              <a:avLst>
                <a:gd name="adj" fmla="val 7368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5" name="Rectangle 45"/>
            <p:cNvSpPr/>
            <p:nvPr/>
          </p:nvSpPr>
          <p:spPr>
            <a:xfrm>
              <a:off x="8191500" y="2952750"/>
              <a:ext cx="3524250" cy="381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468868" y="3155632"/>
              <a:ext cx="103848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Academic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471154" y="3518535"/>
              <a:ext cx="153144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29540" indent="-129540" algn="l">
                <a:buClr>
                  <a:schemeClr val="accent3"/>
                </a:buClr>
                <a:buSzTx/>
                <a:buFontTx/>
                <a:buChar char="•"/>
              </a:pPr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Academic Writer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471154" y="3766185"/>
              <a:ext cx="136712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29540" indent="-129540" algn="l">
                <a:buClr>
                  <a:schemeClr val="accent3"/>
                </a:buClr>
                <a:buSzTx/>
                <a:buFontTx/>
                <a:buChar char="•"/>
              </a:pPr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Journal Finder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471154" y="4013835"/>
              <a:ext cx="12731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29540" indent="-129540" algn="l">
                <a:buClr>
                  <a:schemeClr val="accent3"/>
                </a:buClr>
                <a:buSzTx/>
                <a:buFontTx/>
                <a:buChar char="•"/>
              </a:pPr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Faculty Tools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471154" y="4261485"/>
              <a:ext cx="15901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29540" indent="-129540" algn="l">
                <a:buClr>
                  <a:schemeClr val="accent3"/>
                </a:buClr>
                <a:buSzTx/>
                <a:buFontTx/>
                <a:buChar char="•"/>
              </a:pPr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Citation Manager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1905000" y="5143500"/>
            <a:ext cx="8382000" cy="571500"/>
            <a:chOff x="1905000" y="5143500"/>
            <a:chExt cx="8382000" cy="571500"/>
          </a:xfrm>
        </p:grpSpPr>
        <p:sp>
          <p:nvSpPr>
            <p:cNvPr id="52" name="Rectangle 52"/>
            <p:cNvSpPr/>
            <p:nvPr/>
          </p:nvSpPr>
          <p:spPr>
            <a:xfrm>
              <a:off x="1905000" y="5143500"/>
              <a:ext cx="8382000" cy="571500"/>
            </a:xfrm>
            <a:prstGeom prst="roundRect">
              <a:avLst>
                <a:gd name="adj" fmla="val 23333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2574997" y="5334000"/>
              <a:ext cx="704200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22 modules • All integrated • One Docker container • Ready to research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0" y="6619875"/>
            <a:ext cx="12192000" cy="238125"/>
            <a:chOff x="0" y="6619875"/>
            <a:chExt cx="12192000" cy="238125"/>
          </a:xfrm>
        </p:grpSpPr>
        <p:sp>
          <p:nvSpPr>
            <p:cNvPr id="55" name="Rectangle 55"/>
            <p:cNvSpPr/>
            <p:nvPr/>
          </p:nvSpPr>
          <p:spPr>
            <a:xfrm>
              <a:off x="0" y="6619875"/>
              <a:ext cx="12192000" cy="238125"/>
            </a:xfrm>
            <a:prstGeom prst="rect">
              <a:avLst/>
            </a:prstGeom>
            <a:solidFill>
              <a:srgbClr val="0D0F24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4203998" y="6692741"/>
              <a:ext cx="378400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dirty="0">
                  <a:solidFill>
                    <a:srgbClr val="7A85A8"/>
                  </a:solidFill>
                  <a:latin typeface="+mj-lt"/>
                  <a:ea typeface="+mj-ea"/>
                  <a:cs typeface="+mj-cs"/>
                </a:rPr>
                <a:t>BioDockify — Building the Future of AI-Driven Pharmaceutical Research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1832255" y="307658"/>
            <a:ext cx="8527489" cy="616077"/>
            <a:chOff x="1832255" y="307658"/>
            <a:chExt cx="8527489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1832255" y="307658"/>
              <a:ext cx="8527489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Community Edition: Molecular Research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762000" y="1428750"/>
            <a:ext cx="9525000" cy="457200"/>
            <a:chOff x="762000" y="1428750"/>
            <a:chExt cx="9525000" cy="457200"/>
          </a:xfrm>
        </p:grpSpPr>
        <p:sp>
          <p:nvSpPr>
            <p:cNvPr id="4" name="Rectangle 4"/>
            <p:cNvSpPr/>
            <p:nvPr/>
          </p:nvSpPr>
          <p:spPr>
            <a:xfrm>
              <a:off x="762000" y="1428750"/>
              <a:ext cx="1524000" cy="4572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 w="19050">
              <a:solidFill>
                <a:schemeClr val="accent1"/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94651" y="1584960"/>
              <a:ext cx="8586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Compound</a:t>
              </a:r>
            </a:p>
          </p:txBody>
        </p:sp>
        <p:sp>
          <p:nvSpPr>
            <p:cNvPr id="6" name="Freeform 6"/>
            <p:cNvSpPr/>
            <p:nvPr/>
          </p:nvSpPr>
          <p:spPr>
            <a:xfrm>
              <a:off x="2286000" y="1657350"/>
              <a:ext cx="285750" cy="9525"/>
            </a:xfrm>
            <a:custGeom>
              <a:avLst/>
              <a:gdLst/>
              <a:ahLst/>
              <a:cxnLst/>
              <a:rect l="l" t="t" r="r" b="b"/>
              <a:pathLst>
                <a:path w="285750" h="9525">
                  <a:moveTo>
                    <a:pt x="0" y="0"/>
                  </a:moveTo>
                  <a:lnTo>
                    <a:pt x="28575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  <a:tailEnd type="triangle" w="lg" len="lg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Rectangle 7"/>
            <p:cNvSpPr/>
            <p:nvPr/>
          </p:nvSpPr>
          <p:spPr>
            <a:xfrm>
              <a:off x="2667000" y="1428750"/>
              <a:ext cx="1238250" cy="4572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 w="19050">
              <a:solidFill>
                <a:schemeClr val="accent2"/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3027197" y="1584960"/>
              <a:ext cx="51785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RDKit</a:t>
              </a:r>
            </a:p>
          </p:txBody>
        </p:sp>
        <p:sp>
          <p:nvSpPr>
            <p:cNvPr id="9" name="Freeform 9"/>
            <p:cNvSpPr/>
            <p:nvPr/>
          </p:nvSpPr>
          <p:spPr>
            <a:xfrm>
              <a:off x="3905250" y="1657350"/>
              <a:ext cx="285750" cy="9525"/>
            </a:xfrm>
            <a:custGeom>
              <a:avLst/>
              <a:gdLst/>
              <a:ahLst/>
              <a:cxnLst/>
              <a:rect l="l" t="t" r="r" b="b"/>
              <a:pathLst>
                <a:path w="285750" h="9525">
                  <a:moveTo>
                    <a:pt x="0" y="0"/>
                  </a:moveTo>
                  <a:lnTo>
                    <a:pt x="28575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  <a:tailEnd type="triangle" w="lg" len="lg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Rectangle 10"/>
            <p:cNvSpPr/>
            <p:nvPr/>
          </p:nvSpPr>
          <p:spPr>
            <a:xfrm>
              <a:off x="4286250" y="1428750"/>
              <a:ext cx="1905000" cy="4572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 w="19050">
              <a:solidFill>
                <a:schemeClr val="accent1"/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298002" y="1584960"/>
              <a:ext cx="18814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Molecular Properties</a:t>
              </a:r>
            </a:p>
          </p:txBody>
        </p:sp>
        <p:sp>
          <p:nvSpPr>
            <p:cNvPr id="12" name="Freeform 12"/>
            <p:cNvSpPr/>
            <p:nvPr/>
          </p:nvSpPr>
          <p:spPr>
            <a:xfrm>
              <a:off x="6191250" y="1657350"/>
              <a:ext cx="285750" cy="9525"/>
            </a:xfrm>
            <a:custGeom>
              <a:avLst/>
              <a:gdLst/>
              <a:ahLst/>
              <a:cxnLst/>
              <a:rect l="l" t="t" r="r" b="b"/>
              <a:pathLst>
                <a:path w="285750" h="9525">
                  <a:moveTo>
                    <a:pt x="0" y="0"/>
                  </a:moveTo>
                  <a:lnTo>
                    <a:pt x="28575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  <a:tailEnd type="triangle" w="lg" len="lg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Rectangle 13"/>
            <p:cNvSpPr/>
            <p:nvPr/>
          </p:nvSpPr>
          <p:spPr>
            <a:xfrm>
              <a:off x="6572250" y="1428750"/>
              <a:ext cx="1619250" cy="4572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 w="19050">
              <a:solidFill>
                <a:schemeClr val="accent2"/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769223" y="1584960"/>
              <a:ext cx="12253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Drug-likeness</a:t>
              </a:r>
            </a:p>
          </p:txBody>
        </p:sp>
        <p:sp>
          <p:nvSpPr>
            <p:cNvPr id="15" name="Freeform 15"/>
            <p:cNvSpPr/>
            <p:nvPr/>
          </p:nvSpPr>
          <p:spPr>
            <a:xfrm>
              <a:off x="8191500" y="1657350"/>
              <a:ext cx="285750" cy="9525"/>
            </a:xfrm>
            <a:custGeom>
              <a:avLst/>
              <a:gdLst/>
              <a:ahLst/>
              <a:cxnLst/>
              <a:rect l="l" t="t" r="r" b="b"/>
              <a:pathLst>
                <a:path w="285750" h="9525">
                  <a:moveTo>
                    <a:pt x="0" y="0"/>
                  </a:moveTo>
                  <a:lnTo>
                    <a:pt x="28575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Rectangle 16"/>
            <p:cNvSpPr/>
            <p:nvPr/>
          </p:nvSpPr>
          <p:spPr>
            <a:xfrm>
              <a:off x="8572500" y="1428750"/>
              <a:ext cx="1714500" cy="4572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 w="19050">
              <a:solidFill>
                <a:schemeClr val="accent1"/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776591" y="1584960"/>
              <a:ext cx="130631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Docking (Vina)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382125" y="1885950"/>
            <a:ext cx="95250" cy="828675"/>
            <a:chOff x="9382125" y="1885950"/>
            <a:chExt cx="95250" cy="828675"/>
          </a:xfrm>
        </p:grpSpPr>
        <p:sp>
          <p:nvSpPr>
            <p:cNvPr id="19" name="Freeform 19"/>
            <p:cNvSpPr/>
            <p:nvPr/>
          </p:nvSpPr>
          <p:spPr>
            <a:xfrm>
              <a:off x="9429750" y="1885950"/>
              <a:ext cx="9525" cy="781050"/>
            </a:xfrm>
            <a:custGeom>
              <a:avLst/>
              <a:gdLst/>
              <a:ahLst/>
              <a:cxnLst/>
              <a:rect l="l" t="t" r="r" b="b"/>
              <a:pathLst>
                <a:path w="9525" h="781050">
                  <a:moveTo>
                    <a:pt x="0" y="0"/>
                  </a:moveTo>
                  <a:lnTo>
                    <a:pt x="0" y="781050"/>
                  </a:lnTo>
                </a:path>
              </a:pathLst>
            </a:custGeom>
            <a:noFill/>
            <a:ln w="19050">
              <a:solidFill>
                <a:schemeClr val="accent1"/>
              </a:solidFill>
              <a:prstDash val="dash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Polygon 20"/>
            <p:cNvSpPr/>
            <p:nvPr/>
          </p:nvSpPr>
          <p:spPr>
            <a:xfrm>
              <a:off x="9382125" y="261937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0"/>
                  </a:moveTo>
                  <a:lnTo>
                    <a:pt x="47625" y="9525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3333750" y="2762250"/>
            <a:ext cx="6381750" cy="457200"/>
            <a:chOff x="3333750" y="2762250"/>
            <a:chExt cx="6381750" cy="457200"/>
          </a:xfrm>
        </p:grpSpPr>
        <p:sp>
          <p:nvSpPr>
            <p:cNvPr id="22" name="Rectangle 22"/>
            <p:cNvSpPr/>
            <p:nvPr/>
          </p:nvSpPr>
          <p:spPr>
            <a:xfrm>
              <a:off x="8191500" y="2762250"/>
              <a:ext cx="1524000" cy="4572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 w="19050">
              <a:solidFill>
                <a:schemeClr val="accent2"/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484946" y="2918460"/>
              <a:ext cx="9371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MM-GBSA</a:t>
              </a:r>
            </a:p>
          </p:txBody>
        </p:sp>
        <p:sp>
          <p:nvSpPr>
            <p:cNvPr id="24" name="Freeform 24"/>
            <p:cNvSpPr/>
            <p:nvPr/>
          </p:nvSpPr>
          <p:spPr>
            <a:xfrm>
              <a:off x="7715250" y="2990850"/>
              <a:ext cx="476250" cy="9525"/>
            </a:xfrm>
            <a:custGeom>
              <a:avLst/>
              <a:gdLst/>
              <a:ahLst/>
              <a:cxnLst/>
              <a:rect l="l" t="t" r="r" b="b"/>
              <a:pathLst>
                <a:path w="476250" h="9525">
                  <a:moveTo>
                    <a:pt x="476250" y="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Polygon 25"/>
            <p:cNvSpPr/>
            <p:nvPr/>
          </p:nvSpPr>
          <p:spPr>
            <a:xfrm>
              <a:off x="7667625" y="294322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0"/>
                  </a:moveTo>
                  <a:lnTo>
                    <a:pt x="0" y="47625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715000" y="2762250"/>
              <a:ext cx="1905000" cy="4572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 w="19050">
              <a:solidFill>
                <a:schemeClr val="accent1"/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767987" y="2918460"/>
              <a:ext cx="17990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Interaction Analysis</a:t>
              </a:r>
            </a:p>
          </p:txBody>
        </p:sp>
        <p:sp>
          <p:nvSpPr>
            <p:cNvPr id="28" name="Freeform 28"/>
            <p:cNvSpPr/>
            <p:nvPr/>
          </p:nvSpPr>
          <p:spPr>
            <a:xfrm>
              <a:off x="5334000" y="299085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381000" y="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9" name="Polygon 29"/>
            <p:cNvSpPr/>
            <p:nvPr/>
          </p:nvSpPr>
          <p:spPr>
            <a:xfrm>
              <a:off x="5286375" y="294322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0"/>
                  </a:moveTo>
                  <a:lnTo>
                    <a:pt x="0" y="47625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Rectangle 30"/>
            <p:cNvSpPr/>
            <p:nvPr/>
          </p:nvSpPr>
          <p:spPr>
            <a:xfrm>
              <a:off x="3333750" y="2762250"/>
              <a:ext cx="1905000" cy="4572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 w="19050">
              <a:solidFill>
                <a:schemeClr val="accent2"/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488855" y="2918460"/>
              <a:ext cx="15947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Candidate Ranking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2857500" y="3714750"/>
            <a:ext cx="6477000" cy="2286000"/>
            <a:chOff x="2857500" y="3714750"/>
            <a:chExt cx="6477000" cy="2286000"/>
          </a:xfrm>
        </p:grpSpPr>
        <p:sp>
          <p:nvSpPr>
            <p:cNvPr id="33" name="Rectangle 33"/>
            <p:cNvSpPr/>
            <p:nvPr/>
          </p:nvSpPr>
          <p:spPr>
            <a:xfrm>
              <a:off x="2857500" y="3714750"/>
              <a:ext cx="6477000" cy="2286000"/>
            </a:xfrm>
            <a:prstGeom prst="roundRect">
              <a:avLst>
                <a:gd name="adj" fmla="val 5833"/>
              </a:avLst>
            </a:prstGeom>
            <a:solidFill>
              <a:schemeClr val="lt2">
                <a:alpha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Ellipse 34"/>
            <p:cNvSpPr/>
            <p:nvPr/>
          </p:nvSpPr>
          <p:spPr>
            <a:xfrm>
              <a:off x="4000500" y="4286250"/>
              <a:ext cx="571500" cy="571500"/>
            </a:xfrm>
            <a:prstGeom prst="ellipse">
              <a:avLst/>
            </a:prstGeom>
            <a:noFill/>
            <a:ln w="19050">
              <a:solidFill>
                <a:schemeClr val="accent1">
                  <a:alpha val="60000"/>
                </a:schemeClr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5" name="Ellipse 35"/>
            <p:cNvSpPr/>
            <p:nvPr/>
          </p:nvSpPr>
          <p:spPr>
            <a:xfrm>
              <a:off x="4762500" y="4667250"/>
              <a:ext cx="381000" cy="381000"/>
            </a:xfrm>
            <a:prstGeom prst="ellipse">
              <a:avLst/>
            </a:prstGeom>
            <a:noFill/>
            <a:ln w="19050">
              <a:solidFill>
                <a:schemeClr val="accent2">
                  <a:alpha val="60000"/>
                </a:schemeClr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6" name="Ellipse 36"/>
            <p:cNvSpPr/>
            <p:nvPr/>
          </p:nvSpPr>
          <p:spPr>
            <a:xfrm>
              <a:off x="5286375" y="4238625"/>
              <a:ext cx="476250" cy="476250"/>
            </a:xfrm>
            <a:prstGeom prst="ellipse">
              <a:avLst/>
            </a:prstGeom>
            <a:noFill/>
            <a:ln w="14288">
              <a:solidFill>
                <a:schemeClr val="accent1">
                  <a:alpha val="50000"/>
                </a:schemeClr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Line 37"/>
            <p:cNvSpPr/>
            <p:nvPr/>
          </p:nvSpPr>
          <p:spPr>
            <a:xfrm>
              <a:off x="4286250" y="4572000"/>
              <a:ext cx="666750" cy="285750"/>
            </a:xfrm>
            <a:custGeom>
              <a:avLst/>
              <a:gdLst/>
              <a:ahLst/>
              <a:cxnLst/>
              <a:rect l="l" t="t" r="r" b="b"/>
              <a:pathLst>
                <a:path w="666750" h="285750">
                  <a:moveTo>
                    <a:pt x="0" y="0"/>
                  </a:moveTo>
                  <a:lnTo>
                    <a:pt x="666750" y="285750"/>
                  </a:lnTo>
                </a:path>
              </a:pathLst>
            </a:custGeom>
            <a:noFill/>
            <a:ln w="9525">
              <a:solidFill>
                <a:schemeClr val="accent3">
                  <a:alpha val="40000"/>
                </a:schemeClr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8" name="Line 38"/>
            <p:cNvSpPr/>
            <p:nvPr/>
          </p:nvSpPr>
          <p:spPr>
            <a:xfrm>
              <a:off x="4953000" y="4476750"/>
              <a:ext cx="571500" cy="381000"/>
            </a:xfrm>
            <a:custGeom>
              <a:avLst/>
              <a:gdLst/>
              <a:ahLst/>
              <a:cxnLst/>
              <a:rect l="l" t="t" r="r" b="b"/>
              <a:pathLst>
                <a:path w="571500" h="381000">
                  <a:moveTo>
                    <a:pt x="0" y="381000"/>
                  </a:moveTo>
                  <a:lnTo>
                    <a:pt x="571500" y="0"/>
                  </a:lnTo>
                </a:path>
              </a:pathLst>
            </a:custGeom>
            <a:noFill/>
            <a:ln w="9525">
              <a:solidFill>
                <a:schemeClr val="accent3">
                  <a:alpha val="40000"/>
                </a:schemeClr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Ellipse 39"/>
            <p:cNvSpPr/>
            <p:nvPr/>
          </p:nvSpPr>
          <p:spPr>
            <a:xfrm>
              <a:off x="6076950" y="4552950"/>
              <a:ext cx="419100" cy="419100"/>
            </a:xfrm>
            <a:prstGeom prst="ellipse">
              <a:avLst/>
            </a:prstGeom>
            <a:noFill/>
            <a:ln w="14288">
              <a:solidFill>
                <a:schemeClr val="accent2">
                  <a:alpha val="50000"/>
                </a:schemeClr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0" name="Line 40"/>
            <p:cNvSpPr/>
            <p:nvPr/>
          </p:nvSpPr>
          <p:spPr>
            <a:xfrm>
              <a:off x="5524500" y="4476750"/>
              <a:ext cx="762000" cy="285750"/>
            </a:xfrm>
            <a:custGeom>
              <a:avLst/>
              <a:gdLst/>
              <a:ahLst/>
              <a:cxnLst/>
              <a:rect l="l" t="t" r="r" b="b"/>
              <a:pathLst>
                <a:path w="762000" h="285750">
                  <a:moveTo>
                    <a:pt x="0" y="0"/>
                  </a:moveTo>
                  <a:lnTo>
                    <a:pt x="762000" y="285750"/>
                  </a:lnTo>
                </a:path>
              </a:pathLst>
            </a:custGeom>
            <a:noFill/>
            <a:ln w="9525">
              <a:solidFill>
                <a:schemeClr val="accent3">
                  <a:alpha val="40000"/>
                </a:schemeClr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1" name="Ellipse 41"/>
            <p:cNvSpPr/>
            <p:nvPr/>
          </p:nvSpPr>
          <p:spPr>
            <a:xfrm>
              <a:off x="6877050" y="4210050"/>
              <a:ext cx="342900" cy="342900"/>
            </a:xfrm>
            <a:prstGeom prst="ellipse">
              <a:avLst/>
            </a:prstGeom>
            <a:noFill/>
            <a:ln w="14288">
              <a:solidFill>
                <a:schemeClr val="accent1">
                  <a:alpha val="50000"/>
                </a:schemeClr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2" name="Line 42"/>
            <p:cNvSpPr/>
            <p:nvPr/>
          </p:nvSpPr>
          <p:spPr>
            <a:xfrm>
              <a:off x="6286500" y="4381500"/>
              <a:ext cx="762000" cy="381000"/>
            </a:xfrm>
            <a:custGeom>
              <a:avLst/>
              <a:gdLst/>
              <a:ahLst/>
              <a:cxnLst/>
              <a:rect l="l" t="t" r="r" b="b"/>
              <a:pathLst>
                <a:path w="762000" h="381000">
                  <a:moveTo>
                    <a:pt x="0" y="381000"/>
                  </a:moveTo>
                  <a:lnTo>
                    <a:pt x="762000" y="0"/>
                  </a:lnTo>
                </a:path>
              </a:pathLst>
            </a:custGeom>
            <a:noFill/>
            <a:ln w="9525">
              <a:solidFill>
                <a:schemeClr val="accent3">
                  <a:alpha val="40000"/>
                </a:schemeClr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3" name="Ellipse 43"/>
            <p:cNvSpPr/>
            <p:nvPr/>
          </p:nvSpPr>
          <p:spPr>
            <a:xfrm>
              <a:off x="7486650" y="4438650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2">
                  <a:alpha val="60000"/>
                </a:schemeClr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4" name="Line 44"/>
            <p:cNvSpPr/>
            <p:nvPr/>
          </p:nvSpPr>
          <p:spPr>
            <a:xfrm>
              <a:off x="7048500" y="4381500"/>
              <a:ext cx="666750" cy="285750"/>
            </a:xfrm>
            <a:custGeom>
              <a:avLst/>
              <a:gdLst/>
              <a:ahLst/>
              <a:cxnLst/>
              <a:rect l="l" t="t" r="r" b="b"/>
              <a:pathLst>
                <a:path w="666750" h="285750">
                  <a:moveTo>
                    <a:pt x="0" y="0"/>
                  </a:moveTo>
                  <a:lnTo>
                    <a:pt x="666750" y="285750"/>
                  </a:lnTo>
                </a:path>
              </a:pathLst>
            </a:custGeom>
            <a:noFill/>
            <a:ln w="9525">
              <a:solidFill>
                <a:schemeClr val="accent3">
                  <a:alpha val="40000"/>
                </a:schemeClr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5" name="Ellipse 45"/>
            <p:cNvSpPr/>
            <p:nvPr/>
          </p:nvSpPr>
          <p:spPr>
            <a:xfrm>
              <a:off x="8229600" y="4800600"/>
              <a:ext cx="304800" cy="304800"/>
            </a:xfrm>
            <a:prstGeom prst="ellipse">
              <a:avLst/>
            </a:prstGeom>
            <a:noFill/>
            <a:ln w="14288">
              <a:solidFill>
                <a:schemeClr val="accent1">
                  <a:alpha val="50000"/>
                </a:schemeClr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" name="Line 46"/>
            <p:cNvSpPr/>
            <p:nvPr/>
          </p:nvSpPr>
          <p:spPr>
            <a:xfrm>
              <a:off x="7715250" y="4667250"/>
              <a:ext cx="666750" cy="285750"/>
            </a:xfrm>
            <a:custGeom>
              <a:avLst/>
              <a:gdLst/>
              <a:ahLst/>
              <a:cxnLst/>
              <a:rect l="l" t="t" r="r" b="b"/>
              <a:pathLst>
                <a:path w="666750" h="285750">
                  <a:moveTo>
                    <a:pt x="0" y="0"/>
                  </a:moveTo>
                  <a:lnTo>
                    <a:pt x="666750" y="285750"/>
                  </a:lnTo>
                </a:path>
              </a:pathLst>
            </a:custGeom>
            <a:noFill/>
            <a:ln w="9525">
              <a:solidFill>
                <a:schemeClr val="accent3">
                  <a:alpha val="40000"/>
                </a:schemeClr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4463269" y="5585460"/>
              <a:ext cx="32654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dirty="0">
                  <a:solidFill>
                    <a:srgbClr val="7A85A8"/>
                  </a:solidFill>
                  <a:latin typeface="+mn-lt"/>
                  <a:ea typeface="+mn-ea"/>
                  <a:cs typeface="+mn-cs"/>
                </a:rPr>
                <a:t>Molecular docking pipeline visualization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1874827" y="6216968"/>
            <a:ext cx="8442346" cy="264033"/>
            <a:chOff x="1874827" y="6216968"/>
            <a:chExt cx="8442346" cy="264033"/>
          </a:xfrm>
        </p:grpSpPr>
        <p:sp>
          <p:nvSpPr>
            <p:cNvPr id="49" name="TextBox 49"/>
            <p:cNvSpPr txBox="1"/>
            <p:nvPr/>
          </p:nvSpPr>
          <p:spPr>
            <a:xfrm>
              <a:off x="1874827" y="6216968"/>
              <a:ext cx="844234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Integrates AutoDock Vina with MM-GBSA scoring. Supports PDB, SMILES, SDF inputs.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0" y="6619875"/>
            <a:ext cx="12192000" cy="238125"/>
            <a:chOff x="0" y="6619875"/>
            <a:chExt cx="12192000" cy="238125"/>
          </a:xfrm>
        </p:grpSpPr>
        <p:sp>
          <p:nvSpPr>
            <p:cNvPr id="51" name="Rectangle 51"/>
            <p:cNvSpPr/>
            <p:nvPr/>
          </p:nvSpPr>
          <p:spPr>
            <a:xfrm>
              <a:off x="0" y="6619875"/>
              <a:ext cx="12192000" cy="238125"/>
            </a:xfrm>
            <a:prstGeom prst="rect">
              <a:avLst/>
            </a:prstGeom>
            <a:solidFill>
              <a:srgbClr val="0D0F24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4203998" y="6692741"/>
              <a:ext cx="378400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dirty="0">
                  <a:solidFill>
                    <a:srgbClr val="7A85A8"/>
                  </a:solidFill>
                  <a:latin typeface="+mj-lt"/>
                  <a:ea typeface="+mj-ea"/>
                  <a:cs typeface="+mj-cs"/>
                </a:rPr>
                <a:t>BioDockify — Building the Future of AI-Driven Pharmaceutical Research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2093338" y="307658"/>
            <a:ext cx="8005325" cy="616077"/>
            <a:chOff x="2093338" y="307658"/>
            <a:chExt cx="8005325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2093338" y="307658"/>
              <a:ext cx="800532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Community Edition: AI + Data Science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62000" y="1047750"/>
            <a:ext cx="3429000" cy="5048250"/>
            <a:chOff x="762000" y="1047750"/>
            <a:chExt cx="3429000" cy="5048250"/>
          </a:xfrm>
        </p:grpSpPr>
        <p:sp>
          <p:nvSpPr>
            <p:cNvPr id="4" name="Rectangle 4"/>
            <p:cNvSpPr/>
            <p:nvPr/>
          </p:nvSpPr>
          <p:spPr>
            <a:xfrm>
              <a:off x="762000" y="1047750"/>
              <a:ext cx="3429000" cy="5048250"/>
            </a:xfrm>
            <a:prstGeom prst="roundRect">
              <a:avLst>
                <a:gd name="adj" fmla="val 3889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2089465" y="1249680"/>
              <a:ext cx="77407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1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QSAR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1333500" y="1619250"/>
              <a:ext cx="2286000" cy="9525"/>
            </a:xfrm>
            <a:custGeom>
              <a:avLst/>
              <a:gdLst/>
              <a:ahLst/>
              <a:cxnLst/>
              <a:rect l="l" t="t" r="r" b="b"/>
              <a:pathLst>
                <a:path w="2286000" h="9525">
                  <a:moveTo>
                    <a:pt x="0" y="0"/>
                  </a:moveTo>
                  <a:lnTo>
                    <a:pt x="2286000" y="0"/>
                  </a:lnTo>
                </a:path>
              </a:pathLst>
            </a:custGeom>
            <a:noFill/>
            <a:ln w="9525">
              <a:solidFill>
                <a:schemeClr val="accent1">
                  <a:alpha val="40000"/>
                </a:schemeClr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423690" y="1854518"/>
              <a:ext cx="210562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Regression (6 models)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285745" y="2235518"/>
              <a:ext cx="238150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Classification (3 models)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685704" y="2616518"/>
              <a:ext cx="15815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Batch prediction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876322" y="2997518"/>
              <a:ext cx="12003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Read-across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4381500" y="1047750"/>
            <a:ext cx="3429000" cy="5048250"/>
            <a:chOff x="4381500" y="1047750"/>
            <a:chExt cx="3429000" cy="5048250"/>
          </a:xfrm>
        </p:grpSpPr>
        <p:sp>
          <p:nvSpPr>
            <p:cNvPr id="12" name="Rectangle 12"/>
            <p:cNvSpPr/>
            <p:nvPr/>
          </p:nvSpPr>
          <p:spPr>
            <a:xfrm>
              <a:off x="4381500" y="1047750"/>
              <a:ext cx="3429000" cy="5048250"/>
            </a:xfrm>
            <a:prstGeom prst="roundRect">
              <a:avLst>
                <a:gd name="adj" fmla="val 3889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339039" y="1249680"/>
              <a:ext cx="151392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1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Statistics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4953000" y="1619250"/>
              <a:ext cx="2286000" cy="9525"/>
            </a:xfrm>
            <a:custGeom>
              <a:avLst/>
              <a:gdLst/>
              <a:ahLst/>
              <a:cxnLst/>
              <a:rect l="l" t="t" r="r" b="b"/>
              <a:pathLst>
                <a:path w="2286000" h="9525">
                  <a:moveTo>
                    <a:pt x="0" y="0"/>
                  </a:moveTo>
                  <a:lnTo>
                    <a:pt x="2286000" y="0"/>
                  </a:lnTo>
                </a:path>
              </a:pathLst>
            </a:custGeom>
            <a:noFill/>
            <a:ln w="9525">
              <a:solidFill>
                <a:schemeClr val="accent2">
                  <a:alpha val="40000"/>
                </a:schemeClr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545895" y="1854518"/>
              <a:ext cx="11002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Descriptive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545895" y="2235518"/>
              <a:ext cx="11002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Correlation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261381" y="2616518"/>
              <a:ext cx="16692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Group comparison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632056" y="2997518"/>
              <a:ext cx="92788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Normality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896775" y="3378518"/>
              <a:ext cx="39845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PCA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704665" y="3759518"/>
              <a:ext cx="782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Survival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419715" y="4140518"/>
              <a:ext cx="13525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Meta-analysis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8001000" y="1047750"/>
            <a:ext cx="3429000" cy="5048250"/>
            <a:chOff x="8001000" y="1047750"/>
            <a:chExt cx="3429000" cy="5048250"/>
          </a:xfrm>
        </p:grpSpPr>
        <p:sp>
          <p:nvSpPr>
            <p:cNvPr id="23" name="Rectangle 23"/>
            <p:cNvSpPr/>
            <p:nvPr/>
          </p:nvSpPr>
          <p:spPr>
            <a:xfrm>
              <a:off x="8001000" y="1047750"/>
              <a:ext cx="3429000" cy="5048250"/>
            </a:xfrm>
            <a:prstGeom prst="roundRect">
              <a:avLst>
                <a:gd name="adj" fmla="val 3889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788084" y="1249680"/>
              <a:ext cx="185483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100" b="1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Visualization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8572500" y="1619250"/>
              <a:ext cx="2286000" cy="9525"/>
            </a:xfrm>
            <a:custGeom>
              <a:avLst/>
              <a:gdLst/>
              <a:ahLst/>
              <a:cxnLst/>
              <a:rect l="l" t="t" r="r" b="b"/>
              <a:pathLst>
                <a:path w="2286000" h="9525">
                  <a:moveTo>
                    <a:pt x="0" y="0"/>
                  </a:moveTo>
                  <a:lnTo>
                    <a:pt x="2286000" y="0"/>
                  </a:lnTo>
                </a:path>
              </a:pathLst>
            </a:custGeom>
            <a:noFill/>
            <a:ln w="9525">
              <a:solidFill>
                <a:schemeClr val="accent3">
                  <a:alpha val="40000"/>
                </a:schemeClr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320822" y="1854518"/>
              <a:ext cx="7893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2D plots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920529" y="2235518"/>
              <a:ext cx="158994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Statistical plots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867670" y="2616518"/>
              <a:ext cx="169566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Scientific results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2901544" y="6236018"/>
            <a:ext cx="6388913" cy="264033"/>
            <a:chOff x="2901544" y="6236018"/>
            <a:chExt cx="6388913" cy="264033"/>
          </a:xfrm>
        </p:grpSpPr>
        <p:sp>
          <p:nvSpPr>
            <p:cNvPr id="30" name="TextBox 30"/>
            <p:cNvSpPr txBox="1"/>
            <p:nvPr/>
          </p:nvSpPr>
          <p:spPr>
            <a:xfrm>
              <a:off x="2901544" y="6236018"/>
              <a:ext cx="638891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56 statistical analysis types | 6 regression + 3 classification models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0" y="6619875"/>
            <a:ext cx="12192000" cy="238125"/>
            <a:chOff x="0" y="6619875"/>
            <a:chExt cx="12192000" cy="238125"/>
          </a:xfrm>
        </p:grpSpPr>
        <p:sp>
          <p:nvSpPr>
            <p:cNvPr id="32" name="Rectangle 32"/>
            <p:cNvSpPr/>
            <p:nvPr/>
          </p:nvSpPr>
          <p:spPr>
            <a:xfrm>
              <a:off x="0" y="6619875"/>
              <a:ext cx="12192000" cy="238125"/>
            </a:xfrm>
            <a:prstGeom prst="rect">
              <a:avLst/>
            </a:prstGeom>
            <a:solidFill>
              <a:srgbClr val="0D0F24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203998" y="6692741"/>
              <a:ext cx="378400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dirty="0">
                  <a:solidFill>
                    <a:srgbClr val="7A85A8"/>
                  </a:solidFill>
                  <a:latin typeface="+mj-lt"/>
                  <a:ea typeface="+mj-ea"/>
                  <a:cs typeface="+mj-cs"/>
                </a:rPr>
                <a:t>BioDockify — Building the Future of AI-Driven Pharmaceutical Research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1432946" y="307658"/>
            <a:ext cx="9326108" cy="616077"/>
            <a:chOff x="1432946" y="307658"/>
            <a:chExt cx="9326108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1432946" y="307658"/>
              <a:ext cx="932610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Community Edition: Literature Intelligence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3316637" y="1043940"/>
            <a:ext cx="5558726" cy="352044"/>
            <a:chOff x="3316637" y="1043940"/>
            <a:chExt cx="5558726" cy="352044"/>
          </a:xfrm>
        </p:grpSpPr>
        <p:sp>
          <p:nvSpPr>
            <p:cNvPr id="4" name="TextBox 4"/>
            <p:cNvSpPr txBox="1"/>
            <p:nvPr/>
          </p:nvSpPr>
          <p:spPr>
            <a:xfrm>
              <a:off x="3316637" y="1043940"/>
              <a:ext cx="555872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800" i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“Researcher asks: What is known about X?”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3619500" y="1619250"/>
            <a:ext cx="4953000" cy="619125"/>
            <a:chOff x="3619500" y="1619250"/>
            <a:chExt cx="4953000" cy="619125"/>
          </a:xfrm>
        </p:grpSpPr>
        <p:sp>
          <p:nvSpPr>
            <p:cNvPr id="6" name="Rectangle 6"/>
            <p:cNvSpPr/>
            <p:nvPr/>
          </p:nvSpPr>
          <p:spPr>
            <a:xfrm>
              <a:off x="3619500" y="1619250"/>
              <a:ext cx="4953000" cy="619125"/>
            </a:xfrm>
            <a:prstGeom prst="roundRect">
              <a:avLst>
                <a:gd name="adj" fmla="val 21538"/>
              </a:avLst>
            </a:prstGeom>
            <a:solidFill>
              <a:schemeClr val="lt2"/>
            </a:solidFill>
            <a:ln w="14288">
              <a:solidFill>
                <a:schemeClr val="accent1"/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143524" y="1724025"/>
              <a:ext cx="190495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Literature Search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024249" y="1993106"/>
              <a:ext cx="4143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12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Multi-source: PubMed, Semantic Scholar, CrossRef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048375" y="2238375"/>
            <a:ext cx="95250" cy="285750"/>
            <a:chOff x="6048375" y="2238375"/>
            <a:chExt cx="95250" cy="285750"/>
          </a:xfrm>
        </p:grpSpPr>
        <p:sp>
          <p:nvSpPr>
            <p:cNvPr id="10" name="Freeform 10"/>
            <p:cNvSpPr/>
            <p:nvPr/>
          </p:nvSpPr>
          <p:spPr>
            <a:xfrm>
              <a:off x="6096000" y="2238375"/>
              <a:ext cx="9525" cy="238125"/>
            </a:xfrm>
            <a:custGeom>
              <a:avLst/>
              <a:gdLst/>
              <a:ahLst/>
              <a:cxnLst/>
              <a:rect l="l" t="t" r="r" b="b"/>
              <a:pathLst>
                <a:path w="9525" h="238125">
                  <a:moveTo>
                    <a:pt x="0" y="0"/>
                  </a:moveTo>
                  <a:lnTo>
                    <a:pt x="0" y="238125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Polygon 11"/>
            <p:cNvSpPr/>
            <p:nvPr/>
          </p:nvSpPr>
          <p:spPr>
            <a:xfrm>
              <a:off x="6048375" y="242887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0"/>
                  </a:moveTo>
                  <a:lnTo>
                    <a:pt x="47625" y="9525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3810000" y="2524125"/>
            <a:ext cx="4572000" cy="619125"/>
            <a:chOff x="3810000" y="2524125"/>
            <a:chExt cx="4572000" cy="619125"/>
          </a:xfrm>
        </p:grpSpPr>
        <p:sp>
          <p:nvSpPr>
            <p:cNvPr id="13" name="Rectangle 13"/>
            <p:cNvSpPr/>
            <p:nvPr/>
          </p:nvSpPr>
          <p:spPr>
            <a:xfrm>
              <a:off x="3810000" y="2524125"/>
              <a:ext cx="4572000" cy="619125"/>
            </a:xfrm>
            <a:prstGeom prst="roundRect">
              <a:avLst>
                <a:gd name="adj" fmla="val 21538"/>
              </a:avLst>
            </a:prstGeom>
            <a:solidFill>
              <a:schemeClr val="lt2"/>
            </a:solidFill>
            <a:ln w="14288">
              <a:solidFill>
                <a:schemeClr val="accent2"/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586984" y="2628900"/>
              <a:ext cx="10180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Screening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270612" y="2897981"/>
              <a:ext cx="36507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12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PRISMA-compliant inclusion/exclusion criteria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048375" y="3143250"/>
            <a:ext cx="95250" cy="285750"/>
            <a:chOff x="6048375" y="3143250"/>
            <a:chExt cx="95250" cy="285750"/>
          </a:xfrm>
        </p:grpSpPr>
        <p:sp>
          <p:nvSpPr>
            <p:cNvPr id="17" name="Freeform 17"/>
            <p:cNvSpPr/>
            <p:nvPr/>
          </p:nvSpPr>
          <p:spPr>
            <a:xfrm>
              <a:off x="6096000" y="3143250"/>
              <a:ext cx="9525" cy="238125"/>
            </a:xfrm>
            <a:custGeom>
              <a:avLst/>
              <a:gdLst/>
              <a:ahLst/>
              <a:cxnLst/>
              <a:rect l="l" t="t" r="r" b="b"/>
              <a:pathLst>
                <a:path w="9525" h="238125">
                  <a:moveTo>
                    <a:pt x="0" y="0"/>
                  </a:moveTo>
                  <a:lnTo>
                    <a:pt x="0" y="238125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Polygon 18"/>
            <p:cNvSpPr/>
            <p:nvPr/>
          </p:nvSpPr>
          <p:spPr>
            <a:xfrm>
              <a:off x="6048375" y="333375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0"/>
                  </a:moveTo>
                  <a:lnTo>
                    <a:pt x="47625" y="9525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4000500" y="3429000"/>
            <a:ext cx="4191000" cy="619125"/>
            <a:chOff x="4000500" y="3429000"/>
            <a:chExt cx="4191000" cy="619125"/>
          </a:xfrm>
        </p:grpSpPr>
        <p:sp>
          <p:nvSpPr>
            <p:cNvPr id="20" name="Rectangle 20"/>
            <p:cNvSpPr/>
            <p:nvPr/>
          </p:nvSpPr>
          <p:spPr>
            <a:xfrm>
              <a:off x="4000500" y="3429000"/>
              <a:ext cx="4191000" cy="619125"/>
            </a:xfrm>
            <a:prstGeom prst="roundRect">
              <a:avLst>
                <a:gd name="adj" fmla="val 21538"/>
              </a:avLst>
            </a:prstGeom>
            <a:solidFill>
              <a:schemeClr val="lt2"/>
            </a:solidFill>
            <a:ln w="14288">
              <a:solidFill>
                <a:schemeClr val="accent1"/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053584" y="3533775"/>
              <a:ext cx="20848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Evidence Extraction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497866" y="3802856"/>
              <a:ext cx="31962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12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BioNER, entity recognition, key findings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048375" y="4048125"/>
            <a:ext cx="95250" cy="285750"/>
            <a:chOff x="6048375" y="4048125"/>
            <a:chExt cx="95250" cy="285750"/>
          </a:xfrm>
        </p:grpSpPr>
        <p:sp>
          <p:nvSpPr>
            <p:cNvPr id="24" name="Freeform 24"/>
            <p:cNvSpPr/>
            <p:nvPr/>
          </p:nvSpPr>
          <p:spPr>
            <a:xfrm>
              <a:off x="6096000" y="4048125"/>
              <a:ext cx="9525" cy="238125"/>
            </a:xfrm>
            <a:custGeom>
              <a:avLst/>
              <a:gdLst/>
              <a:ahLst/>
              <a:cxnLst/>
              <a:rect l="l" t="t" r="r" b="b"/>
              <a:pathLst>
                <a:path w="9525" h="238125">
                  <a:moveTo>
                    <a:pt x="0" y="0"/>
                  </a:moveTo>
                  <a:lnTo>
                    <a:pt x="0" y="238125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Polygon 25"/>
            <p:cNvSpPr/>
            <p:nvPr/>
          </p:nvSpPr>
          <p:spPr>
            <a:xfrm>
              <a:off x="6048375" y="423862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0"/>
                  </a:moveTo>
                  <a:lnTo>
                    <a:pt x="47625" y="9525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4191000" y="4333875"/>
            <a:ext cx="3810000" cy="619125"/>
            <a:chOff x="4191000" y="4333875"/>
            <a:chExt cx="3810000" cy="619125"/>
          </a:xfrm>
        </p:grpSpPr>
        <p:sp>
          <p:nvSpPr>
            <p:cNvPr id="27" name="Rectangle 27"/>
            <p:cNvSpPr/>
            <p:nvPr/>
          </p:nvSpPr>
          <p:spPr>
            <a:xfrm>
              <a:off x="4191000" y="4333875"/>
              <a:ext cx="3810000" cy="619125"/>
            </a:xfrm>
            <a:prstGeom prst="roundRect">
              <a:avLst>
                <a:gd name="adj" fmla="val 21538"/>
              </a:avLst>
            </a:prstGeom>
            <a:solidFill>
              <a:schemeClr val="lt2"/>
            </a:solidFill>
            <a:ln w="14288">
              <a:solidFill>
                <a:schemeClr val="accent2"/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862655" y="4438650"/>
              <a:ext cx="246668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Knowledge Organization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204853" y="4707731"/>
              <a:ext cx="378229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12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Structured evidence tables and citation mapping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6048375" y="4953000"/>
            <a:ext cx="95250" cy="285750"/>
            <a:chOff x="6048375" y="4953000"/>
            <a:chExt cx="95250" cy="285750"/>
          </a:xfrm>
        </p:grpSpPr>
        <p:sp>
          <p:nvSpPr>
            <p:cNvPr id="31" name="Freeform 31"/>
            <p:cNvSpPr/>
            <p:nvPr/>
          </p:nvSpPr>
          <p:spPr>
            <a:xfrm>
              <a:off x="6096000" y="4953000"/>
              <a:ext cx="9525" cy="238125"/>
            </a:xfrm>
            <a:custGeom>
              <a:avLst/>
              <a:gdLst/>
              <a:ahLst/>
              <a:cxnLst/>
              <a:rect l="l" t="t" r="r" b="b"/>
              <a:pathLst>
                <a:path w="9525" h="238125">
                  <a:moveTo>
                    <a:pt x="0" y="0"/>
                  </a:moveTo>
                  <a:lnTo>
                    <a:pt x="0" y="238125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2" name="Polygon 32"/>
            <p:cNvSpPr/>
            <p:nvPr/>
          </p:nvSpPr>
          <p:spPr>
            <a:xfrm>
              <a:off x="6048375" y="514350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0"/>
                  </a:moveTo>
                  <a:lnTo>
                    <a:pt x="47625" y="9525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4232644" y="5238750"/>
            <a:ext cx="3726711" cy="619125"/>
            <a:chOff x="4232644" y="5238750"/>
            <a:chExt cx="3726711" cy="619125"/>
          </a:xfrm>
        </p:grpSpPr>
        <p:sp>
          <p:nvSpPr>
            <p:cNvPr id="34" name="Rectangle 34"/>
            <p:cNvSpPr/>
            <p:nvPr/>
          </p:nvSpPr>
          <p:spPr>
            <a:xfrm>
              <a:off x="4381500" y="5238750"/>
              <a:ext cx="3429000" cy="619125"/>
            </a:xfrm>
            <a:prstGeom prst="roundRect">
              <a:avLst>
                <a:gd name="adj" fmla="val 21538"/>
              </a:avLst>
            </a:prstGeom>
            <a:solidFill>
              <a:schemeClr val="lt2"/>
            </a:solidFill>
            <a:ln w="14288">
              <a:solidFill>
                <a:schemeClr val="accent1"/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586984" y="5343525"/>
              <a:ext cx="10180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Synthesis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232644" y="5612606"/>
              <a:ext cx="37267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12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Citation-aware narrative with evidence grading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2469490" y="6188392"/>
            <a:ext cx="7253021" cy="264033"/>
            <a:chOff x="2469490" y="6188392"/>
            <a:chExt cx="7253021" cy="264033"/>
          </a:xfrm>
        </p:grpSpPr>
        <p:sp>
          <p:nvSpPr>
            <p:cNvPr id="38" name="TextBox 38"/>
            <p:cNvSpPr txBox="1"/>
            <p:nvPr/>
          </p:nvSpPr>
          <p:spPr>
            <a:xfrm>
              <a:off x="2469490" y="6188392"/>
              <a:ext cx="72530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PRISMA screening, BioNER, multi-source search, citation-aware responses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0" y="6619875"/>
            <a:ext cx="12192000" cy="238125"/>
            <a:chOff x="0" y="6619875"/>
            <a:chExt cx="12192000" cy="238125"/>
          </a:xfrm>
        </p:grpSpPr>
        <p:sp>
          <p:nvSpPr>
            <p:cNvPr id="40" name="Rectangle 40"/>
            <p:cNvSpPr/>
            <p:nvPr/>
          </p:nvSpPr>
          <p:spPr>
            <a:xfrm>
              <a:off x="0" y="6619875"/>
              <a:ext cx="12192000" cy="238125"/>
            </a:xfrm>
            <a:prstGeom prst="rect">
              <a:avLst/>
            </a:prstGeom>
            <a:solidFill>
              <a:srgbClr val="0D0F24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203998" y="6692741"/>
              <a:ext cx="378400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dirty="0">
                  <a:solidFill>
                    <a:srgbClr val="7A85A8"/>
                  </a:solidFill>
                  <a:latin typeface="+mj-lt"/>
                  <a:ea typeface="+mj-ea"/>
                  <a:cs typeface="+mj-cs"/>
                </a:rPr>
                <a:t>BioDockify — Building the Future of AI-Driven Pharmaceutical Research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1898612" y="307658"/>
            <a:ext cx="8394777" cy="616077"/>
            <a:chOff x="1898612" y="307658"/>
            <a:chExt cx="8394777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1898612" y="307658"/>
              <a:ext cx="8394777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Community Edition: Academic Research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762000" y="1524000"/>
            <a:ext cx="10620375" cy="476250"/>
            <a:chOff x="762000" y="1524000"/>
            <a:chExt cx="10620375" cy="476250"/>
          </a:xfrm>
        </p:grpSpPr>
        <p:sp>
          <p:nvSpPr>
            <p:cNvPr id="4" name="Rectangle 4"/>
            <p:cNvSpPr/>
            <p:nvPr/>
          </p:nvSpPr>
          <p:spPr>
            <a:xfrm>
              <a:off x="762000" y="1524000"/>
              <a:ext cx="1333500" cy="4762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 w="14288">
              <a:solidFill>
                <a:schemeClr val="accent1"/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53174" y="1697831"/>
              <a:ext cx="9511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Researcher</a:t>
              </a:r>
            </a:p>
          </p:txBody>
        </p:sp>
        <p:sp>
          <p:nvSpPr>
            <p:cNvPr id="6" name="Freeform 6"/>
            <p:cNvSpPr/>
            <p:nvPr/>
          </p:nvSpPr>
          <p:spPr>
            <a:xfrm>
              <a:off x="2095500" y="1762125"/>
              <a:ext cx="333375" cy="9525"/>
            </a:xfrm>
            <a:custGeom>
              <a:avLst/>
              <a:gdLst/>
              <a:ahLst/>
              <a:cxnLst/>
              <a:rect l="l" t="t" r="r" b="b"/>
              <a:pathLst>
                <a:path w="333375" h="9525">
                  <a:moveTo>
                    <a:pt x="0" y="0"/>
                  </a:moveTo>
                  <a:lnTo>
                    <a:pt x="333375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Polygon 7"/>
            <p:cNvSpPr/>
            <p:nvPr/>
          </p:nvSpPr>
          <p:spPr>
            <a:xfrm>
              <a:off x="2381250" y="171450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0"/>
                  </a:moveTo>
                  <a:lnTo>
                    <a:pt x="95250" y="47625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Rectangle 8"/>
            <p:cNvSpPr/>
            <p:nvPr/>
          </p:nvSpPr>
          <p:spPr>
            <a:xfrm>
              <a:off x="2524125" y="1524000"/>
              <a:ext cx="1619250" cy="4762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 w="14288">
              <a:solidFill>
                <a:schemeClr val="accent2"/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572314" y="1697831"/>
              <a:ext cx="15228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Literature Review</a:t>
              </a:r>
            </a:p>
          </p:txBody>
        </p:sp>
        <p:sp>
          <p:nvSpPr>
            <p:cNvPr id="10" name="Freeform 10"/>
            <p:cNvSpPr/>
            <p:nvPr/>
          </p:nvSpPr>
          <p:spPr>
            <a:xfrm>
              <a:off x="4143375" y="1762125"/>
              <a:ext cx="333375" cy="9525"/>
            </a:xfrm>
            <a:custGeom>
              <a:avLst/>
              <a:gdLst/>
              <a:ahLst/>
              <a:cxnLst/>
              <a:rect l="l" t="t" r="r" b="b"/>
              <a:pathLst>
                <a:path w="333375" h="9525">
                  <a:moveTo>
                    <a:pt x="0" y="0"/>
                  </a:moveTo>
                  <a:lnTo>
                    <a:pt x="333375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Polygon 11"/>
            <p:cNvSpPr/>
            <p:nvPr/>
          </p:nvSpPr>
          <p:spPr>
            <a:xfrm>
              <a:off x="4429125" y="171450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0"/>
                  </a:moveTo>
                  <a:lnTo>
                    <a:pt x="95250" y="47625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Rectangle 12"/>
            <p:cNvSpPr/>
            <p:nvPr/>
          </p:nvSpPr>
          <p:spPr>
            <a:xfrm>
              <a:off x="4572000" y="1524000"/>
              <a:ext cx="1809750" cy="4762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 w="14288">
              <a:solidFill>
                <a:schemeClr val="accent1"/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711145" y="1697831"/>
              <a:ext cx="15314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Research Proposal</a:t>
              </a:r>
            </a:p>
          </p:txBody>
        </p:sp>
        <p:sp>
          <p:nvSpPr>
            <p:cNvPr id="14" name="Freeform 14"/>
            <p:cNvSpPr/>
            <p:nvPr/>
          </p:nvSpPr>
          <p:spPr>
            <a:xfrm>
              <a:off x="6381750" y="1762125"/>
              <a:ext cx="333375" cy="9525"/>
            </a:xfrm>
            <a:custGeom>
              <a:avLst/>
              <a:gdLst/>
              <a:ahLst/>
              <a:cxnLst/>
              <a:rect l="l" t="t" r="r" b="b"/>
              <a:pathLst>
                <a:path w="333375" h="9525">
                  <a:moveTo>
                    <a:pt x="0" y="0"/>
                  </a:moveTo>
                  <a:lnTo>
                    <a:pt x="333375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Polygon 15"/>
            <p:cNvSpPr/>
            <p:nvPr/>
          </p:nvSpPr>
          <p:spPr>
            <a:xfrm>
              <a:off x="6667500" y="171450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0"/>
                  </a:moveTo>
                  <a:lnTo>
                    <a:pt x="95250" y="47625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Rectangle 16"/>
            <p:cNvSpPr/>
            <p:nvPr/>
          </p:nvSpPr>
          <p:spPr>
            <a:xfrm>
              <a:off x="6810375" y="1524000"/>
              <a:ext cx="1238250" cy="4762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 w="14288">
              <a:solidFill>
                <a:schemeClr val="accent2"/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159581" y="1697831"/>
              <a:ext cx="539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Thesis</a:t>
              </a:r>
            </a:p>
          </p:txBody>
        </p:sp>
        <p:sp>
          <p:nvSpPr>
            <p:cNvPr id="18" name="Freeform 18"/>
            <p:cNvSpPr/>
            <p:nvPr/>
          </p:nvSpPr>
          <p:spPr>
            <a:xfrm>
              <a:off x="8048625" y="1762125"/>
              <a:ext cx="333375" cy="9525"/>
            </a:xfrm>
            <a:custGeom>
              <a:avLst/>
              <a:gdLst/>
              <a:ahLst/>
              <a:cxnLst/>
              <a:rect l="l" t="t" r="r" b="b"/>
              <a:pathLst>
                <a:path w="333375" h="9525">
                  <a:moveTo>
                    <a:pt x="0" y="0"/>
                  </a:moveTo>
                  <a:lnTo>
                    <a:pt x="333375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Polygon 19"/>
            <p:cNvSpPr/>
            <p:nvPr/>
          </p:nvSpPr>
          <p:spPr>
            <a:xfrm>
              <a:off x="8334375" y="171450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0"/>
                  </a:moveTo>
                  <a:lnTo>
                    <a:pt x="95250" y="47625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Rectangle 20"/>
            <p:cNvSpPr/>
            <p:nvPr/>
          </p:nvSpPr>
          <p:spPr>
            <a:xfrm>
              <a:off x="8477250" y="1524000"/>
              <a:ext cx="1238250" cy="4762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 w="14288">
              <a:solidFill>
                <a:schemeClr val="accent1"/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850801" y="1697831"/>
              <a:ext cx="4911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Paper</a:t>
              </a:r>
            </a:p>
          </p:txBody>
        </p:sp>
        <p:sp>
          <p:nvSpPr>
            <p:cNvPr id="22" name="Freeform 22"/>
            <p:cNvSpPr/>
            <p:nvPr/>
          </p:nvSpPr>
          <p:spPr>
            <a:xfrm>
              <a:off x="9715500" y="1762125"/>
              <a:ext cx="333375" cy="9525"/>
            </a:xfrm>
            <a:custGeom>
              <a:avLst/>
              <a:gdLst/>
              <a:ahLst/>
              <a:cxnLst/>
              <a:rect l="l" t="t" r="r" b="b"/>
              <a:pathLst>
                <a:path w="333375" h="9525">
                  <a:moveTo>
                    <a:pt x="0" y="0"/>
                  </a:moveTo>
                  <a:lnTo>
                    <a:pt x="333375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Polygon 23"/>
            <p:cNvSpPr/>
            <p:nvPr/>
          </p:nvSpPr>
          <p:spPr>
            <a:xfrm>
              <a:off x="10001250" y="171450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0"/>
                  </a:moveTo>
                  <a:lnTo>
                    <a:pt x="95250" y="47625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Rectangle 24"/>
            <p:cNvSpPr/>
            <p:nvPr/>
          </p:nvSpPr>
          <p:spPr>
            <a:xfrm>
              <a:off x="10144125" y="1524000"/>
              <a:ext cx="1238250" cy="4762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 w="14288">
              <a:solidFill>
                <a:schemeClr val="accent2"/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517676" y="1697831"/>
              <a:ext cx="4911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Grant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048375" y="2000250"/>
            <a:ext cx="4714875" cy="714375"/>
            <a:chOff x="6048375" y="2000250"/>
            <a:chExt cx="4714875" cy="714375"/>
          </a:xfrm>
        </p:grpSpPr>
        <p:sp>
          <p:nvSpPr>
            <p:cNvPr id="27" name="Freeform 27"/>
            <p:cNvSpPr/>
            <p:nvPr/>
          </p:nvSpPr>
          <p:spPr>
            <a:xfrm>
              <a:off x="6096000" y="2000250"/>
              <a:ext cx="4667250" cy="666750"/>
            </a:xfrm>
            <a:custGeom>
              <a:avLst/>
              <a:gdLst/>
              <a:ahLst/>
              <a:cxnLst/>
              <a:rect l="l" t="t" r="r" b="b"/>
              <a:pathLst>
                <a:path w="4667250" h="666750">
                  <a:moveTo>
                    <a:pt x="4667250" y="0"/>
                  </a:moveTo>
                  <a:lnTo>
                    <a:pt x="4667250" y="381000"/>
                  </a:lnTo>
                  <a:lnTo>
                    <a:pt x="0" y="381000"/>
                  </a:lnTo>
                  <a:lnTo>
                    <a:pt x="0" y="666750"/>
                  </a:lnTo>
                </a:path>
              </a:pathLst>
            </a:custGeom>
            <a:noFill/>
            <a:ln w="19050">
              <a:solidFill>
                <a:schemeClr val="accent1"/>
              </a:solidFill>
              <a:prstDash val="dash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Polygon 28"/>
            <p:cNvSpPr/>
            <p:nvPr/>
          </p:nvSpPr>
          <p:spPr>
            <a:xfrm>
              <a:off x="6048375" y="261937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0"/>
                  </a:moveTo>
                  <a:lnTo>
                    <a:pt x="47625" y="9525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3619500" y="2762250"/>
            <a:ext cx="4857750" cy="476250"/>
            <a:chOff x="3619500" y="2762250"/>
            <a:chExt cx="4857750" cy="476250"/>
          </a:xfrm>
        </p:grpSpPr>
        <p:sp>
          <p:nvSpPr>
            <p:cNvPr id="30" name="Rectangle 30"/>
            <p:cNvSpPr/>
            <p:nvPr/>
          </p:nvSpPr>
          <p:spPr>
            <a:xfrm>
              <a:off x="3619500" y="2762250"/>
              <a:ext cx="1238250" cy="4762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 w="14288">
              <a:solidFill>
                <a:schemeClr val="accent1"/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897988" y="2936081"/>
              <a:ext cx="6812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Citation</a:t>
              </a:r>
            </a:p>
          </p:txBody>
        </p:sp>
        <p:sp>
          <p:nvSpPr>
            <p:cNvPr id="32" name="Freeform 32"/>
            <p:cNvSpPr/>
            <p:nvPr/>
          </p:nvSpPr>
          <p:spPr>
            <a:xfrm>
              <a:off x="4857750" y="3000375"/>
              <a:ext cx="333375" cy="9525"/>
            </a:xfrm>
            <a:custGeom>
              <a:avLst/>
              <a:gdLst/>
              <a:ahLst/>
              <a:cxnLst/>
              <a:rect l="l" t="t" r="r" b="b"/>
              <a:pathLst>
                <a:path w="333375" h="9525">
                  <a:moveTo>
                    <a:pt x="0" y="0"/>
                  </a:moveTo>
                  <a:lnTo>
                    <a:pt x="333375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Polygon 33"/>
            <p:cNvSpPr/>
            <p:nvPr/>
          </p:nvSpPr>
          <p:spPr>
            <a:xfrm>
              <a:off x="5143500" y="295275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0"/>
                  </a:moveTo>
                  <a:lnTo>
                    <a:pt x="95250" y="47625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286375" y="2762250"/>
              <a:ext cx="1238250" cy="4762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 w="14288">
              <a:solidFill>
                <a:schemeClr val="accent2"/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567925" y="2936081"/>
              <a:ext cx="6751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Lecture</a:t>
              </a:r>
            </a:p>
          </p:txBody>
        </p:sp>
        <p:sp>
          <p:nvSpPr>
            <p:cNvPr id="36" name="Freeform 36"/>
            <p:cNvSpPr/>
            <p:nvPr/>
          </p:nvSpPr>
          <p:spPr>
            <a:xfrm>
              <a:off x="6524625" y="3000375"/>
              <a:ext cx="333375" cy="9525"/>
            </a:xfrm>
            <a:custGeom>
              <a:avLst/>
              <a:gdLst/>
              <a:ahLst/>
              <a:cxnLst/>
              <a:rect l="l" t="t" r="r" b="b"/>
              <a:pathLst>
                <a:path w="333375" h="9525">
                  <a:moveTo>
                    <a:pt x="0" y="0"/>
                  </a:moveTo>
                  <a:lnTo>
                    <a:pt x="333375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Polygon 37"/>
            <p:cNvSpPr/>
            <p:nvPr/>
          </p:nvSpPr>
          <p:spPr>
            <a:xfrm>
              <a:off x="6810375" y="295275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0"/>
                  </a:moveTo>
                  <a:lnTo>
                    <a:pt x="95250" y="47625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953250" y="2762250"/>
              <a:ext cx="1524000" cy="4762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 w="14288">
              <a:solidFill>
                <a:schemeClr val="accent1"/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257623" y="2936081"/>
              <a:ext cx="9152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Publication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1333500" y="3714750"/>
            <a:ext cx="9525000" cy="2286000"/>
            <a:chOff x="1333500" y="3714750"/>
            <a:chExt cx="9525000" cy="2286000"/>
          </a:xfrm>
        </p:grpSpPr>
        <p:sp>
          <p:nvSpPr>
            <p:cNvPr id="41" name="Rectangle 41"/>
            <p:cNvSpPr/>
            <p:nvPr/>
          </p:nvSpPr>
          <p:spPr>
            <a:xfrm>
              <a:off x="1333500" y="3714750"/>
              <a:ext cx="9525000" cy="2286000"/>
            </a:xfrm>
            <a:prstGeom prst="roundRect">
              <a:avLst>
                <a:gd name="adj" fmla="val 5833"/>
              </a:avLst>
            </a:prstGeom>
            <a:solidFill>
              <a:schemeClr val="lt2">
                <a:alpha val="6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799276" y="3917632"/>
              <a:ext cx="25934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Writing Mode Features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1905000" y="4333875"/>
              <a:ext cx="2286000" cy="4191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 w="9525">
              <a:solidFill>
                <a:schemeClr val="accent1"/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2168168" y="4471035"/>
              <a:ext cx="17596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EQUATOR Guidelines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4381500" y="4333875"/>
              <a:ext cx="2667000" cy="4191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 w="9525">
              <a:solidFill>
                <a:schemeClr val="accent2"/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4521517" y="4471035"/>
              <a:ext cx="238696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Per-section Quality Scoring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7239000" y="4333875"/>
              <a:ext cx="2095500" cy="4191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 w="9525">
              <a:solidFill>
                <a:schemeClr val="accent1"/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558512" y="4471035"/>
              <a:ext cx="14564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De-AIGC Rewrite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2857500" y="4953000"/>
              <a:ext cx="2667000" cy="4191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 w="9525">
              <a:solidFill>
                <a:schemeClr val="accent2"/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3072253" y="5090160"/>
              <a:ext cx="223749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8 Dedicated Writing Modes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5715000" y="4953000"/>
              <a:ext cx="2667000" cy="4191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 w="9525">
              <a:solidFill>
                <a:schemeClr val="accent1"/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159906" y="5090160"/>
              <a:ext cx="17771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Citation Management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1538420" y="6216968"/>
            <a:ext cx="9115160" cy="264033"/>
            <a:chOff x="1538420" y="6216968"/>
            <a:chExt cx="9115160" cy="264033"/>
          </a:xfrm>
        </p:grpSpPr>
        <p:sp>
          <p:nvSpPr>
            <p:cNvPr id="54" name="TextBox 54"/>
            <p:cNvSpPr txBox="1"/>
            <p:nvPr/>
          </p:nvSpPr>
          <p:spPr>
            <a:xfrm>
              <a:off x="1538420" y="6216968"/>
              <a:ext cx="91151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8 dedicated writing modes | EQUATOR guidelines | Per-section quality scoring | De-AIGC rewrite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0" y="6619875"/>
            <a:ext cx="12192000" cy="238125"/>
            <a:chOff x="0" y="6619875"/>
            <a:chExt cx="12192000" cy="238125"/>
          </a:xfrm>
        </p:grpSpPr>
        <p:sp>
          <p:nvSpPr>
            <p:cNvPr id="56" name="Rectangle 56"/>
            <p:cNvSpPr/>
            <p:nvPr/>
          </p:nvSpPr>
          <p:spPr>
            <a:xfrm>
              <a:off x="0" y="6619875"/>
              <a:ext cx="12192000" cy="238125"/>
            </a:xfrm>
            <a:prstGeom prst="rect">
              <a:avLst/>
            </a:prstGeom>
            <a:solidFill>
              <a:srgbClr val="0D0F24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4203998" y="6692741"/>
              <a:ext cx="378400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dirty="0">
                  <a:solidFill>
                    <a:srgbClr val="7A85A8"/>
                  </a:solidFill>
                  <a:latin typeface="+mj-lt"/>
                  <a:ea typeface="+mj-ea"/>
                  <a:cs typeface="+mj-cs"/>
                </a:rPr>
                <a:t>BioDockify — Building the Future of AI-Driven Pharmaceutical Research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2415040" y="307658"/>
            <a:ext cx="7361920" cy="616077"/>
            <a:chOff x="2415040" y="307658"/>
            <a:chExt cx="7361920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2415040" y="307658"/>
              <a:ext cx="736192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Community Edition: Who Is It For?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762000" y="1047750"/>
            <a:ext cx="5143500" cy="2190750"/>
            <a:chOff x="762000" y="1047750"/>
            <a:chExt cx="5143500" cy="2190750"/>
          </a:xfrm>
        </p:grpSpPr>
        <p:sp>
          <p:nvSpPr>
            <p:cNvPr id="4" name="Rectangle 4"/>
            <p:cNvSpPr/>
            <p:nvPr/>
          </p:nvSpPr>
          <p:spPr>
            <a:xfrm>
              <a:off x="762000" y="1047750"/>
              <a:ext cx="5143500" cy="2190750"/>
            </a:xfrm>
            <a:prstGeom prst="roundRect">
              <a:avLst>
                <a:gd name="adj" fmla="val 6087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Rectangle 5"/>
            <p:cNvSpPr/>
            <p:nvPr/>
          </p:nvSpPr>
          <p:spPr>
            <a:xfrm>
              <a:off x="762000" y="1047750"/>
              <a:ext cx="5143500" cy="571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Ellipse 6"/>
            <p:cNvSpPr/>
            <p:nvPr/>
          </p:nvSpPr>
          <p:spPr>
            <a:xfrm>
              <a:off x="1143000" y="1524000"/>
              <a:ext cx="571500" cy="571500"/>
            </a:xfrm>
            <a:prstGeom prst="ellipse">
              <a:avLst/>
            </a:prstGeom>
            <a:solidFill>
              <a:schemeClr val="lt1"/>
            </a:solidFill>
            <a:ln w="19050">
              <a:solidFill>
                <a:schemeClr val="accent1"/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352600" y="1688782"/>
              <a:ext cx="1523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S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990344" y="1551622"/>
              <a:ext cx="124118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9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Students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993392" y="1949768"/>
              <a:ext cx="83196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Projects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993392" y="2235518"/>
              <a:ext cx="131172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Dissertations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993392" y="2521268"/>
              <a:ext cx="23685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Computational practicals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286500" y="1047750"/>
            <a:ext cx="5143500" cy="2190750"/>
            <a:chOff x="6286500" y="1047750"/>
            <a:chExt cx="5143500" cy="2190750"/>
          </a:xfrm>
        </p:grpSpPr>
        <p:sp>
          <p:nvSpPr>
            <p:cNvPr id="13" name="Rectangle 13"/>
            <p:cNvSpPr/>
            <p:nvPr/>
          </p:nvSpPr>
          <p:spPr>
            <a:xfrm>
              <a:off x="6286500" y="1047750"/>
              <a:ext cx="5143500" cy="2190750"/>
            </a:xfrm>
            <a:prstGeom prst="roundRect">
              <a:avLst>
                <a:gd name="adj" fmla="val 6087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Rectangle 14"/>
            <p:cNvSpPr/>
            <p:nvPr/>
          </p:nvSpPr>
          <p:spPr>
            <a:xfrm>
              <a:off x="6286500" y="1047750"/>
              <a:ext cx="5143500" cy="571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Ellipse 15"/>
            <p:cNvSpPr/>
            <p:nvPr/>
          </p:nvSpPr>
          <p:spPr>
            <a:xfrm>
              <a:off x="6667500" y="1524000"/>
              <a:ext cx="571500" cy="571500"/>
            </a:xfrm>
            <a:prstGeom prst="ellipse">
              <a:avLst/>
            </a:prstGeom>
            <a:solidFill>
              <a:schemeClr val="lt1"/>
            </a:solidFill>
            <a:ln w="19050">
              <a:solidFill>
                <a:schemeClr val="accent2"/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877100" y="1688782"/>
              <a:ext cx="1523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F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514844" y="1551622"/>
              <a:ext cx="102012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9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Faculty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517892" y="1949768"/>
              <a:ext cx="83196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Teaching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517892" y="2235518"/>
              <a:ext cx="8812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Research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517892" y="2521268"/>
              <a:ext cx="126461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Data analysis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762000" y="3524250"/>
            <a:ext cx="5143500" cy="2190750"/>
            <a:chOff x="762000" y="3524250"/>
            <a:chExt cx="5143500" cy="2190750"/>
          </a:xfrm>
        </p:grpSpPr>
        <p:sp>
          <p:nvSpPr>
            <p:cNvPr id="22" name="Rectangle 22"/>
            <p:cNvSpPr/>
            <p:nvPr/>
          </p:nvSpPr>
          <p:spPr>
            <a:xfrm>
              <a:off x="762000" y="3524250"/>
              <a:ext cx="5143500" cy="2190750"/>
            </a:xfrm>
            <a:prstGeom prst="roundRect">
              <a:avLst>
                <a:gd name="adj" fmla="val 6087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Rectangle 23"/>
            <p:cNvSpPr/>
            <p:nvPr/>
          </p:nvSpPr>
          <p:spPr>
            <a:xfrm>
              <a:off x="762000" y="3524250"/>
              <a:ext cx="5143500" cy="57150"/>
            </a:xfrm>
            <a:prstGeom prst="roundRect">
              <a:avLst>
                <a:gd name="adj" fmla="val 50000"/>
              </a:avLst>
            </a:prstGeom>
            <a:solidFill>
              <a:srgbClr val="6366F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Ellipse 24"/>
            <p:cNvSpPr/>
            <p:nvPr/>
          </p:nvSpPr>
          <p:spPr>
            <a:xfrm>
              <a:off x="1143000" y="4000500"/>
              <a:ext cx="571500" cy="571500"/>
            </a:xfrm>
            <a:prstGeom prst="ellipse">
              <a:avLst/>
            </a:prstGeom>
            <a:solidFill>
              <a:schemeClr val="lt1"/>
            </a:solidFill>
            <a:ln w="19050">
              <a:solidFill>
                <a:srgbClr val="6366F1"/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352600" y="4165282"/>
              <a:ext cx="1523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b="1" dirty="0">
                  <a:solidFill>
                    <a:srgbClr val="6366F1"/>
                  </a:solidFill>
                  <a:latin typeface="+mj-lt"/>
                  <a:ea typeface="+mj-ea"/>
                  <a:cs typeface="+mj-cs"/>
                </a:rPr>
                <a:t>R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990344" y="4028122"/>
              <a:ext cx="169598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9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Researchers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993392" y="4426268"/>
              <a:ext cx="14190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Drug discovery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993392" y="4712018"/>
              <a:ext cx="145720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QSAR, Docking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993392" y="4997768"/>
              <a:ext cx="10434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Literature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6286500" y="3524250"/>
            <a:ext cx="5143500" cy="2190750"/>
            <a:chOff x="6286500" y="3524250"/>
            <a:chExt cx="5143500" cy="2190750"/>
          </a:xfrm>
        </p:grpSpPr>
        <p:sp>
          <p:nvSpPr>
            <p:cNvPr id="31" name="Rectangle 31"/>
            <p:cNvSpPr/>
            <p:nvPr/>
          </p:nvSpPr>
          <p:spPr>
            <a:xfrm>
              <a:off x="6286500" y="3524250"/>
              <a:ext cx="5143500" cy="2190750"/>
            </a:xfrm>
            <a:prstGeom prst="roundRect">
              <a:avLst>
                <a:gd name="adj" fmla="val 6087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286500" y="3524250"/>
              <a:ext cx="5143500" cy="57150"/>
            </a:xfrm>
            <a:prstGeom prst="roundRect">
              <a:avLst>
                <a:gd name="adj" fmla="val 50000"/>
              </a:avLst>
            </a:prstGeom>
            <a:solidFill>
              <a:srgbClr val="10B98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Ellipse 33"/>
            <p:cNvSpPr/>
            <p:nvPr/>
          </p:nvSpPr>
          <p:spPr>
            <a:xfrm>
              <a:off x="6667500" y="4000500"/>
              <a:ext cx="571500" cy="571500"/>
            </a:xfrm>
            <a:prstGeom prst="ellipse">
              <a:avLst/>
            </a:prstGeom>
            <a:solidFill>
              <a:schemeClr val="lt1"/>
            </a:solidFill>
            <a:ln w="19050">
              <a:solidFill>
                <a:srgbClr val="10B981"/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907903" y="4165282"/>
              <a:ext cx="9069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b="1" dirty="0">
                  <a:solidFill>
                    <a:srgbClr val="10B981"/>
                  </a:solidFill>
                  <a:latin typeface="+mj-lt"/>
                  <a:ea typeface="+mj-ea"/>
                  <a:cs typeface="+mj-cs"/>
                </a:rPr>
                <a:t>I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514844" y="4028122"/>
              <a:ext cx="163987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9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Institutions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517892" y="4426268"/>
              <a:ext cx="11244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On-premise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517892" y="4712018"/>
              <a:ext cx="13134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Research labs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517892" y="4997768"/>
              <a:ext cx="14661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Infrastructure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33854" y="5994082"/>
            <a:ext cx="10924292" cy="322707"/>
            <a:chOff x="633854" y="5994082"/>
            <a:chExt cx="10924292" cy="322707"/>
          </a:xfrm>
        </p:grpSpPr>
        <p:sp>
          <p:nvSpPr>
            <p:cNvPr id="40" name="TextBox 40"/>
            <p:cNvSpPr txBox="1"/>
            <p:nvPr/>
          </p:nvSpPr>
          <p:spPr>
            <a:xfrm>
              <a:off x="633854" y="5994082"/>
              <a:ext cx="1092429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“Scientific AI should not be accessible only to researchers with large computational budgets.”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0" y="6619875"/>
            <a:ext cx="12192000" cy="238125"/>
            <a:chOff x="0" y="6619875"/>
            <a:chExt cx="12192000" cy="238125"/>
          </a:xfrm>
        </p:grpSpPr>
        <p:sp>
          <p:nvSpPr>
            <p:cNvPr id="42" name="Rectangle 42"/>
            <p:cNvSpPr/>
            <p:nvPr/>
          </p:nvSpPr>
          <p:spPr>
            <a:xfrm>
              <a:off x="0" y="6619875"/>
              <a:ext cx="12192000" cy="238125"/>
            </a:xfrm>
            <a:prstGeom prst="rect">
              <a:avLst/>
            </a:prstGeom>
            <a:solidFill>
              <a:srgbClr val="0D0F24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203998" y="6692741"/>
              <a:ext cx="378400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dirty="0">
                  <a:solidFill>
                    <a:srgbClr val="7A85A8"/>
                  </a:solidFill>
                  <a:latin typeface="+mj-lt"/>
                  <a:ea typeface="+mj-ea"/>
                  <a:cs typeface="+mj-cs"/>
                </a:rPr>
                <a:t>BioDockify — Building the Future of AI-Driven Pharmaceutical Research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endParaRPr lang="en-IN"/>
          </a:p>
        </p:txBody>
      </p:sp>
      <p:grpSp>
        <p:nvGrpSpPr>
          <p:cNvPr id="4" name="Group 4"/>
          <p:cNvGrpSpPr/>
          <p:nvPr/>
        </p:nvGrpSpPr>
        <p:grpSpPr>
          <a:xfrm>
            <a:off x="743712" y="1897380"/>
            <a:ext cx="5602392" cy="704088"/>
            <a:chOff x="743712" y="1897380"/>
            <a:chExt cx="5602392" cy="704088"/>
          </a:xfrm>
        </p:grpSpPr>
        <p:sp>
          <p:nvSpPr>
            <p:cNvPr id="3" name="TextBox 3"/>
            <p:cNvSpPr txBox="1"/>
            <p:nvPr/>
          </p:nvSpPr>
          <p:spPr>
            <a:xfrm>
              <a:off x="743712" y="1897380"/>
              <a:ext cx="560239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6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Introducing BioDockify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52856" y="2853690"/>
            <a:ext cx="5553222" cy="656844"/>
            <a:chOff x="752856" y="2853690"/>
            <a:chExt cx="5553222" cy="656844"/>
          </a:xfrm>
        </p:grpSpPr>
        <p:sp>
          <p:nvSpPr>
            <p:cNvPr id="5" name="TextBox 5"/>
            <p:cNvSpPr txBox="1"/>
            <p:nvPr/>
          </p:nvSpPr>
          <p:spPr>
            <a:xfrm>
              <a:off x="752856" y="2853690"/>
              <a:ext cx="555322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Democratizing computational drug discovery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52856" y="3158490"/>
              <a:ext cx="297545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for pharmacy education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876300" y="4019550"/>
            <a:ext cx="4803977" cy="2175701"/>
            <a:chOff x="876300" y="4019550"/>
            <a:chExt cx="4803977" cy="2175701"/>
          </a:xfrm>
        </p:grpSpPr>
        <p:sp>
          <p:nvSpPr>
            <p:cNvPr id="8" name="Ellipse 8"/>
            <p:cNvSpPr/>
            <p:nvPr/>
          </p:nvSpPr>
          <p:spPr>
            <a:xfrm>
              <a:off x="876300" y="4019550"/>
              <a:ext cx="342900" cy="342900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Ellipse 9"/>
            <p:cNvSpPr/>
            <p:nvPr/>
          </p:nvSpPr>
          <p:spPr>
            <a:xfrm>
              <a:off x="971550" y="4114800"/>
              <a:ext cx="152400" cy="152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370457" y="4040505"/>
              <a:ext cx="221338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1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Browser-based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74267" y="4407218"/>
              <a:ext cx="404265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No downloads, no installs, just open and go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876300" y="4781550"/>
              <a:ext cx="342900" cy="342900"/>
            </a:xfrm>
            <a:prstGeom prst="ellipse">
              <a:avLst/>
            </a:prstGeom>
            <a:solidFill>
              <a:schemeClr val="accent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Ellipse 13"/>
            <p:cNvSpPr/>
            <p:nvPr/>
          </p:nvSpPr>
          <p:spPr>
            <a:xfrm>
              <a:off x="971550" y="487680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370457" y="4802505"/>
              <a:ext cx="117494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1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No-code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374267" y="5169218"/>
              <a:ext cx="397300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Visual interface designed for pharmacists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876300" y="5543550"/>
              <a:ext cx="342900" cy="342900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Ellipse 17"/>
            <p:cNvSpPr/>
            <p:nvPr/>
          </p:nvSpPr>
          <p:spPr>
            <a:xfrm>
              <a:off x="971550" y="5638800"/>
              <a:ext cx="152400" cy="152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70457" y="5564505"/>
              <a:ext cx="144128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1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All-in-one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374267" y="5931218"/>
              <a:ext cx="43060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Docking, ADMET, MD, and AI in one platform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7219950" y="2400300"/>
            <a:ext cx="4229100" cy="2438400"/>
            <a:chOff x="7219950" y="2400300"/>
            <a:chExt cx="4229100" cy="2438400"/>
          </a:xfrm>
        </p:grpSpPr>
        <p:sp>
          <p:nvSpPr>
            <p:cNvPr id="21" name="Ellipse 21"/>
            <p:cNvSpPr/>
            <p:nvPr/>
          </p:nvSpPr>
          <p:spPr>
            <a:xfrm>
              <a:off x="8858250" y="3143250"/>
              <a:ext cx="952500" cy="952500"/>
            </a:xfrm>
            <a:prstGeom prst="ellipse">
              <a:avLst/>
            </a:prstGeom>
            <a:noFill/>
            <a:ln w="28575">
              <a:solidFill>
                <a:schemeClr val="accent1"/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Ellipse 22"/>
            <p:cNvSpPr/>
            <p:nvPr/>
          </p:nvSpPr>
          <p:spPr>
            <a:xfrm>
              <a:off x="9220200" y="3505200"/>
              <a:ext cx="228600" cy="228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Ellipse 23"/>
            <p:cNvSpPr/>
            <p:nvPr/>
          </p:nvSpPr>
          <p:spPr>
            <a:xfrm>
              <a:off x="7924800" y="2400300"/>
              <a:ext cx="533400" cy="533400"/>
            </a:xfrm>
            <a:prstGeom prst="ellipse">
              <a:avLst/>
            </a:prstGeom>
            <a:noFill/>
            <a:ln w="19050">
              <a:solidFill>
                <a:schemeClr val="accent2"/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Ellipse 24"/>
            <p:cNvSpPr/>
            <p:nvPr/>
          </p:nvSpPr>
          <p:spPr>
            <a:xfrm>
              <a:off x="8115300" y="259080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Line 25"/>
            <p:cNvSpPr/>
            <p:nvPr/>
          </p:nvSpPr>
          <p:spPr>
            <a:xfrm>
              <a:off x="8477250" y="2809875"/>
              <a:ext cx="476250" cy="476250"/>
            </a:xfrm>
            <a:custGeom>
              <a:avLst/>
              <a:gdLst/>
              <a:ahLst/>
              <a:cxnLst/>
              <a:rect l="l" t="t" r="r" b="b"/>
              <a:pathLst>
                <a:path w="476250" h="476250">
                  <a:moveTo>
                    <a:pt x="0" y="0"/>
                  </a:moveTo>
                  <a:lnTo>
                    <a:pt x="476250" y="476250"/>
                  </a:lnTo>
                </a:path>
              </a:pathLst>
            </a:custGeom>
            <a:noFill/>
            <a:ln w="14288">
              <a:solidFill>
                <a:schemeClr val="accent2">
                  <a:alpha val="60000"/>
                </a:schemeClr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Ellipse 26"/>
            <p:cNvSpPr/>
            <p:nvPr/>
          </p:nvSpPr>
          <p:spPr>
            <a:xfrm>
              <a:off x="10210800" y="2400300"/>
              <a:ext cx="533400" cy="533400"/>
            </a:xfrm>
            <a:prstGeom prst="ellipse">
              <a:avLst/>
            </a:prstGeom>
            <a:noFill/>
            <a:ln w="19050">
              <a:solidFill>
                <a:schemeClr val="accent2"/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Ellipse 27"/>
            <p:cNvSpPr/>
            <p:nvPr/>
          </p:nvSpPr>
          <p:spPr>
            <a:xfrm>
              <a:off x="10401300" y="259080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Line 28"/>
            <p:cNvSpPr/>
            <p:nvPr/>
          </p:nvSpPr>
          <p:spPr>
            <a:xfrm>
              <a:off x="9715500" y="2809875"/>
              <a:ext cx="476250" cy="476250"/>
            </a:xfrm>
            <a:custGeom>
              <a:avLst/>
              <a:gdLst/>
              <a:ahLst/>
              <a:cxnLst/>
              <a:rect l="l" t="t" r="r" b="b"/>
              <a:pathLst>
                <a:path w="476250" h="476250">
                  <a:moveTo>
                    <a:pt x="476250" y="0"/>
                  </a:moveTo>
                  <a:lnTo>
                    <a:pt x="0" y="476250"/>
                  </a:lnTo>
                </a:path>
              </a:pathLst>
            </a:custGeom>
            <a:noFill/>
            <a:ln w="14288">
              <a:solidFill>
                <a:schemeClr val="accent2">
                  <a:alpha val="60000"/>
                </a:schemeClr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9" name="Ellipse 29"/>
            <p:cNvSpPr/>
            <p:nvPr/>
          </p:nvSpPr>
          <p:spPr>
            <a:xfrm>
              <a:off x="7924800" y="4305300"/>
              <a:ext cx="533400" cy="5334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Ellipse 30"/>
            <p:cNvSpPr/>
            <p:nvPr/>
          </p:nvSpPr>
          <p:spPr>
            <a:xfrm>
              <a:off x="8115300" y="4495800"/>
              <a:ext cx="152400" cy="152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Line 31"/>
            <p:cNvSpPr/>
            <p:nvPr/>
          </p:nvSpPr>
          <p:spPr>
            <a:xfrm>
              <a:off x="8477250" y="3952875"/>
              <a:ext cx="476250" cy="476250"/>
            </a:xfrm>
            <a:custGeom>
              <a:avLst/>
              <a:gdLst/>
              <a:ahLst/>
              <a:cxnLst/>
              <a:rect l="l" t="t" r="r" b="b"/>
              <a:pathLst>
                <a:path w="476250" h="476250">
                  <a:moveTo>
                    <a:pt x="0" y="476250"/>
                  </a:moveTo>
                  <a:lnTo>
                    <a:pt x="476250" y="0"/>
                  </a:lnTo>
                </a:path>
              </a:pathLst>
            </a:custGeom>
            <a:noFill/>
            <a:ln w="14288">
              <a:solidFill>
                <a:schemeClr val="accent1">
                  <a:alpha val="60000"/>
                </a:schemeClr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2" name="Ellipse 32"/>
            <p:cNvSpPr/>
            <p:nvPr/>
          </p:nvSpPr>
          <p:spPr>
            <a:xfrm>
              <a:off x="10210800" y="4305300"/>
              <a:ext cx="533400" cy="5334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Ellipse 33"/>
            <p:cNvSpPr/>
            <p:nvPr/>
          </p:nvSpPr>
          <p:spPr>
            <a:xfrm>
              <a:off x="10401300" y="4495800"/>
              <a:ext cx="152400" cy="152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Line 34"/>
            <p:cNvSpPr/>
            <p:nvPr/>
          </p:nvSpPr>
          <p:spPr>
            <a:xfrm>
              <a:off x="9715500" y="3952875"/>
              <a:ext cx="476250" cy="476250"/>
            </a:xfrm>
            <a:custGeom>
              <a:avLst/>
              <a:gdLst/>
              <a:ahLst/>
              <a:cxnLst/>
              <a:rect l="l" t="t" r="r" b="b"/>
              <a:pathLst>
                <a:path w="476250" h="476250">
                  <a:moveTo>
                    <a:pt x="476250" y="476250"/>
                  </a:moveTo>
                  <a:lnTo>
                    <a:pt x="0" y="0"/>
                  </a:lnTo>
                </a:path>
              </a:pathLst>
            </a:custGeom>
            <a:noFill/>
            <a:ln w="14288">
              <a:solidFill>
                <a:schemeClr val="accent1">
                  <a:alpha val="60000"/>
                </a:schemeClr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5" name="Ellipse 35"/>
            <p:cNvSpPr/>
            <p:nvPr/>
          </p:nvSpPr>
          <p:spPr>
            <a:xfrm>
              <a:off x="7219950" y="3409950"/>
              <a:ext cx="419100" cy="419100"/>
            </a:xfrm>
            <a:prstGeom prst="ellipse">
              <a:avLst/>
            </a:prstGeom>
            <a:noFill/>
            <a:ln w="14288">
              <a:solidFill>
                <a:schemeClr val="accent3">
                  <a:alpha val="40000"/>
                </a:schemeClr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6" name="Ellipse 36"/>
            <p:cNvSpPr/>
            <p:nvPr/>
          </p:nvSpPr>
          <p:spPr>
            <a:xfrm>
              <a:off x="7372350" y="3562350"/>
              <a:ext cx="114300" cy="114300"/>
            </a:xfrm>
            <a:prstGeom prst="ellipse">
              <a:avLst/>
            </a:prstGeom>
            <a:solidFill>
              <a:schemeClr val="accent3">
                <a:alpha val="6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Line 37"/>
            <p:cNvSpPr/>
            <p:nvPr/>
          </p:nvSpPr>
          <p:spPr>
            <a:xfrm>
              <a:off x="7639050" y="3619500"/>
              <a:ext cx="1219200" cy="9525"/>
            </a:xfrm>
            <a:custGeom>
              <a:avLst/>
              <a:gdLst/>
              <a:ahLst/>
              <a:cxnLst/>
              <a:rect l="l" t="t" r="r" b="b"/>
              <a:pathLst>
                <a:path w="1219200" h="9525">
                  <a:moveTo>
                    <a:pt x="0" y="0"/>
                  </a:moveTo>
                  <a:lnTo>
                    <a:pt x="1219200" y="0"/>
                  </a:lnTo>
                </a:path>
              </a:pathLst>
            </a:custGeom>
            <a:noFill/>
            <a:ln w="9525">
              <a:solidFill>
                <a:schemeClr val="accent3">
                  <a:alpha val="40000"/>
                </a:schemeClr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8" name="Ellipse 38"/>
            <p:cNvSpPr/>
            <p:nvPr/>
          </p:nvSpPr>
          <p:spPr>
            <a:xfrm>
              <a:off x="11029950" y="3409950"/>
              <a:ext cx="419100" cy="419100"/>
            </a:xfrm>
            <a:prstGeom prst="ellipse">
              <a:avLst/>
            </a:prstGeom>
            <a:noFill/>
            <a:ln w="14288">
              <a:solidFill>
                <a:schemeClr val="accent3">
                  <a:alpha val="40000"/>
                </a:schemeClr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Ellipse 39"/>
            <p:cNvSpPr/>
            <p:nvPr/>
          </p:nvSpPr>
          <p:spPr>
            <a:xfrm>
              <a:off x="11182350" y="3562350"/>
              <a:ext cx="114300" cy="114300"/>
            </a:xfrm>
            <a:prstGeom prst="ellipse">
              <a:avLst/>
            </a:prstGeom>
            <a:solidFill>
              <a:schemeClr val="accent3">
                <a:alpha val="6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0" name="Line 40"/>
            <p:cNvSpPr/>
            <p:nvPr/>
          </p:nvSpPr>
          <p:spPr>
            <a:xfrm>
              <a:off x="9810750" y="3619500"/>
              <a:ext cx="1219200" cy="9525"/>
            </a:xfrm>
            <a:custGeom>
              <a:avLst/>
              <a:gdLst/>
              <a:ahLst/>
              <a:cxnLst/>
              <a:rect l="l" t="t" r="r" b="b"/>
              <a:pathLst>
                <a:path w="1219200" h="9525">
                  <a:moveTo>
                    <a:pt x="0" y="0"/>
                  </a:moveTo>
                  <a:lnTo>
                    <a:pt x="1219200" y="0"/>
                  </a:lnTo>
                </a:path>
              </a:pathLst>
            </a:custGeom>
            <a:noFill/>
            <a:ln w="9525">
              <a:solidFill>
                <a:schemeClr val="accent3">
                  <a:alpha val="40000"/>
                </a:schemeClr>
              </a:solidFill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0" y="6619875"/>
            <a:ext cx="12192000" cy="238125"/>
            <a:chOff x="0" y="6619875"/>
            <a:chExt cx="12192000" cy="238125"/>
          </a:xfrm>
        </p:grpSpPr>
        <p:sp>
          <p:nvSpPr>
            <p:cNvPr id="42" name="Rectangle 42"/>
            <p:cNvSpPr/>
            <p:nvPr/>
          </p:nvSpPr>
          <p:spPr>
            <a:xfrm>
              <a:off x="0" y="6619875"/>
              <a:ext cx="12192000" cy="238125"/>
            </a:xfrm>
            <a:prstGeom prst="rect">
              <a:avLst/>
            </a:prstGeom>
            <a:solidFill>
              <a:srgbClr val="0D0F24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203998" y="6692741"/>
              <a:ext cx="378400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dirty="0">
                  <a:solidFill>
                    <a:srgbClr val="7A85A8"/>
                  </a:solidFill>
                  <a:latin typeface="+mj-lt"/>
                  <a:ea typeface="+mj-ea"/>
                  <a:cs typeface="+mj-cs"/>
                </a:rPr>
                <a:t>BioDockify — Building the Future of AI-Driven Pharmaceutical Research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745998" y="421958"/>
            <a:ext cx="5350949" cy="616077"/>
            <a:chOff x="745998" y="421958"/>
            <a:chExt cx="5350949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745998" y="421958"/>
              <a:ext cx="5350949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Four Integrated Modules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62000" y="1238250"/>
            <a:ext cx="5143500" cy="2286000"/>
            <a:chOff x="762000" y="1238250"/>
            <a:chExt cx="5143500" cy="2286000"/>
          </a:xfrm>
        </p:grpSpPr>
        <p:sp>
          <p:nvSpPr>
            <p:cNvPr id="4" name="Rectangle 4"/>
            <p:cNvSpPr/>
            <p:nvPr/>
          </p:nvSpPr>
          <p:spPr>
            <a:xfrm>
              <a:off x="762000" y="1238250"/>
              <a:ext cx="5143500" cy="2286000"/>
            </a:xfrm>
            <a:prstGeom prst="roundRect">
              <a:avLst>
                <a:gd name="adj" fmla="val 5833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Ellipse 5"/>
            <p:cNvSpPr/>
            <p:nvPr/>
          </p:nvSpPr>
          <p:spPr>
            <a:xfrm>
              <a:off x="1009650" y="1485900"/>
              <a:ext cx="457200" cy="457200"/>
            </a:xfrm>
            <a:prstGeom prst="ellipse">
              <a:avLst/>
            </a:prstGeom>
            <a:solidFill>
              <a:schemeClr val="accent1">
                <a:alpha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178915" y="1625918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1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608582" y="1544955"/>
              <a:ext cx="257725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1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Molecular Docking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230630" y="2028825"/>
              <a:ext cx="433908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AutoDock Vina-powered virtual screening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231392" y="2330768"/>
              <a:ext cx="40593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>
                      <a:alphaMod val="70000"/>
                    </a:schemeClr>
                  </a:solidFill>
                  <a:latin typeface="+mn-lt"/>
                  <a:ea typeface="+mn-ea"/>
                  <a:cs typeface="+mn-cs"/>
                </a:rPr>
                <a:t>Predict binding affinity and pose of ligands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231392" y="2597468"/>
              <a:ext cx="32589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>
                      <a:alphaMod val="70000"/>
                    </a:schemeClr>
                  </a:solidFill>
                  <a:latin typeface="+mn-lt"/>
                  <a:ea typeface="+mn-ea"/>
                  <a:cs typeface="+mn-cs"/>
                </a:rPr>
                <a:t>against protein targets in minutes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286500" y="1238250"/>
            <a:ext cx="5143500" cy="2286000"/>
            <a:chOff x="6286500" y="1238250"/>
            <a:chExt cx="5143500" cy="2286000"/>
          </a:xfrm>
        </p:grpSpPr>
        <p:sp>
          <p:nvSpPr>
            <p:cNvPr id="12" name="Rectangle 12"/>
            <p:cNvSpPr/>
            <p:nvPr/>
          </p:nvSpPr>
          <p:spPr>
            <a:xfrm>
              <a:off x="6286500" y="1238250"/>
              <a:ext cx="5143500" cy="2286000"/>
            </a:xfrm>
            <a:prstGeom prst="roundRect">
              <a:avLst>
                <a:gd name="adj" fmla="val 5833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Ellipse 13"/>
            <p:cNvSpPr/>
            <p:nvPr/>
          </p:nvSpPr>
          <p:spPr>
            <a:xfrm>
              <a:off x="6534150" y="1485900"/>
              <a:ext cx="457200" cy="457200"/>
            </a:xfrm>
            <a:prstGeom prst="ellipse">
              <a:avLst/>
            </a:prstGeom>
            <a:solidFill>
              <a:schemeClr val="accent2">
                <a:alpha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703415" y="1625918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133082" y="1544955"/>
              <a:ext cx="252568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1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ADMET Prediction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755130" y="2028825"/>
              <a:ext cx="376821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ML-based pharmacokinetic profiling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755892" y="2330768"/>
              <a:ext cx="36382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>
                      <a:alphaMod val="70000"/>
                    </a:schemeClr>
                  </a:solidFill>
                  <a:latin typeface="+mn-lt"/>
                  <a:ea typeface="+mn-ea"/>
                  <a:cs typeface="+mn-cs"/>
                </a:rPr>
                <a:t>Absorption, distribution, metabolism,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755892" y="2597468"/>
              <a:ext cx="32877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>
                      <a:alphaMod val="70000"/>
                    </a:schemeClr>
                  </a:solidFill>
                  <a:latin typeface="+mn-lt"/>
                  <a:ea typeface="+mn-ea"/>
                  <a:cs typeface="+mn-cs"/>
                </a:rPr>
                <a:t>excretion, and toxicity in one click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762000" y="3810000"/>
            <a:ext cx="5143500" cy="2286000"/>
            <a:chOff x="762000" y="3810000"/>
            <a:chExt cx="5143500" cy="2286000"/>
          </a:xfrm>
        </p:grpSpPr>
        <p:sp>
          <p:nvSpPr>
            <p:cNvPr id="20" name="Rectangle 20"/>
            <p:cNvSpPr/>
            <p:nvPr/>
          </p:nvSpPr>
          <p:spPr>
            <a:xfrm>
              <a:off x="762000" y="3810000"/>
              <a:ext cx="5143500" cy="2286000"/>
            </a:xfrm>
            <a:prstGeom prst="roundRect">
              <a:avLst>
                <a:gd name="adj" fmla="val 5833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Ellipse 21"/>
            <p:cNvSpPr/>
            <p:nvPr/>
          </p:nvSpPr>
          <p:spPr>
            <a:xfrm>
              <a:off x="1009650" y="4057650"/>
              <a:ext cx="457200" cy="457200"/>
            </a:xfrm>
            <a:prstGeom prst="ellipse">
              <a:avLst/>
            </a:prstGeom>
            <a:solidFill>
              <a:schemeClr val="accent1">
                <a:alpha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78915" y="4197668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608582" y="4116705"/>
              <a:ext cx="199313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1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MD Simulation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230630" y="4600575"/>
              <a:ext cx="434844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GROMACS-powered dynamics in the cloud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231392" y="4902518"/>
              <a:ext cx="39543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>
                      <a:alphaMod val="70000"/>
                    </a:schemeClr>
                  </a:solidFill>
                  <a:latin typeface="+mn-lt"/>
                  <a:ea typeface="+mn-ea"/>
                  <a:cs typeface="+mn-cs"/>
                </a:rPr>
                <a:t>Run nanosecond-scale simulations without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231392" y="5169218"/>
              <a:ext cx="256993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>
                      <a:alphaMod val="70000"/>
                    </a:schemeClr>
                  </a:solidFill>
                  <a:latin typeface="+mn-lt"/>
                  <a:ea typeface="+mn-ea"/>
                  <a:cs typeface="+mn-cs"/>
                </a:rPr>
                <a:t>owning HPC infrastructure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286500" y="3810000"/>
            <a:ext cx="5143500" cy="2286000"/>
            <a:chOff x="6286500" y="3810000"/>
            <a:chExt cx="5143500" cy="2286000"/>
          </a:xfrm>
        </p:grpSpPr>
        <p:sp>
          <p:nvSpPr>
            <p:cNvPr id="28" name="Rectangle 28"/>
            <p:cNvSpPr/>
            <p:nvPr/>
          </p:nvSpPr>
          <p:spPr>
            <a:xfrm>
              <a:off x="6286500" y="3810000"/>
              <a:ext cx="5143500" cy="2286000"/>
            </a:xfrm>
            <a:prstGeom prst="roundRect">
              <a:avLst>
                <a:gd name="adj" fmla="val 5833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9" name="Ellipse 29"/>
            <p:cNvSpPr/>
            <p:nvPr/>
          </p:nvSpPr>
          <p:spPr>
            <a:xfrm>
              <a:off x="6534150" y="4057650"/>
              <a:ext cx="457200" cy="457200"/>
            </a:xfrm>
            <a:prstGeom prst="ellipse">
              <a:avLst/>
            </a:prstGeom>
            <a:solidFill>
              <a:schemeClr val="accent2">
                <a:alpha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703415" y="4197668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4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133082" y="4116705"/>
              <a:ext cx="129451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1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Jarvis AI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755130" y="4600575"/>
              <a:ext cx="400874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Conversational assistant for guidance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755892" y="4902518"/>
              <a:ext cx="431034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>
                      <a:alphaMod val="70000"/>
                    </a:schemeClr>
                  </a:solidFill>
                  <a:latin typeface="+mn-lt"/>
                  <a:ea typeface="+mn-ea"/>
                  <a:cs typeface="+mn-cs"/>
                </a:rPr>
                <a:t>Ask questions, get help interpreting results,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755892" y="5169218"/>
              <a:ext cx="31437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>
                      <a:alphaMod val="70000"/>
                    </a:schemeClr>
                  </a:solidFill>
                  <a:latin typeface="+mn-lt"/>
                  <a:ea typeface="+mn-ea"/>
                  <a:cs typeface="+mn-cs"/>
                </a:rPr>
                <a:t>and learn computational concepts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3333750" y="2381250"/>
            <a:ext cx="5534025" cy="2581275"/>
            <a:chOff x="3333750" y="2381250"/>
            <a:chExt cx="5534025" cy="2581275"/>
          </a:xfrm>
        </p:grpSpPr>
        <p:sp>
          <p:nvSpPr>
            <p:cNvPr id="36" name="Line 36"/>
            <p:cNvSpPr/>
            <p:nvPr/>
          </p:nvSpPr>
          <p:spPr>
            <a:xfrm>
              <a:off x="3333750" y="3524250"/>
              <a:ext cx="9525" cy="285750"/>
            </a:xfrm>
            <a:custGeom>
              <a:avLst/>
              <a:gdLst/>
              <a:ahLst/>
              <a:cxnLst/>
              <a:rect l="l" t="t" r="r" b="b"/>
              <a:pathLst>
                <a:path w="9525" h="285750">
                  <a:moveTo>
                    <a:pt x="0" y="0"/>
                  </a:moveTo>
                  <a:lnTo>
                    <a:pt x="0" y="285750"/>
                  </a:lnTo>
                </a:path>
              </a:pathLst>
            </a:custGeom>
            <a:noFill/>
            <a:ln w="9525">
              <a:solidFill>
                <a:schemeClr val="accent1">
                  <a:alpha val="40000"/>
                </a:schemeClr>
              </a:solidFill>
              <a:prstDash val="dash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Line 37"/>
            <p:cNvSpPr/>
            <p:nvPr/>
          </p:nvSpPr>
          <p:spPr>
            <a:xfrm>
              <a:off x="8858250" y="3524250"/>
              <a:ext cx="9525" cy="285750"/>
            </a:xfrm>
            <a:custGeom>
              <a:avLst/>
              <a:gdLst/>
              <a:ahLst/>
              <a:cxnLst/>
              <a:rect l="l" t="t" r="r" b="b"/>
              <a:pathLst>
                <a:path w="9525" h="285750">
                  <a:moveTo>
                    <a:pt x="0" y="0"/>
                  </a:moveTo>
                  <a:lnTo>
                    <a:pt x="0" y="285750"/>
                  </a:lnTo>
                </a:path>
              </a:pathLst>
            </a:custGeom>
            <a:noFill/>
            <a:ln w="9525">
              <a:solidFill>
                <a:schemeClr val="accent2">
                  <a:alpha val="40000"/>
                </a:schemeClr>
              </a:solidFill>
              <a:prstDash val="dash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8" name="Line 38"/>
            <p:cNvSpPr/>
            <p:nvPr/>
          </p:nvSpPr>
          <p:spPr>
            <a:xfrm>
              <a:off x="5905500" y="238125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9525">
              <a:solidFill>
                <a:schemeClr val="accent3">
                  <a:alpha val="30000"/>
                </a:schemeClr>
              </a:solidFill>
              <a:prstDash val="dash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Line 39"/>
            <p:cNvSpPr/>
            <p:nvPr/>
          </p:nvSpPr>
          <p:spPr>
            <a:xfrm>
              <a:off x="5905500" y="495300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9525">
              <a:solidFill>
                <a:schemeClr val="accent3">
                  <a:alpha val="30000"/>
                </a:schemeClr>
              </a:solidFill>
              <a:prstDash val="dash"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0" y="6619875"/>
            <a:ext cx="12192000" cy="238125"/>
            <a:chOff x="0" y="6619875"/>
            <a:chExt cx="12192000" cy="238125"/>
          </a:xfrm>
        </p:grpSpPr>
        <p:sp>
          <p:nvSpPr>
            <p:cNvPr id="41" name="Rectangle 41"/>
            <p:cNvSpPr/>
            <p:nvPr/>
          </p:nvSpPr>
          <p:spPr>
            <a:xfrm>
              <a:off x="0" y="6619875"/>
              <a:ext cx="12192000" cy="238125"/>
            </a:xfrm>
            <a:prstGeom prst="rect">
              <a:avLst/>
            </a:prstGeom>
            <a:solidFill>
              <a:srgbClr val="0D0F24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203998" y="6692741"/>
              <a:ext cx="378400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dirty="0">
                  <a:solidFill>
                    <a:srgbClr val="7A85A8"/>
                  </a:solidFill>
                  <a:latin typeface="+mj-lt"/>
                  <a:ea typeface="+mj-ea"/>
                  <a:cs typeface="+mj-cs"/>
                </a:rPr>
                <a:t>BioDockify — Building the Future of AI-Driven Pharmaceutical Research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745998" y="421958"/>
            <a:ext cx="4916374" cy="616077"/>
            <a:chOff x="745998" y="421958"/>
            <a:chExt cx="4916374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745998" y="421958"/>
              <a:ext cx="4916374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Who Is BioDockify For?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762000" y="1333500"/>
            <a:ext cx="10668000" cy="1524000"/>
            <a:chOff x="762000" y="1333500"/>
            <a:chExt cx="10668000" cy="1524000"/>
          </a:xfrm>
        </p:grpSpPr>
        <p:sp>
          <p:nvSpPr>
            <p:cNvPr id="4" name="Rectangle 4"/>
            <p:cNvSpPr/>
            <p:nvPr/>
          </p:nvSpPr>
          <p:spPr>
            <a:xfrm>
              <a:off x="762000" y="1333500"/>
              <a:ext cx="10668000" cy="1524000"/>
            </a:xfrm>
            <a:prstGeom prst="roundRect">
              <a:avLst>
                <a:gd name="adj" fmla="val 8750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Ellipse 5"/>
            <p:cNvSpPr/>
            <p:nvPr/>
          </p:nvSpPr>
          <p:spPr>
            <a:xfrm>
              <a:off x="1333500" y="1714500"/>
              <a:ext cx="762000" cy="762000"/>
            </a:xfrm>
            <a:prstGeom prst="ellipse">
              <a:avLst/>
            </a:prstGeom>
            <a:solidFill>
              <a:schemeClr val="accent1">
                <a:alpha val="12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Ellipse 6"/>
            <p:cNvSpPr/>
            <p:nvPr/>
          </p:nvSpPr>
          <p:spPr>
            <a:xfrm>
              <a:off x="1447800" y="1828800"/>
              <a:ext cx="533400" cy="5334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583665" y="1838325"/>
              <a:ext cx="26167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UG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439852" y="2115502"/>
              <a:ext cx="54929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0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Faculty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371344" y="1694498"/>
              <a:ext cx="308281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9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Undergraduate Faculty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373630" y="2124075"/>
              <a:ext cx="771162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Demonstrate docking concepts in lectures with live, interactive examples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374392" y="2426018"/>
              <a:ext cx="55199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>
                      <a:alphaMod val="70000"/>
                    </a:schemeClr>
                  </a:solidFill>
                  <a:latin typeface="+mn-lt"/>
                  <a:ea typeface="+mn-ea"/>
                  <a:cs typeface="+mn-cs"/>
                </a:rPr>
                <a:t>Turn abstract pharmacology into visual, hands-on learning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762000" y="3048000"/>
            <a:ext cx="10668000" cy="1524000"/>
            <a:chOff x="762000" y="3048000"/>
            <a:chExt cx="10668000" cy="1524000"/>
          </a:xfrm>
        </p:grpSpPr>
        <p:sp>
          <p:nvSpPr>
            <p:cNvPr id="13" name="Rectangle 13"/>
            <p:cNvSpPr/>
            <p:nvPr/>
          </p:nvSpPr>
          <p:spPr>
            <a:xfrm>
              <a:off x="762000" y="3048000"/>
              <a:ext cx="10668000" cy="1524000"/>
            </a:xfrm>
            <a:prstGeom prst="roundRect">
              <a:avLst>
                <a:gd name="adj" fmla="val 8750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Ellipse 14"/>
            <p:cNvSpPr/>
            <p:nvPr/>
          </p:nvSpPr>
          <p:spPr>
            <a:xfrm>
              <a:off x="1333500" y="3429000"/>
              <a:ext cx="762000" cy="762000"/>
            </a:xfrm>
            <a:prstGeom prst="ellipse">
              <a:avLst/>
            </a:prstGeom>
            <a:solidFill>
              <a:schemeClr val="accent2">
                <a:alpha val="12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Ellipse 15"/>
            <p:cNvSpPr/>
            <p:nvPr/>
          </p:nvSpPr>
          <p:spPr>
            <a:xfrm>
              <a:off x="1447800" y="3543300"/>
              <a:ext cx="533400" cy="533400"/>
            </a:xfrm>
            <a:prstGeom prst="ellipse">
              <a:avLst/>
            </a:prstGeom>
            <a:noFill/>
            <a:ln w="19050">
              <a:solidFill>
                <a:schemeClr val="accent2"/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583665" y="3552825"/>
              <a:ext cx="26167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PG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446983" y="3830002"/>
              <a:ext cx="53503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05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Mentor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371344" y="3408998"/>
              <a:ext cx="305599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9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Postgraduate Mentors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373630" y="3838575"/>
              <a:ext cx="78717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Guide dissertation students through computational workflows step by step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374392" y="4140518"/>
              <a:ext cx="65372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>
                      <a:alphaMod val="70000"/>
                    </a:schemeClr>
                  </a:solidFill>
                  <a:latin typeface="+mn-lt"/>
                  <a:ea typeface="+mn-ea"/>
                  <a:cs typeface="+mn-cs"/>
                </a:rPr>
                <a:t>Supervise M.Pharm projects without needing a bioinformatics degree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762000" y="4762500"/>
            <a:ext cx="10668000" cy="1524000"/>
            <a:chOff x="762000" y="4762500"/>
            <a:chExt cx="10668000" cy="1524000"/>
          </a:xfrm>
        </p:grpSpPr>
        <p:sp>
          <p:nvSpPr>
            <p:cNvPr id="22" name="Rectangle 22"/>
            <p:cNvSpPr/>
            <p:nvPr/>
          </p:nvSpPr>
          <p:spPr>
            <a:xfrm>
              <a:off x="762000" y="4762500"/>
              <a:ext cx="10668000" cy="1524000"/>
            </a:xfrm>
            <a:prstGeom prst="roundRect">
              <a:avLst>
                <a:gd name="adj" fmla="val 8750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Ellipse 23"/>
            <p:cNvSpPr/>
            <p:nvPr/>
          </p:nvSpPr>
          <p:spPr>
            <a:xfrm>
              <a:off x="1333500" y="5143500"/>
              <a:ext cx="762000" cy="762000"/>
            </a:xfrm>
            <a:prstGeom prst="ellipse">
              <a:avLst/>
            </a:prstGeom>
            <a:solidFill>
              <a:schemeClr val="accent1">
                <a:alpha val="12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Ellipse 24"/>
            <p:cNvSpPr/>
            <p:nvPr/>
          </p:nvSpPr>
          <p:spPr>
            <a:xfrm>
              <a:off x="1447800" y="5257800"/>
              <a:ext cx="533400" cy="5334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560546" y="5347335"/>
              <a:ext cx="3079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R&amp;D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584410" y="5554028"/>
              <a:ext cx="2601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0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Lab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371344" y="5123498"/>
              <a:ext cx="169598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9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Researchers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373630" y="5553075"/>
              <a:ext cx="738103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Rapid preliminary screening before committing to wet-lab experiments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374392" y="5855018"/>
              <a:ext cx="45710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>
                      <a:alphaMod val="70000"/>
                    </a:schemeClr>
                  </a:solidFill>
                  <a:latin typeface="+mn-lt"/>
                  <a:ea typeface="+mn-ea"/>
                  <a:cs typeface="+mn-cs"/>
                </a:rPr>
                <a:t>Reduce time-to-hypothesis from weeks to hours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0" y="6619875"/>
            <a:ext cx="12192000" cy="238125"/>
            <a:chOff x="0" y="6619875"/>
            <a:chExt cx="12192000" cy="238125"/>
          </a:xfrm>
        </p:grpSpPr>
        <p:sp>
          <p:nvSpPr>
            <p:cNvPr id="31" name="Rectangle 31"/>
            <p:cNvSpPr/>
            <p:nvPr/>
          </p:nvSpPr>
          <p:spPr>
            <a:xfrm>
              <a:off x="0" y="6619875"/>
              <a:ext cx="12192000" cy="238125"/>
            </a:xfrm>
            <a:prstGeom prst="rect">
              <a:avLst/>
            </a:prstGeom>
            <a:solidFill>
              <a:srgbClr val="0D0F24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203998" y="6692741"/>
              <a:ext cx="378400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dirty="0">
                  <a:solidFill>
                    <a:srgbClr val="7A85A8"/>
                  </a:solidFill>
                  <a:latin typeface="+mj-lt"/>
                  <a:ea typeface="+mj-ea"/>
                  <a:cs typeface="+mj-cs"/>
                </a:rPr>
                <a:t>BioDockify — Building the Future of AI-Driven Pharmaceutical Research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745998" y="421958"/>
            <a:ext cx="6571591" cy="616077"/>
            <a:chOff x="745998" y="421958"/>
            <a:chExt cx="6571591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745998" y="421958"/>
              <a:ext cx="6571591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The Browser-Based Advantage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62000" y="1143000"/>
            <a:ext cx="5143500" cy="5334000"/>
            <a:chOff x="762000" y="1143000"/>
            <a:chExt cx="5143500" cy="5334000"/>
          </a:xfrm>
        </p:grpSpPr>
        <p:sp>
          <p:nvSpPr>
            <p:cNvPr id="4" name="Rectangle 4"/>
            <p:cNvSpPr/>
            <p:nvPr/>
          </p:nvSpPr>
          <p:spPr>
            <a:xfrm>
              <a:off x="762000" y="1143000"/>
              <a:ext cx="5143500" cy="5334000"/>
            </a:xfrm>
            <a:prstGeom prst="roundRect">
              <a:avLst>
                <a:gd name="adj" fmla="val 2593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2057180" y="1408748"/>
              <a:ext cx="255314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950" b="1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Without BioDockify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1238250" y="1809750"/>
              <a:ext cx="4191000" cy="9525"/>
            </a:xfrm>
            <a:custGeom>
              <a:avLst/>
              <a:gdLst/>
              <a:ahLst/>
              <a:cxnLst/>
              <a:rect l="l" t="t" r="r" b="b"/>
              <a:pathLst>
                <a:path w="4191000" h="9525">
                  <a:moveTo>
                    <a:pt x="0" y="0"/>
                  </a:moveTo>
                  <a:lnTo>
                    <a:pt x="4191000" y="0"/>
                  </a:lnTo>
                </a:path>
              </a:pathLst>
            </a:custGeom>
            <a:noFill/>
            <a:ln w="9525">
              <a:solidFill>
                <a:schemeClr val="accent3">
                  <a:alpha val="20000"/>
                </a:schemeClr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516380" y="2124075"/>
              <a:ext cx="2272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✗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230630" y="2124075"/>
              <a:ext cx="2272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✗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564005" y="2124075"/>
              <a:ext cx="222738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Setup time: 2–5 days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230630" y="2647950"/>
              <a:ext cx="2272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✗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64005" y="2647950"/>
              <a:ext cx="357873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Hardware: Dedicated workstation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230630" y="3171825"/>
              <a:ext cx="2272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✗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564005" y="3171825"/>
              <a:ext cx="304353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Software: 5+ separate tools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230630" y="3695700"/>
              <a:ext cx="2272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✗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564005" y="3695700"/>
              <a:ext cx="318834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Updates: Manual, break often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230630" y="4219575"/>
              <a:ext cx="2272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✗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564005" y="4219575"/>
              <a:ext cx="404769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Collaboration: Email files back &amp; forth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230630" y="4743450"/>
              <a:ext cx="2272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✗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564005" y="4743450"/>
              <a:ext cx="24399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Cost per student: High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286500" y="1143000"/>
            <a:ext cx="5143500" cy="5334000"/>
            <a:chOff x="6286500" y="1143000"/>
            <a:chExt cx="5143500" cy="5334000"/>
          </a:xfrm>
        </p:grpSpPr>
        <p:sp>
          <p:nvSpPr>
            <p:cNvPr id="21" name="Rectangle 21"/>
            <p:cNvSpPr/>
            <p:nvPr/>
          </p:nvSpPr>
          <p:spPr>
            <a:xfrm>
              <a:off x="6286500" y="1143000"/>
              <a:ext cx="5143500" cy="5334000"/>
            </a:xfrm>
            <a:prstGeom prst="roundRect">
              <a:avLst>
                <a:gd name="adj" fmla="val 2593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809152" y="1408748"/>
              <a:ext cx="209819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9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With BioDockify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6762750" y="1809750"/>
              <a:ext cx="4191000" cy="9525"/>
            </a:xfrm>
            <a:custGeom>
              <a:avLst/>
              <a:gdLst/>
              <a:ahLst/>
              <a:cxnLst/>
              <a:rect l="l" t="t" r="r" b="b"/>
              <a:pathLst>
                <a:path w="4191000" h="9525">
                  <a:moveTo>
                    <a:pt x="0" y="0"/>
                  </a:moveTo>
                  <a:lnTo>
                    <a:pt x="4191000" y="0"/>
                  </a:lnTo>
                </a:path>
              </a:pathLst>
            </a:custGeom>
            <a:noFill/>
            <a:ln w="9525">
              <a:solidFill>
                <a:schemeClr val="accent1">
                  <a:alpha val="30000"/>
                </a:schemeClr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755130" y="2124075"/>
              <a:ext cx="2272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b="1" dirty="0">
                  <a:solidFill>
                    <a:srgbClr val="4ADE80"/>
                  </a:solidFill>
                  <a:latin typeface="+mj-lt"/>
                  <a:ea typeface="+mj-ea"/>
                  <a:cs typeface="+mj-cs"/>
                </a:rPr>
                <a:t>✓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088505" y="2124075"/>
              <a:ext cx="300881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Setup time: Under 5 minutes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755130" y="2647950"/>
              <a:ext cx="2272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b="1" dirty="0">
                  <a:solidFill>
                    <a:srgbClr val="4ADE80"/>
                  </a:solidFill>
                  <a:latin typeface="+mj-lt"/>
                  <a:ea typeface="+mj-ea"/>
                  <a:cs typeface="+mj-cs"/>
                </a:rPr>
                <a:t>✓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088505" y="2647950"/>
              <a:ext cx="376495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Hardware: Any browser, any device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755130" y="3171825"/>
              <a:ext cx="2272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b="1" dirty="0">
                  <a:solidFill>
                    <a:srgbClr val="4ADE80"/>
                  </a:solidFill>
                  <a:latin typeface="+mj-lt"/>
                  <a:ea typeface="+mj-ea"/>
                  <a:cs typeface="+mj-cs"/>
                </a:rPr>
                <a:t>✓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088505" y="3171825"/>
              <a:ext cx="33985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Software: One unified platform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755130" y="3695700"/>
              <a:ext cx="2272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b="1" dirty="0">
                  <a:solidFill>
                    <a:srgbClr val="4ADE80"/>
                  </a:solidFill>
                  <a:latin typeface="+mj-lt"/>
                  <a:ea typeface="+mj-ea"/>
                  <a:cs typeface="+mj-cs"/>
                </a:rPr>
                <a:t>✓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088505" y="3695700"/>
              <a:ext cx="322935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Updates: Automatic, seamless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755130" y="4219575"/>
              <a:ext cx="2272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b="1" dirty="0">
                  <a:solidFill>
                    <a:srgbClr val="4ADE80"/>
                  </a:solidFill>
                  <a:latin typeface="+mj-lt"/>
                  <a:ea typeface="+mj-ea"/>
                  <a:cs typeface="+mj-cs"/>
                </a:rPr>
                <a:t>✓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088505" y="4219575"/>
              <a:ext cx="32664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Collaboration: Shared projects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755130" y="4743450"/>
              <a:ext cx="2272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b="1" dirty="0">
                  <a:solidFill>
                    <a:srgbClr val="4ADE80"/>
                  </a:solidFill>
                  <a:latin typeface="+mj-lt"/>
                  <a:ea typeface="+mj-ea"/>
                  <a:cs typeface="+mj-cs"/>
                </a:rPr>
                <a:t>✓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088505" y="4743450"/>
              <a:ext cx="40187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Cost per student: Free for academics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0" y="6619875"/>
            <a:ext cx="12192000" cy="238125"/>
            <a:chOff x="0" y="6619875"/>
            <a:chExt cx="12192000" cy="238125"/>
          </a:xfrm>
        </p:grpSpPr>
        <p:sp>
          <p:nvSpPr>
            <p:cNvPr id="37" name="Rectangle 37"/>
            <p:cNvSpPr/>
            <p:nvPr/>
          </p:nvSpPr>
          <p:spPr>
            <a:xfrm>
              <a:off x="0" y="6619875"/>
              <a:ext cx="12192000" cy="238125"/>
            </a:xfrm>
            <a:prstGeom prst="rect">
              <a:avLst/>
            </a:prstGeom>
            <a:solidFill>
              <a:srgbClr val="0D0F24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203998" y="6692741"/>
              <a:ext cx="378400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dirty="0">
                  <a:solidFill>
                    <a:srgbClr val="7A85A8"/>
                  </a:solidFill>
                  <a:latin typeface="+mj-lt"/>
                  <a:ea typeface="+mj-ea"/>
                  <a:cs typeface="+mj-cs"/>
                </a:rPr>
                <a:t>BioDockify — Building the Future of AI-Driven Pharmaceutical Research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745998" y="421958"/>
            <a:ext cx="5777362" cy="616077"/>
            <a:chOff x="745998" y="421958"/>
            <a:chExt cx="5777362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745998" y="421958"/>
              <a:ext cx="577736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Getting Started in 4 Steps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714500" y="2667000"/>
            <a:ext cx="8763000" cy="762000"/>
            <a:chOff x="1714500" y="2667000"/>
            <a:chExt cx="8763000" cy="762000"/>
          </a:xfrm>
        </p:grpSpPr>
        <p:sp>
          <p:nvSpPr>
            <p:cNvPr id="4" name="Line 4"/>
            <p:cNvSpPr/>
            <p:nvPr/>
          </p:nvSpPr>
          <p:spPr>
            <a:xfrm>
              <a:off x="2095500" y="3048000"/>
              <a:ext cx="8001000" cy="9525"/>
            </a:xfrm>
            <a:custGeom>
              <a:avLst/>
              <a:gdLst/>
              <a:ahLst/>
              <a:cxnLst/>
              <a:rect l="l" t="t" r="r" b="b"/>
              <a:pathLst>
                <a:path w="8001000" h="9525">
                  <a:moveTo>
                    <a:pt x="0" y="0"/>
                  </a:moveTo>
                  <a:lnTo>
                    <a:pt x="8001000" y="0"/>
                  </a:lnTo>
                </a:path>
              </a:pathLst>
            </a:custGeom>
            <a:noFill/>
            <a:ln w="38100">
              <a:solidFill>
                <a:srgbClr val="1A1D3A"/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Line 5"/>
            <p:cNvSpPr/>
            <p:nvPr/>
          </p:nvSpPr>
          <p:spPr>
            <a:xfrm>
              <a:off x="2095500" y="3048000"/>
              <a:ext cx="8001000" cy="9525"/>
            </a:xfrm>
            <a:custGeom>
              <a:avLst/>
              <a:gdLst/>
              <a:ahLst/>
              <a:cxnLst/>
              <a:rect l="l" t="t" r="r" b="b"/>
              <a:pathLst>
                <a:path w="8001000" h="9525">
                  <a:moveTo>
                    <a:pt x="0" y="0"/>
                  </a:moveTo>
                  <a:lnTo>
                    <a:pt x="8001000" y="0"/>
                  </a:lnTo>
                </a:path>
              </a:pathLst>
            </a:custGeom>
            <a:noFill/>
            <a:ln w="19050">
              <a:solidFill>
                <a:schemeClr val="accent1">
                  <a:alpha val="40000"/>
                </a:schemeClr>
              </a:solidFill>
              <a:custDash>
                <a:ds d="300000" sp="300000"/>
              </a:custDash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Ellipse 6"/>
            <p:cNvSpPr/>
            <p:nvPr/>
          </p:nvSpPr>
          <p:spPr>
            <a:xfrm>
              <a:off x="1714500" y="2667000"/>
              <a:ext cx="762000" cy="762000"/>
            </a:xfrm>
            <a:prstGeom prst="ellipse">
              <a:avLst/>
            </a:prstGeom>
            <a:solidFill>
              <a:schemeClr val="lt2"/>
            </a:solidFill>
            <a:ln w="28575">
              <a:solidFill>
                <a:schemeClr val="accent1"/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2016387" y="2929890"/>
              <a:ext cx="1582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8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1</a:t>
              </a:r>
            </a:p>
          </p:txBody>
        </p:sp>
        <p:sp>
          <p:nvSpPr>
            <p:cNvPr id="8" name="Ellipse 8"/>
            <p:cNvSpPr/>
            <p:nvPr/>
          </p:nvSpPr>
          <p:spPr>
            <a:xfrm>
              <a:off x="4381500" y="2667000"/>
              <a:ext cx="762000" cy="762000"/>
            </a:xfrm>
            <a:prstGeom prst="ellipse">
              <a:avLst/>
            </a:prstGeom>
            <a:solidFill>
              <a:schemeClr val="lt2"/>
            </a:solidFill>
            <a:ln w="28575">
              <a:solidFill>
                <a:schemeClr val="accent2"/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683387" y="2929890"/>
              <a:ext cx="1582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8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2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048500" y="2667000"/>
              <a:ext cx="762000" cy="762000"/>
            </a:xfrm>
            <a:prstGeom prst="ellipse">
              <a:avLst/>
            </a:prstGeom>
            <a:solidFill>
              <a:schemeClr val="lt2"/>
            </a:solidFill>
            <a:ln w="28575">
              <a:solidFill>
                <a:schemeClr val="accent1"/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350387" y="2929890"/>
              <a:ext cx="1582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8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3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9715500" y="2667000"/>
              <a:ext cx="762000" cy="762000"/>
            </a:xfrm>
            <a:prstGeom prst="ellipse">
              <a:avLst/>
            </a:prstGeom>
            <a:solidFill>
              <a:schemeClr val="lt2"/>
            </a:solidFill>
            <a:ln w="28575">
              <a:solidFill>
                <a:schemeClr val="accent2"/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017387" y="2929890"/>
              <a:ext cx="1582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8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4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382594" y="3727132"/>
            <a:ext cx="9720841" cy="582169"/>
            <a:chOff x="1382594" y="3727132"/>
            <a:chExt cx="9720841" cy="582169"/>
          </a:xfrm>
        </p:grpSpPr>
        <p:sp>
          <p:nvSpPr>
            <p:cNvPr id="15" name="TextBox 15"/>
            <p:cNvSpPr txBox="1"/>
            <p:nvPr/>
          </p:nvSpPr>
          <p:spPr>
            <a:xfrm>
              <a:off x="1821765" y="3727132"/>
              <a:ext cx="54747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Visit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382594" y="4045268"/>
              <a:ext cx="14258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biodockify.com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365659" y="3727132"/>
              <a:ext cx="793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Create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687599" y="4045268"/>
              <a:ext cx="214980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Free academic account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032659" y="3727132"/>
              <a:ext cx="793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Choose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858743" y="4045268"/>
              <a:ext cx="114151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Your module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397342" y="3727132"/>
              <a:ext cx="139831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Upload &amp; Run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089565" y="4045268"/>
              <a:ext cx="20138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Get results instantly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3619500" y="5334000"/>
            <a:ext cx="4953000" cy="666750"/>
            <a:chOff x="3619500" y="5334000"/>
            <a:chExt cx="4953000" cy="666750"/>
          </a:xfrm>
        </p:grpSpPr>
        <p:sp>
          <p:nvSpPr>
            <p:cNvPr id="24" name="Rectangle 24"/>
            <p:cNvSpPr/>
            <p:nvPr/>
          </p:nvSpPr>
          <p:spPr>
            <a:xfrm>
              <a:off x="3619500" y="5334000"/>
              <a:ext cx="4953000" cy="666750"/>
            </a:xfrm>
            <a:prstGeom prst="roundRect">
              <a:avLst>
                <a:gd name="adj" fmla="val 20000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426689" y="5539740"/>
              <a:ext cx="333862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8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&lt; 5 minutes to first result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0" y="6619875"/>
            <a:ext cx="12192000" cy="238125"/>
            <a:chOff x="0" y="6619875"/>
            <a:chExt cx="12192000" cy="238125"/>
          </a:xfrm>
        </p:grpSpPr>
        <p:sp>
          <p:nvSpPr>
            <p:cNvPr id="27" name="Rectangle 27"/>
            <p:cNvSpPr/>
            <p:nvPr/>
          </p:nvSpPr>
          <p:spPr>
            <a:xfrm>
              <a:off x="0" y="6619875"/>
              <a:ext cx="12192000" cy="238125"/>
            </a:xfrm>
            <a:prstGeom prst="rect">
              <a:avLst/>
            </a:prstGeom>
            <a:solidFill>
              <a:srgbClr val="0D0F24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203998" y="6692741"/>
              <a:ext cx="378400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dirty="0">
                  <a:solidFill>
                    <a:srgbClr val="7A85A8"/>
                  </a:solidFill>
                  <a:latin typeface="+mj-lt"/>
                  <a:ea typeface="+mj-ea"/>
                  <a:cs typeface="+mj-cs"/>
                </a:rPr>
                <a:t>BioDockify — Building the Future of AI-Driven Pharmaceutical Research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745998" y="421958"/>
            <a:ext cx="5520028" cy="616077"/>
            <a:chOff x="745998" y="421958"/>
            <a:chExt cx="5520028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745998" y="421958"/>
              <a:ext cx="552002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The BioDockify Dashboard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524000" y="1143000"/>
            <a:ext cx="9144000" cy="4191000"/>
            <a:chOff x="1524000" y="1143000"/>
            <a:chExt cx="9144000" cy="4191000"/>
          </a:xfrm>
        </p:grpSpPr>
        <p:sp>
          <p:nvSpPr>
            <p:cNvPr id="4" name="Rectangle 4"/>
            <p:cNvSpPr/>
            <p:nvPr/>
          </p:nvSpPr>
          <p:spPr>
            <a:xfrm>
              <a:off x="1524000" y="1143000"/>
              <a:ext cx="9144000" cy="4191000"/>
            </a:xfrm>
            <a:prstGeom prst="roundRect">
              <a:avLst>
                <a:gd name="adj" fmla="val 2273"/>
              </a:avLst>
            </a:prstGeom>
            <a:solidFill>
              <a:srgbClr val="0D0F20"/>
            </a:solidFill>
            <a:ln w="19050">
              <a:solidFill>
                <a:srgbClr val="2A2D4A"/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Rectangle 5"/>
            <p:cNvSpPr/>
            <p:nvPr/>
          </p:nvSpPr>
          <p:spPr>
            <a:xfrm>
              <a:off x="1524000" y="1143000"/>
              <a:ext cx="9144000" cy="304800"/>
            </a:xfrm>
            <a:prstGeom prst="roundRect">
              <a:avLst>
                <a:gd name="adj" fmla="val 31250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Ellipse 6"/>
            <p:cNvSpPr/>
            <p:nvPr/>
          </p:nvSpPr>
          <p:spPr>
            <a:xfrm>
              <a:off x="1714500" y="1247775"/>
              <a:ext cx="95250" cy="952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Ellipse 7"/>
            <p:cNvSpPr/>
            <p:nvPr/>
          </p:nvSpPr>
          <p:spPr>
            <a:xfrm>
              <a:off x="1876425" y="1247775"/>
              <a:ext cx="95250" cy="95250"/>
            </a:xfrm>
            <a:prstGeom prst="ellipse">
              <a:avLst/>
            </a:prstGeom>
            <a:solidFill>
              <a:schemeClr val="accent2">
                <a:alpha val="6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Ellipse 8"/>
            <p:cNvSpPr/>
            <p:nvPr/>
          </p:nvSpPr>
          <p:spPr>
            <a:xfrm>
              <a:off x="2038350" y="1247775"/>
              <a:ext cx="95250" cy="95250"/>
            </a:xfrm>
            <a:prstGeom prst="ellipse">
              <a:avLst/>
            </a:prstGeom>
            <a:solidFill>
              <a:schemeClr val="accent3">
                <a:alpha val="4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Rectangle 9"/>
            <p:cNvSpPr/>
            <p:nvPr/>
          </p:nvSpPr>
          <p:spPr>
            <a:xfrm>
              <a:off x="1524000" y="1447800"/>
              <a:ext cx="1714500" cy="3886200"/>
            </a:xfrm>
            <a:prstGeom prst="rect">
              <a:avLst/>
            </a:prstGeom>
            <a:solidFill>
              <a:srgbClr val="141630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666875" y="1666875"/>
              <a:ext cx="1428750" cy="266700"/>
            </a:xfrm>
            <a:prstGeom prst="roundRect">
              <a:avLst>
                <a:gd name="adj" fmla="val 21429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Rectangle 11"/>
            <p:cNvSpPr/>
            <p:nvPr/>
          </p:nvSpPr>
          <p:spPr>
            <a:xfrm>
              <a:off x="1666875" y="2047875"/>
              <a:ext cx="1428750" cy="266700"/>
            </a:xfrm>
            <a:prstGeom prst="roundRect">
              <a:avLst>
                <a:gd name="adj" fmla="val 21429"/>
              </a:avLst>
            </a:prstGeom>
            <a:solidFill>
              <a:schemeClr val="accent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666875" y="2428875"/>
              <a:ext cx="1428750" cy="266700"/>
            </a:xfrm>
            <a:prstGeom prst="roundRect">
              <a:avLst>
                <a:gd name="adj" fmla="val 21429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Rectangle 13"/>
            <p:cNvSpPr/>
            <p:nvPr/>
          </p:nvSpPr>
          <p:spPr>
            <a:xfrm>
              <a:off x="1666875" y="2809875"/>
              <a:ext cx="1428750" cy="266700"/>
            </a:xfrm>
            <a:prstGeom prst="roundRect">
              <a:avLst>
                <a:gd name="adj" fmla="val 21429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666875" y="3190875"/>
              <a:ext cx="1428750" cy="266700"/>
            </a:xfrm>
            <a:prstGeom prst="roundRect">
              <a:avLst>
                <a:gd name="adj" fmla="val 21429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Rectangle 15"/>
            <p:cNvSpPr/>
            <p:nvPr/>
          </p:nvSpPr>
          <p:spPr>
            <a:xfrm>
              <a:off x="3429000" y="1524000"/>
              <a:ext cx="4572000" cy="3619500"/>
            </a:xfrm>
            <a:prstGeom prst="roundRect">
              <a:avLst>
                <a:gd name="adj" fmla="val 1053"/>
              </a:avLst>
            </a:prstGeom>
            <a:solidFill>
              <a:srgbClr val="0A0C1A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Ellipse 16"/>
            <p:cNvSpPr/>
            <p:nvPr/>
          </p:nvSpPr>
          <p:spPr>
            <a:xfrm>
              <a:off x="4953000" y="2571750"/>
              <a:ext cx="1524000" cy="1524000"/>
            </a:xfrm>
            <a:prstGeom prst="ellipse">
              <a:avLst/>
            </a:prstGeom>
            <a:noFill/>
            <a:ln w="14288">
              <a:solidFill>
                <a:schemeClr val="accent1">
                  <a:alpha val="50000"/>
                </a:schemeClr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Ellipse 17"/>
            <p:cNvSpPr/>
            <p:nvPr/>
          </p:nvSpPr>
          <p:spPr>
            <a:xfrm>
              <a:off x="5238750" y="2857500"/>
              <a:ext cx="952500" cy="952500"/>
            </a:xfrm>
            <a:prstGeom prst="ellipse">
              <a:avLst/>
            </a:prstGeom>
            <a:noFill/>
            <a:ln w="9525">
              <a:solidFill>
                <a:schemeClr val="accent2">
                  <a:alpha val="40000"/>
                </a:schemeClr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Ellipse 18"/>
            <p:cNvSpPr/>
            <p:nvPr/>
          </p:nvSpPr>
          <p:spPr>
            <a:xfrm>
              <a:off x="5448300" y="3067050"/>
              <a:ext cx="152400" cy="152400"/>
            </a:xfrm>
            <a:prstGeom prst="ellipse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Ellipse 19"/>
            <p:cNvSpPr/>
            <p:nvPr/>
          </p:nvSpPr>
          <p:spPr>
            <a:xfrm>
              <a:off x="5848350" y="3371850"/>
              <a:ext cx="114300" cy="114300"/>
            </a:xfrm>
            <a:prstGeom prst="ellipse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Ellipse 20"/>
            <p:cNvSpPr/>
            <p:nvPr/>
          </p:nvSpPr>
          <p:spPr>
            <a:xfrm>
              <a:off x="5572125" y="3571875"/>
              <a:ext cx="95250" cy="95250"/>
            </a:xfrm>
            <a:prstGeom prst="ellipse">
              <a:avLst/>
            </a:prstGeom>
            <a:solidFill>
              <a:srgbClr val="4ADE80">
                <a:alpha val="60000"/>
              </a:srgb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191500" y="1524000"/>
              <a:ext cx="2333625" cy="3619500"/>
            </a:xfrm>
            <a:prstGeom prst="roundRect">
              <a:avLst>
                <a:gd name="adj" fmla="val 1633"/>
              </a:avLst>
            </a:prstGeom>
            <a:solidFill>
              <a:srgbClr val="141630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Rectangle 22"/>
            <p:cNvSpPr/>
            <p:nvPr/>
          </p:nvSpPr>
          <p:spPr>
            <a:xfrm>
              <a:off x="8334375" y="1714500"/>
              <a:ext cx="2047875" cy="228600"/>
            </a:xfrm>
            <a:prstGeom prst="roundRect">
              <a:avLst>
                <a:gd name="adj" fmla="val 16667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Rectangle 23"/>
            <p:cNvSpPr/>
            <p:nvPr/>
          </p:nvSpPr>
          <p:spPr>
            <a:xfrm>
              <a:off x="8334375" y="2057400"/>
              <a:ext cx="2047875" cy="571500"/>
            </a:xfrm>
            <a:prstGeom prst="roundRect">
              <a:avLst>
                <a:gd name="adj" fmla="val 6667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Rectangle 24"/>
            <p:cNvSpPr/>
            <p:nvPr/>
          </p:nvSpPr>
          <p:spPr>
            <a:xfrm>
              <a:off x="8334375" y="2743200"/>
              <a:ext cx="2047875" cy="228600"/>
            </a:xfrm>
            <a:prstGeom prst="roundRect">
              <a:avLst>
                <a:gd name="adj" fmla="val 16667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Rectangle 25"/>
            <p:cNvSpPr/>
            <p:nvPr/>
          </p:nvSpPr>
          <p:spPr>
            <a:xfrm>
              <a:off x="8334375" y="3086100"/>
              <a:ext cx="2047875" cy="571500"/>
            </a:xfrm>
            <a:prstGeom prst="roundRect">
              <a:avLst>
                <a:gd name="adj" fmla="val 6667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Rectangle 26"/>
            <p:cNvSpPr/>
            <p:nvPr/>
          </p:nvSpPr>
          <p:spPr>
            <a:xfrm>
              <a:off x="8334375" y="3771900"/>
              <a:ext cx="2047875" cy="228600"/>
            </a:xfrm>
            <a:prstGeom prst="roundRect">
              <a:avLst>
                <a:gd name="adj" fmla="val 16667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Rectangle 27"/>
            <p:cNvSpPr/>
            <p:nvPr/>
          </p:nvSpPr>
          <p:spPr>
            <a:xfrm>
              <a:off x="8334375" y="4114800"/>
              <a:ext cx="1333500" cy="152400"/>
            </a:xfrm>
            <a:prstGeom prst="roundRect">
              <a:avLst>
                <a:gd name="adj" fmla="val 25000"/>
              </a:avLst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Rectangle 28"/>
            <p:cNvSpPr/>
            <p:nvPr/>
          </p:nvSpPr>
          <p:spPr>
            <a:xfrm>
              <a:off x="3429000" y="1524000"/>
              <a:ext cx="4572000" cy="285750"/>
            </a:xfrm>
            <a:prstGeom prst="rect">
              <a:avLst/>
            </a:prstGeom>
            <a:solidFill>
              <a:srgbClr val="141630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9" name="Rectangle 29"/>
            <p:cNvSpPr/>
            <p:nvPr/>
          </p:nvSpPr>
          <p:spPr>
            <a:xfrm>
              <a:off x="3571875" y="1590675"/>
              <a:ext cx="762000" cy="152400"/>
            </a:xfrm>
            <a:prstGeom prst="roundRect">
              <a:avLst>
                <a:gd name="adj" fmla="val 25000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Rectangle 30"/>
            <p:cNvSpPr/>
            <p:nvPr/>
          </p:nvSpPr>
          <p:spPr>
            <a:xfrm>
              <a:off x="4429125" y="1590675"/>
              <a:ext cx="762000" cy="152400"/>
            </a:xfrm>
            <a:prstGeom prst="roundRect">
              <a:avLst>
                <a:gd name="adj" fmla="val 25000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286375" y="1590675"/>
              <a:ext cx="762000" cy="152400"/>
            </a:xfrm>
            <a:prstGeom prst="roundRect">
              <a:avLst>
                <a:gd name="adj" fmla="val 25000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375666" y="2248852"/>
            <a:ext cx="1148334" cy="395859"/>
            <a:chOff x="375666" y="2248852"/>
            <a:chExt cx="1148334" cy="395859"/>
          </a:xfrm>
        </p:grpSpPr>
        <p:sp>
          <p:nvSpPr>
            <p:cNvPr id="33" name="Line 33"/>
            <p:cNvSpPr/>
            <p:nvPr/>
          </p:nvSpPr>
          <p:spPr>
            <a:xfrm>
              <a:off x="952500" y="247650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14288">
              <a:solidFill>
                <a:schemeClr val="accent1"/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Ellipse 34"/>
            <p:cNvSpPr/>
            <p:nvPr/>
          </p:nvSpPr>
          <p:spPr>
            <a:xfrm>
              <a:off x="914400" y="24384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75666" y="2248852"/>
              <a:ext cx="4975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Module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75666" y="2439352"/>
              <a:ext cx="7569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Navigation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5137374" y="5143500"/>
            <a:ext cx="1155251" cy="568261"/>
            <a:chOff x="5137374" y="5143500"/>
            <a:chExt cx="1155251" cy="568261"/>
          </a:xfrm>
        </p:grpSpPr>
        <p:sp>
          <p:nvSpPr>
            <p:cNvPr id="38" name="Line 38"/>
            <p:cNvSpPr/>
            <p:nvPr/>
          </p:nvSpPr>
          <p:spPr>
            <a:xfrm>
              <a:off x="5715000" y="5143500"/>
              <a:ext cx="9525" cy="190500"/>
            </a:xfrm>
            <a:custGeom>
              <a:avLst/>
              <a:gdLst/>
              <a:ahLst/>
              <a:cxnLst/>
              <a:rect l="l" t="t" r="r" b="b"/>
              <a:pathLst>
                <a:path w="9525" h="190500">
                  <a:moveTo>
                    <a:pt x="0" y="190500"/>
                  </a:moveTo>
                  <a:lnTo>
                    <a:pt x="0" y="0"/>
                  </a:lnTo>
                </a:path>
              </a:pathLst>
            </a:custGeom>
            <a:noFill/>
            <a:ln w="14288">
              <a:solidFill>
                <a:schemeClr val="accent2"/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Ellipse 39"/>
            <p:cNvSpPr/>
            <p:nvPr/>
          </p:nvSpPr>
          <p:spPr>
            <a:xfrm>
              <a:off x="5676900" y="529590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137374" y="5506402"/>
              <a:ext cx="11552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05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Molecule Viewer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10525125" y="2887028"/>
            <a:ext cx="924961" cy="395859"/>
            <a:chOff x="10525125" y="2887028"/>
            <a:chExt cx="924961" cy="395859"/>
          </a:xfrm>
        </p:grpSpPr>
        <p:sp>
          <p:nvSpPr>
            <p:cNvPr id="42" name="Line 42"/>
            <p:cNvSpPr/>
            <p:nvPr/>
          </p:nvSpPr>
          <p:spPr>
            <a:xfrm>
              <a:off x="10525125" y="3048000"/>
              <a:ext cx="142875" cy="9525"/>
            </a:xfrm>
            <a:custGeom>
              <a:avLst/>
              <a:gdLst/>
              <a:ahLst/>
              <a:cxnLst/>
              <a:rect l="l" t="t" r="r" b="b"/>
              <a:pathLst>
                <a:path w="142875" h="9525">
                  <a:moveTo>
                    <a:pt x="142875" y="0"/>
                  </a:moveTo>
                  <a:lnTo>
                    <a:pt x="0" y="0"/>
                  </a:lnTo>
                </a:path>
              </a:pathLst>
            </a:custGeom>
            <a:noFill/>
            <a:ln w="14288">
              <a:solidFill>
                <a:schemeClr val="accent1"/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3" name="Ellipse 43"/>
            <p:cNvSpPr/>
            <p:nvPr/>
          </p:nvSpPr>
          <p:spPr>
            <a:xfrm>
              <a:off x="10725150" y="30099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0900791" y="2887028"/>
              <a:ext cx="54929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Results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0900791" y="3077528"/>
              <a:ext cx="38591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Panel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4025072" y="839152"/>
            <a:ext cx="1474856" cy="303848"/>
            <a:chOff x="4025072" y="839152"/>
            <a:chExt cx="1474856" cy="303848"/>
          </a:xfrm>
        </p:grpSpPr>
        <p:sp>
          <p:nvSpPr>
            <p:cNvPr id="47" name="Line 47"/>
            <p:cNvSpPr/>
            <p:nvPr/>
          </p:nvSpPr>
          <p:spPr>
            <a:xfrm>
              <a:off x="4762500" y="1095375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4288">
              <a:solidFill>
                <a:schemeClr val="accent2"/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8" name="Ellipse 48"/>
            <p:cNvSpPr/>
            <p:nvPr/>
          </p:nvSpPr>
          <p:spPr>
            <a:xfrm>
              <a:off x="4724400" y="99060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4025072" y="839152"/>
              <a:ext cx="14748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05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Project Management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2837300" y="6315075"/>
            <a:ext cx="6517401" cy="293370"/>
            <a:chOff x="2837300" y="6315075"/>
            <a:chExt cx="6517401" cy="293370"/>
          </a:xfrm>
        </p:grpSpPr>
        <p:sp>
          <p:nvSpPr>
            <p:cNvPr id="51" name="TextBox 51"/>
            <p:cNvSpPr txBox="1"/>
            <p:nvPr/>
          </p:nvSpPr>
          <p:spPr>
            <a:xfrm>
              <a:off x="2837300" y="6315075"/>
              <a:ext cx="651740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Designed for pharmacy professionals, not software engineers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0" y="6619875"/>
            <a:ext cx="12192000" cy="238125"/>
            <a:chOff x="0" y="6619875"/>
            <a:chExt cx="12192000" cy="238125"/>
          </a:xfrm>
        </p:grpSpPr>
        <p:sp>
          <p:nvSpPr>
            <p:cNvPr id="53" name="Rectangle 53"/>
            <p:cNvSpPr/>
            <p:nvPr/>
          </p:nvSpPr>
          <p:spPr>
            <a:xfrm>
              <a:off x="0" y="6619875"/>
              <a:ext cx="12192000" cy="238125"/>
            </a:xfrm>
            <a:prstGeom prst="rect">
              <a:avLst/>
            </a:prstGeom>
            <a:solidFill>
              <a:srgbClr val="0D0F24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4203998" y="6692741"/>
              <a:ext cx="378400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dirty="0">
                  <a:solidFill>
                    <a:srgbClr val="7A85A8"/>
                  </a:solidFill>
                  <a:latin typeface="+mj-lt"/>
                  <a:ea typeface="+mj-ea"/>
                  <a:cs typeface="+mj-cs"/>
                </a:rPr>
                <a:t>BioDockify — Building the Future of AI-Driven Pharmaceutical Research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745998" y="421958"/>
            <a:ext cx="5106112" cy="616077"/>
            <a:chOff x="745998" y="421958"/>
            <a:chExt cx="5106112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745998" y="421958"/>
              <a:ext cx="510611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Supported File Formats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762000" y="1238250"/>
            <a:ext cx="5143500" cy="3810000"/>
            <a:chOff x="762000" y="1238250"/>
            <a:chExt cx="5143500" cy="3810000"/>
          </a:xfrm>
        </p:grpSpPr>
        <p:sp>
          <p:nvSpPr>
            <p:cNvPr id="4" name="Rectangle 4"/>
            <p:cNvSpPr/>
            <p:nvPr/>
          </p:nvSpPr>
          <p:spPr>
            <a:xfrm>
              <a:off x="762000" y="1238250"/>
              <a:ext cx="5143500" cy="3810000"/>
            </a:xfrm>
            <a:prstGeom prst="roundRect">
              <a:avLst>
                <a:gd name="adj" fmla="val 3500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2370890" y="1503998"/>
              <a:ext cx="192572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9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Input Formats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1238250" y="1905000"/>
              <a:ext cx="4191000" cy="9525"/>
            </a:xfrm>
            <a:custGeom>
              <a:avLst/>
              <a:gdLst/>
              <a:ahLst/>
              <a:cxnLst/>
              <a:rect l="l" t="t" r="r" b="b"/>
              <a:pathLst>
                <a:path w="4191000" h="9525">
                  <a:moveTo>
                    <a:pt x="0" y="0"/>
                  </a:moveTo>
                  <a:lnTo>
                    <a:pt x="4191000" y="0"/>
                  </a:lnTo>
                </a:path>
              </a:pathLst>
            </a:custGeom>
            <a:noFill/>
            <a:ln w="9525">
              <a:solidFill>
                <a:schemeClr val="accent1">
                  <a:alpha val="20000"/>
                </a:schemeClr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Rectangle 7"/>
            <p:cNvSpPr/>
            <p:nvPr/>
          </p:nvSpPr>
          <p:spPr>
            <a:xfrm>
              <a:off x="1333500" y="2190750"/>
              <a:ext cx="952500" cy="381000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alpha val="15000"/>
              </a:schemeClr>
            </a:solidFill>
            <a:ln w="14288">
              <a:solidFill>
                <a:schemeClr val="accent1">
                  <a:alpha val="15000"/>
                </a:schemeClr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636551" y="2292668"/>
              <a:ext cx="3463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PDB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2476500" y="2190750"/>
              <a:ext cx="1143000" cy="381000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alpha val="15000"/>
              </a:schemeClr>
            </a:solidFill>
            <a:ln w="14288">
              <a:solidFill>
                <a:schemeClr val="accent1">
                  <a:alpha val="15000"/>
                </a:schemeClr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743745" y="2292668"/>
              <a:ext cx="6085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PDBQT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3810000" y="2190750"/>
              <a:ext cx="1047750" cy="381000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alpha val="15000"/>
              </a:schemeClr>
            </a:solidFill>
            <a:ln w="14288">
              <a:solidFill>
                <a:schemeClr val="accent1">
                  <a:alpha val="15000"/>
                </a:schemeClr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064904" y="2292668"/>
              <a:ext cx="53794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MOL2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1333500" y="2762250"/>
              <a:ext cx="857250" cy="381000"/>
            </a:xfrm>
            <a:prstGeom prst="roundRect">
              <a:avLst>
                <a:gd name="adj" fmla="val 50000"/>
              </a:avLst>
            </a:prstGeom>
            <a:solidFill>
              <a:schemeClr val="accent2">
                <a:alpha val="15000"/>
              </a:schemeClr>
            </a:solidFill>
            <a:ln w="14288">
              <a:solidFill>
                <a:schemeClr val="accent2">
                  <a:alpha val="15000"/>
                </a:schemeClr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588926" y="2864168"/>
              <a:ext cx="3463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SDF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2381250" y="2762250"/>
              <a:ext cx="1238250" cy="381000"/>
            </a:xfrm>
            <a:prstGeom prst="roundRect">
              <a:avLst>
                <a:gd name="adj" fmla="val 50000"/>
              </a:avLst>
            </a:prstGeom>
            <a:solidFill>
              <a:schemeClr val="accent2">
                <a:alpha val="15000"/>
              </a:schemeClr>
            </a:solidFill>
            <a:ln w="14288">
              <a:solidFill>
                <a:schemeClr val="accent2">
                  <a:alpha val="15000"/>
                </a:schemeClr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665876" y="2864168"/>
              <a:ext cx="6689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SMILES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3810000" y="2762250"/>
              <a:ext cx="1143000" cy="381000"/>
            </a:xfrm>
            <a:prstGeom prst="roundRect">
              <a:avLst>
                <a:gd name="adj" fmla="val 50000"/>
              </a:avLst>
            </a:prstGeom>
            <a:solidFill>
              <a:schemeClr val="accent2">
                <a:alpha val="15000"/>
              </a:schemeClr>
            </a:solidFill>
            <a:ln w="14288">
              <a:solidFill>
                <a:schemeClr val="accent2">
                  <a:alpha val="15000"/>
                </a:schemeClr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097407" y="2864168"/>
              <a:ext cx="5681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FASTA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793024" y="3569018"/>
              <a:ext cx="30814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Drag and drop any supported file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710118" y="3835718"/>
              <a:ext cx="324726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or paste a SMILES string directly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6286500" y="1238250"/>
            <a:ext cx="5143500" cy="3810000"/>
            <a:chOff x="6286500" y="1238250"/>
            <a:chExt cx="5143500" cy="3810000"/>
          </a:xfrm>
        </p:grpSpPr>
        <p:sp>
          <p:nvSpPr>
            <p:cNvPr id="22" name="Rectangle 22"/>
            <p:cNvSpPr/>
            <p:nvPr/>
          </p:nvSpPr>
          <p:spPr>
            <a:xfrm>
              <a:off x="6286500" y="1238250"/>
              <a:ext cx="5143500" cy="3810000"/>
            </a:xfrm>
            <a:prstGeom prst="roundRect">
              <a:avLst>
                <a:gd name="adj" fmla="val 3500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757058" y="1503998"/>
              <a:ext cx="220238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95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Output Formats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6762750" y="1905000"/>
              <a:ext cx="4191000" cy="9525"/>
            </a:xfrm>
            <a:custGeom>
              <a:avLst/>
              <a:gdLst/>
              <a:ahLst/>
              <a:cxnLst/>
              <a:rect l="l" t="t" r="r" b="b"/>
              <a:pathLst>
                <a:path w="4191000" h="9525">
                  <a:moveTo>
                    <a:pt x="0" y="0"/>
                  </a:moveTo>
                  <a:lnTo>
                    <a:pt x="4191000" y="0"/>
                  </a:lnTo>
                </a:path>
              </a:pathLst>
            </a:custGeom>
            <a:noFill/>
            <a:ln w="9525">
              <a:solidFill>
                <a:schemeClr val="accent2">
                  <a:alpha val="20000"/>
                </a:schemeClr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Rectangle 25"/>
            <p:cNvSpPr/>
            <p:nvPr/>
          </p:nvSpPr>
          <p:spPr>
            <a:xfrm>
              <a:off x="6858000" y="2190750"/>
              <a:ext cx="1143000" cy="381000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alpha val="15000"/>
              </a:schemeClr>
            </a:solidFill>
            <a:ln w="14288">
              <a:solidFill>
                <a:schemeClr val="accent1">
                  <a:alpha val="15000"/>
                </a:schemeClr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125245" y="2292668"/>
              <a:ext cx="6085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PDBQT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8191500" y="2190750"/>
              <a:ext cx="857250" cy="381000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alpha val="15000"/>
              </a:schemeClr>
            </a:solidFill>
            <a:ln w="14288">
              <a:solidFill>
                <a:schemeClr val="accent1">
                  <a:alpha val="15000"/>
                </a:schemeClr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446926" y="2292668"/>
              <a:ext cx="3463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CSV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9239250" y="2190750"/>
              <a:ext cx="1333500" cy="381000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alpha val="15000"/>
              </a:schemeClr>
            </a:solidFill>
            <a:ln w="14288">
              <a:solidFill>
                <a:schemeClr val="accent1">
                  <a:alpha val="15000"/>
                </a:schemeClr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511013" y="2292668"/>
              <a:ext cx="78997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XTC/TRR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858000" y="2762250"/>
              <a:ext cx="1333500" cy="381000"/>
            </a:xfrm>
            <a:prstGeom prst="roundRect">
              <a:avLst>
                <a:gd name="adj" fmla="val 50000"/>
              </a:avLst>
            </a:prstGeom>
            <a:solidFill>
              <a:schemeClr val="accent2">
                <a:alpha val="15000"/>
              </a:schemeClr>
            </a:solidFill>
            <a:ln w="14288">
              <a:solidFill>
                <a:schemeClr val="accent2">
                  <a:alpha val="15000"/>
                </a:schemeClr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129763" y="2864168"/>
              <a:ext cx="78997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PNG/SVG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8382000" y="2762250"/>
              <a:ext cx="857250" cy="381000"/>
            </a:xfrm>
            <a:prstGeom prst="roundRect">
              <a:avLst>
                <a:gd name="adj" fmla="val 50000"/>
              </a:avLst>
            </a:prstGeom>
            <a:solidFill>
              <a:schemeClr val="accent2">
                <a:alpha val="15000"/>
              </a:schemeClr>
            </a:solidFill>
            <a:ln w="14288">
              <a:solidFill>
                <a:schemeClr val="accent2">
                  <a:alpha val="15000"/>
                </a:schemeClr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637426" y="2864168"/>
              <a:ext cx="3463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PDF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249782" y="3569018"/>
              <a:ext cx="32169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Download results, share reports,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243191" y="3835718"/>
              <a:ext cx="323011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or continue analysis in other tools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3250648" y="5727382"/>
            <a:ext cx="5690703" cy="322707"/>
            <a:chOff x="3250648" y="5727382"/>
            <a:chExt cx="5690703" cy="322707"/>
          </a:xfrm>
        </p:grpSpPr>
        <p:sp>
          <p:nvSpPr>
            <p:cNvPr id="38" name="TextBox 38"/>
            <p:cNvSpPr txBox="1"/>
            <p:nvPr/>
          </p:nvSpPr>
          <p:spPr>
            <a:xfrm>
              <a:off x="3250648" y="5727382"/>
              <a:ext cx="569070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No more spending hours on file format conversion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0" y="6619875"/>
            <a:ext cx="12192000" cy="238125"/>
            <a:chOff x="0" y="6619875"/>
            <a:chExt cx="12192000" cy="238125"/>
          </a:xfrm>
        </p:grpSpPr>
        <p:sp>
          <p:nvSpPr>
            <p:cNvPr id="40" name="Rectangle 40"/>
            <p:cNvSpPr/>
            <p:nvPr/>
          </p:nvSpPr>
          <p:spPr>
            <a:xfrm>
              <a:off x="0" y="6619875"/>
              <a:ext cx="12192000" cy="238125"/>
            </a:xfrm>
            <a:prstGeom prst="rect">
              <a:avLst/>
            </a:prstGeom>
            <a:solidFill>
              <a:srgbClr val="0D0F24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203998" y="6692741"/>
              <a:ext cx="378400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dirty="0">
                  <a:solidFill>
                    <a:srgbClr val="7A85A8"/>
                  </a:solidFill>
                  <a:latin typeface="+mj-lt"/>
                  <a:ea typeface="+mj-ea"/>
                  <a:cs typeface="+mj-cs"/>
                </a:rPr>
                <a:t>BioDockify — Building the Future of AI-Driven Pharmaceutical Research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745998" y="421958"/>
            <a:ext cx="4557370" cy="616077"/>
            <a:chOff x="745998" y="421958"/>
            <a:chExt cx="4557370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745998" y="421958"/>
              <a:ext cx="455737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Platform Comparison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762000" y="1143000"/>
            <a:ext cx="10668000" cy="476250"/>
            <a:chOff x="762000" y="1143000"/>
            <a:chExt cx="10668000" cy="476250"/>
          </a:xfrm>
        </p:grpSpPr>
        <p:sp>
          <p:nvSpPr>
            <p:cNvPr id="4" name="Rectangle 4"/>
            <p:cNvSpPr/>
            <p:nvPr/>
          </p:nvSpPr>
          <p:spPr>
            <a:xfrm>
              <a:off x="762000" y="1143000"/>
              <a:ext cx="2667000" cy="4762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718336" y="1302068"/>
              <a:ext cx="7543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b="1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Feature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3429000" y="1143000"/>
              <a:ext cx="2095500" cy="4762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3987432" y="1302068"/>
              <a:ext cx="9786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BioDockify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5524500" y="1143000"/>
              <a:ext cx="1905000" cy="4762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940249" y="1318260"/>
              <a:ext cx="107350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b="1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AutoDock CLI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7429500" y="1143000"/>
              <a:ext cx="1905000" cy="4762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842717" y="1318260"/>
              <a:ext cx="107856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b="1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GROMACS CLI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9334500" y="1143000"/>
              <a:ext cx="2095500" cy="4762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955355" y="1318260"/>
              <a:ext cx="85379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b="1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SwissDock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762000" y="1619250"/>
            <a:ext cx="10668000" cy="476250"/>
            <a:chOff x="762000" y="1619250"/>
            <a:chExt cx="10668000" cy="476250"/>
          </a:xfrm>
        </p:grpSpPr>
        <p:sp>
          <p:nvSpPr>
            <p:cNvPr id="15" name="Rectangle 15"/>
            <p:cNvSpPr/>
            <p:nvPr/>
          </p:nvSpPr>
          <p:spPr>
            <a:xfrm>
              <a:off x="762000" y="1619250"/>
              <a:ext cx="2667000" cy="47625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rgbClr val="1A1D3A"/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6023" y="1767364"/>
              <a:ext cx="1375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Browser-based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3429000" y="1619250"/>
              <a:ext cx="2095500" cy="476250"/>
            </a:xfrm>
            <a:prstGeom prst="rect">
              <a:avLst/>
            </a:prstGeom>
            <a:solidFill>
              <a:schemeClr val="accent1">
                <a:alpha val="8000"/>
              </a:schemeClr>
            </a:solidFill>
            <a:ln w="9525">
              <a:solidFill>
                <a:schemeClr val="accent1">
                  <a:alpha val="2400"/>
                </a:schemeClr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363117" y="1762125"/>
              <a:ext cx="2272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b="1" dirty="0">
                  <a:solidFill>
                    <a:srgbClr val="4ADE80"/>
                  </a:solidFill>
                  <a:latin typeface="+mj-lt"/>
                  <a:ea typeface="+mj-ea"/>
                  <a:cs typeface="+mj-cs"/>
                </a:rPr>
                <a:t>✓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524500" y="1619250"/>
              <a:ext cx="1905000" cy="47625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rgbClr val="1A1D3A"/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363367" y="1762125"/>
              <a:ext cx="2272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✗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7429500" y="1619250"/>
              <a:ext cx="1905000" cy="47625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rgbClr val="1A1D3A"/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268367" y="1762125"/>
              <a:ext cx="2272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✗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9334500" y="1619250"/>
              <a:ext cx="2095500" cy="47625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rgbClr val="1A1D3A"/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268617" y="1762125"/>
              <a:ext cx="2272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b="1" dirty="0">
                  <a:solidFill>
                    <a:srgbClr val="4ADE80"/>
                  </a:solidFill>
                  <a:latin typeface="+mj-lt"/>
                  <a:ea typeface="+mj-ea"/>
                  <a:cs typeface="+mj-cs"/>
                </a:rPr>
                <a:t>✓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762000" y="2095500"/>
            <a:ext cx="10668000" cy="476250"/>
            <a:chOff x="762000" y="2095500"/>
            <a:chExt cx="10668000" cy="476250"/>
          </a:xfrm>
        </p:grpSpPr>
        <p:sp>
          <p:nvSpPr>
            <p:cNvPr id="26" name="Rectangle 26"/>
            <p:cNvSpPr/>
            <p:nvPr/>
          </p:nvSpPr>
          <p:spPr>
            <a:xfrm>
              <a:off x="762000" y="2095500"/>
              <a:ext cx="2667000" cy="476250"/>
            </a:xfrm>
            <a:prstGeom prst="rect">
              <a:avLst/>
            </a:prstGeom>
            <a:solidFill>
              <a:srgbClr val="0D0F20"/>
            </a:solidFill>
            <a:ln w="9525">
              <a:solidFill>
                <a:srgbClr val="1A1D3A"/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46023" y="2243614"/>
              <a:ext cx="130693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No installation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3429000" y="2095500"/>
              <a:ext cx="2095500" cy="476250"/>
            </a:xfrm>
            <a:prstGeom prst="rect">
              <a:avLst/>
            </a:prstGeom>
            <a:solidFill>
              <a:schemeClr val="accent1">
                <a:alpha val="5000"/>
              </a:schemeClr>
            </a:solidFill>
            <a:ln w="9525">
              <a:solidFill>
                <a:schemeClr val="accent1">
                  <a:alpha val="1500"/>
                </a:schemeClr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363117" y="2238375"/>
              <a:ext cx="2272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b="1" dirty="0">
                  <a:solidFill>
                    <a:srgbClr val="4ADE80"/>
                  </a:solidFill>
                  <a:latin typeface="+mj-lt"/>
                  <a:ea typeface="+mj-ea"/>
                  <a:cs typeface="+mj-cs"/>
                </a:rPr>
                <a:t>✓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524500" y="2095500"/>
              <a:ext cx="1905000" cy="476250"/>
            </a:xfrm>
            <a:prstGeom prst="rect">
              <a:avLst/>
            </a:prstGeom>
            <a:solidFill>
              <a:srgbClr val="0D0F20"/>
            </a:solidFill>
            <a:ln w="9525">
              <a:solidFill>
                <a:srgbClr val="1A1D3A"/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363367" y="2238375"/>
              <a:ext cx="2272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✗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7429500" y="2095500"/>
              <a:ext cx="1905000" cy="476250"/>
            </a:xfrm>
            <a:prstGeom prst="rect">
              <a:avLst/>
            </a:prstGeom>
            <a:solidFill>
              <a:srgbClr val="0D0F20"/>
            </a:solidFill>
            <a:ln w="9525">
              <a:solidFill>
                <a:srgbClr val="1A1D3A"/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268367" y="2238375"/>
              <a:ext cx="2272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✗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9334500" y="2095500"/>
              <a:ext cx="2095500" cy="476250"/>
            </a:xfrm>
            <a:prstGeom prst="rect">
              <a:avLst/>
            </a:prstGeom>
            <a:solidFill>
              <a:srgbClr val="0D0F20"/>
            </a:solidFill>
            <a:ln w="9525">
              <a:solidFill>
                <a:srgbClr val="1A1D3A"/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0268617" y="2238375"/>
              <a:ext cx="2272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b="1" dirty="0">
                  <a:solidFill>
                    <a:srgbClr val="4ADE80"/>
                  </a:solidFill>
                  <a:latin typeface="+mj-lt"/>
                  <a:ea typeface="+mj-ea"/>
                  <a:cs typeface="+mj-cs"/>
                </a:rPr>
                <a:t>✓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762000" y="2571750"/>
            <a:ext cx="10668000" cy="476250"/>
            <a:chOff x="762000" y="2571750"/>
            <a:chExt cx="10668000" cy="476250"/>
          </a:xfrm>
        </p:grpSpPr>
        <p:sp>
          <p:nvSpPr>
            <p:cNvPr id="37" name="Rectangle 37"/>
            <p:cNvSpPr/>
            <p:nvPr/>
          </p:nvSpPr>
          <p:spPr>
            <a:xfrm>
              <a:off x="762000" y="2571750"/>
              <a:ext cx="2667000" cy="47625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rgbClr val="1A1D3A"/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46023" y="2719864"/>
              <a:ext cx="9102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Visual GUI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3429000" y="2571750"/>
              <a:ext cx="2095500" cy="476250"/>
            </a:xfrm>
            <a:prstGeom prst="rect">
              <a:avLst/>
            </a:prstGeom>
            <a:solidFill>
              <a:schemeClr val="accent1">
                <a:alpha val="8000"/>
              </a:schemeClr>
            </a:solidFill>
            <a:ln w="9525">
              <a:solidFill>
                <a:schemeClr val="accent1">
                  <a:alpha val="2400"/>
                </a:schemeClr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363117" y="2714625"/>
              <a:ext cx="2272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b="1" dirty="0">
                  <a:solidFill>
                    <a:srgbClr val="4ADE80"/>
                  </a:solidFill>
                  <a:latin typeface="+mj-lt"/>
                  <a:ea typeface="+mj-ea"/>
                  <a:cs typeface="+mj-cs"/>
                </a:rPr>
                <a:t>✓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524500" y="2571750"/>
              <a:ext cx="1905000" cy="47625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rgbClr val="1A1D3A"/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363367" y="2714625"/>
              <a:ext cx="2272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✗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7429500" y="2571750"/>
              <a:ext cx="1905000" cy="47625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rgbClr val="1A1D3A"/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268367" y="2714625"/>
              <a:ext cx="2272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✗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9334500" y="2571750"/>
              <a:ext cx="2095500" cy="47625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rgbClr val="1A1D3A"/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0268617" y="2714625"/>
              <a:ext cx="2272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b="1" dirty="0">
                  <a:solidFill>
                    <a:srgbClr val="4ADE80"/>
                  </a:solidFill>
                  <a:latin typeface="+mj-lt"/>
                  <a:ea typeface="+mj-ea"/>
                  <a:cs typeface="+mj-cs"/>
                </a:rPr>
                <a:t>✓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762000" y="3048000"/>
            <a:ext cx="10668000" cy="476250"/>
            <a:chOff x="762000" y="3048000"/>
            <a:chExt cx="10668000" cy="476250"/>
          </a:xfrm>
        </p:grpSpPr>
        <p:sp>
          <p:nvSpPr>
            <p:cNvPr id="48" name="Rectangle 48"/>
            <p:cNvSpPr/>
            <p:nvPr/>
          </p:nvSpPr>
          <p:spPr>
            <a:xfrm>
              <a:off x="762000" y="3048000"/>
              <a:ext cx="2667000" cy="476250"/>
            </a:xfrm>
            <a:prstGeom prst="rect">
              <a:avLst/>
            </a:prstGeom>
            <a:solidFill>
              <a:srgbClr val="0D0F20"/>
            </a:solidFill>
            <a:ln w="9525">
              <a:solidFill>
                <a:srgbClr val="1A1D3A"/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46023" y="3196114"/>
              <a:ext cx="161132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Molecular Docking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3429000" y="3048000"/>
              <a:ext cx="2095500" cy="476250"/>
            </a:xfrm>
            <a:prstGeom prst="rect">
              <a:avLst/>
            </a:prstGeom>
            <a:solidFill>
              <a:schemeClr val="accent1">
                <a:alpha val="5000"/>
              </a:schemeClr>
            </a:solidFill>
            <a:ln w="9525">
              <a:solidFill>
                <a:schemeClr val="accent1">
                  <a:alpha val="1500"/>
                </a:schemeClr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4363117" y="3190875"/>
              <a:ext cx="2272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b="1" dirty="0">
                  <a:solidFill>
                    <a:srgbClr val="4ADE80"/>
                  </a:solidFill>
                  <a:latin typeface="+mj-lt"/>
                  <a:ea typeface="+mj-ea"/>
                  <a:cs typeface="+mj-cs"/>
                </a:rPr>
                <a:t>✓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5524500" y="3048000"/>
              <a:ext cx="1905000" cy="476250"/>
            </a:xfrm>
            <a:prstGeom prst="rect">
              <a:avLst/>
            </a:prstGeom>
            <a:solidFill>
              <a:srgbClr val="0D0F20"/>
            </a:solidFill>
            <a:ln w="9525">
              <a:solidFill>
                <a:srgbClr val="1A1D3A"/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363367" y="3190875"/>
              <a:ext cx="2272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b="1" dirty="0">
                  <a:solidFill>
                    <a:srgbClr val="4ADE80"/>
                  </a:solidFill>
                  <a:latin typeface="+mj-lt"/>
                  <a:ea typeface="+mj-ea"/>
                  <a:cs typeface="+mj-cs"/>
                </a:rPr>
                <a:t>✓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7429500" y="3048000"/>
              <a:ext cx="1905000" cy="476250"/>
            </a:xfrm>
            <a:prstGeom prst="rect">
              <a:avLst/>
            </a:prstGeom>
            <a:solidFill>
              <a:srgbClr val="0D0F20"/>
            </a:solidFill>
            <a:ln w="9525">
              <a:solidFill>
                <a:srgbClr val="1A1D3A"/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268367" y="3190875"/>
              <a:ext cx="2272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✗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9334500" y="3048000"/>
              <a:ext cx="2095500" cy="476250"/>
            </a:xfrm>
            <a:prstGeom prst="rect">
              <a:avLst/>
            </a:prstGeom>
            <a:solidFill>
              <a:srgbClr val="0D0F20"/>
            </a:solidFill>
            <a:ln w="9525">
              <a:solidFill>
                <a:srgbClr val="1A1D3A"/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0268617" y="3190875"/>
              <a:ext cx="2272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b="1" dirty="0">
                  <a:solidFill>
                    <a:srgbClr val="4ADE80"/>
                  </a:solidFill>
                  <a:latin typeface="+mj-lt"/>
                  <a:ea typeface="+mj-ea"/>
                  <a:cs typeface="+mj-cs"/>
                </a:rPr>
                <a:t>✓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762000" y="3524250"/>
            <a:ext cx="10668000" cy="476250"/>
            <a:chOff x="762000" y="3524250"/>
            <a:chExt cx="10668000" cy="476250"/>
          </a:xfrm>
        </p:grpSpPr>
        <p:sp>
          <p:nvSpPr>
            <p:cNvPr id="59" name="Rectangle 59"/>
            <p:cNvSpPr/>
            <p:nvPr/>
          </p:nvSpPr>
          <p:spPr>
            <a:xfrm>
              <a:off x="762000" y="3524250"/>
              <a:ext cx="2667000" cy="47625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rgbClr val="1A1D3A"/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946023" y="3672364"/>
              <a:ext cx="164375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ADMET Prediction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3429000" y="3524250"/>
              <a:ext cx="2095500" cy="476250"/>
            </a:xfrm>
            <a:prstGeom prst="rect">
              <a:avLst/>
            </a:prstGeom>
            <a:solidFill>
              <a:schemeClr val="accent1">
                <a:alpha val="8000"/>
              </a:schemeClr>
            </a:solidFill>
            <a:ln w="9525">
              <a:solidFill>
                <a:schemeClr val="accent1">
                  <a:alpha val="2400"/>
                </a:schemeClr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4363117" y="3667125"/>
              <a:ext cx="2272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b="1" dirty="0">
                  <a:solidFill>
                    <a:srgbClr val="4ADE80"/>
                  </a:solidFill>
                  <a:latin typeface="+mj-lt"/>
                  <a:ea typeface="+mj-ea"/>
                  <a:cs typeface="+mj-cs"/>
                </a:rPr>
                <a:t>✓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5524500" y="3524250"/>
              <a:ext cx="1905000" cy="47625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rgbClr val="1A1D3A"/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363367" y="3667125"/>
              <a:ext cx="2272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✗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7429500" y="3524250"/>
              <a:ext cx="1905000" cy="47625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rgbClr val="1A1D3A"/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8268367" y="3667125"/>
              <a:ext cx="2272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✗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9334500" y="3524250"/>
              <a:ext cx="2095500" cy="47625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rgbClr val="1A1D3A"/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0268617" y="3667125"/>
              <a:ext cx="2272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✗</a:t>
              </a:r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762000" y="4000500"/>
            <a:ext cx="10668000" cy="476250"/>
            <a:chOff x="762000" y="4000500"/>
            <a:chExt cx="10668000" cy="476250"/>
          </a:xfrm>
        </p:grpSpPr>
        <p:sp>
          <p:nvSpPr>
            <p:cNvPr id="70" name="Rectangle 70"/>
            <p:cNvSpPr/>
            <p:nvPr/>
          </p:nvSpPr>
          <p:spPr>
            <a:xfrm>
              <a:off x="762000" y="4000500"/>
              <a:ext cx="2667000" cy="476250"/>
            </a:xfrm>
            <a:prstGeom prst="rect">
              <a:avLst/>
            </a:prstGeom>
            <a:solidFill>
              <a:srgbClr val="0D0F20"/>
            </a:solidFill>
            <a:ln w="9525">
              <a:solidFill>
                <a:srgbClr val="1A1D3A"/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946023" y="4148614"/>
              <a:ext cx="126938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MD Simulation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3429000" y="4000500"/>
              <a:ext cx="2095500" cy="476250"/>
            </a:xfrm>
            <a:prstGeom prst="rect">
              <a:avLst/>
            </a:prstGeom>
            <a:solidFill>
              <a:schemeClr val="accent1">
                <a:alpha val="5000"/>
              </a:schemeClr>
            </a:solidFill>
            <a:ln w="9525">
              <a:solidFill>
                <a:schemeClr val="accent1">
                  <a:alpha val="1500"/>
                </a:schemeClr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4363117" y="4143375"/>
              <a:ext cx="2272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b="1" dirty="0">
                  <a:solidFill>
                    <a:srgbClr val="4ADE80"/>
                  </a:solidFill>
                  <a:latin typeface="+mj-lt"/>
                  <a:ea typeface="+mj-ea"/>
                  <a:cs typeface="+mj-cs"/>
                </a:rPr>
                <a:t>✓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5524500" y="4000500"/>
              <a:ext cx="1905000" cy="476250"/>
            </a:xfrm>
            <a:prstGeom prst="rect">
              <a:avLst/>
            </a:prstGeom>
            <a:solidFill>
              <a:srgbClr val="0D0F20"/>
            </a:solidFill>
            <a:ln w="9525">
              <a:solidFill>
                <a:srgbClr val="1A1D3A"/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6363367" y="4143375"/>
              <a:ext cx="2272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✗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7429500" y="4000500"/>
              <a:ext cx="1905000" cy="476250"/>
            </a:xfrm>
            <a:prstGeom prst="rect">
              <a:avLst/>
            </a:prstGeom>
            <a:solidFill>
              <a:srgbClr val="0D0F20"/>
            </a:solidFill>
            <a:ln w="9525">
              <a:solidFill>
                <a:srgbClr val="1A1D3A"/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8268367" y="4143375"/>
              <a:ext cx="2272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b="1" dirty="0">
                  <a:solidFill>
                    <a:srgbClr val="4ADE80"/>
                  </a:solidFill>
                  <a:latin typeface="+mj-lt"/>
                  <a:ea typeface="+mj-ea"/>
                  <a:cs typeface="+mj-cs"/>
                </a:rPr>
                <a:t>✓</a:t>
              </a:r>
            </a:p>
          </p:txBody>
        </p:sp>
        <p:sp>
          <p:nvSpPr>
            <p:cNvPr id="78" name="Rectangle 78"/>
            <p:cNvSpPr/>
            <p:nvPr/>
          </p:nvSpPr>
          <p:spPr>
            <a:xfrm>
              <a:off x="9334500" y="4000500"/>
              <a:ext cx="2095500" cy="476250"/>
            </a:xfrm>
            <a:prstGeom prst="rect">
              <a:avLst/>
            </a:prstGeom>
            <a:solidFill>
              <a:srgbClr val="0D0F20"/>
            </a:solidFill>
            <a:ln w="9525">
              <a:solidFill>
                <a:srgbClr val="1A1D3A"/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10268617" y="4143375"/>
              <a:ext cx="2272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✗</a:t>
              </a:r>
            </a:p>
          </p:txBody>
        </p:sp>
      </p:grpSp>
      <p:grpSp>
        <p:nvGrpSpPr>
          <p:cNvPr id="91" name="Group 91"/>
          <p:cNvGrpSpPr/>
          <p:nvPr/>
        </p:nvGrpSpPr>
        <p:grpSpPr>
          <a:xfrm>
            <a:off x="762000" y="4476750"/>
            <a:ext cx="10668000" cy="476250"/>
            <a:chOff x="762000" y="4476750"/>
            <a:chExt cx="10668000" cy="476250"/>
          </a:xfrm>
        </p:grpSpPr>
        <p:sp>
          <p:nvSpPr>
            <p:cNvPr id="81" name="Rectangle 81"/>
            <p:cNvSpPr/>
            <p:nvPr/>
          </p:nvSpPr>
          <p:spPr>
            <a:xfrm>
              <a:off x="762000" y="4476750"/>
              <a:ext cx="2667000" cy="47625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rgbClr val="1A1D3A"/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946023" y="4624864"/>
              <a:ext cx="114029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AI Assistant</a:t>
              </a:r>
            </a:p>
          </p:txBody>
        </p:sp>
        <p:sp>
          <p:nvSpPr>
            <p:cNvPr id="83" name="Rectangle 83"/>
            <p:cNvSpPr/>
            <p:nvPr/>
          </p:nvSpPr>
          <p:spPr>
            <a:xfrm>
              <a:off x="3429000" y="4476750"/>
              <a:ext cx="2095500" cy="476250"/>
            </a:xfrm>
            <a:prstGeom prst="rect">
              <a:avLst/>
            </a:prstGeom>
            <a:solidFill>
              <a:schemeClr val="accent1">
                <a:alpha val="8000"/>
              </a:schemeClr>
            </a:solidFill>
            <a:ln w="9525">
              <a:solidFill>
                <a:schemeClr val="accent1">
                  <a:alpha val="2400"/>
                </a:schemeClr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4363117" y="4619625"/>
              <a:ext cx="2272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b="1" dirty="0">
                  <a:solidFill>
                    <a:srgbClr val="4ADE80"/>
                  </a:solidFill>
                  <a:latin typeface="+mj-lt"/>
                  <a:ea typeface="+mj-ea"/>
                  <a:cs typeface="+mj-cs"/>
                </a:rPr>
                <a:t>✓</a:t>
              </a:r>
            </a:p>
          </p:txBody>
        </p:sp>
        <p:sp>
          <p:nvSpPr>
            <p:cNvPr id="85" name="Rectangle 85"/>
            <p:cNvSpPr/>
            <p:nvPr/>
          </p:nvSpPr>
          <p:spPr>
            <a:xfrm>
              <a:off x="5524500" y="4476750"/>
              <a:ext cx="1905000" cy="47625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rgbClr val="1A1D3A"/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6363367" y="4619625"/>
              <a:ext cx="2272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✗</a:t>
              </a:r>
            </a:p>
          </p:txBody>
        </p:sp>
        <p:sp>
          <p:nvSpPr>
            <p:cNvPr id="87" name="Rectangle 87"/>
            <p:cNvSpPr/>
            <p:nvPr/>
          </p:nvSpPr>
          <p:spPr>
            <a:xfrm>
              <a:off x="7429500" y="4476750"/>
              <a:ext cx="1905000" cy="47625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rgbClr val="1A1D3A"/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8268367" y="4619625"/>
              <a:ext cx="2272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✗</a:t>
              </a:r>
            </a:p>
          </p:txBody>
        </p:sp>
        <p:sp>
          <p:nvSpPr>
            <p:cNvPr id="89" name="Rectangle 89"/>
            <p:cNvSpPr/>
            <p:nvPr/>
          </p:nvSpPr>
          <p:spPr>
            <a:xfrm>
              <a:off x="9334500" y="4476750"/>
              <a:ext cx="2095500" cy="47625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rgbClr val="1A1D3A"/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10268617" y="4619625"/>
              <a:ext cx="2272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✗</a:t>
              </a:r>
            </a:p>
          </p:txBody>
        </p:sp>
      </p:grpSp>
      <p:grpSp>
        <p:nvGrpSpPr>
          <p:cNvPr id="102" name="Group 102"/>
          <p:cNvGrpSpPr/>
          <p:nvPr/>
        </p:nvGrpSpPr>
        <p:grpSpPr>
          <a:xfrm>
            <a:off x="762000" y="4953000"/>
            <a:ext cx="10668000" cy="476250"/>
            <a:chOff x="762000" y="4953000"/>
            <a:chExt cx="10668000" cy="476250"/>
          </a:xfrm>
        </p:grpSpPr>
        <p:sp>
          <p:nvSpPr>
            <p:cNvPr id="92" name="Rectangle 92"/>
            <p:cNvSpPr/>
            <p:nvPr/>
          </p:nvSpPr>
          <p:spPr>
            <a:xfrm>
              <a:off x="762000" y="4953000"/>
              <a:ext cx="2667000" cy="476250"/>
            </a:xfrm>
            <a:prstGeom prst="rect">
              <a:avLst/>
            </a:prstGeom>
            <a:solidFill>
              <a:srgbClr val="0D0F20"/>
            </a:solidFill>
            <a:ln w="9525">
              <a:solidFill>
                <a:srgbClr val="1A1D3A"/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946023" y="5101114"/>
              <a:ext cx="17380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Free for academics</a:t>
              </a:r>
            </a:p>
          </p:txBody>
        </p:sp>
        <p:sp>
          <p:nvSpPr>
            <p:cNvPr id="94" name="Rectangle 94"/>
            <p:cNvSpPr/>
            <p:nvPr/>
          </p:nvSpPr>
          <p:spPr>
            <a:xfrm>
              <a:off x="3429000" y="4953000"/>
              <a:ext cx="2095500" cy="476250"/>
            </a:xfrm>
            <a:prstGeom prst="rect">
              <a:avLst/>
            </a:prstGeom>
            <a:solidFill>
              <a:schemeClr val="accent1">
                <a:alpha val="5000"/>
              </a:schemeClr>
            </a:solidFill>
            <a:ln w="9525">
              <a:solidFill>
                <a:schemeClr val="accent1">
                  <a:alpha val="1500"/>
                </a:schemeClr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4363117" y="5095875"/>
              <a:ext cx="2272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b="1" dirty="0">
                  <a:solidFill>
                    <a:srgbClr val="4ADE80"/>
                  </a:solidFill>
                  <a:latin typeface="+mj-lt"/>
                  <a:ea typeface="+mj-ea"/>
                  <a:cs typeface="+mj-cs"/>
                </a:rPr>
                <a:t>✓</a:t>
              </a:r>
            </a:p>
          </p:txBody>
        </p:sp>
        <p:sp>
          <p:nvSpPr>
            <p:cNvPr id="96" name="Rectangle 96"/>
            <p:cNvSpPr/>
            <p:nvPr/>
          </p:nvSpPr>
          <p:spPr>
            <a:xfrm>
              <a:off x="5524500" y="4953000"/>
              <a:ext cx="1905000" cy="476250"/>
            </a:xfrm>
            <a:prstGeom prst="rect">
              <a:avLst/>
            </a:prstGeom>
            <a:solidFill>
              <a:srgbClr val="0D0F20"/>
            </a:solidFill>
            <a:ln w="9525">
              <a:solidFill>
                <a:srgbClr val="1A1D3A"/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6363367" y="5095875"/>
              <a:ext cx="2272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b="1" dirty="0">
                  <a:solidFill>
                    <a:srgbClr val="4ADE80"/>
                  </a:solidFill>
                  <a:latin typeface="+mj-lt"/>
                  <a:ea typeface="+mj-ea"/>
                  <a:cs typeface="+mj-cs"/>
                </a:rPr>
                <a:t>✓</a:t>
              </a:r>
            </a:p>
          </p:txBody>
        </p:sp>
        <p:sp>
          <p:nvSpPr>
            <p:cNvPr id="98" name="Rectangle 98"/>
            <p:cNvSpPr/>
            <p:nvPr/>
          </p:nvSpPr>
          <p:spPr>
            <a:xfrm>
              <a:off x="7429500" y="4953000"/>
              <a:ext cx="1905000" cy="476250"/>
            </a:xfrm>
            <a:prstGeom prst="rect">
              <a:avLst/>
            </a:prstGeom>
            <a:solidFill>
              <a:srgbClr val="0D0F20"/>
            </a:solidFill>
            <a:ln w="9525">
              <a:solidFill>
                <a:srgbClr val="1A1D3A"/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8268367" y="5095875"/>
              <a:ext cx="2272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b="1" dirty="0">
                  <a:solidFill>
                    <a:srgbClr val="4ADE80"/>
                  </a:solidFill>
                  <a:latin typeface="+mj-lt"/>
                  <a:ea typeface="+mj-ea"/>
                  <a:cs typeface="+mj-cs"/>
                </a:rPr>
                <a:t>✓</a:t>
              </a:r>
            </a:p>
          </p:txBody>
        </p:sp>
        <p:sp>
          <p:nvSpPr>
            <p:cNvPr id="100" name="Rectangle 100"/>
            <p:cNvSpPr/>
            <p:nvPr/>
          </p:nvSpPr>
          <p:spPr>
            <a:xfrm>
              <a:off x="9334500" y="4953000"/>
              <a:ext cx="2095500" cy="476250"/>
            </a:xfrm>
            <a:prstGeom prst="rect">
              <a:avLst/>
            </a:prstGeom>
            <a:solidFill>
              <a:srgbClr val="0D0F20"/>
            </a:solidFill>
            <a:ln w="9525">
              <a:solidFill>
                <a:srgbClr val="1A1D3A"/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10268617" y="5095875"/>
              <a:ext cx="2272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b="1" dirty="0">
                  <a:solidFill>
                    <a:srgbClr val="4ADE80"/>
                  </a:solidFill>
                  <a:latin typeface="+mj-lt"/>
                  <a:ea typeface="+mj-ea"/>
                  <a:cs typeface="+mj-cs"/>
                </a:rPr>
                <a:t>✓</a:t>
              </a:r>
            </a:p>
          </p:txBody>
        </p:sp>
      </p:grpSp>
      <p:grpSp>
        <p:nvGrpSpPr>
          <p:cNvPr id="113" name="Group 113"/>
          <p:cNvGrpSpPr/>
          <p:nvPr/>
        </p:nvGrpSpPr>
        <p:grpSpPr>
          <a:xfrm>
            <a:off x="762000" y="5429250"/>
            <a:ext cx="10668000" cy="476250"/>
            <a:chOff x="762000" y="5429250"/>
            <a:chExt cx="10668000" cy="476250"/>
          </a:xfrm>
        </p:grpSpPr>
        <p:sp>
          <p:nvSpPr>
            <p:cNvPr id="103" name="Rectangle 103"/>
            <p:cNvSpPr/>
            <p:nvPr/>
          </p:nvSpPr>
          <p:spPr>
            <a:xfrm>
              <a:off x="762000" y="5429250"/>
              <a:ext cx="2667000" cy="47625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rgbClr val="1A1D3A"/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946023" y="5577364"/>
              <a:ext cx="119739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Collaboration</a:t>
              </a:r>
            </a:p>
          </p:txBody>
        </p:sp>
        <p:sp>
          <p:nvSpPr>
            <p:cNvPr id="105" name="Rectangle 105"/>
            <p:cNvSpPr/>
            <p:nvPr/>
          </p:nvSpPr>
          <p:spPr>
            <a:xfrm>
              <a:off x="3429000" y="5429250"/>
              <a:ext cx="2095500" cy="476250"/>
            </a:xfrm>
            <a:prstGeom prst="rect">
              <a:avLst/>
            </a:prstGeom>
            <a:solidFill>
              <a:schemeClr val="accent1">
                <a:alpha val="8000"/>
              </a:schemeClr>
            </a:solidFill>
            <a:ln w="9525">
              <a:solidFill>
                <a:schemeClr val="accent1">
                  <a:alpha val="2400"/>
                </a:schemeClr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4363117" y="5572125"/>
              <a:ext cx="2272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b="1" dirty="0">
                  <a:solidFill>
                    <a:srgbClr val="4ADE80"/>
                  </a:solidFill>
                  <a:latin typeface="+mj-lt"/>
                  <a:ea typeface="+mj-ea"/>
                  <a:cs typeface="+mj-cs"/>
                </a:rPr>
                <a:t>✓</a:t>
              </a:r>
            </a:p>
          </p:txBody>
        </p:sp>
        <p:sp>
          <p:nvSpPr>
            <p:cNvPr id="107" name="Rectangle 107"/>
            <p:cNvSpPr/>
            <p:nvPr/>
          </p:nvSpPr>
          <p:spPr>
            <a:xfrm>
              <a:off x="5524500" y="5429250"/>
              <a:ext cx="1905000" cy="47625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rgbClr val="1A1D3A"/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8" name="TextBox 108"/>
            <p:cNvSpPr txBox="1"/>
            <p:nvPr/>
          </p:nvSpPr>
          <p:spPr>
            <a:xfrm>
              <a:off x="6363367" y="5572125"/>
              <a:ext cx="2272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✗</a:t>
              </a:r>
            </a:p>
          </p:txBody>
        </p:sp>
        <p:sp>
          <p:nvSpPr>
            <p:cNvPr id="109" name="Rectangle 109"/>
            <p:cNvSpPr/>
            <p:nvPr/>
          </p:nvSpPr>
          <p:spPr>
            <a:xfrm>
              <a:off x="7429500" y="5429250"/>
              <a:ext cx="1905000" cy="47625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rgbClr val="1A1D3A"/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0" name="TextBox 110"/>
            <p:cNvSpPr txBox="1"/>
            <p:nvPr/>
          </p:nvSpPr>
          <p:spPr>
            <a:xfrm>
              <a:off x="8268367" y="5572125"/>
              <a:ext cx="2272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✗</a:t>
              </a:r>
            </a:p>
          </p:txBody>
        </p:sp>
        <p:sp>
          <p:nvSpPr>
            <p:cNvPr id="111" name="Rectangle 111"/>
            <p:cNvSpPr/>
            <p:nvPr/>
          </p:nvSpPr>
          <p:spPr>
            <a:xfrm>
              <a:off x="9334500" y="5429250"/>
              <a:ext cx="2095500" cy="47625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rgbClr val="1A1D3A"/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2" name="TextBox 112"/>
            <p:cNvSpPr txBox="1"/>
            <p:nvPr/>
          </p:nvSpPr>
          <p:spPr>
            <a:xfrm>
              <a:off x="10268617" y="5572125"/>
              <a:ext cx="2272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✗</a:t>
              </a:r>
            </a:p>
          </p:txBody>
        </p:sp>
      </p:grpSp>
      <p:grpSp>
        <p:nvGrpSpPr>
          <p:cNvPr id="118" name="Group 118"/>
          <p:cNvGrpSpPr/>
          <p:nvPr/>
        </p:nvGrpSpPr>
        <p:grpSpPr>
          <a:xfrm>
            <a:off x="3932107" y="6252210"/>
            <a:ext cx="6596177" cy="234696"/>
            <a:chOff x="3932107" y="6252210"/>
            <a:chExt cx="6596177" cy="234696"/>
          </a:xfrm>
        </p:grpSpPr>
        <p:sp>
          <p:nvSpPr>
            <p:cNvPr id="114" name="TextBox 114"/>
            <p:cNvSpPr txBox="1"/>
            <p:nvPr/>
          </p:nvSpPr>
          <p:spPr>
            <a:xfrm>
              <a:off x="3932107" y="6252210"/>
              <a:ext cx="10892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b="1" dirty="0">
                  <a:solidFill>
                    <a:srgbClr val="4ADE80"/>
                  </a:solidFill>
                  <a:latin typeface="+mj-lt"/>
                  <a:ea typeface="+mj-ea"/>
                  <a:cs typeface="+mj-cs"/>
                </a:rPr>
                <a:t>9/9 features</a:t>
              </a:r>
            </a:p>
          </p:txBody>
        </p:sp>
        <p:sp>
          <p:nvSpPr>
            <p:cNvPr id="115" name="TextBox 115"/>
            <p:cNvSpPr txBox="1"/>
            <p:nvPr/>
          </p:nvSpPr>
          <p:spPr>
            <a:xfrm>
              <a:off x="6330967" y="6252210"/>
              <a:ext cx="292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b="1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3/9</a:t>
              </a:r>
            </a:p>
          </p:txBody>
        </p:sp>
        <p:sp>
          <p:nvSpPr>
            <p:cNvPr id="116" name="TextBox 116"/>
            <p:cNvSpPr txBox="1"/>
            <p:nvPr/>
          </p:nvSpPr>
          <p:spPr>
            <a:xfrm>
              <a:off x="8235967" y="6252210"/>
              <a:ext cx="292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b="1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3/9</a:t>
              </a:r>
            </a:p>
          </p:txBody>
        </p:sp>
        <p:sp>
          <p:nvSpPr>
            <p:cNvPr id="117" name="TextBox 117"/>
            <p:cNvSpPr txBox="1"/>
            <p:nvPr/>
          </p:nvSpPr>
          <p:spPr>
            <a:xfrm>
              <a:off x="10236217" y="6252210"/>
              <a:ext cx="292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b="1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5/9</a:t>
              </a:r>
            </a:p>
          </p:txBody>
        </p:sp>
      </p:grpSp>
      <p:grpSp>
        <p:nvGrpSpPr>
          <p:cNvPr id="121" name="Group 121"/>
          <p:cNvGrpSpPr/>
          <p:nvPr/>
        </p:nvGrpSpPr>
        <p:grpSpPr>
          <a:xfrm>
            <a:off x="0" y="6619875"/>
            <a:ext cx="12192000" cy="238125"/>
            <a:chOff x="0" y="6619875"/>
            <a:chExt cx="12192000" cy="238125"/>
          </a:xfrm>
        </p:grpSpPr>
        <p:sp>
          <p:nvSpPr>
            <p:cNvPr id="119" name="Rectangle 119"/>
            <p:cNvSpPr/>
            <p:nvPr/>
          </p:nvSpPr>
          <p:spPr>
            <a:xfrm>
              <a:off x="0" y="6619875"/>
              <a:ext cx="12192000" cy="238125"/>
            </a:xfrm>
            <a:prstGeom prst="rect">
              <a:avLst/>
            </a:prstGeom>
            <a:solidFill>
              <a:srgbClr val="0D0F24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0" name="TextBox 120"/>
            <p:cNvSpPr txBox="1"/>
            <p:nvPr/>
          </p:nvSpPr>
          <p:spPr>
            <a:xfrm>
              <a:off x="4203998" y="6692741"/>
              <a:ext cx="378400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dirty="0">
                  <a:solidFill>
                    <a:srgbClr val="7A85A8"/>
                  </a:solidFill>
                  <a:latin typeface="+mj-lt"/>
                  <a:ea typeface="+mj-ea"/>
                  <a:cs typeface="+mj-cs"/>
                </a:rPr>
                <a:t>BioDockify — Building the Future of AI-Driven Pharmaceutical Research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endParaRPr lang="en-IN"/>
          </a:p>
        </p:txBody>
      </p:sp>
      <p:grpSp>
        <p:nvGrpSpPr>
          <p:cNvPr id="4" name="Group 4"/>
          <p:cNvGrpSpPr/>
          <p:nvPr/>
        </p:nvGrpSpPr>
        <p:grpSpPr>
          <a:xfrm>
            <a:off x="742950" y="1798320"/>
            <a:ext cx="877725" cy="1047750"/>
            <a:chOff x="742950" y="1798320"/>
            <a:chExt cx="877725" cy="1047750"/>
          </a:xfrm>
        </p:grpSpPr>
        <p:sp>
          <p:nvSpPr>
            <p:cNvPr id="3" name="TextBox 3"/>
            <p:cNvSpPr txBox="1"/>
            <p:nvPr/>
          </p:nvSpPr>
          <p:spPr>
            <a:xfrm>
              <a:off x="742950" y="1798320"/>
              <a:ext cx="877725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54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01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743712" y="2945130"/>
            <a:ext cx="4418144" cy="704088"/>
            <a:chOff x="743712" y="2945130"/>
            <a:chExt cx="4418144" cy="704088"/>
          </a:xfrm>
        </p:grpSpPr>
        <p:sp>
          <p:nvSpPr>
            <p:cNvPr id="5" name="TextBox 5"/>
            <p:cNvSpPr txBox="1"/>
            <p:nvPr/>
          </p:nvSpPr>
          <p:spPr>
            <a:xfrm>
              <a:off x="743712" y="2945130"/>
              <a:ext cx="441814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6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Molecular Docking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52856" y="3806190"/>
            <a:ext cx="4978908" cy="352044"/>
            <a:chOff x="752856" y="3806190"/>
            <a:chExt cx="4978908" cy="352044"/>
          </a:xfrm>
        </p:grpSpPr>
        <p:sp>
          <p:nvSpPr>
            <p:cNvPr id="7" name="TextBox 7"/>
            <p:cNvSpPr txBox="1"/>
            <p:nvPr/>
          </p:nvSpPr>
          <p:spPr>
            <a:xfrm>
              <a:off x="752856" y="3806190"/>
              <a:ext cx="497890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Find the right key for your protein lock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0" y="6619875"/>
            <a:ext cx="12192000" cy="238125"/>
            <a:chOff x="0" y="6619875"/>
            <a:chExt cx="12192000" cy="238125"/>
          </a:xfrm>
        </p:grpSpPr>
        <p:sp>
          <p:nvSpPr>
            <p:cNvPr id="9" name="Rectangle 9"/>
            <p:cNvSpPr/>
            <p:nvPr/>
          </p:nvSpPr>
          <p:spPr>
            <a:xfrm>
              <a:off x="0" y="6619875"/>
              <a:ext cx="12192000" cy="238125"/>
            </a:xfrm>
            <a:prstGeom prst="rect">
              <a:avLst/>
            </a:prstGeom>
            <a:solidFill>
              <a:srgbClr val="0D0F24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203998" y="6692741"/>
              <a:ext cx="378400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dirty="0">
                  <a:solidFill>
                    <a:srgbClr val="7A85A8"/>
                  </a:solidFill>
                  <a:latin typeface="+mj-lt"/>
                  <a:ea typeface="+mj-ea"/>
                  <a:cs typeface="+mj-cs"/>
                </a:rPr>
                <a:t>BioDockify — Building the Future of AI-Driven Pharmaceutical Research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745998" y="402908"/>
            <a:ext cx="7613616" cy="616077"/>
            <a:chOff x="745998" y="402908"/>
            <a:chExt cx="7613616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745998" y="402908"/>
              <a:ext cx="761361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Core Concepts in Molecular Docking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62000" y="1143000"/>
            <a:ext cx="10668000" cy="1619250"/>
            <a:chOff x="762000" y="1143000"/>
            <a:chExt cx="10668000" cy="1619250"/>
          </a:xfrm>
        </p:grpSpPr>
        <p:sp>
          <p:nvSpPr>
            <p:cNvPr id="4" name="Rectangle 4"/>
            <p:cNvSpPr/>
            <p:nvPr/>
          </p:nvSpPr>
          <p:spPr>
            <a:xfrm>
              <a:off x="762000" y="1143000"/>
              <a:ext cx="10668000" cy="1619250"/>
            </a:xfrm>
            <a:prstGeom prst="roundRect">
              <a:avLst>
                <a:gd name="adj" fmla="val 8235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132332" y="1344930"/>
              <a:ext cx="1700731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1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Binding Site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133856" y="1805940"/>
              <a:ext cx="501857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The specific pocket where a drug binds.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133856" y="2186940"/>
              <a:ext cx="47145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BioDockify auto-detects likely sites.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762000" y="2952750"/>
            <a:ext cx="10668000" cy="1619250"/>
            <a:chOff x="762000" y="2952750"/>
            <a:chExt cx="10668000" cy="1619250"/>
          </a:xfrm>
        </p:grpSpPr>
        <p:sp>
          <p:nvSpPr>
            <p:cNvPr id="9" name="Rectangle 9"/>
            <p:cNvSpPr/>
            <p:nvPr/>
          </p:nvSpPr>
          <p:spPr>
            <a:xfrm>
              <a:off x="762000" y="2952750"/>
              <a:ext cx="10668000" cy="1619250"/>
            </a:xfrm>
            <a:prstGeom prst="roundRect">
              <a:avLst>
                <a:gd name="adj" fmla="val 8235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32332" y="3154680"/>
              <a:ext cx="242890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1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Scoring Function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33856" y="3615690"/>
              <a:ext cx="554198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Mathematical estimate of binding strength.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33856" y="3996690"/>
              <a:ext cx="408535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Lower score = stronger binding.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762000" y="4762500"/>
            <a:ext cx="10668000" cy="1619250"/>
            <a:chOff x="762000" y="4762500"/>
            <a:chExt cx="10668000" cy="1619250"/>
          </a:xfrm>
        </p:grpSpPr>
        <p:sp>
          <p:nvSpPr>
            <p:cNvPr id="14" name="Rectangle 14"/>
            <p:cNvSpPr/>
            <p:nvPr/>
          </p:nvSpPr>
          <p:spPr>
            <a:xfrm>
              <a:off x="762000" y="4762500"/>
              <a:ext cx="10668000" cy="1619250"/>
            </a:xfrm>
            <a:prstGeom prst="roundRect">
              <a:avLst>
                <a:gd name="adj" fmla="val 8235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132332" y="4964430"/>
              <a:ext cx="248872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1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Search Algorithm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133856" y="5425440"/>
              <a:ext cx="469739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How software explores orientations.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133856" y="5806440"/>
              <a:ext cx="404408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Vina uses iterated local search.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0" y="6619875"/>
            <a:ext cx="12192000" cy="238125"/>
            <a:chOff x="0" y="6619875"/>
            <a:chExt cx="12192000" cy="238125"/>
          </a:xfrm>
        </p:grpSpPr>
        <p:sp>
          <p:nvSpPr>
            <p:cNvPr id="19" name="Rectangle 19"/>
            <p:cNvSpPr/>
            <p:nvPr/>
          </p:nvSpPr>
          <p:spPr>
            <a:xfrm>
              <a:off x="0" y="6619875"/>
              <a:ext cx="12192000" cy="238125"/>
            </a:xfrm>
            <a:prstGeom prst="rect">
              <a:avLst/>
            </a:prstGeom>
            <a:solidFill>
              <a:srgbClr val="0D0F24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203998" y="6692741"/>
              <a:ext cx="378400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dirty="0">
                  <a:solidFill>
                    <a:srgbClr val="7A85A8"/>
                  </a:solidFill>
                  <a:latin typeface="+mj-lt"/>
                  <a:ea typeface="+mj-ea"/>
                  <a:cs typeface="+mj-cs"/>
                </a:rPr>
                <a:t>BioDockify — Building the Future of AI-Driven Pharmaceutical Research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745998" y="402908"/>
            <a:ext cx="6634260" cy="616077"/>
            <a:chOff x="745998" y="402908"/>
            <a:chExt cx="6634260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745998" y="402908"/>
              <a:ext cx="663426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Preparing Your Protein Target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62000" y="1238250"/>
            <a:ext cx="6441596" cy="763715"/>
            <a:chOff x="762000" y="1238250"/>
            <a:chExt cx="6441596" cy="763715"/>
          </a:xfrm>
        </p:grpSpPr>
        <p:sp>
          <p:nvSpPr>
            <p:cNvPr id="4" name="Rectangle 4"/>
            <p:cNvSpPr/>
            <p:nvPr/>
          </p:nvSpPr>
          <p:spPr>
            <a:xfrm>
              <a:off x="762000" y="1238250"/>
              <a:ext cx="571500" cy="5715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55452" y="1392555"/>
              <a:ext cx="18459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1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1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609344" y="1265872"/>
              <a:ext cx="20979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9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Fetch from PDB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610868" y="1679258"/>
              <a:ext cx="559272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Enter PDB ID to download the crystal structure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762000" y="2476500"/>
            <a:ext cx="6430172" cy="763715"/>
            <a:chOff x="762000" y="2476500"/>
            <a:chExt cx="6430172" cy="763715"/>
          </a:xfrm>
        </p:grpSpPr>
        <p:sp>
          <p:nvSpPr>
            <p:cNvPr id="9" name="Rectangle 9"/>
            <p:cNvSpPr/>
            <p:nvPr/>
          </p:nvSpPr>
          <p:spPr>
            <a:xfrm>
              <a:off x="762000" y="2476500"/>
              <a:ext cx="571500" cy="5715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55452" y="2630805"/>
              <a:ext cx="18459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1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2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609344" y="2504122"/>
              <a:ext cx="558282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9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Remove water and co-crystallized ligands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610868" y="2917508"/>
              <a:ext cx="497471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Automatic — cleans the binding environment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762000" y="3714750"/>
            <a:ext cx="6469523" cy="763715"/>
            <a:chOff x="762000" y="3714750"/>
            <a:chExt cx="6469523" cy="763715"/>
          </a:xfrm>
        </p:grpSpPr>
        <p:sp>
          <p:nvSpPr>
            <p:cNvPr id="14" name="Rectangle 14"/>
            <p:cNvSpPr/>
            <p:nvPr/>
          </p:nvSpPr>
          <p:spPr>
            <a:xfrm>
              <a:off x="762000" y="3714750"/>
              <a:ext cx="571500" cy="5715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55452" y="3869055"/>
              <a:ext cx="18459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1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609344" y="3742372"/>
              <a:ext cx="530726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9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Add polar hydrogens and assign charges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610868" y="4155758"/>
              <a:ext cx="562065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Automatic — ensures correct protonation states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762000" y="4953000"/>
            <a:ext cx="6117065" cy="763715"/>
            <a:chOff x="762000" y="4953000"/>
            <a:chExt cx="6117065" cy="763715"/>
          </a:xfrm>
        </p:grpSpPr>
        <p:sp>
          <p:nvSpPr>
            <p:cNvPr id="19" name="Rectangle 19"/>
            <p:cNvSpPr/>
            <p:nvPr/>
          </p:nvSpPr>
          <p:spPr>
            <a:xfrm>
              <a:off x="762000" y="4953000"/>
              <a:ext cx="571500" cy="5715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55452" y="5107305"/>
              <a:ext cx="18459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1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4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609344" y="4980622"/>
              <a:ext cx="365295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9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Define the grid box visually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610868" y="5394008"/>
              <a:ext cx="526819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Drag handles to set the docking search region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755142" y="6283642"/>
            <a:ext cx="2366494" cy="264033"/>
            <a:chOff x="755142" y="6283642"/>
            <a:chExt cx="2366494" cy="264033"/>
          </a:xfrm>
        </p:grpSpPr>
        <p:sp>
          <p:nvSpPr>
            <p:cNvPr id="24" name="TextBox 24"/>
            <p:cNvSpPr txBox="1"/>
            <p:nvPr/>
          </p:nvSpPr>
          <p:spPr>
            <a:xfrm>
              <a:off x="755142" y="6283642"/>
              <a:ext cx="236649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Steps 2–3 are automated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0" y="6619875"/>
            <a:ext cx="12192000" cy="238125"/>
            <a:chOff x="0" y="6619875"/>
            <a:chExt cx="12192000" cy="238125"/>
          </a:xfrm>
        </p:grpSpPr>
        <p:sp>
          <p:nvSpPr>
            <p:cNvPr id="26" name="Rectangle 26"/>
            <p:cNvSpPr/>
            <p:nvPr/>
          </p:nvSpPr>
          <p:spPr>
            <a:xfrm>
              <a:off x="0" y="6619875"/>
              <a:ext cx="12192000" cy="238125"/>
            </a:xfrm>
            <a:prstGeom prst="rect">
              <a:avLst/>
            </a:prstGeom>
            <a:solidFill>
              <a:srgbClr val="0D0F24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203998" y="6692741"/>
              <a:ext cx="378400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dirty="0">
                  <a:solidFill>
                    <a:srgbClr val="7A85A8"/>
                  </a:solidFill>
                  <a:latin typeface="+mj-lt"/>
                  <a:ea typeface="+mj-ea"/>
                  <a:cs typeface="+mj-cs"/>
                </a:rPr>
                <a:t>BioDockify — Building the Future of AI-Driven Pharmaceutical Research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745998" y="402908"/>
            <a:ext cx="6521977" cy="616077"/>
            <a:chOff x="745998" y="402908"/>
            <a:chExt cx="6521977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745998" y="402908"/>
              <a:ext cx="6521977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Preparing Your Ligand Library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62000" y="1333500"/>
            <a:ext cx="3238500" cy="3619500"/>
            <a:chOff x="762000" y="1333500"/>
            <a:chExt cx="3238500" cy="3619500"/>
          </a:xfrm>
        </p:grpSpPr>
        <p:sp>
          <p:nvSpPr>
            <p:cNvPr id="4" name="Rectangle 4"/>
            <p:cNvSpPr/>
            <p:nvPr/>
          </p:nvSpPr>
          <p:spPr>
            <a:xfrm>
              <a:off x="762000" y="1333500"/>
              <a:ext cx="3238500" cy="3619500"/>
            </a:xfrm>
            <a:prstGeom prst="roundRect">
              <a:avLst>
                <a:gd name="adj" fmla="val 4118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Rectangle 5"/>
            <p:cNvSpPr/>
            <p:nvPr/>
          </p:nvSpPr>
          <p:spPr>
            <a:xfrm>
              <a:off x="1333500" y="1714500"/>
              <a:ext cx="2095500" cy="571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2009337" y="1964055"/>
              <a:ext cx="74382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1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Draw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198078" y="2584132"/>
              <a:ext cx="236634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Built-in 2D sketcher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595773" y="2965132"/>
              <a:ext cx="157095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Generates 3D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692250" y="3298508"/>
              <a:ext cx="13780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coordinates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476750" y="1333500"/>
            <a:ext cx="3238500" cy="3619500"/>
            <a:chOff x="4476750" y="1333500"/>
            <a:chExt cx="3238500" cy="3619500"/>
          </a:xfrm>
        </p:grpSpPr>
        <p:sp>
          <p:nvSpPr>
            <p:cNvPr id="11" name="Rectangle 11"/>
            <p:cNvSpPr/>
            <p:nvPr/>
          </p:nvSpPr>
          <p:spPr>
            <a:xfrm>
              <a:off x="4476750" y="1333500"/>
              <a:ext cx="3238500" cy="3619500"/>
            </a:xfrm>
            <a:prstGeom prst="roundRect">
              <a:avLst>
                <a:gd name="adj" fmla="val 4118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048250" y="1714500"/>
              <a:ext cx="2095500" cy="571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628385" y="1964055"/>
              <a:ext cx="93523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1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Upload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292052" y="2584132"/>
              <a:ext cx="160789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Drag and drop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691177" y="2965132"/>
              <a:ext cx="280964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SDF / MOL2 / SMILES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823585" y="3298508"/>
              <a:ext cx="54483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files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8191500" y="1333500"/>
            <a:ext cx="3238500" cy="3619500"/>
            <a:chOff x="8191500" y="1333500"/>
            <a:chExt cx="3238500" cy="3619500"/>
          </a:xfrm>
        </p:grpSpPr>
        <p:sp>
          <p:nvSpPr>
            <p:cNvPr id="18" name="Rectangle 18"/>
            <p:cNvSpPr/>
            <p:nvPr/>
          </p:nvSpPr>
          <p:spPr>
            <a:xfrm>
              <a:off x="8191500" y="1333500"/>
              <a:ext cx="3238500" cy="3619500"/>
            </a:xfrm>
            <a:prstGeom prst="roundRect">
              <a:avLst>
                <a:gd name="adj" fmla="val 4118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Rectangle 19"/>
            <p:cNvSpPr/>
            <p:nvPr/>
          </p:nvSpPr>
          <p:spPr>
            <a:xfrm>
              <a:off x="8763000" y="1714500"/>
              <a:ext cx="2095500" cy="571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387310" y="1964055"/>
              <a:ext cx="84687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1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Fetch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860263" y="2584132"/>
              <a:ext cx="190097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Search PubChem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865680" y="2965132"/>
              <a:ext cx="189014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or ZINC by name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3218811" y="5425440"/>
            <a:ext cx="5754378" cy="352044"/>
            <a:chOff x="3218811" y="5425440"/>
            <a:chExt cx="5754378" cy="352044"/>
          </a:xfrm>
        </p:grpSpPr>
        <p:sp>
          <p:nvSpPr>
            <p:cNvPr id="24" name="TextBox 24"/>
            <p:cNvSpPr txBox="1"/>
            <p:nvPr/>
          </p:nvSpPr>
          <p:spPr>
            <a:xfrm>
              <a:off x="3218811" y="5425440"/>
              <a:ext cx="575437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Screen 1 to 10,000 molecules in a single batch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0" y="6619875"/>
            <a:ext cx="12192000" cy="238125"/>
            <a:chOff x="0" y="6619875"/>
            <a:chExt cx="12192000" cy="238125"/>
          </a:xfrm>
        </p:grpSpPr>
        <p:sp>
          <p:nvSpPr>
            <p:cNvPr id="26" name="Rectangle 26"/>
            <p:cNvSpPr/>
            <p:nvPr/>
          </p:nvSpPr>
          <p:spPr>
            <a:xfrm>
              <a:off x="0" y="6619875"/>
              <a:ext cx="12192000" cy="238125"/>
            </a:xfrm>
            <a:prstGeom prst="rect">
              <a:avLst/>
            </a:prstGeom>
            <a:solidFill>
              <a:srgbClr val="0D0F24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203998" y="6692741"/>
              <a:ext cx="378400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dirty="0">
                  <a:solidFill>
                    <a:srgbClr val="7A85A8"/>
                  </a:solidFill>
                  <a:latin typeface="+mj-lt"/>
                  <a:ea typeface="+mj-ea"/>
                  <a:cs typeface="+mj-cs"/>
                </a:rPr>
                <a:t>BioDockify — Building the Future of AI-Driven Pharmaceutical Research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745998" y="402908"/>
            <a:ext cx="6352752" cy="616077"/>
            <a:chOff x="745998" y="402908"/>
            <a:chExt cx="6352752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745998" y="402908"/>
              <a:ext cx="635275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Running a Docking Experiment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62000" y="1238250"/>
            <a:ext cx="10668000" cy="1524000"/>
            <a:chOff x="762000" y="1238250"/>
            <a:chExt cx="10668000" cy="1524000"/>
          </a:xfrm>
        </p:grpSpPr>
        <p:sp>
          <p:nvSpPr>
            <p:cNvPr id="4" name="Rectangle 4"/>
            <p:cNvSpPr/>
            <p:nvPr/>
          </p:nvSpPr>
          <p:spPr>
            <a:xfrm>
              <a:off x="762000" y="1238250"/>
              <a:ext cx="10668000" cy="1524000"/>
            </a:xfrm>
            <a:prstGeom prst="roundRect">
              <a:avLst>
                <a:gd name="adj" fmla="val 8750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132332" y="1440180"/>
              <a:ext cx="224171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1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Exhaustiveness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4183380" y="1504950"/>
              <a:ext cx="251935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b="1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Range: 1–32 | Default: 8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133856" y="1948815"/>
              <a:ext cx="737902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Controls search thoroughness. Higher values explore more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133856" y="2282190"/>
              <a:ext cx="397398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conformations but take longer.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762000" y="2952750"/>
            <a:ext cx="10668000" cy="1524000"/>
            <a:chOff x="762000" y="2952750"/>
            <a:chExt cx="10668000" cy="1524000"/>
          </a:xfrm>
        </p:grpSpPr>
        <p:sp>
          <p:nvSpPr>
            <p:cNvPr id="10" name="Rectangle 10"/>
            <p:cNvSpPr/>
            <p:nvPr/>
          </p:nvSpPr>
          <p:spPr>
            <a:xfrm>
              <a:off x="762000" y="2952750"/>
              <a:ext cx="10668000" cy="1524000"/>
            </a:xfrm>
            <a:prstGeom prst="roundRect">
              <a:avLst>
                <a:gd name="adj" fmla="val 8750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32332" y="3154680"/>
              <a:ext cx="246162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1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Number of Modes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564380" y="3219450"/>
              <a:ext cx="251935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b="1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Range: 1–20 | Default: 9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33856" y="3663315"/>
              <a:ext cx="56578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Number of binding poses returned per ligand.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33856" y="3996690"/>
              <a:ext cx="73587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More modes help identify alternative binding orientations.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762000" y="4667250"/>
            <a:ext cx="10668000" cy="1524000"/>
            <a:chOff x="762000" y="4667250"/>
            <a:chExt cx="10668000" cy="1524000"/>
          </a:xfrm>
        </p:grpSpPr>
        <p:sp>
          <p:nvSpPr>
            <p:cNvPr id="16" name="Rectangle 16"/>
            <p:cNvSpPr/>
            <p:nvPr/>
          </p:nvSpPr>
          <p:spPr>
            <a:xfrm>
              <a:off x="762000" y="4667250"/>
              <a:ext cx="10668000" cy="1524000"/>
            </a:xfrm>
            <a:prstGeom prst="roundRect">
              <a:avLst>
                <a:gd name="adj" fmla="val 8750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132332" y="4869180"/>
              <a:ext cx="192565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1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Energy Range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802380" y="4933950"/>
              <a:ext cx="274624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b="1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Unit: kcal/mol | Default: 3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133856" y="5377815"/>
              <a:ext cx="594112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Maximum score difference from the best pose.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33856" y="5711190"/>
              <a:ext cx="631098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Wider range returns more diverse conformations.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755142" y="6474142"/>
            <a:ext cx="2222378" cy="264033"/>
            <a:chOff x="755142" y="6474142"/>
            <a:chExt cx="2222378" cy="264033"/>
          </a:xfrm>
        </p:grpSpPr>
        <p:sp>
          <p:nvSpPr>
            <p:cNvPr id="22" name="TextBox 22"/>
            <p:cNvSpPr txBox="1"/>
            <p:nvPr/>
          </p:nvSpPr>
          <p:spPr>
            <a:xfrm>
              <a:off x="755142" y="6474142"/>
              <a:ext cx="22223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Results in 1–10 minutes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0" y="6619875"/>
            <a:ext cx="12192000" cy="238125"/>
            <a:chOff x="0" y="6619875"/>
            <a:chExt cx="12192000" cy="238125"/>
          </a:xfrm>
        </p:grpSpPr>
        <p:sp>
          <p:nvSpPr>
            <p:cNvPr id="24" name="Rectangle 24"/>
            <p:cNvSpPr/>
            <p:nvPr/>
          </p:nvSpPr>
          <p:spPr>
            <a:xfrm>
              <a:off x="0" y="6619875"/>
              <a:ext cx="12192000" cy="238125"/>
            </a:xfrm>
            <a:prstGeom prst="rect">
              <a:avLst/>
            </a:prstGeom>
            <a:solidFill>
              <a:srgbClr val="0D0F24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203998" y="6692741"/>
              <a:ext cx="378400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dirty="0">
                  <a:solidFill>
                    <a:srgbClr val="7A85A8"/>
                  </a:solidFill>
                  <a:latin typeface="+mj-lt"/>
                  <a:ea typeface="+mj-ea"/>
                  <a:cs typeface="+mj-cs"/>
                </a:rPr>
                <a:t>BioDockify — Building the Future of AI-Driven Pharmaceutical Research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745998" y="402908"/>
            <a:ext cx="6261480" cy="616077"/>
            <a:chOff x="745998" y="402908"/>
            <a:chExt cx="6261480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745998" y="402908"/>
              <a:ext cx="626148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Interpreting Docking Results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62000" y="1143000"/>
            <a:ext cx="5905500" cy="4953000"/>
            <a:chOff x="762000" y="1143000"/>
            <a:chExt cx="5905500" cy="4953000"/>
          </a:xfrm>
        </p:grpSpPr>
        <p:sp>
          <p:nvSpPr>
            <p:cNvPr id="4" name="Rectangle 4"/>
            <p:cNvSpPr/>
            <p:nvPr/>
          </p:nvSpPr>
          <p:spPr>
            <a:xfrm>
              <a:off x="762000" y="1143000"/>
              <a:ext cx="5905500" cy="4953000"/>
            </a:xfrm>
            <a:prstGeom prst="roundRect">
              <a:avLst>
                <a:gd name="adj" fmla="val 2692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2456359" y="1378268"/>
              <a:ext cx="25167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b="1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Binding Affinity (kcal/mol)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1333500" y="5524500"/>
              <a:ext cx="4857750" cy="9525"/>
            </a:xfrm>
            <a:custGeom>
              <a:avLst/>
              <a:gdLst/>
              <a:ahLst/>
              <a:cxnLst/>
              <a:rect l="l" t="t" r="r" b="b"/>
              <a:pathLst>
                <a:path w="4857750" h="9525">
                  <a:moveTo>
                    <a:pt x="0" y="0"/>
                  </a:moveTo>
                  <a:lnTo>
                    <a:pt x="4857750" y="0"/>
                  </a:lnTo>
                </a:path>
              </a:pathLst>
            </a:custGeom>
            <a:noFill/>
            <a:ln w="9525">
              <a:solidFill>
                <a:schemeClr val="accent3"/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Line 7"/>
            <p:cNvSpPr/>
            <p:nvPr/>
          </p:nvSpPr>
          <p:spPr>
            <a:xfrm>
              <a:off x="1333500" y="1714500"/>
              <a:ext cx="9525" cy="3810000"/>
            </a:xfrm>
            <a:custGeom>
              <a:avLst/>
              <a:gdLst/>
              <a:ahLst/>
              <a:cxnLst/>
              <a:rect l="l" t="t" r="r" b="b"/>
              <a:pathLst>
                <a:path w="9525" h="3810000">
                  <a:moveTo>
                    <a:pt x="0" y="0"/>
                  </a:moveTo>
                  <a:lnTo>
                    <a:pt x="0" y="3810000"/>
                  </a:lnTo>
                </a:path>
              </a:pathLst>
            </a:custGeom>
            <a:noFill/>
            <a:ln w="9525">
              <a:solidFill>
                <a:schemeClr val="accent3"/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Rectangle 8"/>
            <p:cNvSpPr/>
            <p:nvPr/>
          </p:nvSpPr>
          <p:spPr>
            <a:xfrm>
              <a:off x="1714500" y="2667000"/>
              <a:ext cx="571500" cy="2857500"/>
            </a:xfrm>
            <a:prstGeom prst="roundRect">
              <a:avLst>
                <a:gd name="adj" fmla="val 6667"/>
              </a:avLst>
            </a:prstGeom>
            <a:solidFill>
              <a:schemeClr val="accent3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Rectangle 9"/>
            <p:cNvSpPr/>
            <p:nvPr/>
          </p:nvSpPr>
          <p:spPr>
            <a:xfrm>
              <a:off x="2571750" y="2095500"/>
              <a:ext cx="571500" cy="3429000"/>
            </a:xfrm>
            <a:prstGeom prst="roundRect">
              <a:avLst>
                <a:gd name="adj" fmla="val 6667"/>
              </a:avLst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Rectangle 10"/>
            <p:cNvSpPr/>
            <p:nvPr/>
          </p:nvSpPr>
          <p:spPr>
            <a:xfrm>
              <a:off x="3429000" y="3048000"/>
              <a:ext cx="571500" cy="2476500"/>
            </a:xfrm>
            <a:prstGeom prst="roundRect">
              <a:avLst>
                <a:gd name="adj" fmla="val 6667"/>
              </a:avLst>
            </a:prstGeom>
            <a:solidFill>
              <a:schemeClr val="accent3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Rectangle 11"/>
            <p:cNvSpPr/>
            <p:nvPr/>
          </p:nvSpPr>
          <p:spPr>
            <a:xfrm>
              <a:off x="4286250" y="3619500"/>
              <a:ext cx="571500" cy="1905000"/>
            </a:xfrm>
            <a:prstGeom prst="roundRect">
              <a:avLst>
                <a:gd name="adj" fmla="val 6667"/>
              </a:avLst>
            </a:prstGeom>
            <a:solidFill>
              <a:schemeClr val="accent3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143500" y="3333750"/>
              <a:ext cx="571500" cy="2190750"/>
            </a:xfrm>
            <a:prstGeom prst="roundRect">
              <a:avLst>
                <a:gd name="adj" fmla="val 6667"/>
              </a:avLst>
            </a:prstGeom>
            <a:solidFill>
              <a:schemeClr val="accent3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Rectangle 13"/>
            <p:cNvSpPr/>
            <p:nvPr/>
          </p:nvSpPr>
          <p:spPr>
            <a:xfrm>
              <a:off x="6000750" y="4000500"/>
              <a:ext cx="571500" cy="1524000"/>
            </a:xfrm>
            <a:prstGeom prst="roundRect">
              <a:avLst>
                <a:gd name="adj" fmla="val 6667"/>
              </a:avLst>
            </a:prstGeom>
            <a:solidFill>
              <a:schemeClr val="accent3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912772" y="5696902"/>
              <a:ext cx="1749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050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L1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770022" y="5696902"/>
              <a:ext cx="1749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0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L2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627272" y="5696902"/>
              <a:ext cx="1749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050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L3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484522" y="5696902"/>
              <a:ext cx="1749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050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L4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341772" y="5696902"/>
              <a:ext cx="1749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050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L5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199022" y="5696902"/>
              <a:ext cx="1749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050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L6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7048500" y="1238250"/>
            <a:ext cx="4572000" cy="1047750"/>
            <a:chOff x="7048500" y="1238250"/>
            <a:chExt cx="4572000" cy="1047750"/>
          </a:xfrm>
        </p:grpSpPr>
        <p:sp>
          <p:nvSpPr>
            <p:cNvPr id="21" name="Rectangle 21"/>
            <p:cNvSpPr/>
            <p:nvPr/>
          </p:nvSpPr>
          <p:spPr>
            <a:xfrm>
              <a:off x="7048500" y="1238250"/>
              <a:ext cx="4572000" cy="1047750"/>
            </a:xfrm>
            <a:prstGeom prst="roundRect">
              <a:avLst>
                <a:gd name="adj" fmla="val 12727"/>
              </a:avLst>
            </a:prstGeom>
            <a:solidFill>
              <a:srgbClr val="1A3D2A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420356" y="1443990"/>
              <a:ext cx="115763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800" b="1" dirty="0">
                  <a:solidFill>
                    <a:srgbClr val="4ADE80"/>
                  </a:solidFill>
                  <a:latin typeface="+mj-lt"/>
                  <a:ea typeface="+mj-ea"/>
                  <a:cs typeface="+mj-cs"/>
                </a:rPr>
                <a:t>Excellent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421118" y="1822132"/>
              <a:ext cx="176524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&lt; –9.0 kcal/mol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7048500" y="2476500"/>
            <a:ext cx="4572000" cy="1047750"/>
            <a:chOff x="7048500" y="2476500"/>
            <a:chExt cx="4572000" cy="1047750"/>
          </a:xfrm>
        </p:grpSpPr>
        <p:sp>
          <p:nvSpPr>
            <p:cNvPr id="25" name="Rectangle 25"/>
            <p:cNvSpPr/>
            <p:nvPr/>
          </p:nvSpPr>
          <p:spPr>
            <a:xfrm>
              <a:off x="7048500" y="2476500"/>
              <a:ext cx="4572000" cy="1047750"/>
            </a:xfrm>
            <a:prstGeom prst="roundRect">
              <a:avLst>
                <a:gd name="adj" fmla="val 12727"/>
              </a:avLst>
            </a:prstGeom>
            <a:solidFill>
              <a:srgbClr val="1A2D4A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420356" y="2682240"/>
              <a:ext cx="58595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800" b="1" dirty="0">
                  <a:solidFill>
                    <a:srgbClr val="60A5FA"/>
                  </a:solidFill>
                  <a:latin typeface="+mj-lt"/>
                  <a:ea typeface="+mj-ea"/>
                  <a:cs typeface="+mj-cs"/>
                </a:rPr>
                <a:t>Good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421118" y="3060382"/>
              <a:ext cx="248107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–7.0 to –9.0 kcal/mol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7048500" y="3714750"/>
            <a:ext cx="4572000" cy="1047750"/>
            <a:chOff x="7048500" y="3714750"/>
            <a:chExt cx="4572000" cy="1047750"/>
          </a:xfrm>
        </p:grpSpPr>
        <p:sp>
          <p:nvSpPr>
            <p:cNvPr id="29" name="Rectangle 29"/>
            <p:cNvSpPr/>
            <p:nvPr/>
          </p:nvSpPr>
          <p:spPr>
            <a:xfrm>
              <a:off x="7048500" y="3714750"/>
              <a:ext cx="4572000" cy="1047750"/>
            </a:xfrm>
            <a:prstGeom prst="roundRect">
              <a:avLst>
                <a:gd name="adj" fmla="val 12727"/>
              </a:avLst>
            </a:prstGeom>
            <a:solidFill>
              <a:srgbClr val="3D3320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420356" y="3920490"/>
              <a:ext cx="119695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800" b="1" dirty="0">
                  <a:solidFill>
                    <a:srgbClr val="FBBF24"/>
                  </a:solidFill>
                  <a:latin typeface="+mj-lt"/>
                  <a:ea typeface="+mj-ea"/>
                  <a:cs typeface="+mj-cs"/>
                </a:rPr>
                <a:t>Moderate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421118" y="4298632"/>
              <a:ext cx="248107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–5.0 to –7.0 kcal/mol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7048500" y="4953000"/>
            <a:ext cx="4572000" cy="1047750"/>
            <a:chOff x="7048500" y="4953000"/>
            <a:chExt cx="4572000" cy="1047750"/>
          </a:xfrm>
        </p:grpSpPr>
        <p:sp>
          <p:nvSpPr>
            <p:cNvPr id="33" name="Rectangle 33"/>
            <p:cNvSpPr/>
            <p:nvPr/>
          </p:nvSpPr>
          <p:spPr>
            <a:xfrm>
              <a:off x="7048500" y="4953000"/>
              <a:ext cx="4572000" cy="1047750"/>
            </a:xfrm>
            <a:prstGeom prst="roundRect">
              <a:avLst>
                <a:gd name="adj" fmla="val 12727"/>
              </a:avLst>
            </a:prstGeom>
            <a:solidFill>
              <a:srgbClr val="3D1A1A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420356" y="5158740"/>
              <a:ext cx="63756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800" b="1" dirty="0">
                  <a:solidFill>
                    <a:srgbClr val="F87171"/>
                  </a:solidFill>
                  <a:latin typeface="+mj-lt"/>
                  <a:ea typeface="+mj-ea"/>
                  <a:cs typeface="+mj-cs"/>
                </a:rPr>
                <a:t>Weak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421118" y="5536882"/>
              <a:ext cx="176524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&gt; –5.0 kcal/mol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0" y="6619875"/>
            <a:ext cx="12192000" cy="238125"/>
            <a:chOff x="0" y="6619875"/>
            <a:chExt cx="12192000" cy="238125"/>
          </a:xfrm>
        </p:grpSpPr>
        <p:sp>
          <p:nvSpPr>
            <p:cNvPr id="37" name="Rectangle 37"/>
            <p:cNvSpPr/>
            <p:nvPr/>
          </p:nvSpPr>
          <p:spPr>
            <a:xfrm>
              <a:off x="0" y="6619875"/>
              <a:ext cx="12192000" cy="238125"/>
            </a:xfrm>
            <a:prstGeom prst="rect">
              <a:avLst/>
            </a:prstGeom>
            <a:solidFill>
              <a:srgbClr val="0D0F24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203998" y="6692741"/>
              <a:ext cx="378400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dirty="0">
                  <a:solidFill>
                    <a:srgbClr val="7A85A8"/>
                  </a:solidFill>
                  <a:latin typeface="+mj-lt"/>
                  <a:ea typeface="+mj-ea"/>
                  <a:cs typeface="+mj-cs"/>
                </a:rPr>
                <a:t>BioDockify — Building the Future of AI-Driven Pharmaceutical Research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endParaRPr lang="en-IN"/>
          </a:p>
        </p:txBody>
      </p:sp>
      <p:grpSp>
        <p:nvGrpSpPr>
          <p:cNvPr id="4" name="Group 4"/>
          <p:cNvGrpSpPr/>
          <p:nvPr/>
        </p:nvGrpSpPr>
        <p:grpSpPr>
          <a:xfrm>
            <a:off x="742950" y="1798320"/>
            <a:ext cx="877725" cy="1047750"/>
            <a:chOff x="742950" y="1798320"/>
            <a:chExt cx="877725" cy="1047750"/>
          </a:xfrm>
        </p:grpSpPr>
        <p:sp>
          <p:nvSpPr>
            <p:cNvPr id="3" name="TextBox 3"/>
            <p:cNvSpPr txBox="1"/>
            <p:nvPr/>
          </p:nvSpPr>
          <p:spPr>
            <a:xfrm>
              <a:off x="742950" y="1798320"/>
              <a:ext cx="877725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54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02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743712" y="2945130"/>
            <a:ext cx="4329753" cy="704088"/>
            <a:chOff x="743712" y="2945130"/>
            <a:chExt cx="4329753" cy="704088"/>
          </a:xfrm>
        </p:grpSpPr>
        <p:sp>
          <p:nvSpPr>
            <p:cNvPr id="5" name="TextBox 5"/>
            <p:cNvSpPr txBox="1"/>
            <p:nvPr/>
          </p:nvSpPr>
          <p:spPr>
            <a:xfrm>
              <a:off x="743712" y="2945130"/>
              <a:ext cx="4329753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6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ADMET Prediction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52856" y="3806190"/>
            <a:ext cx="4032398" cy="352044"/>
            <a:chOff x="752856" y="3806190"/>
            <a:chExt cx="4032398" cy="352044"/>
          </a:xfrm>
        </p:grpSpPr>
        <p:sp>
          <p:nvSpPr>
            <p:cNvPr id="7" name="TextBox 7"/>
            <p:cNvSpPr txBox="1"/>
            <p:nvPr/>
          </p:nvSpPr>
          <p:spPr>
            <a:xfrm>
              <a:off x="752856" y="3806190"/>
              <a:ext cx="403239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Will your drug survive the body?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0" y="6619875"/>
            <a:ext cx="12192000" cy="238125"/>
            <a:chOff x="0" y="6619875"/>
            <a:chExt cx="12192000" cy="238125"/>
          </a:xfrm>
        </p:grpSpPr>
        <p:sp>
          <p:nvSpPr>
            <p:cNvPr id="9" name="Rectangle 9"/>
            <p:cNvSpPr/>
            <p:nvPr/>
          </p:nvSpPr>
          <p:spPr>
            <a:xfrm>
              <a:off x="0" y="6619875"/>
              <a:ext cx="12192000" cy="238125"/>
            </a:xfrm>
            <a:prstGeom prst="rect">
              <a:avLst/>
            </a:prstGeom>
            <a:solidFill>
              <a:srgbClr val="0D0F24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203998" y="6692741"/>
              <a:ext cx="378400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dirty="0">
                  <a:solidFill>
                    <a:srgbClr val="7A85A8"/>
                  </a:solidFill>
                  <a:latin typeface="+mj-lt"/>
                  <a:ea typeface="+mj-ea"/>
                  <a:cs typeface="+mj-cs"/>
                </a:rPr>
                <a:t>BioDockify — Building the Future of AI-Driven Pharmaceutical Research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745998" y="402908"/>
            <a:ext cx="9356644" cy="616077"/>
            <a:chOff x="745998" y="402908"/>
            <a:chExt cx="9356644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745998" y="402908"/>
              <a:ext cx="9356644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ADMET Parameters Predicted by BioDockify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55142" y="1143000"/>
            <a:ext cx="1682153" cy="1867281"/>
            <a:chOff x="755142" y="1143000"/>
            <a:chExt cx="1682153" cy="1867281"/>
          </a:xfrm>
        </p:grpSpPr>
        <p:sp>
          <p:nvSpPr>
            <p:cNvPr id="4" name="Rectangle 4"/>
            <p:cNvSpPr/>
            <p:nvPr/>
          </p:nvSpPr>
          <p:spPr>
            <a:xfrm>
              <a:off x="762000" y="1143000"/>
              <a:ext cx="762000" cy="381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73772" y="1238250"/>
              <a:ext cx="1384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A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55142" y="1711642"/>
              <a:ext cx="10212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Absorption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55904" y="2108835"/>
              <a:ext cx="16002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Oral bioavailability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55904" y="2442210"/>
              <a:ext cx="168139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Caco-2 permeability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55904" y="2775585"/>
              <a:ext cx="136461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HIA (intestinal)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2945892" y="1143000"/>
            <a:ext cx="1876135" cy="2105406"/>
            <a:chOff x="2945892" y="1143000"/>
            <a:chExt cx="1876135" cy="2105406"/>
          </a:xfrm>
        </p:grpSpPr>
        <p:sp>
          <p:nvSpPr>
            <p:cNvPr id="11" name="Rectangle 11"/>
            <p:cNvSpPr/>
            <p:nvPr/>
          </p:nvSpPr>
          <p:spPr>
            <a:xfrm>
              <a:off x="2952750" y="1143000"/>
              <a:ext cx="762000" cy="3810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264522" y="1238250"/>
              <a:ext cx="1384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D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945892" y="1711642"/>
              <a:ext cx="11353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Distribution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946654" y="2108835"/>
              <a:ext cx="13957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BBB penetration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946654" y="2442210"/>
              <a:ext cx="12527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Plasma protein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946654" y="2680335"/>
              <a:ext cx="58399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binding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946654" y="3013710"/>
              <a:ext cx="187537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Volume of distribution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5136642" y="1143000"/>
            <a:ext cx="1463896" cy="1867281"/>
            <a:chOff x="5136642" y="1143000"/>
            <a:chExt cx="1463896" cy="1867281"/>
          </a:xfrm>
        </p:grpSpPr>
        <p:sp>
          <p:nvSpPr>
            <p:cNvPr id="19" name="Rectangle 19"/>
            <p:cNvSpPr/>
            <p:nvPr/>
          </p:nvSpPr>
          <p:spPr>
            <a:xfrm>
              <a:off x="5143500" y="1143000"/>
              <a:ext cx="762000" cy="381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432870" y="1238250"/>
              <a:ext cx="18326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M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136642" y="1711642"/>
              <a:ext cx="10499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Metabolism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137404" y="2108835"/>
              <a:ext cx="14631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CYP450 inhibition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137404" y="2442210"/>
              <a:ext cx="125303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CYP substrate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137404" y="2775585"/>
              <a:ext cx="122670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Half-life class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7327392" y="1143000"/>
            <a:ext cx="1262165" cy="1867281"/>
            <a:chOff x="7327392" y="1143000"/>
            <a:chExt cx="1262165" cy="1867281"/>
          </a:xfrm>
        </p:grpSpPr>
        <p:sp>
          <p:nvSpPr>
            <p:cNvPr id="26" name="Rectangle 26"/>
            <p:cNvSpPr/>
            <p:nvPr/>
          </p:nvSpPr>
          <p:spPr>
            <a:xfrm>
              <a:off x="7334250" y="1143000"/>
              <a:ext cx="762000" cy="3810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46022" y="1238250"/>
              <a:ext cx="1384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E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327392" y="1711642"/>
              <a:ext cx="9162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Excretion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328154" y="2108835"/>
              <a:ext cx="126140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Clearance rate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328154" y="2442210"/>
              <a:ext cx="9948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Renal OCT2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328154" y="2775585"/>
              <a:ext cx="8570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substrate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518142" y="1143000"/>
            <a:ext cx="1631442" cy="1867281"/>
            <a:chOff x="9518142" y="1143000"/>
            <a:chExt cx="1631442" cy="1867281"/>
          </a:xfrm>
        </p:grpSpPr>
        <p:sp>
          <p:nvSpPr>
            <p:cNvPr id="33" name="Rectangle 33"/>
            <p:cNvSpPr/>
            <p:nvPr/>
          </p:nvSpPr>
          <p:spPr>
            <a:xfrm>
              <a:off x="9525000" y="1143000"/>
              <a:ext cx="762000" cy="381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836772" y="1238250"/>
              <a:ext cx="1384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T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518142" y="1711642"/>
              <a:ext cx="76319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Toxicity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518904" y="2108835"/>
              <a:ext cx="12618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hERG inhibition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518904" y="2442210"/>
              <a:ext cx="16306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AMES mutagenicity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518904" y="2775585"/>
              <a:ext cx="12599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Hepatotoxicity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0" y="6619875"/>
            <a:ext cx="12192000" cy="238125"/>
            <a:chOff x="0" y="6619875"/>
            <a:chExt cx="12192000" cy="238125"/>
          </a:xfrm>
        </p:grpSpPr>
        <p:sp>
          <p:nvSpPr>
            <p:cNvPr id="40" name="Rectangle 40"/>
            <p:cNvSpPr/>
            <p:nvPr/>
          </p:nvSpPr>
          <p:spPr>
            <a:xfrm>
              <a:off x="0" y="6619875"/>
              <a:ext cx="12192000" cy="238125"/>
            </a:xfrm>
            <a:prstGeom prst="rect">
              <a:avLst/>
            </a:prstGeom>
            <a:solidFill>
              <a:srgbClr val="0D0F24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203998" y="6692741"/>
              <a:ext cx="378400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dirty="0">
                  <a:solidFill>
                    <a:srgbClr val="7A85A8"/>
                  </a:solidFill>
                  <a:latin typeface="+mj-lt"/>
                  <a:ea typeface="+mj-ea"/>
                  <a:cs typeface="+mj-cs"/>
                </a:rPr>
                <a:t>BioDockify — Building the Future of AI-Driven Pharmaceutical Research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745998" y="402908"/>
            <a:ext cx="5539293" cy="616077"/>
            <a:chOff x="745998" y="402908"/>
            <a:chExt cx="5539293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745998" y="402908"/>
              <a:ext cx="5539293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Running ADMET Prediction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62000" y="1428750"/>
            <a:ext cx="3048000" cy="3238500"/>
            <a:chOff x="762000" y="1428750"/>
            <a:chExt cx="3048000" cy="3238500"/>
          </a:xfrm>
        </p:grpSpPr>
        <p:sp>
          <p:nvSpPr>
            <p:cNvPr id="4" name="Rectangle 4"/>
            <p:cNvSpPr/>
            <p:nvPr/>
          </p:nvSpPr>
          <p:spPr>
            <a:xfrm>
              <a:off x="762000" y="1428750"/>
              <a:ext cx="3048000" cy="3238500"/>
            </a:xfrm>
            <a:prstGeom prst="roundRect">
              <a:avLst>
                <a:gd name="adj" fmla="val 4375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Rectangle 5"/>
            <p:cNvSpPr/>
            <p:nvPr/>
          </p:nvSpPr>
          <p:spPr>
            <a:xfrm>
              <a:off x="1905000" y="1809750"/>
              <a:ext cx="762000" cy="762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2180516" y="204597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4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1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187360" y="2853690"/>
              <a:ext cx="219728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8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Select Compounds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630032" y="3362325"/>
              <a:ext cx="131193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Import from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478280" y="3648075"/>
              <a:ext cx="16154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docking results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4082034" y="2851785"/>
            <a:ext cx="237338" cy="528066"/>
            <a:chOff x="4082034" y="2851785"/>
            <a:chExt cx="237338" cy="528066"/>
          </a:xfrm>
        </p:grpSpPr>
        <p:sp>
          <p:nvSpPr>
            <p:cNvPr id="11" name="TextBox 11"/>
            <p:cNvSpPr txBox="1"/>
            <p:nvPr/>
          </p:nvSpPr>
          <p:spPr>
            <a:xfrm>
              <a:off x="4082034" y="2851785"/>
              <a:ext cx="237338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7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→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4572000" y="1428750"/>
            <a:ext cx="3048000" cy="3238500"/>
            <a:chOff x="4572000" y="1428750"/>
            <a:chExt cx="3048000" cy="3238500"/>
          </a:xfrm>
        </p:grpSpPr>
        <p:sp>
          <p:nvSpPr>
            <p:cNvPr id="13" name="Rectangle 13"/>
            <p:cNvSpPr/>
            <p:nvPr/>
          </p:nvSpPr>
          <p:spPr>
            <a:xfrm>
              <a:off x="4572000" y="1428750"/>
              <a:ext cx="3048000" cy="3238500"/>
            </a:xfrm>
            <a:prstGeom prst="roundRect">
              <a:avLst>
                <a:gd name="adj" fmla="val 4375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715000" y="1809750"/>
              <a:ext cx="762000" cy="7620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990516" y="204597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4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022995" y="2853690"/>
              <a:ext cx="214601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8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Choose Endpoints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337741" y="3362325"/>
              <a:ext cx="151651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Select ADMET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528310" y="3648075"/>
              <a:ext cx="11353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properties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7892034" y="2851785"/>
            <a:ext cx="237338" cy="528066"/>
            <a:chOff x="7892034" y="2851785"/>
            <a:chExt cx="237338" cy="528066"/>
          </a:xfrm>
        </p:grpSpPr>
        <p:sp>
          <p:nvSpPr>
            <p:cNvPr id="20" name="TextBox 20"/>
            <p:cNvSpPr txBox="1"/>
            <p:nvPr/>
          </p:nvSpPr>
          <p:spPr>
            <a:xfrm>
              <a:off x="7892034" y="2851785"/>
              <a:ext cx="237338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7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→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8382000" y="1428750"/>
            <a:ext cx="3048000" cy="3238500"/>
            <a:chOff x="8382000" y="1428750"/>
            <a:chExt cx="3048000" cy="3238500"/>
          </a:xfrm>
        </p:grpSpPr>
        <p:sp>
          <p:nvSpPr>
            <p:cNvPr id="22" name="Rectangle 22"/>
            <p:cNvSpPr/>
            <p:nvPr/>
          </p:nvSpPr>
          <p:spPr>
            <a:xfrm>
              <a:off x="8382000" y="1428750"/>
              <a:ext cx="3048000" cy="3238500"/>
            </a:xfrm>
            <a:prstGeom prst="roundRect">
              <a:avLst>
                <a:gd name="adj" fmla="val 4375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Rectangle 23"/>
            <p:cNvSpPr/>
            <p:nvPr/>
          </p:nvSpPr>
          <p:spPr>
            <a:xfrm>
              <a:off x="9525000" y="1809750"/>
              <a:ext cx="762000" cy="762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800516" y="204597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4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3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870899" y="2853690"/>
              <a:ext cx="207020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8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Generate Report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877910" y="3362325"/>
              <a:ext cx="205618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ML models predict;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935564" y="3648075"/>
              <a:ext cx="194087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CSV + radar chart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3392119" y="5425440"/>
            <a:ext cx="5407762" cy="352044"/>
            <a:chOff x="3392119" y="5425440"/>
            <a:chExt cx="5407762" cy="352044"/>
          </a:xfrm>
        </p:grpSpPr>
        <p:sp>
          <p:nvSpPr>
            <p:cNvPr id="29" name="TextBox 29"/>
            <p:cNvSpPr txBox="1"/>
            <p:nvPr/>
          </p:nvSpPr>
          <p:spPr>
            <a:xfrm>
              <a:off x="3392119" y="5425440"/>
              <a:ext cx="54077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100 compounds profiled in under 60 seconds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0" y="6619875"/>
            <a:ext cx="12192000" cy="238125"/>
            <a:chOff x="0" y="6619875"/>
            <a:chExt cx="12192000" cy="238125"/>
          </a:xfrm>
        </p:grpSpPr>
        <p:sp>
          <p:nvSpPr>
            <p:cNvPr id="31" name="Rectangle 31"/>
            <p:cNvSpPr/>
            <p:nvPr/>
          </p:nvSpPr>
          <p:spPr>
            <a:xfrm>
              <a:off x="0" y="6619875"/>
              <a:ext cx="12192000" cy="238125"/>
            </a:xfrm>
            <a:prstGeom prst="rect">
              <a:avLst/>
            </a:prstGeom>
            <a:solidFill>
              <a:srgbClr val="0D0F24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203998" y="6692741"/>
              <a:ext cx="378400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dirty="0">
                  <a:solidFill>
                    <a:srgbClr val="7A85A8"/>
                  </a:solidFill>
                  <a:latin typeface="+mj-lt"/>
                  <a:ea typeface="+mj-ea"/>
                  <a:cs typeface="+mj-cs"/>
                </a:rPr>
                <a:t>BioDockify — Building the Future of AI-Driven Pharmaceutical Research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745998" y="402908"/>
            <a:ext cx="5934290" cy="616077"/>
            <a:chOff x="745998" y="402908"/>
            <a:chExt cx="5934290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745998" y="402908"/>
              <a:ext cx="593429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Reading Your ADMET Profile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762000" y="1047750"/>
            <a:ext cx="5905500" cy="5334000"/>
            <a:chOff x="762000" y="1047750"/>
            <a:chExt cx="5905500" cy="5334000"/>
          </a:xfrm>
        </p:grpSpPr>
        <p:sp>
          <p:nvSpPr>
            <p:cNvPr id="4" name="Rectangle 4"/>
            <p:cNvSpPr/>
            <p:nvPr/>
          </p:nvSpPr>
          <p:spPr>
            <a:xfrm>
              <a:off x="762000" y="1047750"/>
              <a:ext cx="5905500" cy="5334000"/>
            </a:xfrm>
            <a:prstGeom prst="roundRect">
              <a:avLst>
                <a:gd name="adj" fmla="val 2500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Polygon 5"/>
            <p:cNvSpPr/>
            <p:nvPr/>
          </p:nvSpPr>
          <p:spPr>
            <a:xfrm>
              <a:off x="2286000" y="1714500"/>
              <a:ext cx="2857500" cy="3238500"/>
            </a:xfrm>
            <a:custGeom>
              <a:avLst/>
              <a:gdLst/>
              <a:ahLst/>
              <a:cxnLst/>
              <a:rect l="l" t="t" r="r" b="b"/>
              <a:pathLst>
                <a:path w="2857500" h="3238500">
                  <a:moveTo>
                    <a:pt x="1428750" y="0"/>
                  </a:moveTo>
                  <a:lnTo>
                    <a:pt x="2857500" y="857250"/>
                  </a:lnTo>
                  <a:lnTo>
                    <a:pt x="2857500" y="2381250"/>
                  </a:lnTo>
                  <a:lnTo>
                    <a:pt x="1428750" y="3238500"/>
                  </a:lnTo>
                  <a:lnTo>
                    <a:pt x="0" y="2381250"/>
                  </a:lnTo>
                  <a:lnTo>
                    <a:pt x="0" y="857250"/>
                  </a:lnTo>
                  <a:close/>
                </a:path>
              </a:pathLst>
            </a:custGeom>
            <a:noFill/>
            <a:ln w="9525">
              <a:solidFill>
                <a:schemeClr val="accent3">
                  <a:alpha val="30000"/>
                </a:schemeClr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Polygon 6"/>
            <p:cNvSpPr/>
            <p:nvPr/>
          </p:nvSpPr>
          <p:spPr>
            <a:xfrm>
              <a:off x="2571750" y="2095500"/>
              <a:ext cx="2286000" cy="2476500"/>
            </a:xfrm>
            <a:custGeom>
              <a:avLst/>
              <a:gdLst/>
              <a:ahLst/>
              <a:cxnLst/>
              <a:rect l="l" t="t" r="r" b="b"/>
              <a:pathLst>
                <a:path w="2286000" h="2476500">
                  <a:moveTo>
                    <a:pt x="1143000" y="0"/>
                  </a:moveTo>
                  <a:lnTo>
                    <a:pt x="2286000" y="666750"/>
                  </a:lnTo>
                  <a:lnTo>
                    <a:pt x="2286000" y="1714500"/>
                  </a:lnTo>
                  <a:lnTo>
                    <a:pt x="1143000" y="2476500"/>
                  </a:lnTo>
                  <a:lnTo>
                    <a:pt x="0" y="1714500"/>
                  </a:lnTo>
                  <a:lnTo>
                    <a:pt x="0" y="666750"/>
                  </a:lnTo>
                  <a:close/>
                </a:path>
              </a:pathLst>
            </a:custGeom>
            <a:noFill/>
            <a:ln w="9525">
              <a:solidFill>
                <a:schemeClr val="accent3">
                  <a:alpha val="20000"/>
                </a:schemeClr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Polygon 7"/>
            <p:cNvSpPr/>
            <p:nvPr/>
          </p:nvSpPr>
          <p:spPr>
            <a:xfrm>
              <a:off x="2857500" y="2476500"/>
              <a:ext cx="1714500" cy="1714500"/>
            </a:xfrm>
            <a:custGeom>
              <a:avLst/>
              <a:gdLst/>
              <a:ahLst/>
              <a:cxnLst/>
              <a:rect l="l" t="t" r="r" b="b"/>
              <a:pathLst>
                <a:path w="1714500" h="1714500">
                  <a:moveTo>
                    <a:pt x="857250" y="0"/>
                  </a:moveTo>
                  <a:lnTo>
                    <a:pt x="1714500" y="476250"/>
                  </a:lnTo>
                  <a:lnTo>
                    <a:pt x="1714500" y="1143000"/>
                  </a:lnTo>
                  <a:lnTo>
                    <a:pt x="857250" y="1714500"/>
                  </a:lnTo>
                  <a:lnTo>
                    <a:pt x="0" y="1143000"/>
                  </a:lnTo>
                  <a:lnTo>
                    <a:pt x="0" y="476250"/>
                  </a:lnTo>
                  <a:close/>
                </a:path>
              </a:pathLst>
            </a:custGeom>
            <a:noFill/>
            <a:ln w="9525">
              <a:solidFill>
                <a:schemeClr val="accent3">
                  <a:alpha val="15000"/>
                </a:schemeClr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Polygon 8"/>
            <p:cNvSpPr/>
            <p:nvPr/>
          </p:nvSpPr>
          <p:spPr>
            <a:xfrm>
              <a:off x="2476500" y="2000250"/>
              <a:ext cx="2476500" cy="2667000"/>
            </a:xfrm>
            <a:custGeom>
              <a:avLst/>
              <a:gdLst/>
              <a:ahLst/>
              <a:cxnLst/>
              <a:rect l="l" t="t" r="r" b="b"/>
              <a:pathLst>
                <a:path w="2476500" h="2667000">
                  <a:moveTo>
                    <a:pt x="1238250" y="0"/>
                  </a:moveTo>
                  <a:lnTo>
                    <a:pt x="2476500" y="666750"/>
                  </a:lnTo>
                  <a:lnTo>
                    <a:pt x="2286000" y="2000250"/>
                  </a:lnTo>
                  <a:lnTo>
                    <a:pt x="1238250" y="2667000"/>
                  </a:lnTo>
                  <a:lnTo>
                    <a:pt x="0" y="1905000"/>
                  </a:lnTo>
                  <a:lnTo>
                    <a:pt x="190500" y="66675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 w="19050">
              <a:solidFill>
                <a:schemeClr val="accent1"/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336269" y="1505902"/>
              <a:ext cx="7569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050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Absorption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328666" y="2458402"/>
              <a:ext cx="8414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Distribution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328666" y="4077652"/>
              <a:ext cx="7782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Metabolism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375152" y="5077778"/>
              <a:ext cx="67919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050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Excretion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534997" y="4077652"/>
              <a:ext cx="5658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" sz="1050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Toxicity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450486" y="2458402"/>
              <a:ext cx="65034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" sz="1050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Solubility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048500" y="1238250"/>
            <a:ext cx="4572000" cy="1428750"/>
            <a:chOff x="7048500" y="1238250"/>
            <a:chExt cx="4572000" cy="1428750"/>
          </a:xfrm>
        </p:grpSpPr>
        <p:sp>
          <p:nvSpPr>
            <p:cNvPr id="16" name="Rectangle 16"/>
            <p:cNvSpPr/>
            <p:nvPr/>
          </p:nvSpPr>
          <p:spPr>
            <a:xfrm>
              <a:off x="7048500" y="1238250"/>
              <a:ext cx="4572000" cy="1428750"/>
            </a:xfrm>
            <a:prstGeom prst="roundRect">
              <a:avLst>
                <a:gd name="adj" fmla="val 9333"/>
              </a:avLst>
            </a:prstGeom>
            <a:solidFill>
              <a:srgbClr val="1A3D2A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Ellipse 17"/>
            <p:cNvSpPr/>
            <p:nvPr/>
          </p:nvSpPr>
          <p:spPr>
            <a:xfrm>
              <a:off x="7315200" y="1600200"/>
              <a:ext cx="228600" cy="228600"/>
            </a:xfrm>
            <a:prstGeom prst="ellipse">
              <a:avLst/>
            </a:prstGeom>
            <a:solidFill>
              <a:srgbClr val="4ADE80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706106" y="1586865"/>
              <a:ext cx="173782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800" b="1" dirty="0">
                  <a:solidFill>
                    <a:srgbClr val="4ADE80"/>
                  </a:solidFill>
                  <a:latin typeface="+mj-lt"/>
                  <a:ea typeface="+mj-ea"/>
                  <a:cs typeface="+mj-cs"/>
                </a:rPr>
                <a:t>All Acceptable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421118" y="2060258"/>
              <a:ext cx="294351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Advance to MD simulation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7048500" y="2952750"/>
            <a:ext cx="4572000" cy="1428750"/>
            <a:chOff x="7048500" y="2952750"/>
            <a:chExt cx="4572000" cy="1428750"/>
          </a:xfrm>
        </p:grpSpPr>
        <p:sp>
          <p:nvSpPr>
            <p:cNvPr id="21" name="Rectangle 21"/>
            <p:cNvSpPr/>
            <p:nvPr/>
          </p:nvSpPr>
          <p:spPr>
            <a:xfrm>
              <a:off x="7048500" y="2952750"/>
              <a:ext cx="4572000" cy="1428750"/>
            </a:xfrm>
            <a:prstGeom prst="roundRect">
              <a:avLst>
                <a:gd name="adj" fmla="val 9333"/>
              </a:avLst>
            </a:prstGeom>
            <a:solidFill>
              <a:srgbClr val="3D3320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Ellipse 22"/>
            <p:cNvSpPr/>
            <p:nvPr/>
          </p:nvSpPr>
          <p:spPr>
            <a:xfrm>
              <a:off x="7315200" y="3314700"/>
              <a:ext cx="228600" cy="228600"/>
            </a:xfrm>
            <a:prstGeom prst="ellipse">
              <a:avLst/>
            </a:prstGeom>
            <a:solidFill>
              <a:srgbClr val="FBBF24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706106" y="3301365"/>
              <a:ext cx="156849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800" b="1" dirty="0">
                  <a:solidFill>
                    <a:srgbClr val="FBBF24"/>
                  </a:solidFill>
                  <a:latin typeface="+mj-lt"/>
                  <a:ea typeface="+mj-ea"/>
                  <a:cs typeface="+mj-cs"/>
                </a:rPr>
                <a:t>1–2 Marginal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421118" y="3774758"/>
              <a:ext cx="250747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Consider modification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7048500" y="4667250"/>
            <a:ext cx="4572000" cy="1428750"/>
            <a:chOff x="7048500" y="4667250"/>
            <a:chExt cx="4572000" cy="1428750"/>
          </a:xfrm>
        </p:grpSpPr>
        <p:sp>
          <p:nvSpPr>
            <p:cNvPr id="26" name="Rectangle 26"/>
            <p:cNvSpPr/>
            <p:nvPr/>
          </p:nvSpPr>
          <p:spPr>
            <a:xfrm>
              <a:off x="7048500" y="4667250"/>
              <a:ext cx="4572000" cy="1428750"/>
            </a:xfrm>
            <a:prstGeom prst="roundRect">
              <a:avLst>
                <a:gd name="adj" fmla="val 9333"/>
              </a:avLst>
            </a:prstGeom>
            <a:solidFill>
              <a:srgbClr val="3D1A1A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Ellipse 27"/>
            <p:cNvSpPr/>
            <p:nvPr/>
          </p:nvSpPr>
          <p:spPr>
            <a:xfrm>
              <a:off x="7315200" y="5029200"/>
              <a:ext cx="228600" cy="228600"/>
            </a:xfrm>
            <a:prstGeom prst="ellipse">
              <a:avLst/>
            </a:prstGeom>
            <a:solidFill>
              <a:srgbClr val="F8717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706106" y="5015865"/>
              <a:ext cx="16736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800" b="1" dirty="0">
                  <a:solidFill>
                    <a:srgbClr val="F87171"/>
                  </a:solidFill>
                  <a:latin typeface="+mj-lt"/>
                  <a:ea typeface="+mj-ea"/>
                  <a:cs typeface="+mj-cs"/>
                </a:rPr>
                <a:t>Critical Issue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421118" y="5489258"/>
              <a:ext cx="206218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Redesign scaffold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0" y="6619875"/>
            <a:ext cx="12192000" cy="238125"/>
            <a:chOff x="0" y="6619875"/>
            <a:chExt cx="12192000" cy="238125"/>
          </a:xfrm>
        </p:grpSpPr>
        <p:sp>
          <p:nvSpPr>
            <p:cNvPr id="31" name="Rectangle 31"/>
            <p:cNvSpPr/>
            <p:nvPr/>
          </p:nvSpPr>
          <p:spPr>
            <a:xfrm>
              <a:off x="0" y="6619875"/>
              <a:ext cx="12192000" cy="238125"/>
            </a:xfrm>
            <a:prstGeom prst="rect">
              <a:avLst/>
            </a:prstGeom>
            <a:solidFill>
              <a:srgbClr val="0D0F24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203998" y="6692741"/>
              <a:ext cx="378400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dirty="0">
                  <a:solidFill>
                    <a:srgbClr val="7A85A8"/>
                  </a:solidFill>
                  <a:latin typeface="+mj-lt"/>
                  <a:ea typeface="+mj-ea"/>
                  <a:cs typeface="+mj-cs"/>
                </a:rPr>
                <a:t>BioDockify — Building the Future of AI-Driven Pharmaceutical Research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endParaRPr lang="en-IN"/>
          </a:p>
        </p:txBody>
      </p:sp>
      <p:grpSp>
        <p:nvGrpSpPr>
          <p:cNvPr id="4" name="Group 4"/>
          <p:cNvGrpSpPr/>
          <p:nvPr/>
        </p:nvGrpSpPr>
        <p:grpSpPr>
          <a:xfrm>
            <a:off x="742950" y="1798320"/>
            <a:ext cx="877725" cy="1047750"/>
            <a:chOff x="742950" y="1798320"/>
            <a:chExt cx="877725" cy="1047750"/>
          </a:xfrm>
        </p:grpSpPr>
        <p:sp>
          <p:nvSpPr>
            <p:cNvPr id="3" name="TextBox 3"/>
            <p:cNvSpPr txBox="1"/>
            <p:nvPr/>
          </p:nvSpPr>
          <p:spPr>
            <a:xfrm>
              <a:off x="742950" y="1798320"/>
              <a:ext cx="877725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54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03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743712" y="2945130"/>
            <a:ext cx="7487107" cy="704088"/>
            <a:chOff x="743712" y="2945130"/>
            <a:chExt cx="7487107" cy="704088"/>
          </a:xfrm>
        </p:grpSpPr>
        <p:sp>
          <p:nvSpPr>
            <p:cNvPr id="5" name="TextBox 5"/>
            <p:cNvSpPr txBox="1"/>
            <p:nvPr/>
          </p:nvSpPr>
          <p:spPr>
            <a:xfrm>
              <a:off x="743712" y="2945130"/>
              <a:ext cx="7487107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6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Molecular Dynamics Simulation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52856" y="3806190"/>
            <a:ext cx="2995863" cy="352044"/>
            <a:chOff x="752856" y="3806190"/>
            <a:chExt cx="2995863" cy="352044"/>
          </a:xfrm>
        </p:grpSpPr>
        <p:sp>
          <p:nvSpPr>
            <p:cNvPr id="7" name="TextBox 7"/>
            <p:cNvSpPr txBox="1"/>
            <p:nvPr/>
          </p:nvSpPr>
          <p:spPr>
            <a:xfrm>
              <a:off x="752856" y="3806190"/>
              <a:ext cx="29958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From snapshot to movie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0" y="6619875"/>
            <a:ext cx="12192000" cy="238125"/>
            <a:chOff x="0" y="6619875"/>
            <a:chExt cx="12192000" cy="238125"/>
          </a:xfrm>
        </p:grpSpPr>
        <p:sp>
          <p:nvSpPr>
            <p:cNvPr id="9" name="Rectangle 9"/>
            <p:cNvSpPr/>
            <p:nvPr/>
          </p:nvSpPr>
          <p:spPr>
            <a:xfrm>
              <a:off x="0" y="6619875"/>
              <a:ext cx="12192000" cy="238125"/>
            </a:xfrm>
            <a:prstGeom prst="rect">
              <a:avLst/>
            </a:prstGeom>
            <a:solidFill>
              <a:srgbClr val="0D0F24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203998" y="6692741"/>
              <a:ext cx="378400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dirty="0">
                  <a:solidFill>
                    <a:srgbClr val="7A85A8"/>
                  </a:solidFill>
                  <a:latin typeface="+mj-lt"/>
                  <a:ea typeface="+mj-ea"/>
                  <a:cs typeface="+mj-cs"/>
                </a:rPr>
                <a:t>BioDockify — Building the Future of AI-Driven Pharmaceutical Research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745998" y="402908"/>
            <a:ext cx="6004237" cy="616077"/>
            <a:chOff x="745998" y="402908"/>
            <a:chExt cx="6004237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745998" y="402908"/>
              <a:ext cx="6004237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Setting Up an MD Simulation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28700" y="1524000"/>
            <a:ext cx="38100" cy="4667250"/>
            <a:chOff x="1028700" y="1524000"/>
            <a:chExt cx="38100" cy="4667250"/>
          </a:xfrm>
        </p:grpSpPr>
        <p:sp>
          <p:nvSpPr>
            <p:cNvPr id="4" name="Rectangle 4"/>
            <p:cNvSpPr/>
            <p:nvPr/>
          </p:nvSpPr>
          <p:spPr>
            <a:xfrm>
              <a:off x="1028700" y="1524000"/>
              <a:ext cx="38100" cy="46672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838200" y="1294448"/>
            <a:ext cx="6267196" cy="694372"/>
            <a:chOff x="838200" y="1294448"/>
            <a:chExt cx="6267196" cy="694372"/>
          </a:xfrm>
        </p:grpSpPr>
        <p:sp>
          <p:nvSpPr>
            <p:cNvPr id="6" name="Rectangle 6"/>
            <p:cNvSpPr/>
            <p:nvPr/>
          </p:nvSpPr>
          <p:spPr>
            <a:xfrm>
              <a:off x="838200" y="1333500"/>
              <a:ext cx="419100" cy="4191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975230" y="144113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514094" y="1294448"/>
              <a:ext cx="206336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9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Import Complex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516380" y="1695450"/>
              <a:ext cx="558901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Load the protein–ligand complex from docking results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838200" y="2342198"/>
            <a:ext cx="6604635" cy="694372"/>
            <a:chOff x="838200" y="2342198"/>
            <a:chExt cx="6604635" cy="694372"/>
          </a:xfrm>
        </p:grpSpPr>
        <p:sp>
          <p:nvSpPr>
            <p:cNvPr id="11" name="Rectangle 11"/>
            <p:cNvSpPr/>
            <p:nvPr/>
          </p:nvSpPr>
          <p:spPr>
            <a:xfrm>
              <a:off x="838200" y="2381250"/>
              <a:ext cx="419100" cy="4191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75230" y="248888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2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514094" y="2342198"/>
              <a:ext cx="249899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9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Choose Force Field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516380" y="2743200"/>
              <a:ext cx="59264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AMBER ff14SB — industry standard for protein systems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838200" y="3389948"/>
            <a:ext cx="7131827" cy="694372"/>
            <a:chOff x="838200" y="3389948"/>
            <a:chExt cx="7131827" cy="694372"/>
          </a:xfrm>
        </p:grpSpPr>
        <p:sp>
          <p:nvSpPr>
            <p:cNvPr id="16" name="Rectangle 16"/>
            <p:cNvSpPr/>
            <p:nvPr/>
          </p:nvSpPr>
          <p:spPr>
            <a:xfrm>
              <a:off x="838200" y="3429000"/>
              <a:ext cx="419100" cy="4191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75230" y="353663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3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514094" y="3389948"/>
              <a:ext cx="102012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9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Solvate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516380" y="3790950"/>
              <a:ext cx="645364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Automatic — adds explicit water molecules around the complex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838200" y="4437698"/>
            <a:ext cx="6310071" cy="694372"/>
            <a:chOff x="838200" y="4437698"/>
            <a:chExt cx="6310071" cy="694372"/>
          </a:xfrm>
        </p:grpSpPr>
        <p:sp>
          <p:nvSpPr>
            <p:cNvPr id="21" name="Rectangle 21"/>
            <p:cNvSpPr/>
            <p:nvPr/>
          </p:nvSpPr>
          <p:spPr>
            <a:xfrm>
              <a:off x="838200" y="4476750"/>
              <a:ext cx="419100" cy="4191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75230" y="458438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4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514094" y="4437698"/>
              <a:ext cx="214546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9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Energy Minimize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516380" y="4838700"/>
              <a:ext cx="563189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Automatic — removes steric clashes before simulation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838200" y="5485448"/>
            <a:ext cx="5515356" cy="694372"/>
            <a:chOff x="838200" y="5485448"/>
            <a:chExt cx="5515356" cy="694372"/>
          </a:xfrm>
        </p:grpSpPr>
        <p:sp>
          <p:nvSpPr>
            <p:cNvPr id="26" name="Rectangle 26"/>
            <p:cNvSpPr/>
            <p:nvPr/>
          </p:nvSpPr>
          <p:spPr>
            <a:xfrm>
              <a:off x="838200" y="5524500"/>
              <a:ext cx="419100" cy="4191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75230" y="563213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5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514094" y="5485448"/>
              <a:ext cx="171848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9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Set Duration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516380" y="5886450"/>
              <a:ext cx="48371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1–100 ns depending on desired level of analysis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755142" y="6474142"/>
            <a:ext cx="2807077" cy="264033"/>
            <a:chOff x="755142" y="6474142"/>
            <a:chExt cx="2807077" cy="264033"/>
          </a:xfrm>
        </p:grpSpPr>
        <p:sp>
          <p:nvSpPr>
            <p:cNvPr id="31" name="TextBox 31"/>
            <p:cNvSpPr txBox="1"/>
            <p:nvPr/>
          </p:nvSpPr>
          <p:spPr>
            <a:xfrm>
              <a:off x="755142" y="6474142"/>
              <a:ext cx="28070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Steps 2–4 are pre-configured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0" y="6619875"/>
            <a:ext cx="12192000" cy="238125"/>
            <a:chOff x="0" y="6619875"/>
            <a:chExt cx="12192000" cy="238125"/>
          </a:xfrm>
        </p:grpSpPr>
        <p:sp>
          <p:nvSpPr>
            <p:cNvPr id="33" name="Rectangle 33"/>
            <p:cNvSpPr/>
            <p:nvPr/>
          </p:nvSpPr>
          <p:spPr>
            <a:xfrm>
              <a:off x="0" y="6619875"/>
              <a:ext cx="12192000" cy="238125"/>
            </a:xfrm>
            <a:prstGeom prst="rect">
              <a:avLst/>
            </a:prstGeom>
            <a:solidFill>
              <a:srgbClr val="0D0F24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203998" y="6692741"/>
              <a:ext cx="378400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dirty="0">
                  <a:solidFill>
                    <a:srgbClr val="7A85A8"/>
                  </a:solidFill>
                  <a:latin typeface="+mj-lt"/>
                  <a:ea typeface="+mj-ea"/>
                  <a:cs typeface="+mj-cs"/>
                </a:rPr>
                <a:t>BioDockify — Building the Future of AI-Driven Pharmaceutical Research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745998" y="402908"/>
            <a:ext cx="5126521" cy="616077"/>
            <a:chOff x="745998" y="402908"/>
            <a:chExt cx="5126521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745998" y="402908"/>
              <a:ext cx="5126521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Running Your Simulation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62000" y="1238250"/>
            <a:ext cx="3429000" cy="4000500"/>
            <a:chOff x="762000" y="1238250"/>
            <a:chExt cx="3429000" cy="4000500"/>
          </a:xfrm>
        </p:grpSpPr>
        <p:sp>
          <p:nvSpPr>
            <p:cNvPr id="4" name="Rectangle 4"/>
            <p:cNvSpPr/>
            <p:nvPr/>
          </p:nvSpPr>
          <p:spPr>
            <a:xfrm>
              <a:off x="762000" y="1238250"/>
              <a:ext cx="3429000" cy="4000500"/>
            </a:xfrm>
            <a:prstGeom prst="roundRect">
              <a:avLst>
                <a:gd name="adj" fmla="val 3889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Rectangle 5"/>
            <p:cNvSpPr/>
            <p:nvPr/>
          </p:nvSpPr>
          <p:spPr>
            <a:xfrm>
              <a:off x="1905000" y="1619250"/>
              <a:ext cx="762000" cy="762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2112072" y="1887855"/>
              <a:ext cx="34785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1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ns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890606" y="2599372"/>
              <a:ext cx="117178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9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Duration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026158" y="3028950"/>
              <a:ext cx="9006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1–100 ns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762141" y="3569018"/>
              <a:ext cx="142871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Quick: 5–10 ns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410740" y="3902392"/>
              <a:ext cx="21315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Publication: 50–100 ns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4476750" y="1238250"/>
            <a:ext cx="3238500" cy="4000500"/>
            <a:chOff x="4476750" y="1238250"/>
            <a:chExt cx="3238500" cy="4000500"/>
          </a:xfrm>
        </p:grpSpPr>
        <p:sp>
          <p:nvSpPr>
            <p:cNvPr id="12" name="Rectangle 12"/>
            <p:cNvSpPr/>
            <p:nvPr/>
          </p:nvSpPr>
          <p:spPr>
            <a:xfrm>
              <a:off x="4476750" y="1238250"/>
              <a:ext cx="3238500" cy="4000500"/>
            </a:xfrm>
            <a:prstGeom prst="roundRect">
              <a:avLst>
                <a:gd name="adj" fmla="val 4118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Rectangle 13"/>
            <p:cNvSpPr/>
            <p:nvPr/>
          </p:nvSpPr>
          <p:spPr>
            <a:xfrm>
              <a:off x="5524500" y="1619250"/>
              <a:ext cx="762000" cy="7620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808581" y="1887855"/>
              <a:ext cx="19383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1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K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220304" y="2599372"/>
              <a:ext cx="17513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9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Temperature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307235" y="3028950"/>
              <a:ext cx="15775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Default: 300 K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248170" y="3569018"/>
              <a:ext cx="169566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Physiological body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126536" y="3854768"/>
              <a:ext cx="19389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temperature (37°C)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8001000" y="1238250"/>
            <a:ext cx="3429000" cy="4000500"/>
            <a:chOff x="8001000" y="1238250"/>
            <a:chExt cx="3429000" cy="4000500"/>
          </a:xfrm>
        </p:grpSpPr>
        <p:sp>
          <p:nvSpPr>
            <p:cNvPr id="20" name="Rectangle 20"/>
            <p:cNvSpPr/>
            <p:nvPr/>
          </p:nvSpPr>
          <p:spPr>
            <a:xfrm>
              <a:off x="8001000" y="1238250"/>
              <a:ext cx="3429000" cy="4000500"/>
            </a:xfrm>
            <a:prstGeom prst="roundRect">
              <a:avLst>
                <a:gd name="adj" fmla="val 3889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Rectangle 21"/>
            <p:cNvSpPr/>
            <p:nvPr/>
          </p:nvSpPr>
          <p:spPr>
            <a:xfrm>
              <a:off x="9144000" y="1619250"/>
              <a:ext cx="762000" cy="762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351072" y="1887855"/>
              <a:ext cx="34785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1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ps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566354" y="2599372"/>
              <a:ext cx="229829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9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Frame Frequency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624751" y="3028950"/>
              <a:ext cx="218149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Default: every 10 ps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900358" y="3569018"/>
              <a:ext cx="163028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Saves trajectory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642909" y="3854768"/>
              <a:ext cx="21451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snapshots for analysis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3371012" y="5727382"/>
            <a:ext cx="5449976" cy="322707"/>
            <a:chOff x="3371012" y="5727382"/>
            <a:chExt cx="5449976" cy="322707"/>
          </a:xfrm>
        </p:grpSpPr>
        <p:sp>
          <p:nvSpPr>
            <p:cNvPr id="28" name="TextBox 28"/>
            <p:cNvSpPr txBox="1"/>
            <p:nvPr/>
          </p:nvSpPr>
          <p:spPr>
            <a:xfrm>
              <a:off x="3371012" y="5727382"/>
              <a:ext cx="544997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10 ns simulation: ~15–30 minutes cloud compute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0" y="6619875"/>
            <a:ext cx="12192000" cy="238125"/>
            <a:chOff x="0" y="6619875"/>
            <a:chExt cx="12192000" cy="238125"/>
          </a:xfrm>
        </p:grpSpPr>
        <p:sp>
          <p:nvSpPr>
            <p:cNvPr id="30" name="Rectangle 30"/>
            <p:cNvSpPr/>
            <p:nvPr/>
          </p:nvSpPr>
          <p:spPr>
            <a:xfrm>
              <a:off x="0" y="6619875"/>
              <a:ext cx="12192000" cy="238125"/>
            </a:xfrm>
            <a:prstGeom prst="rect">
              <a:avLst/>
            </a:prstGeom>
            <a:solidFill>
              <a:srgbClr val="0D0F24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203998" y="6692741"/>
              <a:ext cx="378400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dirty="0">
                  <a:solidFill>
                    <a:srgbClr val="7A85A8"/>
                  </a:solidFill>
                  <a:latin typeface="+mj-lt"/>
                  <a:ea typeface="+mj-ea"/>
                  <a:cs typeface="+mj-cs"/>
                </a:rPr>
                <a:t>BioDockify — Building the Future of AI-Driven Pharmaceutical Research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745998" y="402908"/>
            <a:ext cx="8169756" cy="616077"/>
            <a:chOff x="745998" y="402908"/>
            <a:chExt cx="8169756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745998" y="402908"/>
              <a:ext cx="816975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Analyzing MD Results — RMSD &amp; Beyond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762000" y="1047750"/>
            <a:ext cx="5917806" cy="5334000"/>
            <a:chOff x="762000" y="1047750"/>
            <a:chExt cx="5917806" cy="5334000"/>
          </a:xfrm>
        </p:grpSpPr>
        <p:sp>
          <p:nvSpPr>
            <p:cNvPr id="4" name="Rectangle 4"/>
            <p:cNvSpPr/>
            <p:nvPr/>
          </p:nvSpPr>
          <p:spPr>
            <a:xfrm>
              <a:off x="762000" y="1047750"/>
              <a:ext cx="5905500" cy="5334000"/>
            </a:xfrm>
            <a:prstGeom prst="roundRect">
              <a:avLst>
                <a:gd name="adj" fmla="val 2500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2967144" y="1283018"/>
              <a:ext cx="14952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b="1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RMSD Over Time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1333500" y="5524500"/>
              <a:ext cx="4857750" cy="9525"/>
            </a:xfrm>
            <a:custGeom>
              <a:avLst/>
              <a:gdLst/>
              <a:ahLst/>
              <a:cxnLst/>
              <a:rect l="l" t="t" r="r" b="b"/>
              <a:pathLst>
                <a:path w="4857750" h="9525">
                  <a:moveTo>
                    <a:pt x="0" y="0"/>
                  </a:moveTo>
                  <a:lnTo>
                    <a:pt x="4857750" y="0"/>
                  </a:lnTo>
                </a:path>
              </a:pathLst>
            </a:custGeom>
            <a:noFill/>
            <a:ln w="9525">
              <a:solidFill>
                <a:schemeClr val="accent3"/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Line 7"/>
            <p:cNvSpPr/>
            <p:nvPr/>
          </p:nvSpPr>
          <p:spPr>
            <a:xfrm>
              <a:off x="1333500" y="1714500"/>
              <a:ext cx="9525" cy="3810000"/>
            </a:xfrm>
            <a:custGeom>
              <a:avLst/>
              <a:gdLst/>
              <a:ahLst/>
              <a:cxnLst/>
              <a:rect l="l" t="t" r="r" b="b"/>
              <a:pathLst>
                <a:path w="9525" h="3810000">
                  <a:moveTo>
                    <a:pt x="0" y="0"/>
                  </a:moveTo>
                  <a:lnTo>
                    <a:pt x="0" y="3810000"/>
                  </a:lnTo>
                </a:path>
              </a:pathLst>
            </a:custGeom>
            <a:noFill/>
            <a:ln w="9525">
              <a:solidFill>
                <a:schemeClr val="accent3"/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3425300" y="5744528"/>
              <a:ext cx="6741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050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Time (ns)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 rot="-5400000">
              <a:off x="849782" y="3516821"/>
              <a:ext cx="6603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050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RMSD (Å)</a:t>
              </a:r>
            </a:p>
          </p:txBody>
        </p:sp>
        <p:sp>
          <p:nvSpPr>
            <p:cNvPr id="10" name="Polyline 10"/>
            <p:cNvSpPr/>
            <p:nvPr/>
          </p:nvSpPr>
          <p:spPr>
            <a:xfrm>
              <a:off x="1524000" y="2514600"/>
              <a:ext cx="4572000" cy="2819400"/>
            </a:xfrm>
            <a:custGeom>
              <a:avLst/>
              <a:gdLst/>
              <a:ahLst/>
              <a:cxnLst/>
              <a:rect l="l" t="t" r="r" b="b"/>
              <a:pathLst>
                <a:path w="4572000" h="2819400">
                  <a:moveTo>
                    <a:pt x="0" y="2819400"/>
                  </a:moveTo>
                  <a:lnTo>
                    <a:pt x="381000" y="2057400"/>
                  </a:lnTo>
                  <a:lnTo>
                    <a:pt x="857250" y="1295400"/>
                  </a:lnTo>
                  <a:lnTo>
                    <a:pt x="1333500" y="723900"/>
                  </a:lnTo>
                  <a:lnTo>
                    <a:pt x="1809750" y="342900"/>
                  </a:lnTo>
                  <a:lnTo>
                    <a:pt x="2286000" y="152400"/>
                  </a:lnTo>
                  <a:lnTo>
                    <a:pt x="2762250" y="104775"/>
                  </a:lnTo>
                  <a:lnTo>
                    <a:pt x="3238500" y="57150"/>
                  </a:lnTo>
                  <a:lnTo>
                    <a:pt x="3714750" y="38100"/>
                  </a:lnTo>
                  <a:lnTo>
                    <a:pt x="4191000" y="9525"/>
                  </a:lnTo>
                  <a:lnTo>
                    <a:pt x="4572000" y="0"/>
                  </a:lnTo>
                </a:path>
              </a:pathLst>
            </a:custGeom>
            <a:noFill/>
            <a:ln w="28575" cap="rnd">
              <a:solidFill>
                <a:schemeClr val="accent1"/>
              </a:solidFill>
              <a:rou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Line 11"/>
            <p:cNvSpPr/>
            <p:nvPr/>
          </p:nvSpPr>
          <p:spPr>
            <a:xfrm>
              <a:off x="1333500" y="2571750"/>
              <a:ext cx="4857750" cy="9525"/>
            </a:xfrm>
            <a:custGeom>
              <a:avLst/>
              <a:gdLst/>
              <a:ahLst/>
              <a:cxnLst/>
              <a:rect l="l" t="t" r="r" b="b"/>
              <a:pathLst>
                <a:path w="4857750" h="9525">
                  <a:moveTo>
                    <a:pt x="0" y="0"/>
                  </a:moveTo>
                  <a:lnTo>
                    <a:pt x="4857750" y="0"/>
                  </a:lnTo>
                </a:path>
              </a:pathLst>
            </a:custGeom>
            <a:noFill/>
            <a:ln w="9525">
              <a:solidFill>
                <a:srgbClr val="4ADE80">
                  <a:alpha val="50000"/>
                </a:srgbClr>
              </a:solidFill>
              <a:custDash>
                <a:ds d="600000" sp="400000"/>
              </a:custDash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234112" y="2522220"/>
              <a:ext cx="4456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dirty="0">
                  <a:solidFill>
                    <a:srgbClr val="4ADE80"/>
                  </a:solidFill>
                  <a:latin typeface="+mj-lt"/>
                  <a:ea typeface="+mj-ea"/>
                  <a:cs typeface="+mj-cs"/>
                </a:rPr>
                <a:t>plateau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7048500" y="1238250"/>
            <a:ext cx="4572000" cy="1428750"/>
            <a:chOff x="7048500" y="1238250"/>
            <a:chExt cx="4572000" cy="1428750"/>
          </a:xfrm>
        </p:grpSpPr>
        <p:sp>
          <p:nvSpPr>
            <p:cNvPr id="14" name="Rectangle 14"/>
            <p:cNvSpPr/>
            <p:nvPr/>
          </p:nvSpPr>
          <p:spPr>
            <a:xfrm>
              <a:off x="7048500" y="1238250"/>
              <a:ext cx="4572000" cy="1428750"/>
            </a:xfrm>
            <a:prstGeom prst="roundRect">
              <a:avLst>
                <a:gd name="adj" fmla="val 9333"/>
              </a:avLst>
            </a:prstGeom>
            <a:solidFill>
              <a:srgbClr val="1A3D2A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421118" y="1488758"/>
              <a:ext cx="123659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b="1" dirty="0">
                  <a:solidFill>
                    <a:srgbClr val="4ADE80"/>
                  </a:solidFill>
                  <a:latin typeface="+mj-lt"/>
                  <a:ea typeface="+mj-ea"/>
                  <a:cs typeface="+mj-cs"/>
                </a:rPr>
                <a:t>RMSD &lt; 2 Å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421118" y="1917382"/>
              <a:ext cx="19252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Stable complex —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421118" y="2250758"/>
              <a:ext cx="202341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binding confirmed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7048500" y="2952750"/>
            <a:ext cx="4572000" cy="1428750"/>
            <a:chOff x="7048500" y="2952750"/>
            <a:chExt cx="4572000" cy="1428750"/>
          </a:xfrm>
        </p:grpSpPr>
        <p:sp>
          <p:nvSpPr>
            <p:cNvPr id="19" name="Rectangle 19"/>
            <p:cNvSpPr/>
            <p:nvPr/>
          </p:nvSpPr>
          <p:spPr>
            <a:xfrm>
              <a:off x="7048500" y="2952750"/>
              <a:ext cx="4572000" cy="1428750"/>
            </a:xfrm>
            <a:prstGeom prst="roundRect">
              <a:avLst>
                <a:gd name="adj" fmla="val 9333"/>
              </a:avLst>
            </a:prstGeom>
            <a:solidFill>
              <a:srgbClr val="3D3320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421118" y="3203258"/>
              <a:ext cx="129820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b="1" dirty="0">
                  <a:solidFill>
                    <a:srgbClr val="FBBF24"/>
                  </a:solidFill>
                  <a:latin typeface="+mj-lt"/>
                  <a:ea typeface="+mj-ea"/>
                  <a:cs typeface="+mj-cs"/>
                </a:rPr>
                <a:t>RMSD 2–4 Å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421118" y="3631882"/>
              <a:ext cx="228479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Partial instability —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421118" y="3965258"/>
              <a:ext cx="174178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mode may shift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7048500" y="4667250"/>
            <a:ext cx="4572000" cy="1428750"/>
            <a:chOff x="7048500" y="4667250"/>
            <a:chExt cx="4572000" cy="1428750"/>
          </a:xfrm>
        </p:grpSpPr>
        <p:sp>
          <p:nvSpPr>
            <p:cNvPr id="24" name="Rectangle 24"/>
            <p:cNvSpPr/>
            <p:nvPr/>
          </p:nvSpPr>
          <p:spPr>
            <a:xfrm>
              <a:off x="7048500" y="4667250"/>
              <a:ext cx="4572000" cy="1428750"/>
            </a:xfrm>
            <a:prstGeom prst="roundRect">
              <a:avLst>
                <a:gd name="adj" fmla="val 9333"/>
              </a:avLst>
            </a:prstGeom>
            <a:solidFill>
              <a:srgbClr val="3D1A1A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421118" y="4917758"/>
              <a:ext cx="123659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b="1" dirty="0">
                  <a:solidFill>
                    <a:srgbClr val="F87171"/>
                  </a:solidFill>
                  <a:latin typeface="+mj-lt"/>
                  <a:ea typeface="+mj-ea"/>
                  <a:cs typeface="+mj-cs"/>
                </a:rPr>
                <a:t>RMSD &gt; 4 Å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421118" y="5346382"/>
              <a:ext cx="240353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Ligand dissociating —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421118" y="5679758"/>
              <a:ext cx="143667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weak binding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0" y="6619875"/>
            <a:ext cx="12192000" cy="238125"/>
            <a:chOff x="0" y="6619875"/>
            <a:chExt cx="12192000" cy="238125"/>
          </a:xfrm>
        </p:grpSpPr>
        <p:sp>
          <p:nvSpPr>
            <p:cNvPr id="29" name="Rectangle 29"/>
            <p:cNvSpPr/>
            <p:nvPr/>
          </p:nvSpPr>
          <p:spPr>
            <a:xfrm>
              <a:off x="0" y="6619875"/>
              <a:ext cx="12192000" cy="238125"/>
            </a:xfrm>
            <a:prstGeom prst="rect">
              <a:avLst/>
            </a:prstGeom>
            <a:solidFill>
              <a:srgbClr val="0D0F24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203998" y="6692741"/>
              <a:ext cx="378400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dirty="0">
                  <a:solidFill>
                    <a:srgbClr val="7A85A8"/>
                  </a:solidFill>
                  <a:latin typeface="+mj-lt"/>
                  <a:ea typeface="+mj-ea"/>
                  <a:cs typeface="+mj-cs"/>
                </a:rPr>
                <a:t>BioDockify — Building the Future of AI-Driven Pharmaceutical Research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endParaRPr lang="en-IN"/>
          </a:p>
        </p:txBody>
      </p:sp>
      <p:grpSp>
        <p:nvGrpSpPr>
          <p:cNvPr id="4" name="Group 4"/>
          <p:cNvGrpSpPr/>
          <p:nvPr/>
        </p:nvGrpSpPr>
        <p:grpSpPr>
          <a:xfrm>
            <a:off x="742950" y="1893570"/>
            <a:ext cx="877725" cy="1047750"/>
            <a:chOff x="742950" y="1893570"/>
            <a:chExt cx="877725" cy="1047750"/>
          </a:xfrm>
        </p:grpSpPr>
        <p:sp>
          <p:nvSpPr>
            <p:cNvPr id="3" name="TextBox 3"/>
            <p:cNvSpPr txBox="1"/>
            <p:nvPr/>
          </p:nvSpPr>
          <p:spPr>
            <a:xfrm>
              <a:off x="742950" y="1893570"/>
              <a:ext cx="877725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54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04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743712" y="3040380"/>
            <a:ext cx="4780472" cy="704088"/>
            <a:chOff x="743712" y="3040380"/>
            <a:chExt cx="4780472" cy="704088"/>
          </a:xfrm>
        </p:grpSpPr>
        <p:sp>
          <p:nvSpPr>
            <p:cNvPr id="5" name="TextBox 5"/>
            <p:cNvSpPr txBox="1"/>
            <p:nvPr/>
          </p:nvSpPr>
          <p:spPr>
            <a:xfrm>
              <a:off x="743712" y="3040380"/>
              <a:ext cx="478047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6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Jarvis AI Assistant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52856" y="3806190"/>
            <a:ext cx="5887090" cy="352044"/>
            <a:chOff x="752856" y="3806190"/>
            <a:chExt cx="5887090" cy="352044"/>
          </a:xfrm>
        </p:grpSpPr>
        <p:sp>
          <p:nvSpPr>
            <p:cNvPr id="7" name="TextBox 7"/>
            <p:cNvSpPr txBox="1"/>
            <p:nvPr/>
          </p:nvSpPr>
          <p:spPr>
            <a:xfrm>
              <a:off x="752856" y="3806190"/>
              <a:ext cx="588709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Your personal computational chemistry mentor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0" y="6619875"/>
            <a:ext cx="12192000" cy="238125"/>
            <a:chOff x="0" y="6619875"/>
            <a:chExt cx="12192000" cy="238125"/>
          </a:xfrm>
        </p:grpSpPr>
        <p:sp>
          <p:nvSpPr>
            <p:cNvPr id="9" name="Rectangle 9"/>
            <p:cNvSpPr/>
            <p:nvPr/>
          </p:nvSpPr>
          <p:spPr>
            <a:xfrm>
              <a:off x="0" y="6619875"/>
              <a:ext cx="12192000" cy="238125"/>
            </a:xfrm>
            <a:prstGeom prst="rect">
              <a:avLst/>
            </a:prstGeom>
            <a:solidFill>
              <a:srgbClr val="0D0F24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203998" y="6692741"/>
              <a:ext cx="378400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dirty="0">
                  <a:solidFill>
                    <a:srgbClr val="7A85A8"/>
                  </a:solidFill>
                  <a:latin typeface="+mj-lt"/>
                  <a:ea typeface="+mj-ea"/>
                  <a:cs typeface="+mj-cs"/>
                </a:rPr>
                <a:t>BioDockify — Building the Future of AI-Driven Pharmaceutical Research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745998" y="421958"/>
            <a:ext cx="6387362" cy="616077"/>
            <a:chOff x="745998" y="421958"/>
            <a:chExt cx="6387362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745998" y="421958"/>
              <a:ext cx="638736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Jarvis AI — Four Superpowers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62000" y="1238250"/>
            <a:ext cx="5143500" cy="2286000"/>
            <a:chOff x="762000" y="1238250"/>
            <a:chExt cx="5143500" cy="2286000"/>
          </a:xfrm>
        </p:grpSpPr>
        <p:sp>
          <p:nvSpPr>
            <p:cNvPr id="4" name="Rectangle 4"/>
            <p:cNvSpPr/>
            <p:nvPr/>
          </p:nvSpPr>
          <p:spPr>
            <a:xfrm>
              <a:off x="762000" y="1238250"/>
              <a:ext cx="5143500" cy="2286000"/>
            </a:xfrm>
            <a:prstGeom prst="roundRect">
              <a:avLst>
                <a:gd name="adj" fmla="val 5833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132332" y="1487805"/>
              <a:ext cx="1023781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1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Explain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134618" y="1917382"/>
              <a:ext cx="343503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Plain-language interpretation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134618" y="2222182"/>
              <a:ext cx="151881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of any result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286500" y="1238250"/>
            <a:ext cx="5143500" cy="2286000"/>
            <a:chOff x="6286500" y="1238250"/>
            <a:chExt cx="5143500" cy="2286000"/>
          </a:xfrm>
        </p:grpSpPr>
        <p:sp>
          <p:nvSpPr>
            <p:cNvPr id="9" name="Rectangle 9"/>
            <p:cNvSpPr/>
            <p:nvPr/>
          </p:nvSpPr>
          <p:spPr>
            <a:xfrm>
              <a:off x="6286500" y="1238250"/>
              <a:ext cx="5143500" cy="2286000"/>
            </a:xfrm>
            <a:prstGeom prst="roundRect">
              <a:avLst>
                <a:gd name="adj" fmla="val 5833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656832" y="1487805"/>
              <a:ext cx="77183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1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Guide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59118" y="1917382"/>
              <a:ext cx="273602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Step-by-step workflow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659118" y="2222182"/>
              <a:ext cx="19882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recommendations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762000" y="3810000"/>
            <a:ext cx="5143500" cy="2286000"/>
            <a:chOff x="762000" y="3810000"/>
            <a:chExt cx="5143500" cy="2286000"/>
          </a:xfrm>
        </p:grpSpPr>
        <p:sp>
          <p:nvSpPr>
            <p:cNvPr id="14" name="Rectangle 14"/>
            <p:cNvSpPr/>
            <p:nvPr/>
          </p:nvSpPr>
          <p:spPr>
            <a:xfrm>
              <a:off x="762000" y="3810000"/>
              <a:ext cx="5143500" cy="2286000"/>
            </a:xfrm>
            <a:prstGeom prst="roundRect">
              <a:avLst>
                <a:gd name="adj" fmla="val 5833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132332" y="4059555"/>
              <a:ext cx="191514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1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Troubleshoot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134618" y="4489132"/>
              <a:ext cx="245103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Diagnose and suggest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134618" y="4793932"/>
              <a:ext cx="188259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parameter fixes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286500" y="3810000"/>
            <a:ext cx="5143500" cy="2286000"/>
            <a:chOff x="6286500" y="3810000"/>
            <a:chExt cx="5143500" cy="2286000"/>
          </a:xfrm>
        </p:grpSpPr>
        <p:sp>
          <p:nvSpPr>
            <p:cNvPr id="19" name="Rectangle 19"/>
            <p:cNvSpPr/>
            <p:nvPr/>
          </p:nvSpPr>
          <p:spPr>
            <a:xfrm>
              <a:off x="6286500" y="3810000"/>
              <a:ext cx="5143500" cy="2286000"/>
            </a:xfrm>
            <a:prstGeom prst="roundRect">
              <a:avLst>
                <a:gd name="adj" fmla="val 5833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656832" y="4059555"/>
              <a:ext cx="84687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1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Teach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659118" y="4489132"/>
              <a:ext cx="302517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Concept explanations with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659118" y="4793932"/>
              <a:ext cx="284485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pharmaceutical examples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0" y="6619875"/>
            <a:ext cx="12192000" cy="238125"/>
            <a:chOff x="0" y="6619875"/>
            <a:chExt cx="12192000" cy="238125"/>
          </a:xfrm>
        </p:grpSpPr>
        <p:sp>
          <p:nvSpPr>
            <p:cNvPr id="24" name="Rectangle 24"/>
            <p:cNvSpPr/>
            <p:nvPr/>
          </p:nvSpPr>
          <p:spPr>
            <a:xfrm>
              <a:off x="0" y="6619875"/>
              <a:ext cx="12192000" cy="238125"/>
            </a:xfrm>
            <a:prstGeom prst="rect">
              <a:avLst/>
            </a:prstGeom>
            <a:solidFill>
              <a:srgbClr val="0D0F24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203998" y="6692741"/>
              <a:ext cx="378400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dirty="0">
                  <a:solidFill>
                    <a:srgbClr val="7A85A8"/>
                  </a:solidFill>
                  <a:latin typeface="+mj-lt"/>
                  <a:ea typeface="+mj-ea"/>
                  <a:cs typeface="+mj-cs"/>
                </a:rPr>
                <a:t>BioDockify — Building the Future of AI-Driven Pharmaceutical Research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745998" y="421958"/>
            <a:ext cx="6986086" cy="616077"/>
            <a:chOff x="745998" y="421958"/>
            <a:chExt cx="6986086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745998" y="421958"/>
              <a:ext cx="698608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Getting the Most from Jarvis AI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62000" y="1143000"/>
            <a:ext cx="10668000" cy="1143000"/>
            <a:chOff x="762000" y="1143000"/>
            <a:chExt cx="10668000" cy="1143000"/>
          </a:xfrm>
        </p:grpSpPr>
        <p:sp>
          <p:nvSpPr>
            <p:cNvPr id="4" name="Rectangle 4"/>
            <p:cNvSpPr/>
            <p:nvPr/>
          </p:nvSpPr>
          <p:spPr>
            <a:xfrm>
              <a:off x="762000" y="1143000"/>
              <a:ext cx="10668000" cy="1143000"/>
            </a:xfrm>
            <a:prstGeom prst="roundRect">
              <a:avLst>
                <a:gd name="adj" fmla="val 11667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135380" y="1409700"/>
              <a:ext cx="332371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chemeClr val="accent1"/>
                  </a:solidFill>
                  <a:latin typeface="Courier New"/>
                  <a:ea typeface="Courier New"/>
                  <a:cs typeface="Courier New"/>
                </a:rPr>
                <a:t>Explain [result] in student terms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136142" y="1806892"/>
              <a:ext cx="24870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→ Jargon-free explanation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62000" y="2476500"/>
            <a:ext cx="10668000" cy="1143000"/>
            <a:chOff x="762000" y="2476500"/>
            <a:chExt cx="10668000" cy="1143000"/>
          </a:xfrm>
        </p:grpSpPr>
        <p:sp>
          <p:nvSpPr>
            <p:cNvPr id="8" name="Rectangle 8"/>
            <p:cNvSpPr/>
            <p:nvPr/>
          </p:nvSpPr>
          <p:spPr>
            <a:xfrm>
              <a:off x="762000" y="2476500"/>
              <a:ext cx="10668000" cy="1143000"/>
            </a:xfrm>
            <a:prstGeom prst="roundRect">
              <a:avLst>
                <a:gd name="adj" fmla="val 11667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35380" y="2743200"/>
              <a:ext cx="43777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chemeClr val="accent1"/>
                  </a:solidFill>
                  <a:latin typeface="Courier New"/>
                  <a:ea typeface="Courier New"/>
                  <a:cs typeface="Courier New"/>
                </a:rPr>
                <a:t>Compare my results with published IC50 data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36142" y="3140392"/>
              <a:ext cx="217772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→ Literature validation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762000" y="3810000"/>
            <a:ext cx="10668000" cy="1143000"/>
            <a:chOff x="762000" y="3810000"/>
            <a:chExt cx="10668000" cy="1143000"/>
          </a:xfrm>
        </p:grpSpPr>
        <p:sp>
          <p:nvSpPr>
            <p:cNvPr id="12" name="Rectangle 12"/>
            <p:cNvSpPr/>
            <p:nvPr/>
          </p:nvSpPr>
          <p:spPr>
            <a:xfrm>
              <a:off x="762000" y="3810000"/>
              <a:ext cx="10668000" cy="1143000"/>
            </a:xfrm>
            <a:prstGeom prst="roundRect">
              <a:avLst>
                <a:gd name="adj" fmla="val 11667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35380" y="4076700"/>
              <a:ext cx="399220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chemeClr val="accent1"/>
                  </a:solidFill>
                  <a:latin typeface="Courier New"/>
                  <a:ea typeface="Courier New"/>
                  <a:cs typeface="Courier New"/>
                </a:rPr>
                <a:t>Suggest modifications to improve ADMET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36142" y="4473892"/>
              <a:ext cx="238031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→ Structural suggestions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762000" y="5143500"/>
            <a:ext cx="10668000" cy="1143000"/>
            <a:chOff x="762000" y="5143500"/>
            <a:chExt cx="10668000" cy="1143000"/>
          </a:xfrm>
        </p:grpSpPr>
        <p:sp>
          <p:nvSpPr>
            <p:cNvPr id="16" name="Rectangle 16"/>
            <p:cNvSpPr/>
            <p:nvPr/>
          </p:nvSpPr>
          <p:spPr>
            <a:xfrm>
              <a:off x="762000" y="5143500"/>
              <a:ext cx="10668000" cy="1143000"/>
            </a:xfrm>
            <a:prstGeom prst="roundRect">
              <a:avLst>
                <a:gd name="adj" fmla="val 11667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135380" y="5410200"/>
              <a:ext cx="433341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chemeClr val="accent1"/>
                  </a:solidFill>
                  <a:latin typeface="Courier New"/>
                  <a:ea typeface="Courier New"/>
                  <a:cs typeface="Courier New"/>
                </a:rPr>
                <a:t>Create a teaching exercise about [concept]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36142" y="5807392"/>
              <a:ext cx="22468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→ Curriculum worksheet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0" y="6619875"/>
            <a:ext cx="12192000" cy="238125"/>
            <a:chOff x="0" y="6619875"/>
            <a:chExt cx="12192000" cy="238125"/>
          </a:xfrm>
        </p:grpSpPr>
        <p:sp>
          <p:nvSpPr>
            <p:cNvPr id="20" name="Rectangle 20"/>
            <p:cNvSpPr/>
            <p:nvPr/>
          </p:nvSpPr>
          <p:spPr>
            <a:xfrm>
              <a:off x="0" y="6619875"/>
              <a:ext cx="12192000" cy="238125"/>
            </a:xfrm>
            <a:prstGeom prst="rect">
              <a:avLst/>
            </a:prstGeom>
            <a:solidFill>
              <a:srgbClr val="0D0F24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203998" y="6692741"/>
              <a:ext cx="378400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dirty="0">
                  <a:solidFill>
                    <a:srgbClr val="7A85A8"/>
                  </a:solidFill>
                  <a:latin typeface="+mj-lt"/>
                  <a:ea typeface="+mj-ea"/>
                  <a:cs typeface="+mj-cs"/>
                </a:rPr>
                <a:t>BioDockify — Building the Future of AI-Driven Pharmaceutical Research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2712577" y="421958"/>
            <a:ext cx="6766846" cy="616077"/>
            <a:chOff x="2712577" y="421958"/>
            <a:chExt cx="6766846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2712577" y="421958"/>
              <a:ext cx="676684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The Integrated Discovery Cycle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3905250" y="1333500"/>
            <a:ext cx="4381500" cy="4381500"/>
            <a:chOff x="3905250" y="1333500"/>
            <a:chExt cx="4381500" cy="4381500"/>
          </a:xfrm>
        </p:grpSpPr>
        <p:sp>
          <p:nvSpPr>
            <p:cNvPr id="4" name="Ellipse 4"/>
            <p:cNvSpPr/>
            <p:nvPr/>
          </p:nvSpPr>
          <p:spPr>
            <a:xfrm>
              <a:off x="4381500" y="1809750"/>
              <a:ext cx="3429000" cy="3429000"/>
            </a:xfrm>
            <a:prstGeom prst="ellipse">
              <a:avLst/>
            </a:prstGeom>
            <a:noFill/>
            <a:ln w="19050">
              <a:solidFill>
                <a:srgbClr val="1A1D3A"/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Ellipse 5"/>
            <p:cNvSpPr/>
            <p:nvPr/>
          </p:nvSpPr>
          <p:spPr>
            <a:xfrm>
              <a:off x="5619750" y="1333500"/>
              <a:ext cx="952500" cy="952500"/>
            </a:xfrm>
            <a:prstGeom prst="ellipse">
              <a:avLst/>
            </a:prstGeom>
            <a:solidFill>
              <a:schemeClr val="lt2"/>
            </a:solidFill>
            <a:ln w="19050">
              <a:solidFill>
                <a:schemeClr val="accent1"/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742882" y="1721168"/>
              <a:ext cx="7062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Docking</a:t>
              </a:r>
            </a:p>
          </p:txBody>
        </p:sp>
        <p:sp>
          <p:nvSpPr>
            <p:cNvPr id="7" name="Ellipse 7"/>
            <p:cNvSpPr/>
            <p:nvPr/>
          </p:nvSpPr>
          <p:spPr>
            <a:xfrm>
              <a:off x="7334250" y="3048000"/>
              <a:ext cx="952500" cy="952500"/>
            </a:xfrm>
            <a:prstGeom prst="ellipse">
              <a:avLst/>
            </a:prstGeom>
            <a:solidFill>
              <a:schemeClr val="lt2"/>
            </a:solidFill>
            <a:ln w="19050">
              <a:solidFill>
                <a:schemeClr val="accent1"/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506245" y="3435668"/>
              <a:ext cx="6085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ADMET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5619750" y="4762500"/>
              <a:ext cx="952500" cy="952500"/>
            </a:xfrm>
            <a:prstGeom prst="ellipse">
              <a:avLst/>
            </a:prstGeom>
            <a:solidFill>
              <a:schemeClr val="lt2"/>
            </a:solidFill>
            <a:ln w="19050">
              <a:solidFill>
                <a:schemeClr val="accent2"/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958086" y="5150168"/>
              <a:ext cx="2758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MD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3905250" y="3048000"/>
              <a:ext cx="952500" cy="952500"/>
            </a:xfrm>
            <a:prstGeom prst="ellipse">
              <a:avLst/>
            </a:prstGeom>
            <a:solidFill>
              <a:schemeClr val="lt2"/>
            </a:solidFill>
            <a:ln w="19050">
              <a:solidFill>
                <a:schemeClr val="accent2"/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961468" y="3435668"/>
              <a:ext cx="8400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Optimize</a:t>
              </a:r>
            </a:p>
          </p:txBody>
        </p:sp>
        <p:sp>
          <p:nvSpPr>
            <p:cNvPr id="13" name="Freeform 13"/>
            <p:cNvSpPr/>
            <p:nvPr/>
          </p:nvSpPr>
          <p:spPr>
            <a:xfrm>
              <a:off x="6572250" y="1905000"/>
              <a:ext cx="1143000" cy="1143000"/>
            </a:xfrm>
            <a:custGeom>
              <a:avLst/>
              <a:gdLst/>
              <a:ahLst/>
              <a:cxnLst/>
              <a:rect l="l" t="t" r="r" b="b"/>
              <a:pathLst>
                <a:path w="1143000" h="1143000">
                  <a:moveTo>
                    <a:pt x="0" y="0"/>
                  </a:moveTo>
                  <a:cubicBezTo>
                    <a:pt x="571500" y="254000"/>
                    <a:pt x="952500" y="635000"/>
                    <a:pt x="1143000" y="1143000"/>
                  </a:cubicBezTo>
                </a:path>
              </a:pathLst>
            </a:custGeom>
            <a:noFill/>
            <a:ln w="19050">
              <a:solidFill>
                <a:schemeClr val="accent1"/>
              </a:solidFill>
              <a:tailEnd type="triangle" w="lg" len="lg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Freeform 14"/>
            <p:cNvSpPr/>
            <p:nvPr/>
          </p:nvSpPr>
          <p:spPr>
            <a:xfrm>
              <a:off x="6572250" y="4000500"/>
              <a:ext cx="1143000" cy="1143000"/>
            </a:xfrm>
            <a:custGeom>
              <a:avLst/>
              <a:gdLst/>
              <a:ahLst/>
              <a:cxnLst/>
              <a:rect l="l" t="t" r="r" b="b"/>
              <a:pathLst>
                <a:path w="1143000" h="1143000">
                  <a:moveTo>
                    <a:pt x="1143000" y="0"/>
                  </a:moveTo>
                  <a:cubicBezTo>
                    <a:pt x="952500" y="508000"/>
                    <a:pt x="571500" y="889000"/>
                    <a:pt x="0" y="1143000"/>
                  </a:cubicBezTo>
                </a:path>
              </a:pathLst>
            </a:custGeom>
            <a:noFill/>
            <a:ln w="19050">
              <a:solidFill>
                <a:schemeClr val="accent1"/>
              </a:solidFill>
              <a:tailEnd type="triangle" w="lg" len="lg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Freeform 15"/>
            <p:cNvSpPr/>
            <p:nvPr/>
          </p:nvSpPr>
          <p:spPr>
            <a:xfrm>
              <a:off x="4476750" y="4000500"/>
              <a:ext cx="1143000" cy="1143000"/>
            </a:xfrm>
            <a:custGeom>
              <a:avLst/>
              <a:gdLst/>
              <a:ahLst/>
              <a:cxnLst/>
              <a:rect l="l" t="t" r="r" b="b"/>
              <a:pathLst>
                <a:path w="1143000" h="1143000">
                  <a:moveTo>
                    <a:pt x="1143000" y="1143000"/>
                  </a:moveTo>
                  <a:cubicBezTo>
                    <a:pt x="571500" y="889000"/>
                    <a:pt x="190500" y="508000"/>
                    <a:pt x="0" y="0"/>
                  </a:cubicBezTo>
                </a:path>
              </a:pathLst>
            </a:custGeom>
            <a:noFill/>
            <a:ln w="19050">
              <a:solidFill>
                <a:schemeClr val="accent2"/>
              </a:solidFill>
              <a:tailEnd type="triangle" w="lg" len="lg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16"/>
            <p:cNvSpPr/>
            <p:nvPr/>
          </p:nvSpPr>
          <p:spPr>
            <a:xfrm>
              <a:off x="4476750" y="1905000"/>
              <a:ext cx="1143000" cy="1143000"/>
            </a:xfrm>
            <a:custGeom>
              <a:avLst/>
              <a:gdLst/>
              <a:ahLst/>
              <a:cxnLst/>
              <a:rect l="l" t="t" r="r" b="b"/>
              <a:pathLst>
                <a:path w="1143000" h="1143000">
                  <a:moveTo>
                    <a:pt x="0" y="1143000"/>
                  </a:moveTo>
                  <a:cubicBezTo>
                    <a:pt x="190500" y="635000"/>
                    <a:pt x="571500" y="254000"/>
                    <a:pt x="1143000" y="0"/>
                  </a:cubicBezTo>
                </a:path>
              </a:pathLst>
            </a:custGeom>
            <a:noFill/>
            <a:ln w="19050">
              <a:solidFill>
                <a:schemeClr val="accent2"/>
              </a:solidFill>
              <a:tailEnd type="triangle" w="lg" len="lg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587440" y="3298508"/>
              <a:ext cx="101711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Jarvis AI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779694" y="3601402"/>
              <a:ext cx="6326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050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(center)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560621" y="6219825"/>
            <a:ext cx="9070757" cy="293370"/>
            <a:chOff x="1560621" y="6219825"/>
            <a:chExt cx="9070757" cy="293370"/>
          </a:xfrm>
        </p:grpSpPr>
        <p:sp>
          <p:nvSpPr>
            <p:cNvPr id="20" name="TextBox 20"/>
            <p:cNvSpPr txBox="1"/>
            <p:nvPr/>
          </p:nvSpPr>
          <p:spPr>
            <a:xfrm>
              <a:off x="1560621" y="6219825"/>
              <a:ext cx="907075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Iterate until you find a compound that docks well, passes ADMET, AND is stable in MD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0" y="6619875"/>
            <a:ext cx="12192000" cy="238125"/>
            <a:chOff x="0" y="6619875"/>
            <a:chExt cx="12192000" cy="238125"/>
          </a:xfrm>
        </p:grpSpPr>
        <p:sp>
          <p:nvSpPr>
            <p:cNvPr id="22" name="Rectangle 22"/>
            <p:cNvSpPr/>
            <p:nvPr/>
          </p:nvSpPr>
          <p:spPr>
            <a:xfrm>
              <a:off x="0" y="6619875"/>
              <a:ext cx="12192000" cy="238125"/>
            </a:xfrm>
            <a:prstGeom prst="rect">
              <a:avLst/>
            </a:prstGeom>
            <a:solidFill>
              <a:srgbClr val="0D0F24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203998" y="6692741"/>
              <a:ext cx="378400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dirty="0">
                  <a:solidFill>
                    <a:srgbClr val="7A85A8"/>
                  </a:solidFill>
                  <a:latin typeface="+mj-lt"/>
                  <a:ea typeface="+mj-ea"/>
                  <a:cs typeface="+mj-cs"/>
                </a:rPr>
                <a:t>BioDockify — Building the Future of AI-Driven Pharmaceutical Research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2131085" y="1470660"/>
            <a:ext cx="7929831" cy="956691"/>
            <a:chOff x="2131085" y="1470660"/>
            <a:chExt cx="7929831" cy="956691"/>
          </a:xfrm>
        </p:grpSpPr>
        <p:sp>
          <p:nvSpPr>
            <p:cNvPr id="2" name="TextBox 2"/>
            <p:cNvSpPr txBox="1"/>
            <p:nvPr/>
          </p:nvSpPr>
          <p:spPr>
            <a:xfrm>
              <a:off x="2131085" y="1470660"/>
              <a:ext cx="7929831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7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But what if we want BioDockify to do more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278999" y="1899285"/>
              <a:ext cx="363400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7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than provide tools?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4232711" y="2663190"/>
            <a:ext cx="3726578" cy="352044"/>
            <a:chOff x="4232711" y="2663190"/>
            <a:chExt cx="3726578" cy="352044"/>
          </a:xfrm>
        </p:grpSpPr>
        <p:sp>
          <p:nvSpPr>
            <p:cNvPr id="5" name="TextBox 5"/>
            <p:cNvSpPr txBox="1"/>
            <p:nvPr/>
          </p:nvSpPr>
          <p:spPr>
            <a:xfrm>
              <a:off x="4232711" y="2663190"/>
              <a:ext cx="372657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What if the researcher says: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905000" y="3238500"/>
            <a:ext cx="8382000" cy="1596390"/>
            <a:chOff x="1905000" y="3238500"/>
            <a:chExt cx="8382000" cy="1596390"/>
          </a:xfrm>
        </p:grpSpPr>
        <p:sp>
          <p:nvSpPr>
            <p:cNvPr id="7" name="Rectangle 7"/>
            <p:cNvSpPr/>
            <p:nvPr/>
          </p:nvSpPr>
          <p:spPr>
            <a:xfrm>
              <a:off x="1905000" y="3238500"/>
              <a:ext cx="8382000" cy="1524000"/>
            </a:xfrm>
            <a:prstGeom prst="roundRect">
              <a:avLst>
                <a:gd name="adj" fmla="val 8750"/>
              </a:avLst>
            </a:prstGeom>
            <a:solidFill>
              <a:schemeClr val="lt2"/>
            </a:solidFill>
            <a:ln w="19050">
              <a:solidFill>
                <a:schemeClr val="accent1"/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270760" y="3486150"/>
              <a:ext cx="26517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0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“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877789" y="3773805"/>
              <a:ext cx="4436421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Here is my research question.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839254" y="4154805"/>
              <a:ext cx="451349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Help me figure out what to do.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751314" y="4248150"/>
              <a:ext cx="26517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" sz="30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”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3202245" y="5346382"/>
            <a:ext cx="5787510" cy="322707"/>
            <a:chOff x="3202245" y="5346382"/>
            <a:chExt cx="5787510" cy="322707"/>
          </a:xfrm>
        </p:grpSpPr>
        <p:sp>
          <p:nvSpPr>
            <p:cNvPr id="13" name="TextBox 13"/>
            <p:cNvSpPr txBox="1"/>
            <p:nvPr/>
          </p:nvSpPr>
          <p:spPr>
            <a:xfrm>
              <a:off x="3202245" y="5346382"/>
              <a:ext cx="57875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That is where the Premium Web Platform comes in.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0" y="6619875"/>
            <a:ext cx="12192000" cy="238125"/>
            <a:chOff x="0" y="6619875"/>
            <a:chExt cx="12192000" cy="238125"/>
          </a:xfrm>
        </p:grpSpPr>
        <p:sp>
          <p:nvSpPr>
            <p:cNvPr id="15" name="Rectangle 15"/>
            <p:cNvSpPr/>
            <p:nvPr/>
          </p:nvSpPr>
          <p:spPr>
            <a:xfrm>
              <a:off x="0" y="6619875"/>
              <a:ext cx="12192000" cy="238125"/>
            </a:xfrm>
            <a:prstGeom prst="rect">
              <a:avLst/>
            </a:prstGeom>
            <a:solidFill>
              <a:srgbClr val="0D0F24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203998" y="6692741"/>
              <a:ext cx="378400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dirty="0">
                  <a:solidFill>
                    <a:srgbClr val="7A85A8"/>
                  </a:solidFill>
                  <a:latin typeface="+mj-lt"/>
                  <a:ea typeface="+mj-ea"/>
                  <a:cs typeface="+mj-cs"/>
                </a:rPr>
                <a:t>BioDockify — Building the Future of AI-Driven Pharmaceutical Research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3424666" y="307658"/>
            <a:ext cx="5342668" cy="616077"/>
            <a:chOff x="3424666" y="307658"/>
            <a:chExt cx="5342668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3424666" y="307658"/>
              <a:ext cx="534266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BioDockify Web Platform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4571463" y="840105"/>
            <a:ext cx="3049074" cy="410718"/>
            <a:chOff x="4571463" y="840105"/>
            <a:chExt cx="3049074" cy="410718"/>
          </a:xfrm>
        </p:grpSpPr>
        <p:sp>
          <p:nvSpPr>
            <p:cNvPr id="4" name="TextBox 4"/>
            <p:cNvSpPr txBox="1"/>
            <p:nvPr/>
          </p:nvSpPr>
          <p:spPr>
            <a:xfrm>
              <a:off x="4571463" y="840105"/>
              <a:ext cx="304907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1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www.biodockify.com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2834652" y="1373505"/>
            <a:ext cx="6522695" cy="410718"/>
            <a:chOff x="2834652" y="1373505"/>
            <a:chExt cx="6522695" cy="410718"/>
          </a:xfrm>
        </p:grpSpPr>
        <p:sp>
          <p:nvSpPr>
            <p:cNvPr id="6" name="TextBox 6"/>
            <p:cNvSpPr txBox="1"/>
            <p:nvPr/>
          </p:nvSpPr>
          <p:spPr>
            <a:xfrm>
              <a:off x="2834652" y="1373505"/>
              <a:ext cx="652269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10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An AI-native pharmaceutical research platform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143000" y="2000250"/>
            <a:ext cx="9906000" cy="1905000"/>
            <a:chOff x="1143000" y="2000250"/>
            <a:chExt cx="9906000" cy="1905000"/>
          </a:xfrm>
        </p:grpSpPr>
        <p:sp>
          <p:nvSpPr>
            <p:cNvPr id="8" name="Rectangle 8"/>
            <p:cNvSpPr/>
            <p:nvPr/>
          </p:nvSpPr>
          <p:spPr>
            <a:xfrm>
              <a:off x="1143000" y="2000250"/>
              <a:ext cx="9906000" cy="1905000"/>
            </a:xfrm>
            <a:prstGeom prst="roundRect">
              <a:avLst>
                <a:gd name="adj" fmla="val 7000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grpSp>
          <p:nvGrpSpPr>
            <p:cNvPr id="12" name="Group 12"/>
            <p:cNvGrpSpPr/>
            <p:nvPr/>
          </p:nvGrpSpPr>
          <p:grpSpPr>
            <a:xfrm>
              <a:off x="1706118" y="2374582"/>
              <a:ext cx="4658509" cy="322707"/>
              <a:chOff x="1706118" y="2374582"/>
              <a:chExt cx="4658509" cy="322707"/>
            </a:xfrm>
          </p:grpSpPr>
          <p:sp>
            <p:nvSpPr>
              <p:cNvPr id="9" name="TextBox 9"/>
              <p:cNvSpPr txBox="1"/>
              <p:nvPr/>
            </p:nvSpPr>
            <p:spPr>
              <a:xfrm>
                <a:off x="1706118" y="2374582"/>
                <a:ext cx="135034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650" dirty="0">
                    <a:solidFill>
                      <a:srgbClr val="7A85A8"/>
                    </a:solidFill>
                    <a:latin typeface="+mn-lt"/>
                    <a:ea typeface="+mn-ea"/>
                    <a:cs typeface="+mn-cs"/>
                  </a:rPr>
                  <a:t>Instead of: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3230118" y="2374582"/>
                <a:ext cx="3134509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650" strike="sngStrike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Choose a software module.</a:t>
                </a:r>
              </a:p>
            </p:txBody>
          </p:sp>
          <p:sp>
            <p:nvSpPr>
              <p:cNvPr id="11" name="Line 11"/>
              <p:cNvSpPr/>
              <p:nvPr/>
            </p:nvSpPr>
            <p:spPr>
              <a:xfrm>
                <a:off x="3238500" y="2514600"/>
                <a:ext cx="26860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686050" h="9525">
                    <a:moveTo>
                      <a:pt x="0" y="0"/>
                    </a:moveTo>
                    <a:lnTo>
                      <a:pt x="2686050" y="0"/>
                    </a:lnTo>
                  </a:path>
                </a:pathLst>
              </a:custGeom>
              <a:noFill/>
              <a:ln w="14288">
                <a:solidFill>
                  <a:schemeClr val="accent3"/>
                </a:solidFill>
              </a:ln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1705356" y="3041332"/>
              <a:ext cx="4747210" cy="716852"/>
              <a:chOff x="1705356" y="3041332"/>
              <a:chExt cx="4747210" cy="716852"/>
            </a:xfrm>
          </p:grpSpPr>
          <p:sp>
            <p:nvSpPr>
              <p:cNvPr id="13" name="TextBox 13"/>
              <p:cNvSpPr txBox="1"/>
              <p:nvPr/>
            </p:nvSpPr>
            <p:spPr>
              <a:xfrm>
                <a:off x="1706118" y="3041332"/>
                <a:ext cx="3344965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65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The researcher starts with: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705356" y="3406140"/>
                <a:ext cx="474721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800" b="1" dirty="0">
                    <a:solidFill>
                      <a:schemeClr val="dk1"/>
                    </a:solidFill>
                    <a:latin typeface="+mj-lt"/>
                    <a:ea typeface="+mj-ea"/>
                    <a:cs typeface="+mj-cs"/>
                  </a:rPr>
                  <a:t>“What are you trying to investigate?”</a:t>
                </a:r>
              </a:p>
            </p:txBody>
          </p:sp>
        </p:grpSp>
      </p:grpSp>
      <p:grpSp>
        <p:nvGrpSpPr>
          <p:cNvPr id="32" name="Group 32"/>
          <p:cNvGrpSpPr/>
          <p:nvPr/>
        </p:nvGrpSpPr>
        <p:grpSpPr>
          <a:xfrm>
            <a:off x="952500" y="4410075"/>
            <a:ext cx="9382125" cy="1304925"/>
            <a:chOff x="952500" y="4410075"/>
            <a:chExt cx="9382125" cy="1304925"/>
          </a:xfrm>
        </p:grpSpPr>
        <p:sp>
          <p:nvSpPr>
            <p:cNvPr id="17" name="TextBox 17"/>
            <p:cNvSpPr txBox="1"/>
            <p:nvPr/>
          </p:nvSpPr>
          <p:spPr>
            <a:xfrm>
              <a:off x="5122172" y="4410075"/>
              <a:ext cx="194765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Platform Features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952500" y="4762500"/>
              <a:ext cx="1857375" cy="3810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 w="14288">
              <a:solidFill>
                <a:schemeClr val="accent1"/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92445" y="4888706"/>
              <a:ext cx="176795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AI Research Assistant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2952750" y="4762500"/>
              <a:ext cx="2000250" cy="3810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 w="14288">
              <a:solidFill>
                <a:schemeClr val="accent2"/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041712" y="4888706"/>
              <a:ext cx="18223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Literature Intelligence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095875" y="4762500"/>
              <a:ext cx="1714500" cy="3810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 w="14288">
              <a:solidFill>
                <a:schemeClr val="accent1"/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245113" y="4888706"/>
              <a:ext cx="14160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Scientific Writing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6953250" y="4762500"/>
              <a:ext cx="1619250" cy="3810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 w="14288">
              <a:solidFill>
                <a:schemeClr val="accent2"/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192040" y="4888706"/>
              <a:ext cx="11416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Knowledge Hub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8715375" y="4762500"/>
              <a:ext cx="1619250" cy="3810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 w="14288">
              <a:solidFill>
                <a:schemeClr val="accent1"/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947436" y="4888706"/>
              <a:ext cx="115512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Docking Studio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2857500" y="5334000"/>
              <a:ext cx="1524000" cy="3810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 w="14288">
              <a:solidFill>
                <a:schemeClr val="accent2"/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213628" y="5460206"/>
              <a:ext cx="8117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MD Engine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4572000" y="5334000"/>
              <a:ext cx="1524000" cy="3810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 w="14288">
              <a:solidFill>
                <a:schemeClr val="accent1"/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908298" y="5460206"/>
              <a:ext cx="85140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Workspace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0" y="6619875"/>
            <a:ext cx="12192000" cy="238125"/>
            <a:chOff x="0" y="6619875"/>
            <a:chExt cx="12192000" cy="238125"/>
          </a:xfrm>
        </p:grpSpPr>
        <p:sp>
          <p:nvSpPr>
            <p:cNvPr id="33" name="Rectangle 33"/>
            <p:cNvSpPr/>
            <p:nvPr/>
          </p:nvSpPr>
          <p:spPr>
            <a:xfrm>
              <a:off x="0" y="6619875"/>
              <a:ext cx="12192000" cy="238125"/>
            </a:xfrm>
            <a:prstGeom prst="rect">
              <a:avLst/>
            </a:prstGeom>
            <a:solidFill>
              <a:srgbClr val="0D0F24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203998" y="6692741"/>
              <a:ext cx="378400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dirty="0">
                  <a:solidFill>
                    <a:srgbClr val="7A85A8"/>
                  </a:solidFill>
                  <a:latin typeface="+mj-lt"/>
                  <a:ea typeface="+mj-ea"/>
                  <a:cs typeface="+mj-cs"/>
                </a:rPr>
                <a:t>BioDockify — Building the Future of AI-Driven Pharmaceutical Research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1767587" y="244793"/>
            <a:ext cx="8656826" cy="557403"/>
            <a:chOff x="1767587" y="244793"/>
            <a:chExt cx="8656826" cy="557403"/>
          </a:xfrm>
        </p:grpSpPr>
        <p:sp>
          <p:nvSpPr>
            <p:cNvPr id="2" name="TextBox 2"/>
            <p:cNvSpPr txBox="1"/>
            <p:nvPr/>
          </p:nvSpPr>
          <p:spPr>
            <a:xfrm>
              <a:off x="1767587" y="244793"/>
              <a:ext cx="8656826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8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Community Edition vs Premium Web Platform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62000" y="809625"/>
            <a:ext cx="10668000" cy="381000"/>
            <a:chOff x="762000" y="809625"/>
            <a:chExt cx="10668000" cy="381000"/>
          </a:xfrm>
        </p:grpSpPr>
        <p:sp>
          <p:nvSpPr>
            <p:cNvPr id="4" name="Rectangle 4"/>
            <p:cNvSpPr/>
            <p:nvPr/>
          </p:nvSpPr>
          <p:spPr>
            <a:xfrm>
              <a:off x="762000" y="809625"/>
              <a:ext cx="10668000" cy="3810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2522243" y="937260"/>
              <a:ext cx="6705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Feature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226150" y="937260"/>
              <a:ext cx="88270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Community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9176918" y="937260"/>
              <a:ext cx="69616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Premium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762000" y="1190625"/>
            <a:ext cx="10668000" cy="428625"/>
            <a:chOff x="762000" y="1190625"/>
            <a:chExt cx="10668000" cy="428625"/>
          </a:xfrm>
        </p:grpSpPr>
        <p:sp>
          <p:nvSpPr>
            <p:cNvPr id="9" name="Rectangle 9"/>
            <p:cNvSpPr/>
            <p:nvPr/>
          </p:nvSpPr>
          <p:spPr>
            <a:xfrm>
              <a:off x="762000" y="1190625"/>
              <a:ext cx="10668000" cy="42862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376312" y="1327785"/>
              <a:ext cx="9623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Deployment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045154" y="1327785"/>
              <a:ext cx="12446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Local / Docker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024366" y="1327785"/>
              <a:ext cx="10012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Web / Cloud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762000" y="1619250"/>
            <a:ext cx="10668000" cy="428625"/>
            <a:chOff x="762000" y="1619250"/>
            <a:chExt cx="10668000" cy="428625"/>
          </a:xfrm>
        </p:grpSpPr>
        <p:sp>
          <p:nvSpPr>
            <p:cNvPr id="14" name="Rectangle 14"/>
            <p:cNvSpPr/>
            <p:nvPr/>
          </p:nvSpPr>
          <p:spPr>
            <a:xfrm>
              <a:off x="762000" y="1619250"/>
              <a:ext cx="10668000" cy="428625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197852" y="1756410"/>
              <a:ext cx="13192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Scientific tools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565230" y="1740218"/>
              <a:ext cx="2045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b="1" dirty="0">
                  <a:solidFill>
                    <a:srgbClr val="10B981"/>
                  </a:solidFill>
                  <a:latin typeface="+mj-lt"/>
                  <a:ea typeface="+mj-ea"/>
                  <a:cs typeface="+mj-cs"/>
                </a:rPr>
                <a:t>✓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22730" y="1740218"/>
              <a:ext cx="2045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b="1" dirty="0">
                  <a:solidFill>
                    <a:srgbClr val="10B981"/>
                  </a:solidFill>
                  <a:latin typeface="+mj-lt"/>
                  <a:ea typeface="+mj-ea"/>
                  <a:cs typeface="+mj-cs"/>
                </a:rPr>
                <a:t>✓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762000" y="2047875"/>
            <a:ext cx="10668000" cy="428625"/>
            <a:chOff x="762000" y="2047875"/>
            <a:chExt cx="10668000" cy="428625"/>
          </a:xfrm>
        </p:grpSpPr>
        <p:sp>
          <p:nvSpPr>
            <p:cNvPr id="19" name="Rectangle 19"/>
            <p:cNvSpPr/>
            <p:nvPr/>
          </p:nvSpPr>
          <p:spPr>
            <a:xfrm>
              <a:off x="762000" y="2047875"/>
              <a:ext cx="10668000" cy="42862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332690" y="2185035"/>
              <a:ext cx="10496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AI assistant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463589" y="2185035"/>
              <a:ext cx="40782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Core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133332" y="2185035"/>
              <a:ext cx="7833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Advanced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762000" y="2476500"/>
            <a:ext cx="10668000" cy="428625"/>
            <a:chOff x="762000" y="2476500"/>
            <a:chExt cx="10668000" cy="428625"/>
          </a:xfrm>
        </p:grpSpPr>
        <p:sp>
          <p:nvSpPr>
            <p:cNvPr id="24" name="Rectangle 24"/>
            <p:cNvSpPr/>
            <p:nvPr/>
          </p:nvSpPr>
          <p:spPr>
            <a:xfrm>
              <a:off x="762000" y="2476500"/>
              <a:ext cx="10668000" cy="428625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085994" y="2613660"/>
              <a:ext cx="15430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Internet research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349158" y="2613660"/>
              <a:ext cx="6366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Limited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133332" y="2613660"/>
              <a:ext cx="7833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Advanced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762000" y="2905125"/>
            <a:ext cx="10668000" cy="428625"/>
            <a:chOff x="762000" y="2905125"/>
            <a:chExt cx="10668000" cy="428625"/>
          </a:xfrm>
        </p:grpSpPr>
        <p:sp>
          <p:nvSpPr>
            <p:cNvPr id="29" name="Rectangle 29"/>
            <p:cNvSpPr/>
            <p:nvPr/>
          </p:nvSpPr>
          <p:spPr>
            <a:xfrm>
              <a:off x="762000" y="2905125"/>
              <a:ext cx="10668000" cy="42862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838379" y="3042285"/>
              <a:ext cx="20382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Workflow orchestration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438900" y="3042285"/>
              <a:ext cx="4572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Basic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133332" y="3042285"/>
              <a:ext cx="7833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Advanced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762000" y="3333750"/>
            <a:ext cx="10668000" cy="428625"/>
            <a:chOff x="762000" y="3333750"/>
            <a:chExt cx="10668000" cy="428625"/>
          </a:xfrm>
        </p:grpSpPr>
        <p:sp>
          <p:nvSpPr>
            <p:cNvPr id="34" name="Rectangle 34"/>
            <p:cNvSpPr/>
            <p:nvPr/>
          </p:nvSpPr>
          <p:spPr>
            <a:xfrm>
              <a:off x="762000" y="3333750"/>
              <a:ext cx="10668000" cy="428625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953260" y="3470910"/>
              <a:ext cx="18084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Autonomous research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614465" y="3470910"/>
              <a:ext cx="1060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dirty="0">
                  <a:solidFill>
                    <a:srgbClr val="7A85A8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885840" y="3470910"/>
              <a:ext cx="12783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Core direction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762000" y="3762375"/>
            <a:ext cx="10668000" cy="428625"/>
            <a:chOff x="762000" y="3762375"/>
            <a:chExt cx="10668000" cy="428625"/>
          </a:xfrm>
        </p:grpSpPr>
        <p:sp>
          <p:nvSpPr>
            <p:cNvPr id="39" name="Rectangle 39"/>
            <p:cNvSpPr/>
            <p:nvPr/>
          </p:nvSpPr>
          <p:spPr>
            <a:xfrm>
              <a:off x="762000" y="3762375"/>
              <a:ext cx="10668000" cy="42862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2296199" y="3899535"/>
              <a:ext cx="112260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Collaboration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349158" y="3899535"/>
              <a:ext cx="6366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Limited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133332" y="3899535"/>
              <a:ext cx="7833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Advanced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762000" y="4191000"/>
            <a:ext cx="10668000" cy="428625"/>
            <a:chOff x="762000" y="4191000"/>
            <a:chExt cx="10668000" cy="428625"/>
          </a:xfrm>
        </p:grpSpPr>
        <p:sp>
          <p:nvSpPr>
            <p:cNvPr id="44" name="Rectangle 44"/>
            <p:cNvSpPr/>
            <p:nvPr/>
          </p:nvSpPr>
          <p:spPr>
            <a:xfrm>
              <a:off x="762000" y="4191000"/>
              <a:ext cx="10668000" cy="428625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2256358" y="4328160"/>
              <a:ext cx="12022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Cloud compute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989864" y="4328160"/>
              <a:ext cx="135527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User-controlled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167078" y="4328160"/>
              <a:ext cx="71584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Premium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762000" y="4619625"/>
            <a:ext cx="10668000" cy="428625"/>
            <a:chOff x="762000" y="4619625"/>
            <a:chExt cx="10668000" cy="428625"/>
          </a:xfrm>
        </p:grpSpPr>
        <p:sp>
          <p:nvSpPr>
            <p:cNvPr id="49" name="Rectangle 49"/>
            <p:cNvSpPr/>
            <p:nvPr/>
          </p:nvSpPr>
          <p:spPr>
            <a:xfrm>
              <a:off x="762000" y="4619625"/>
              <a:ext cx="10668000" cy="42862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2412021" y="4756785"/>
              <a:ext cx="8909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Scalability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438900" y="4756785"/>
              <a:ext cx="4572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Local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296400" y="4756785"/>
              <a:ext cx="4572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Cloud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0" y="6619875"/>
            <a:ext cx="12192000" cy="238125"/>
            <a:chOff x="0" y="6619875"/>
            <a:chExt cx="12192000" cy="238125"/>
          </a:xfrm>
        </p:grpSpPr>
        <p:sp>
          <p:nvSpPr>
            <p:cNvPr id="54" name="Rectangle 54"/>
            <p:cNvSpPr/>
            <p:nvPr/>
          </p:nvSpPr>
          <p:spPr>
            <a:xfrm>
              <a:off x="0" y="6619875"/>
              <a:ext cx="12192000" cy="238125"/>
            </a:xfrm>
            <a:prstGeom prst="rect">
              <a:avLst/>
            </a:prstGeom>
            <a:solidFill>
              <a:srgbClr val="0D0F24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4203998" y="6692741"/>
              <a:ext cx="378400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dirty="0">
                  <a:solidFill>
                    <a:srgbClr val="7A85A8"/>
                  </a:solidFill>
                  <a:latin typeface="+mj-lt"/>
                  <a:ea typeface="+mj-ea"/>
                  <a:cs typeface="+mj-cs"/>
                </a:rPr>
                <a:t>BioDockify — Building the Future of AI-Driven Pharmaceutical Research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3053257" y="307658"/>
            <a:ext cx="6085486" cy="616077"/>
            <a:chOff x="3053257" y="307658"/>
            <a:chExt cx="6085486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3053257" y="307658"/>
              <a:ext cx="608548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The Fundamental Difference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62000" y="1047750"/>
            <a:ext cx="5143500" cy="4000500"/>
            <a:chOff x="762000" y="1047750"/>
            <a:chExt cx="5143500" cy="4000500"/>
          </a:xfrm>
        </p:grpSpPr>
        <p:sp>
          <p:nvSpPr>
            <p:cNvPr id="4" name="Rectangle 4"/>
            <p:cNvSpPr/>
            <p:nvPr/>
          </p:nvSpPr>
          <p:spPr>
            <a:xfrm>
              <a:off x="762000" y="1047750"/>
              <a:ext cx="5143500" cy="4000500"/>
            </a:xfrm>
            <a:prstGeom prst="roundRect">
              <a:avLst>
                <a:gd name="adj" fmla="val 3333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Rectangle 5"/>
            <p:cNvSpPr/>
            <p:nvPr/>
          </p:nvSpPr>
          <p:spPr>
            <a:xfrm>
              <a:off x="762000" y="1047750"/>
              <a:ext cx="5143500" cy="571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2015231" y="1392555"/>
              <a:ext cx="263703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1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Community Edition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627003" y="2407920"/>
              <a:ext cx="341349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4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“Give me the tools.”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143855" y="3441382"/>
              <a:ext cx="237978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Researcher controls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498065" y="3746182"/>
              <a:ext cx="16713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the workflow.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286500" y="1047750"/>
            <a:ext cx="5143500" cy="4000500"/>
            <a:chOff x="6286500" y="1047750"/>
            <a:chExt cx="5143500" cy="4000500"/>
          </a:xfrm>
        </p:grpSpPr>
        <p:sp>
          <p:nvSpPr>
            <p:cNvPr id="11" name="Rectangle 11"/>
            <p:cNvSpPr/>
            <p:nvPr/>
          </p:nvSpPr>
          <p:spPr>
            <a:xfrm>
              <a:off x="6286500" y="1047750"/>
              <a:ext cx="5143500" cy="4000500"/>
            </a:xfrm>
            <a:prstGeom prst="roundRect">
              <a:avLst>
                <a:gd name="adj" fmla="val 3333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Rectangle 12"/>
            <p:cNvSpPr/>
            <p:nvPr/>
          </p:nvSpPr>
          <p:spPr>
            <a:xfrm>
              <a:off x="6286500" y="1047750"/>
              <a:ext cx="5143500" cy="571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924475" y="1392555"/>
              <a:ext cx="1867551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1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Premium Web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440590" y="2407920"/>
              <a:ext cx="283532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4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“Help me conduct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582380" y="2788920"/>
              <a:ext cx="255174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4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the research.”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743050" y="3441382"/>
              <a:ext cx="22304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AI helps coordinate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022565" y="3746182"/>
              <a:ext cx="16713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the workflow.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5829300" y="2686050"/>
            <a:ext cx="533400" cy="533400"/>
            <a:chOff x="5829300" y="2686050"/>
            <a:chExt cx="533400" cy="533400"/>
          </a:xfrm>
        </p:grpSpPr>
        <p:sp>
          <p:nvSpPr>
            <p:cNvPr id="19" name="Ellipse 19"/>
            <p:cNvSpPr/>
            <p:nvPr/>
          </p:nvSpPr>
          <p:spPr>
            <a:xfrm>
              <a:off x="5829300" y="2686050"/>
              <a:ext cx="533400" cy="533400"/>
            </a:xfrm>
            <a:prstGeom prst="ellipse">
              <a:avLst/>
            </a:prstGeom>
            <a:solidFill>
              <a:schemeClr val="lt1"/>
            </a:solidFill>
            <a:ln w="14288">
              <a:solidFill>
                <a:srgbClr val="7A85A8"/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991332" y="2899410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b="1" dirty="0">
                  <a:solidFill>
                    <a:srgbClr val="7A85A8"/>
                  </a:solidFill>
                  <a:latin typeface="+mj-lt"/>
                  <a:ea typeface="+mj-ea"/>
                  <a:cs typeface="+mj-cs"/>
                </a:rPr>
                <a:t>VS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905000" y="5286375"/>
            <a:ext cx="8382000" cy="750570"/>
            <a:chOff x="1905000" y="5286375"/>
            <a:chExt cx="8382000" cy="750570"/>
          </a:xfrm>
        </p:grpSpPr>
        <p:sp>
          <p:nvSpPr>
            <p:cNvPr id="22" name="Line 22"/>
            <p:cNvSpPr/>
            <p:nvPr/>
          </p:nvSpPr>
          <p:spPr>
            <a:xfrm>
              <a:off x="1905000" y="5286375"/>
              <a:ext cx="8382000" cy="9525"/>
            </a:xfrm>
            <a:custGeom>
              <a:avLst/>
              <a:gdLst/>
              <a:ahLst/>
              <a:cxnLst/>
              <a:rect l="l" t="t" r="r" b="b"/>
              <a:pathLst>
                <a:path w="8382000" h="9525">
                  <a:moveTo>
                    <a:pt x="0" y="0"/>
                  </a:moveTo>
                  <a:lnTo>
                    <a:pt x="8382000" y="0"/>
                  </a:lnTo>
                </a:path>
              </a:pathLst>
            </a:custGeom>
            <a:noFill/>
            <a:ln w="4762">
              <a:solidFill>
                <a:srgbClr val="7A85A8">
                  <a:alpha val="40000"/>
                </a:srgbClr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762797" y="5457825"/>
              <a:ext cx="466640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Community Edition gives you the laboratory.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338198" y="5743575"/>
              <a:ext cx="551560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Premium BioDockify gives you the research partner.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0" y="6619875"/>
            <a:ext cx="12192000" cy="238125"/>
            <a:chOff x="0" y="6619875"/>
            <a:chExt cx="12192000" cy="238125"/>
          </a:xfrm>
        </p:grpSpPr>
        <p:sp>
          <p:nvSpPr>
            <p:cNvPr id="26" name="Rectangle 26"/>
            <p:cNvSpPr/>
            <p:nvPr/>
          </p:nvSpPr>
          <p:spPr>
            <a:xfrm>
              <a:off x="0" y="6619875"/>
              <a:ext cx="12192000" cy="238125"/>
            </a:xfrm>
            <a:prstGeom prst="rect">
              <a:avLst/>
            </a:prstGeom>
            <a:solidFill>
              <a:srgbClr val="0D0F24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203998" y="6692741"/>
              <a:ext cx="378400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dirty="0">
                  <a:solidFill>
                    <a:srgbClr val="7A85A8"/>
                  </a:solidFill>
                  <a:latin typeface="+mj-lt"/>
                  <a:ea typeface="+mj-ea"/>
                  <a:cs typeface="+mj-cs"/>
                </a:rPr>
                <a:t>BioDockify — Building the Future of AI-Driven Pharmaceutical Research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2365714" y="307658"/>
            <a:ext cx="7460572" cy="616077"/>
            <a:chOff x="2365714" y="307658"/>
            <a:chExt cx="7460572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2365714" y="307658"/>
              <a:ext cx="746057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From Assistant to Research Agent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143000" y="4953000"/>
            <a:ext cx="1905000" cy="523875"/>
            <a:chOff x="1143000" y="4953000"/>
            <a:chExt cx="1905000" cy="523875"/>
          </a:xfrm>
        </p:grpSpPr>
        <p:sp>
          <p:nvSpPr>
            <p:cNvPr id="4" name="Rectangle 4"/>
            <p:cNvSpPr/>
            <p:nvPr/>
          </p:nvSpPr>
          <p:spPr>
            <a:xfrm>
              <a:off x="1143000" y="4953000"/>
              <a:ext cx="1905000" cy="523875"/>
            </a:xfrm>
            <a:prstGeom prst="roundRect">
              <a:avLst>
                <a:gd name="adj" fmla="val 18182"/>
              </a:avLst>
            </a:prstGeom>
            <a:solidFill>
              <a:schemeClr val="lt2">
                <a:alpha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760243" y="5042535"/>
              <a:ext cx="6705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b="1" dirty="0">
                  <a:solidFill>
                    <a:srgbClr val="7A85A8"/>
                  </a:solidFill>
                  <a:latin typeface="+mj-lt"/>
                  <a:ea typeface="+mj-ea"/>
                  <a:cs typeface="+mj-cs"/>
                </a:rPr>
                <a:t>Chatbot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778470" y="5268278"/>
              <a:ext cx="63406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050" dirty="0">
                  <a:solidFill>
                    <a:srgbClr val="7A85A8"/>
                  </a:solidFill>
                  <a:latin typeface="+mn-lt"/>
                  <a:ea typeface="+mn-ea"/>
                  <a:cs typeface="+mn-cs"/>
                </a:rPr>
                <a:t>Answers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3238500" y="4095750"/>
            <a:ext cx="2095500" cy="523875"/>
            <a:chOff x="3238500" y="4095750"/>
            <a:chExt cx="2095500" cy="523875"/>
          </a:xfrm>
        </p:grpSpPr>
        <p:sp>
          <p:nvSpPr>
            <p:cNvPr id="8" name="Rectangle 8"/>
            <p:cNvSpPr/>
            <p:nvPr/>
          </p:nvSpPr>
          <p:spPr>
            <a:xfrm>
              <a:off x="3238500" y="4095750"/>
              <a:ext cx="2095500" cy="523875"/>
            </a:xfrm>
            <a:prstGeom prst="roundRect">
              <a:avLst>
                <a:gd name="adj" fmla="val 18182"/>
              </a:avLst>
            </a:prstGeom>
            <a:solidFill>
              <a:schemeClr val="lt2">
                <a:alpha val="6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776353" y="4185285"/>
              <a:ext cx="101979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b="1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AI Assistant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943540" y="4411028"/>
              <a:ext cx="6854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Suggests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524500" y="3238500"/>
            <a:ext cx="2095500" cy="523875"/>
            <a:chOff x="5524500" y="3238500"/>
            <a:chExt cx="2095500" cy="523875"/>
          </a:xfrm>
        </p:grpSpPr>
        <p:sp>
          <p:nvSpPr>
            <p:cNvPr id="12" name="Rectangle 12"/>
            <p:cNvSpPr/>
            <p:nvPr/>
          </p:nvSpPr>
          <p:spPr>
            <a:xfrm>
              <a:off x="5524500" y="3238500"/>
              <a:ext cx="2095500" cy="523875"/>
            </a:xfrm>
            <a:prstGeom prst="roundRect">
              <a:avLst>
                <a:gd name="adj" fmla="val 18182"/>
              </a:avLst>
            </a:prstGeom>
            <a:solidFill>
              <a:schemeClr val="lt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177305" y="3328035"/>
              <a:ext cx="7898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AI Copilot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289853" y="3553778"/>
              <a:ext cx="5647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Assists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7810500" y="2381250"/>
            <a:ext cx="2095500" cy="523875"/>
            <a:chOff x="7810500" y="2381250"/>
            <a:chExt cx="2095500" cy="523875"/>
          </a:xfrm>
        </p:grpSpPr>
        <p:sp>
          <p:nvSpPr>
            <p:cNvPr id="16" name="Rectangle 16"/>
            <p:cNvSpPr/>
            <p:nvPr/>
          </p:nvSpPr>
          <p:spPr>
            <a:xfrm>
              <a:off x="7810500" y="2381250"/>
              <a:ext cx="2095500" cy="523875"/>
            </a:xfrm>
            <a:prstGeom prst="roundRect">
              <a:avLst>
                <a:gd name="adj" fmla="val 18182"/>
              </a:avLst>
            </a:prstGeom>
            <a:solidFill>
              <a:schemeClr val="lt2"/>
            </a:solidFill>
            <a:ln w="9525">
              <a:solidFill>
                <a:schemeClr val="accent2"/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513369" y="2470785"/>
              <a:ext cx="6897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AI Agent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287409" y="2696528"/>
              <a:ext cx="114168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0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Executes tasks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8382000" y="1238250"/>
            <a:ext cx="3048000" cy="879634"/>
            <a:chOff x="8382000" y="1238250"/>
            <a:chExt cx="3048000" cy="879634"/>
          </a:xfrm>
        </p:grpSpPr>
        <p:sp>
          <p:nvSpPr>
            <p:cNvPr id="20" name="Rectangle 20"/>
            <p:cNvSpPr/>
            <p:nvPr/>
          </p:nvSpPr>
          <p:spPr>
            <a:xfrm>
              <a:off x="8382000" y="1238250"/>
              <a:ext cx="3048000" cy="857250"/>
            </a:xfrm>
            <a:prstGeom prst="roundRect">
              <a:avLst>
                <a:gd name="adj" fmla="val 11111"/>
              </a:avLst>
            </a:prstGeom>
            <a:solidFill>
              <a:schemeClr val="lt2"/>
            </a:solidFill>
            <a:ln w="19050">
              <a:solidFill>
                <a:schemeClr val="accent1"/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985126" y="1362075"/>
              <a:ext cx="184174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Research Partner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808451" y="1688306"/>
              <a:ext cx="21950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Plans, Searches, Analyzes,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195685" y="1897856"/>
              <a:ext cx="142063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Verifies, Reports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2095500" y="2095500"/>
            <a:ext cx="7429500" cy="2857500"/>
            <a:chOff x="2095500" y="2095500"/>
            <a:chExt cx="7429500" cy="2857500"/>
          </a:xfrm>
        </p:grpSpPr>
        <p:sp>
          <p:nvSpPr>
            <p:cNvPr id="25" name="Line 25"/>
            <p:cNvSpPr/>
            <p:nvPr/>
          </p:nvSpPr>
          <p:spPr>
            <a:xfrm>
              <a:off x="2095500" y="4619625"/>
              <a:ext cx="1143000" cy="333375"/>
            </a:xfrm>
            <a:custGeom>
              <a:avLst/>
              <a:gdLst/>
              <a:ahLst/>
              <a:cxnLst/>
              <a:rect l="l" t="t" r="r" b="b"/>
              <a:pathLst>
                <a:path w="1143000" h="333375">
                  <a:moveTo>
                    <a:pt x="0" y="333375"/>
                  </a:moveTo>
                  <a:lnTo>
                    <a:pt x="1143000" y="0"/>
                  </a:lnTo>
                </a:path>
              </a:pathLst>
            </a:custGeom>
            <a:noFill/>
            <a:ln w="14288">
              <a:solidFill>
                <a:srgbClr val="7A85A8">
                  <a:alpha val="40000"/>
                </a:srgbClr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Line 26"/>
            <p:cNvSpPr/>
            <p:nvPr/>
          </p:nvSpPr>
          <p:spPr>
            <a:xfrm>
              <a:off x="4286250" y="3762375"/>
              <a:ext cx="1238250" cy="333375"/>
            </a:xfrm>
            <a:custGeom>
              <a:avLst/>
              <a:gdLst/>
              <a:ahLst/>
              <a:cxnLst/>
              <a:rect l="l" t="t" r="r" b="b"/>
              <a:pathLst>
                <a:path w="1238250" h="333375">
                  <a:moveTo>
                    <a:pt x="0" y="333375"/>
                  </a:moveTo>
                  <a:lnTo>
                    <a:pt x="1238250" y="0"/>
                  </a:lnTo>
                </a:path>
              </a:pathLst>
            </a:custGeom>
            <a:noFill/>
            <a:ln w="14288">
              <a:solidFill>
                <a:srgbClr val="7A85A8">
                  <a:alpha val="50000"/>
                </a:srgbClr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Line 27"/>
            <p:cNvSpPr/>
            <p:nvPr/>
          </p:nvSpPr>
          <p:spPr>
            <a:xfrm>
              <a:off x="6572250" y="2905125"/>
              <a:ext cx="1238250" cy="333375"/>
            </a:xfrm>
            <a:custGeom>
              <a:avLst/>
              <a:gdLst/>
              <a:ahLst/>
              <a:cxnLst/>
              <a:rect l="l" t="t" r="r" b="b"/>
              <a:pathLst>
                <a:path w="1238250" h="333375">
                  <a:moveTo>
                    <a:pt x="0" y="333375"/>
                  </a:moveTo>
                  <a:lnTo>
                    <a:pt x="1238250" y="0"/>
                  </a:lnTo>
                </a:path>
              </a:pathLst>
            </a:custGeom>
            <a:noFill/>
            <a:ln w="14288">
              <a:solidFill>
                <a:schemeClr val="accent3">
                  <a:alpha val="60000"/>
                </a:schemeClr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Line 28"/>
            <p:cNvSpPr/>
            <p:nvPr/>
          </p:nvSpPr>
          <p:spPr>
            <a:xfrm>
              <a:off x="8858250" y="2095500"/>
              <a:ext cx="666750" cy="285750"/>
            </a:xfrm>
            <a:custGeom>
              <a:avLst/>
              <a:gdLst/>
              <a:ahLst/>
              <a:cxnLst/>
              <a:rect l="l" t="t" r="r" b="b"/>
              <a:pathLst>
                <a:path w="666750" h="285750">
                  <a:moveTo>
                    <a:pt x="0" y="285750"/>
                  </a:moveTo>
                  <a:lnTo>
                    <a:pt x="666750" y="0"/>
                  </a:lnTo>
                </a:path>
              </a:pathLst>
            </a:custGeom>
            <a:noFill/>
            <a:ln w="14288">
              <a:solidFill>
                <a:schemeClr val="accent2">
                  <a:alpha val="80000"/>
                </a:schemeClr>
              </a:solidFill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895350" y="1143000"/>
            <a:ext cx="2056743" cy="4381500"/>
            <a:chOff x="895350" y="1143000"/>
            <a:chExt cx="2056743" cy="4381500"/>
          </a:xfrm>
        </p:grpSpPr>
        <p:sp>
          <p:nvSpPr>
            <p:cNvPr id="30" name="Freeform 30"/>
            <p:cNvSpPr/>
            <p:nvPr/>
          </p:nvSpPr>
          <p:spPr>
            <a:xfrm>
              <a:off x="952500" y="1238250"/>
              <a:ext cx="9525" cy="4286250"/>
            </a:xfrm>
            <a:custGeom>
              <a:avLst/>
              <a:gdLst/>
              <a:ahLst/>
              <a:cxnLst/>
              <a:rect l="l" t="t" r="r" b="b"/>
              <a:pathLst>
                <a:path w="9525" h="4286250">
                  <a:moveTo>
                    <a:pt x="0" y="428625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chemeClr val="accent1">
                  <a:alpha val="30000"/>
                </a:schemeClr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Polygon 31"/>
            <p:cNvSpPr/>
            <p:nvPr/>
          </p:nvSpPr>
          <p:spPr>
            <a:xfrm>
              <a:off x="895350" y="1143000"/>
              <a:ext cx="114300" cy="190500"/>
            </a:xfrm>
            <a:custGeom>
              <a:avLst/>
              <a:gdLst/>
              <a:ahLst/>
              <a:cxnLst/>
              <a:rect l="l" t="t" r="r" b="b"/>
              <a:pathLst>
                <a:path w="114300" h="190500">
                  <a:moveTo>
                    <a:pt x="0" y="190500"/>
                  </a:moveTo>
                  <a:lnTo>
                    <a:pt x="57150" y="0"/>
                  </a:lnTo>
                  <a:lnTo>
                    <a:pt x="114300" y="190500"/>
                  </a:lnTo>
                  <a:close/>
                </a:path>
              </a:pathLst>
            </a:custGeom>
            <a:solidFill>
              <a:schemeClr val="accent1">
                <a:alpha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2" name="TextBox 32"/>
            <p:cNvSpPr txBox="1"/>
            <p:nvPr/>
          </p:nvSpPr>
          <p:spPr>
            <a:xfrm rot="-5400000">
              <a:off x="2363810" y="3436144"/>
              <a:ext cx="5882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900" dirty="0">
                  <a:solidFill>
                    <a:srgbClr val="7A85A8"/>
                  </a:solidFill>
                  <a:latin typeface="+mj-lt"/>
                  <a:ea typeface="+mj-ea"/>
                  <a:cs typeface="+mj-cs"/>
                </a:rPr>
                <a:t>Capability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3264934" y="6139815"/>
            <a:ext cx="5662132" cy="352044"/>
            <a:chOff x="3264934" y="6139815"/>
            <a:chExt cx="5662132" cy="352044"/>
          </a:xfrm>
        </p:grpSpPr>
        <p:sp>
          <p:nvSpPr>
            <p:cNvPr id="34" name="TextBox 34"/>
            <p:cNvSpPr txBox="1"/>
            <p:nvPr/>
          </p:nvSpPr>
          <p:spPr>
            <a:xfrm>
              <a:off x="3264934" y="6139815"/>
              <a:ext cx="56621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8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Researcher remains the scientific authority.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0" y="6619875"/>
            <a:ext cx="12192000" cy="238125"/>
            <a:chOff x="0" y="6619875"/>
            <a:chExt cx="12192000" cy="238125"/>
          </a:xfrm>
        </p:grpSpPr>
        <p:sp>
          <p:nvSpPr>
            <p:cNvPr id="36" name="Rectangle 36"/>
            <p:cNvSpPr/>
            <p:nvPr/>
          </p:nvSpPr>
          <p:spPr>
            <a:xfrm>
              <a:off x="0" y="6619875"/>
              <a:ext cx="12192000" cy="238125"/>
            </a:xfrm>
            <a:prstGeom prst="rect">
              <a:avLst/>
            </a:prstGeom>
            <a:solidFill>
              <a:srgbClr val="0D0F24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203998" y="6692741"/>
              <a:ext cx="378400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dirty="0">
                  <a:solidFill>
                    <a:srgbClr val="7A85A8"/>
                  </a:solidFill>
                  <a:latin typeface="+mj-lt"/>
                  <a:ea typeface="+mj-ea"/>
                  <a:cs typeface="+mj-cs"/>
                </a:rPr>
                <a:t>BioDockify — Building the Future of AI-Driven Pharmaceutical Research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3521518" y="421958"/>
            <a:ext cx="5148964" cy="616077"/>
            <a:chOff x="3521518" y="421958"/>
            <a:chExt cx="5148964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3521518" y="421958"/>
              <a:ext cx="5148964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Live Research Challenge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333500" y="1238250"/>
            <a:ext cx="9525000" cy="4572000"/>
            <a:chOff x="1333500" y="1238250"/>
            <a:chExt cx="9525000" cy="4572000"/>
          </a:xfrm>
        </p:grpSpPr>
        <p:sp>
          <p:nvSpPr>
            <p:cNvPr id="4" name="Rectangle 4"/>
            <p:cNvSpPr/>
            <p:nvPr/>
          </p:nvSpPr>
          <p:spPr>
            <a:xfrm>
              <a:off x="1333500" y="1238250"/>
              <a:ext cx="9525000" cy="4572000"/>
            </a:xfrm>
            <a:prstGeom prst="roundRect">
              <a:avLst>
                <a:gd name="adj" fmla="val 2917"/>
              </a:avLst>
            </a:prstGeom>
            <a:solidFill>
              <a:schemeClr val="lt2"/>
            </a:solidFill>
            <a:ln w="19050">
              <a:solidFill>
                <a:schemeClr val="accent1"/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3013228" y="1678305"/>
              <a:ext cx="61655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1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Let’s Give BioDockify a Research Question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1905000" y="2286000"/>
              <a:ext cx="8382000" cy="19050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2655929" y="2774632"/>
              <a:ext cx="688014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“Identify promising phytochemicals for Alzheimer’s disease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3376879" y="3108008"/>
              <a:ext cx="543824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research and develop a computational workflow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990414" y="3441382"/>
              <a:ext cx="221117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to evaluate them.”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905000" y="4000500"/>
              <a:ext cx="8382000" cy="19050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461060" y="4505325"/>
              <a:ext cx="52698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I am not going to select ten different tools first.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317471" y="4838700"/>
              <a:ext cx="555705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I am going to give BioDockify the research objective.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0" y="6619875"/>
            <a:ext cx="12192000" cy="238125"/>
            <a:chOff x="0" y="6619875"/>
            <a:chExt cx="12192000" cy="238125"/>
          </a:xfrm>
        </p:grpSpPr>
        <p:sp>
          <p:nvSpPr>
            <p:cNvPr id="14" name="Rectangle 14"/>
            <p:cNvSpPr/>
            <p:nvPr/>
          </p:nvSpPr>
          <p:spPr>
            <a:xfrm>
              <a:off x="0" y="6619875"/>
              <a:ext cx="12192000" cy="238125"/>
            </a:xfrm>
            <a:prstGeom prst="rect">
              <a:avLst/>
            </a:prstGeom>
            <a:solidFill>
              <a:srgbClr val="0D0F24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203998" y="6692741"/>
              <a:ext cx="378400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dirty="0">
                  <a:solidFill>
                    <a:srgbClr val="7A85A8"/>
                  </a:solidFill>
                  <a:latin typeface="+mj-lt"/>
                  <a:ea typeface="+mj-ea"/>
                  <a:cs typeface="+mj-cs"/>
                </a:rPr>
                <a:t>BioDockify — Building the Future of AI-Driven Pharmaceutical Research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2958523" y="279083"/>
            <a:ext cx="6274954" cy="616077"/>
            <a:chOff x="2958523" y="279083"/>
            <a:chExt cx="6274954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2958523" y="279083"/>
              <a:ext cx="6274954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BioDockify Research Planning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524000" y="952500"/>
            <a:ext cx="9144000" cy="495300"/>
            <a:chOff x="1524000" y="952500"/>
            <a:chExt cx="9144000" cy="495300"/>
          </a:xfrm>
        </p:grpSpPr>
        <p:sp>
          <p:nvSpPr>
            <p:cNvPr id="4" name="Rectangle 4"/>
            <p:cNvSpPr/>
            <p:nvPr/>
          </p:nvSpPr>
          <p:spPr>
            <a:xfrm>
              <a:off x="1524000" y="952500"/>
              <a:ext cx="9144000" cy="495300"/>
            </a:xfrm>
            <a:prstGeom prst="roundRect">
              <a:avLst>
                <a:gd name="adj" fmla="val 26923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Ellipse 5"/>
            <p:cNvSpPr/>
            <p:nvPr/>
          </p:nvSpPr>
          <p:spPr>
            <a:xfrm>
              <a:off x="1752600" y="1047750"/>
              <a:ext cx="304800" cy="3048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858851" y="114395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0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1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2230755" y="1095375"/>
              <a:ext cx="201088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Research Objective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524000" y="1543050"/>
            <a:ext cx="9144000" cy="495300"/>
            <a:chOff x="1524000" y="1543050"/>
            <a:chExt cx="9144000" cy="495300"/>
          </a:xfrm>
        </p:grpSpPr>
        <p:sp>
          <p:nvSpPr>
            <p:cNvPr id="9" name="Rectangle 9"/>
            <p:cNvSpPr/>
            <p:nvPr/>
          </p:nvSpPr>
          <p:spPr>
            <a:xfrm>
              <a:off x="1524000" y="1543050"/>
              <a:ext cx="9144000" cy="495300"/>
            </a:xfrm>
            <a:prstGeom prst="roundRect">
              <a:avLst>
                <a:gd name="adj" fmla="val 26923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Ellipse 10"/>
            <p:cNvSpPr/>
            <p:nvPr/>
          </p:nvSpPr>
          <p:spPr>
            <a:xfrm>
              <a:off x="1752600" y="1638300"/>
              <a:ext cx="304800" cy="3048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858851" y="173450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0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230755" y="1685925"/>
              <a:ext cx="206424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Research Questions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524000" y="2133600"/>
            <a:ext cx="9144000" cy="495300"/>
            <a:chOff x="1524000" y="2133600"/>
            <a:chExt cx="9144000" cy="495300"/>
          </a:xfrm>
        </p:grpSpPr>
        <p:sp>
          <p:nvSpPr>
            <p:cNvPr id="14" name="Rectangle 14"/>
            <p:cNvSpPr/>
            <p:nvPr/>
          </p:nvSpPr>
          <p:spPr>
            <a:xfrm>
              <a:off x="1524000" y="2133600"/>
              <a:ext cx="9144000" cy="495300"/>
            </a:xfrm>
            <a:prstGeom prst="roundRect">
              <a:avLst>
                <a:gd name="adj" fmla="val 26923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Ellipse 15"/>
            <p:cNvSpPr/>
            <p:nvPr/>
          </p:nvSpPr>
          <p:spPr>
            <a:xfrm>
              <a:off x="1752600" y="2228850"/>
              <a:ext cx="304800" cy="3048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858851" y="232505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0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3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230755" y="2276475"/>
              <a:ext cx="1134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Hypothesis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524000" y="2724150"/>
            <a:ext cx="9144000" cy="495300"/>
            <a:chOff x="1524000" y="2724150"/>
            <a:chExt cx="9144000" cy="495300"/>
          </a:xfrm>
        </p:grpSpPr>
        <p:sp>
          <p:nvSpPr>
            <p:cNvPr id="19" name="Rectangle 19"/>
            <p:cNvSpPr/>
            <p:nvPr/>
          </p:nvSpPr>
          <p:spPr>
            <a:xfrm>
              <a:off x="1524000" y="2724150"/>
              <a:ext cx="9144000" cy="495300"/>
            </a:xfrm>
            <a:prstGeom prst="roundRect">
              <a:avLst>
                <a:gd name="adj" fmla="val 26923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Ellipse 20"/>
            <p:cNvSpPr/>
            <p:nvPr/>
          </p:nvSpPr>
          <p:spPr>
            <a:xfrm>
              <a:off x="1752600" y="2819400"/>
              <a:ext cx="304800" cy="3048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858851" y="291560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0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4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230755" y="2867025"/>
              <a:ext cx="173493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Target Selection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524000" y="3314700"/>
            <a:ext cx="9144000" cy="495300"/>
            <a:chOff x="1524000" y="3314700"/>
            <a:chExt cx="9144000" cy="495300"/>
          </a:xfrm>
        </p:grpSpPr>
        <p:sp>
          <p:nvSpPr>
            <p:cNvPr id="24" name="Rectangle 24"/>
            <p:cNvSpPr/>
            <p:nvPr/>
          </p:nvSpPr>
          <p:spPr>
            <a:xfrm>
              <a:off x="1524000" y="3314700"/>
              <a:ext cx="9144000" cy="495300"/>
            </a:xfrm>
            <a:prstGeom prst="roundRect">
              <a:avLst>
                <a:gd name="adj" fmla="val 26923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Ellipse 25"/>
            <p:cNvSpPr/>
            <p:nvPr/>
          </p:nvSpPr>
          <p:spPr>
            <a:xfrm>
              <a:off x="1752600" y="3409950"/>
              <a:ext cx="304800" cy="3048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858851" y="350615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0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5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230755" y="3457575"/>
              <a:ext cx="194765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Data Requirements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524000" y="3905250"/>
            <a:ext cx="9144000" cy="495300"/>
            <a:chOff x="1524000" y="3905250"/>
            <a:chExt cx="9144000" cy="495300"/>
          </a:xfrm>
        </p:grpSpPr>
        <p:sp>
          <p:nvSpPr>
            <p:cNvPr id="29" name="Rectangle 29"/>
            <p:cNvSpPr/>
            <p:nvPr/>
          </p:nvSpPr>
          <p:spPr>
            <a:xfrm>
              <a:off x="1524000" y="3905250"/>
              <a:ext cx="9144000" cy="495300"/>
            </a:xfrm>
            <a:prstGeom prst="roundRect">
              <a:avLst>
                <a:gd name="adj" fmla="val 26923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Ellipse 30"/>
            <p:cNvSpPr/>
            <p:nvPr/>
          </p:nvSpPr>
          <p:spPr>
            <a:xfrm>
              <a:off x="1752600" y="4000500"/>
              <a:ext cx="304800" cy="3048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858851" y="409670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0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6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230755" y="4048125"/>
              <a:ext cx="240337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Computational Methods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524000" y="4495800"/>
            <a:ext cx="9144000" cy="495300"/>
            <a:chOff x="1524000" y="4495800"/>
            <a:chExt cx="9144000" cy="495300"/>
          </a:xfrm>
        </p:grpSpPr>
        <p:sp>
          <p:nvSpPr>
            <p:cNvPr id="34" name="Rectangle 34"/>
            <p:cNvSpPr/>
            <p:nvPr/>
          </p:nvSpPr>
          <p:spPr>
            <a:xfrm>
              <a:off x="1524000" y="4495800"/>
              <a:ext cx="9144000" cy="495300"/>
            </a:xfrm>
            <a:prstGeom prst="roundRect">
              <a:avLst>
                <a:gd name="adj" fmla="val 26923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5" name="Ellipse 35"/>
            <p:cNvSpPr/>
            <p:nvPr/>
          </p:nvSpPr>
          <p:spPr>
            <a:xfrm>
              <a:off x="1752600" y="4591050"/>
              <a:ext cx="304800" cy="3048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858851" y="468725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0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7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2230755" y="4638675"/>
              <a:ext cx="203149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Validation Strategy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1524000" y="5086350"/>
            <a:ext cx="9144000" cy="495300"/>
            <a:chOff x="1524000" y="5086350"/>
            <a:chExt cx="9144000" cy="495300"/>
          </a:xfrm>
        </p:grpSpPr>
        <p:sp>
          <p:nvSpPr>
            <p:cNvPr id="39" name="Rectangle 39"/>
            <p:cNvSpPr/>
            <p:nvPr/>
          </p:nvSpPr>
          <p:spPr>
            <a:xfrm>
              <a:off x="1524000" y="5086350"/>
              <a:ext cx="9144000" cy="495300"/>
            </a:xfrm>
            <a:prstGeom prst="roundRect">
              <a:avLst>
                <a:gd name="adj" fmla="val 26923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0" name="Ellipse 40"/>
            <p:cNvSpPr/>
            <p:nvPr/>
          </p:nvSpPr>
          <p:spPr>
            <a:xfrm>
              <a:off x="1752600" y="5181600"/>
              <a:ext cx="304800" cy="3048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858851" y="527780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0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8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2230755" y="5229225"/>
              <a:ext cx="188447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Expected Outputs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1240419" y="6076950"/>
            <a:ext cx="9711162" cy="293370"/>
            <a:chOff x="1240419" y="6076950"/>
            <a:chExt cx="9711162" cy="293370"/>
          </a:xfrm>
        </p:grpSpPr>
        <p:sp>
          <p:nvSpPr>
            <p:cNvPr id="44" name="TextBox 44"/>
            <p:cNvSpPr txBox="1"/>
            <p:nvPr/>
          </p:nvSpPr>
          <p:spPr>
            <a:xfrm>
              <a:off x="1240419" y="6076950"/>
              <a:ext cx="971116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The AI is not generating the scientific conclusion. It is helping construct the research plan.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0" y="6619875"/>
            <a:ext cx="12192000" cy="238125"/>
            <a:chOff x="0" y="6619875"/>
            <a:chExt cx="12192000" cy="238125"/>
          </a:xfrm>
        </p:grpSpPr>
        <p:sp>
          <p:nvSpPr>
            <p:cNvPr id="46" name="Rectangle 46"/>
            <p:cNvSpPr/>
            <p:nvPr/>
          </p:nvSpPr>
          <p:spPr>
            <a:xfrm>
              <a:off x="0" y="6619875"/>
              <a:ext cx="12192000" cy="238125"/>
            </a:xfrm>
            <a:prstGeom prst="rect">
              <a:avLst/>
            </a:prstGeom>
            <a:solidFill>
              <a:srgbClr val="0D0F24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4203998" y="6692741"/>
              <a:ext cx="378400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dirty="0">
                  <a:solidFill>
                    <a:srgbClr val="7A85A8"/>
                  </a:solidFill>
                  <a:latin typeface="+mj-lt"/>
                  <a:ea typeface="+mj-ea"/>
                  <a:cs typeface="+mj-cs"/>
                </a:rPr>
                <a:t>BioDockify — Building the Future of AI-Driven Pharmaceutical Research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2863589" y="279083"/>
            <a:ext cx="6464822" cy="616077"/>
            <a:chOff x="2863589" y="279083"/>
            <a:chExt cx="6464822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2863589" y="279083"/>
              <a:ext cx="646482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Internet-Connected Research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333500" y="1011555"/>
            <a:ext cx="3810000" cy="4131945"/>
            <a:chOff x="1333500" y="1011555"/>
            <a:chExt cx="3810000" cy="4131945"/>
          </a:xfrm>
        </p:grpSpPr>
        <p:sp>
          <p:nvSpPr>
            <p:cNvPr id="4" name="TextBox 4"/>
            <p:cNvSpPr txBox="1"/>
            <p:nvPr/>
          </p:nvSpPr>
          <p:spPr>
            <a:xfrm>
              <a:off x="2566549" y="1011555"/>
              <a:ext cx="1343901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100" b="1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LLM-only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1333500" y="1524000"/>
              <a:ext cx="3810000" cy="3619500"/>
            </a:xfrm>
            <a:prstGeom prst="roundRect">
              <a:avLst>
                <a:gd name="adj" fmla="val 3684"/>
              </a:avLst>
            </a:prstGeom>
            <a:solidFill>
              <a:schemeClr val="lt2">
                <a:alpha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Rectangle 6"/>
            <p:cNvSpPr/>
            <p:nvPr/>
          </p:nvSpPr>
          <p:spPr>
            <a:xfrm>
              <a:off x="2286000" y="2095500"/>
              <a:ext cx="1905000" cy="419100"/>
            </a:xfrm>
            <a:prstGeom prst="roundRect">
              <a:avLst>
                <a:gd name="adj" fmla="val 22727"/>
              </a:avLst>
            </a:prstGeom>
            <a:solidFill>
              <a:srgbClr val="2A2D4A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2595220" y="2216468"/>
              <a:ext cx="128656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Training Data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3238500" y="2514600"/>
              <a:ext cx="9525" cy="438150"/>
            </a:xfrm>
            <a:custGeom>
              <a:avLst/>
              <a:gdLst/>
              <a:ahLst/>
              <a:cxnLst/>
              <a:rect l="l" t="t" r="r" b="b"/>
              <a:pathLst>
                <a:path w="9525" h="438150">
                  <a:moveTo>
                    <a:pt x="0" y="0"/>
                  </a:moveTo>
                  <a:lnTo>
                    <a:pt x="0" y="438150"/>
                  </a:lnTo>
                </a:path>
              </a:pathLst>
            </a:custGeom>
            <a:noFill/>
            <a:ln w="19050">
              <a:solidFill>
                <a:schemeClr val="accent3">
                  <a:alpha val="40000"/>
                </a:schemeClr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Polygon 9"/>
            <p:cNvSpPr/>
            <p:nvPr/>
          </p:nvSpPr>
          <p:spPr>
            <a:xfrm>
              <a:off x="3181350" y="2905125"/>
              <a:ext cx="114300" cy="95250"/>
            </a:xfrm>
            <a:custGeom>
              <a:avLst/>
              <a:gdLst/>
              <a:ahLst/>
              <a:cxnLst/>
              <a:rect l="l" t="t" r="r" b="b"/>
              <a:pathLst>
                <a:path w="114300" h="95250">
                  <a:moveTo>
                    <a:pt x="0" y="0"/>
                  </a:moveTo>
                  <a:lnTo>
                    <a:pt x="114300" y="0"/>
                  </a:lnTo>
                  <a:lnTo>
                    <a:pt x="57150" y="95250"/>
                  </a:lnTo>
                  <a:close/>
                </a:path>
              </a:pathLst>
            </a:custGeom>
            <a:solidFill>
              <a:schemeClr val="accent3">
                <a:alpha val="4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Rectangle 10"/>
            <p:cNvSpPr/>
            <p:nvPr/>
          </p:nvSpPr>
          <p:spPr>
            <a:xfrm>
              <a:off x="2286000" y="3048000"/>
              <a:ext cx="1905000" cy="419100"/>
            </a:xfrm>
            <a:prstGeom prst="roundRect">
              <a:avLst>
                <a:gd name="adj" fmla="val 22727"/>
              </a:avLst>
            </a:prstGeom>
            <a:solidFill>
              <a:srgbClr val="2A2D4A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883598" y="3168968"/>
              <a:ext cx="70980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Answer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134130" y="4061460"/>
              <a:ext cx="220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dirty="0">
                  <a:solidFill>
                    <a:schemeClr val="accent3">
                      <a:alphaMod val="50000"/>
                    </a:schemeClr>
                  </a:solidFill>
                  <a:latin typeface="+mn-lt"/>
                  <a:ea typeface="+mn-ea"/>
                  <a:cs typeface="+mn-cs"/>
                </a:rPr>
                <a:t>Limited to training cutoff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296500" y="4299585"/>
              <a:ext cx="188399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dirty="0">
                  <a:solidFill>
                    <a:schemeClr val="accent3">
                      <a:alphaMod val="50000"/>
                    </a:schemeClr>
                  </a:solidFill>
                  <a:latin typeface="+mn-lt"/>
                  <a:ea typeface="+mn-ea"/>
                  <a:cs typeface="+mn-cs"/>
                </a:rPr>
                <a:t>No source verification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394132" y="4537710"/>
              <a:ext cx="16887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dirty="0">
                  <a:solidFill>
                    <a:schemeClr val="accent3">
                      <a:alphaMod val="50000"/>
                    </a:schemeClr>
                  </a:solidFill>
                  <a:latin typeface="+mn-lt"/>
                  <a:ea typeface="+mn-ea"/>
                  <a:cs typeface="+mn-cs"/>
                </a:rPr>
                <a:t>No current evidence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7048500" y="1011555"/>
            <a:ext cx="3810000" cy="5084445"/>
            <a:chOff x="7048500" y="1011555"/>
            <a:chExt cx="3810000" cy="5084445"/>
          </a:xfrm>
        </p:grpSpPr>
        <p:sp>
          <p:nvSpPr>
            <p:cNvPr id="16" name="TextBox 16"/>
            <p:cNvSpPr txBox="1"/>
            <p:nvPr/>
          </p:nvSpPr>
          <p:spPr>
            <a:xfrm>
              <a:off x="7489590" y="1011555"/>
              <a:ext cx="292781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1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BioDockify Approach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7048500" y="1524000"/>
              <a:ext cx="3810000" cy="4572000"/>
            </a:xfrm>
            <a:prstGeom prst="roundRect">
              <a:avLst>
                <a:gd name="adj" fmla="val 3500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Rectangle 18"/>
            <p:cNvSpPr/>
            <p:nvPr/>
          </p:nvSpPr>
          <p:spPr>
            <a:xfrm>
              <a:off x="7810500" y="1714500"/>
              <a:ext cx="2286000" cy="342900"/>
            </a:xfrm>
            <a:prstGeom prst="roundRect">
              <a:avLst>
                <a:gd name="adj" fmla="val 22222"/>
              </a:avLst>
            </a:prstGeom>
            <a:solidFill>
              <a:srgbClr val="2A2D4A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154352" y="1813560"/>
              <a:ext cx="15982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Research Question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8953500" y="2057400"/>
              <a:ext cx="9525" cy="190500"/>
            </a:xfrm>
            <a:custGeom>
              <a:avLst/>
              <a:gdLst/>
              <a:ahLst/>
              <a:cxnLst/>
              <a:rect l="l" t="t" r="r" b="b"/>
              <a:pathLst>
                <a:path w="9525" h="190500">
                  <a:moveTo>
                    <a:pt x="0" y="0"/>
                  </a:moveTo>
                  <a:lnTo>
                    <a:pt x="0" y="19050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Polygon 21"/>
            <p:cNvSpPr/>
            <p:nvPr/>
          </p:nvSpPr>
          <p:spPr>
            <a:xfrm>
              <a:off x="8896350" y="2209800"/>
              <a:ext cx="114300" cy="76200"/>
            </a:xfrm>
            <a:custGeom>
              <a:avLst/>
              <a:gdLst/>
              <a:ahLst/>
              <a:cxnLst/>
              <a:rect l="l" t="t" r="r" b="b"/>
              <a:pathLst>
                <a:path w="114300" h="76200">
                  <a:moveTo>
                    <a:pt x="0" y="0"/>
                  </a:moveTo>
                  <a:lnTo>
                    <a:pt x="114300" y="0"/>
                  </a:lnTo>
                  <a:lnTo>
                    <a:pt x="57150" y="762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Rectangle 22"/>
            <p:cNvSpPr/>
            <p:nvPr/>
          </p:nvSpPr>
          <p:spPr>
            <a:xfrm>
              <a:off x="7810500" y="2324100"/>
              <a:ext cx="2286000" cy="342900"/>
            </a:xfrm>
            <a:prstGeom prst="roundRect">
              <a:avLst>
                <a:gd name="adj" fmla="val 22222"/>
              </a:avLst>
            </a:prstGeom>
            <a:solidFill>
              <a:srgbClr val="2A2D4A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30121" y="2423160"/>
              <a:ext cx="224675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Live Information Retrieval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8953500" y="2667000"/>
              <a:ext cx="9525" cy="190500"/>
            </a:xfrm>
            <a:custGeom>
              <a:avLst/>
              <a:gdLst/>
              <a:ahLst/>
              <a:cxnLst/>
              <a:rect l="l" t="t" r="r" b="b"/>
              <a:pathLst>
                <a:path w="9525" h="190500">
                  <a:moveTo>
                    <a:pt x="0" y="0"/>
                  </a:moveTo>
                  <a:lnTo>
                    <a:pt x="0" y="19050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Polygon 25"/>
            <p:cNvSpPr/>
            <p:nvPr/>
          </p:nvSpPr>
          <p:spPr>
            <a:xfrm>
              <a:off x="8896350" y="2819400"/>
              <a:ext cx="114300" cy="76200"/>
            </a:xfrm>
            <a:custGeom>
              <a:avLst/>
              <a:gdLst/>
              <a:ahLst/>
              <a:cxnLst/>
              <a:rect l="l" t="t" r="r" b="b"/>
              <a:pathLst>
                <a:path w="114300" h="76200">
                  <a:moveTo>
                    <a:pt x="0" y="0"/>
                  </a:moveTo>
                  <a:lnTo>
                    <a:pt x="114300" y="0"/>
                  </a:lnTo>
                  <a:lnTo>
                    <a:pt x="57150" y="762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Rectangle 26"/>
            <p:cNvSpPr/>
            <p:nvPr/>
          </p:nvSpPr>
          <p:spPr>
            <a:xfrm>
              <a:off x="7810500" y="2933700"/>
              <a:ext cx="2286000" cy="342900"/>
            </a:xfrm>
            <a:prstGeom prst="roundRect">
              <a:avLst>
                <a:gd name="adj" fmla="val 22222"/>
              </a:avLst>
            </a:prstGeom>
            <a:solidFill>
              <a:srgbClr val="2A2D4A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86931" y="3032760"/>
              <a:ext cx="25331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Literature / Databases / Web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8953500" y="3276600"/>
              <a:ext cx="9525" cy="190500"/>
            </a:xfrm>
            <a:custGeom>
              <a:avLst/>
              <a:gdLst/>
              <a:ahLst/>
              <a:cxnLst/>
              <a:rect l="l" t="t" r="r" b="b"/>
              <a:pathLst>
                <a:path w="9525" h="190500">
                  <a:moveTo>
                    <a:pt x="0" y="0"/>
                  </a:moveTo>
                  <a:lnTo>
                    <a:pt x="0" y="19050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9" name="Polygon 29"/>
            <p:cNvSpPr/>
            <p:nvPr/>
          </p:nvSpPr>
          <p:spPr>
            <a:xfrm>
              <a:off x="8896350" y="3429000"/>
              <a:ext cx="114300" cy="76200"/>
            </a:xfrm>
            <a:custGeom>
              <a:avLst/>
              <a:gdLst/>
              <a:ahLst/>
              <a:cxnLst/>
              <a:rect l="l" t="t" r="r" b="b"/>
              <a:pathLst>
                <a:path w="114300" h="76200">
                  <a:moveTo>
                    <a:pt x="0" y="0"/>
                  </a:moveTo>
                  <a:lnTo>
                    <a:pt x="114300" y="0"/>
                  </a:lnTo>
                  <a:lnTo>
                    <a:pt x="57150" y="762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Rectangle 30"/>
            <p:cNvSpPr/>
            <p:nvPr/>
          </p:nvSpPr>
          <p:spPr>
            <a:xfrm>
              <a:off x="7810500" y="3543300"/>
              <a:ext cx="2286000" cy="342900"/>
            </a:xfrm>
            <a:prstGeom prst="roundRect">
              <a:avLst>
                <a:gd name="adj" fmla="val 22222"/>
              </a:avLst>
            </a:prstGeom>
            <a:solidFill>
              <a:srgbClr val="2A2D4A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099857" y="3642360"/>
              <a:ext cx="17072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Evidence Extraction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8953500" y="3886200"/>
              <a:ext cx="9525" cy="190500"/>
            </a:xfrm>
            <a:custGeom>
              <a:avLst/>
              <a:gdLst/>
              <a:ahLst/>
              <a:cxnLst/>
              <a:rect l="l" t="t" r="r" b="b"/>
              <a:pathLst>
                <a:path w="9525" h="190500">
                  <a:moveTo>
                    <a:pt x="0" y="0"/>
                  </a:moveTo>
                  <a:lnTo>
                    <a:pt x="0" y="19050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Polygon 33"/>
            <p:cNvSpPr/>
            <p:nvPr/>
          </p:nvSpPr>
          <p:spPr>
            <a:xfrm>
              <a:off x="8896350" y="4038600"/>
              <a:ext cx="114300" cy="76200"/>
            </a:xfrm>
            <a:custGeom>
              <a:avLst/>
              <a:gdLst/>
              <a:ahLst/>
              <a:cxnLst/>
              <a:rect l="l" t="t" r="r" b="b"/>
              <a:pathLst>
                <a:path w="114300" h="76200">
                  <a:moveTo>
                    <a:pt x="0" y="0"/>
                  </a:moveTo>
                  <a:lnTo>
                    <a:pt x="114300" y="0"/>
                  </a:lnTo>
                  <a:lnTo>
                    <a:pt x="57150" y="762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Rectangle 34"/>
            <p:cNvSpPr/>
            <p:nvPr/>
          </p:nvSpPr>
          <p:spPr>
            <a:xfrm>
              <a:off x="7810500" y="4152900"/>
              <a:ext cx="2286000" cy="342900"/>
            </a:xfrm>
            <a:prstGeom prst="roundRect">
              <a:avLst>
                <a:gd name="adj" fmla="val 22222"/>
              </a:avLst>
            </a:prstGeom>
            <a:solidFill>
              <a:srgbClr val="2A2D4A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121701" y="4251960"/>
              <a:ext cx="16635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Source Verification</a:t>
              </a:r>
            </a:p>
          </p:txBody>
        </p:sp>
        <p:sp>
          <p:nvSpPr>
            <p:cNvPr id="36" name="Line 36"/>
            <p:cNvSpPr/>
            <p:nvPr/>
          </p:nvSpPr>
          <p:spPr>
            <a:xfrm>
              <a:off x="8953500" y="4495800"/>
              <a:ext cx="9525" cy="190500"/>
            </a:xfrm>
            <a:custGeom>
              <a:avLst/>
              <a:gdLst/>
              <a:ahLst/>
              <a:cxnLst/>
              <a:rect l="l" t="t" r="r" b="b"/>
              <a:pathLst>
                <a:path w="9525" h="190500">
                  <a:moveTo>
                    <a:pt x="0" y="0"/>
                  </a:moveTo>
                  <a:lnTo>
                    <a:pt x="0" y="19050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Polygon 37"/>
            <p:cNvSpPr/>
            <p:nvPr/>
          </p:nvSpPr>
          <p:spPr>
            <a:xfrm>
              <a:off x="8896350" y="4648200"/>
              <a:ext cx="114300" cy="76200"/>
            </a:xfrm>
            <a:custGeom>
              <a:avLst/>
              <a:gdLst/>
              <a:ahLst/>
              <a:cxnLst/>
              <a:rect l="l" t="t" r="r" b="b"/>
              <a:pathLst>
                <a:path w="114300" h="76200">
                  <a:moveTo>
                    <a:pt x="0" y="0"/>
                  </a:moveTo>
                  <a:lnTo>
                    <a:pt x="114300" y="0"/>
                  </a:lnTo>
                  <a:lnTo>
                    <a:pt x="57150" y="762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8" name="Rectangle 38"/>
            <p:cNvSpPr/>
            <p:nvPr/>
          </p:nvSpPr>
          <p:spPr>
            <a:xfrm>
              <a:off x="7810500" y="4762500"/>
              <a:ext cx="2286000" cy="342900"/>
            </a:xfrm>
            <a:prstGeom prst="roundRect">
              <a:avLst>
                <a:gd name="adj" fmla="val 22222"/>
              </a:avLst>
            </a:prstGeom>
            <a:solidFill>
              <a:srgbClr val="2A2D4A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536737" y="4861560"/>
              <a:ext cx="8335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Synthesis</a:t>
              </a:r>
            </a:p>
          </p:txBody>
        </p:sp>
        <p:sp>
          <p:nvSpPr>
            <p:cNvPr id="40" name="Line 40"/>
            <p:cNvSpPr/>
            <p:nvPr/>
          </p:nvSpPr>
          <p:spPr>
            <a:xfrm>
              <a:off x="8953500" y="5105400"/>
              <a:ext cx="9525" cy="190500"/>
            </a:xfrm>
            <a:custGeom>
              <a:avLst/>
              <a:gdLst/>
              <a:ahLst/>
              <a:cxnLst/>
              <a:rect l="l" t="t" r="r" b="b"/>
              <a:pathLst>
                <a:path w="9525" h="190500">
                  <a:moveTo>
                    <a:pt x="0" y="0"/>
                  </a:moveTo>
                  <a:lnTo>
                    <a:pt x="0" y="19050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1" name="Polygon 41"/>
            <p:cNvSpPr/>
            <p:nvPr/>
          </p:nvSpPr>
          <p:spPr>
            <a:xfrm>
              <a:off x="8896350" y="5257800"/>
              <a:ext cx="114300" cy="76200"/>
            </a:xfrm>
            <a:custGeom>
              <a:avLst/>
              <a:gdLst/>
              <a:ahLst/>
              <a:cxnLst/>
              <a:rect l="l" t="t" r="r" b="b"/>
              <a:pathLst>
                <a:path w="114300" h="76200">
                  <a:moveTo>
                    <a:pt x="0" y="0"/>
                  </a:moveTo>
                  <a:lnTo>
                    <a:pt x="114300" y="0"/>
                  </a:lnTo>
                  <a:lnTo>
                    <a:pt x="57150" y="762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2" name="Rectangle 42"/>
            <p:cNvSpPr/>
            <p:nvPr/>
          </p:nvSpPr>
          <p:spPr>
            <a:xfrm>
              <a:off x="7810500" y="5372100"/>
              <a:ext cx="2286000" cy="342900"/>
            </a:xfrm>
            <a:prstGeom prst="roundRect">
              <a:avLst>
                <a:gd name="adj" fmla="val 22222"/>
              </a:avLst>
            </a:prstGeom>
            <a:solidFill>
              <a:srgbClr val="2A2D4A"/>
            </a:solidFill>
            <a:ln w="9525">
              <a:solidFill>
                <a:schemeClr val="accent1"/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981747" y="5471160"/>
              <a:ext cx="194350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Researcher Validation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724699" y="6219825"/>
            <a:ext cx="10742602" cy="293370"/>
            <a:chOff x="724699" y="6219825"/>
            <a:chExt cx="10742602" cy="293370"/>
          </a:xfrm>
        </p:grpSpPr>
        <p:sp>
          <p:nvSpPr>
            <p:cNvPr id="45" name="TextBox 45"/>
            <p:cNvSpPr txBox="1"/>
            <p:nvPr/>
          </p:nvSpPr>
          <p:spPr>
            <a:xfrm>
              <a:off x="724699" y="6219825"/>
              <a:ext cx="107426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Current scientific evidence should come from current sources — not only from an LLM’s memory.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0" y="6619875"/>
            <a:ext cx="12192000" cy="238125"/>
            <a:chOff x="0" y="6619875"/>
            <a:chExt cx="12192000" cy="238125"/>
          </a:xfrm>
        </p:grpSpPr>
        <p:sp>
          <p:nvSpPr>
            <p:cNvPr id="47" name="Rectangle 47"/>
            <p:cNvSpPr/>
            <p:nvPr/>
          </p:nvSpPr>
          <p:spPr>
            <a:xfrm>
              <a:off x="0" y="6619875"/>
              <a:ext cx="12192000" cy="238125"/>
            </a:xfrm>
            <a:prstGeom prst="rect">
              <a:avLst/>
            </a:prstGeom>
            <a:solidFill>
              <a:srgbClr val="0D0F24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4203998" y="6692741"/>
              <a:ext cx="378400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dirty="0">
                  <a:solidFill>
                    <a:srgbClr val="7A85A8"/>
                  </a:solidFill>
                  <a:latin typeface="+mj-lt"/>
                  <a:ea typeface="+mj-ea"/>
                  <a:cs typeface="+mj-cs"/>
                </a:rPr>
                <a:t>BioDockify — Building the Future of AI-Driven Pharmaceutical Research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3509266" y="212408"/>
            <a:ext cx="5173468" cy="616077"/>
            <a:chOff x="3509266" y="212408"/>
            <a:chExt cx="5173468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3509266" y="212408"/>
              <a:ext cx="517346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Agent + Scientific Tools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4762500" y="2667000"/>
            <a:ext cx="2667000" cy="1333500"/>
            <a:chOff x="4762500" y="2667000"/>
            <a:chExt cx="2667000" cy="1333500"/>
          </a:xfrm>
        </p:grpSpPr>
        <p:sp>
          <p:nvSpPr>
            <p:cNvPr id="4" name="Rectangle 4"/>
            <p:cNvSpPr/>
            <p:nvPr/>
          </p:nvSpPr>
          <p:spPr>
            <a:xfrm>
              <a:off x="4762500" y="2667000"/>
              <a:ext cx="2667000" cy="13335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 w="28575">
              <a:solidFill>
                <a:schemeClr val="accent1"/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497944" y="3108008"/>
              <a:ext cx="119611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BioDockify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763297" y="3393758"/>
              <a:ext cx="66540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Agent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2667000" y="1333500"/>
            <a:ext cx="6858000" cy="4000500"/>
            <a:chOff x="2667000" y="1333500"/>
            <a:chExt cx="6858000" cy="4000500"/>
          </a:xfrm>
        </p:grpSpPr>
        <p:sp>
          <p:nvSpPr>
            <p:cNvPr id="8" name="Line 8"/>
            <p:cNvSpPr/>
            <p:nvPr/>
          </p:nvSpPr>
          <p:spPr>
            <a:xfrm>
              <a:off x="2667000" y="1524000"/>
              <a:ext cx="2095500" cy="1524000"/>
            </a:xfrm>
            <a:custGeom>
              <a:avLst/>
              <a:gdLst/>
              <a:ahLst/>
              <a:cxnLst/>
              <a:rect l="l" t="t" r="r" b="b"/>
              <a:pathLst>
                <a:path w="2095500" h="1524000">
                  <a:moveTo>
                    <a:pt x="2095500" y="15240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chemeClr val="accent2">
                  <a:alpha val="40000"/>
                </a:schemeClr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Line 9"/>
            <p:cNvSpPr/>
            <p:nvPr/>
          </p:nvSpPr>
          <p:spPr>
            <a:xfrm>
              <a:off x="4381500" y="1333500"/>
              <a:ext cx="666750" cy="1333500"/>
            </a:xfrm>
            <a:custGeom>
              <a:avLst/>
              <a:gdLst/>
              <a:ahLst/>
              <a:cxnLst/>
              <a:rect l="l" t="t" r="r" b="b"/>
              <a:pathLst>
                <a:path w="666750" h="1333500">
                  <a:moveTo>
                    <a:pt x="666750" y="13335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chemeClr val="accent2">
                  <a:alpha val="40000"/>
                </a:schemeClr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Line 10"/>
            <p:cNvSpPr/>
            <p:nvPr/>
          </p:nvSpPr>
          <p:spPr>
            <a:xfrm>
              <a:off x="6096000" y="1333500"/>
              <a:ext cx="9525" cy="1333500"/>
            </a:xfrm>
            <a:custGeom>
              <a:avLst/>
              <a:gdLst/>
              <a:ahLst/>
              <a:cxnLst/>
              <a:rect l="l" t="t" r="r" b="b"/>
              <a:pathLst>
                <a:path w="9525" h="1333500">
                  <a:moveTo>
                    <a:pt x="0" y="13335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chemeClr val="accent2">
                  <a:alpha val="40000"/>
                </a:schemeClr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Line 11"/>
            <p:cNvSpPr/>
            <p:nvPr/>
          </p:nvSpPr>
          <p:spPr>
            <a:xfrm>
              <a:off x="7143750" y="1333500"/>
              <a:ext cx="666750" cy="1333500"/>
            </a:xfrm>
            <a:custGeom>
              <a:avLst/>
              <a:gdLst/>
              <a:ahLst/>
              <a:cxnLst/>
              <a:rect l="l" t="t" r="r" b="b"/>
              <a:pathLst>
                <a:path w="666750" h="1333500">
                  <a:moveTo>
                    <a:pt x="0" y="1333500"/>
                  </a:moveTo>
                  <a:lnTo>
                    <a:pt x="666750" y="0"/>
                  </a:lnTo>
                </a:path>
              </a:pathLst>
            </a:custGeom>
            <a:noFill/>
            <a:ln w="19050">
              <a:solidFill>
                <a:schemeClr val="accent2">
                  <a:alpha val="40000"/>
                </a:schemeClr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Line 12"/>
            <p:cNvSpPr/>
            <p:nvPr/>
          </p:nvSpPr>
          <p:spPr>
            <a:xfrm>
              <a:off x="7429500" y="1524000"/>
              <a:ext cx="2095500" cy="1524000"/>
            </a:xfrm>
            <a:custGeom>
              <a:avLst/>
              <a:gdLst/>
              <a:ahLst/>
              <a:cxnLst/>
              <a:rect l="l" t="t" r="r" b="b"/>
              <a:pathLst>
                <a:path w="2095500" h="1524000">
                  <a:moveTo>
                    <a:pt x="0" y="1524000"/>
                  </a:moveTo>
                  <a:lnTo>
                    <a:pt x="2095500" y="0"/>
                  </a:lnTo>
                </a:path>
              </a:pathLst>
            </a:custGeom>
            <a:noFill/>
            <a:ln w="19050">
              <a:solidFill>
                <a:schemeClr val="accent2">
                  <a:alpha val="40000"/>
                </a:schemeClr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Line 13"/>
            <p:cNvSpPr/>
            <p:nvPr/>
          </p:nvSpPr>
          <p:spPr>
            <a:xfrm>
              <a:off x="2667000" y="3619500"/>
              <a:ext cx="2095500" cy="1333500"/>
            </a:xfrm>
            <a:custGeom>
              <a:avLst/>
              <a:gdLst/>
              <a:ahLst/>
              <a:cxnLst/>
              <a:rect l="l" t="t" r="r" b="b"/>
              <a:pathLst>
                <a:path w="2095500" h="1333500">
                  <a:moveTo>
                    <a:pt x="2095500" y="0"/>
                  </a:moveTo>
                  <a:lnTo>
                    <a:pt x="0" y="1333500"/>
                  </a:lnTo>
                </a:path>
              </a:pathLst>
            </a:custGeom>
            <a:noFill/>
            <a:ln w="19050">
              <a:solidFill>
                <a:schemeClr val="accent2">
                  <a:alpha val="40000"/>
                </a:schemeClr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Line 14"/>
            <p:cNvSpPr/>
            <p:nvPr/>
          </p:nvSpPr>
          <p:spPr>
            <a:xfrm>
              <a:off x="4381500" y="4000500"/>
              <a:ext cx="666750" cy="1333500"/>
            </a:xfrm>
            <a:custGeom>
              <a:avLst/>
              <a:gdLst/>
              <a:ahLst/>
              <a:cxnLst/>
              <a:rect l="l" t="t" r="r" b="b"/>
              <a:pathLst>
                <a:path w="666750" h="1333500">
                  <a:moveTo>
                    <a:pt x="666750" y="0"/>
                  </a:moveTo>
                  <a:lnTo>
                    <a:pt x="0" y="1333500"/>
                  </a:lnTo>
                </a:path>
              </a:pathLst>
            </a:custGeom>
            <a:noFill/>
            <a:ln w="19050">
              <a:solidFill>
                <a:schemeClr val="accent2">
                  <a:alpha val="40000"/>
                </a:schemeClr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Line 15"/>
            <p:cNvSpPr/>
            <p:nvPr/>
          </p:nvSpPr>
          <p:spPr>
            <a:xfrm>
              <a:off x="6096000" y="4000500"/>
              <a:ext cx="9525" cy="1333500"/>
            </a:xfrm>
            <a:custGeom>
              <a:avLst/>
              <a:gdLst/>
              <a:ahLst/>
              <a:cxnLst/>
              <a:rect l="l" t="t" r="r" b="b"/>
              <a:pathLst>
                <a:path w="9525" h="1333500">
                  <a:moveTo>
                    <a:pt x="0" y="0"/>
                  </a:moveTo>
                  <a:lnTo>
                    <a:pt x="0" y="1333500"/>
                  </a:lnTo>
                </a:path>
              </a:pathLst>
            </a:custGeom>
            <a:noFill/>
            <a:ln w="19050">
              <a:solidFill>
                <a:schemeClr val="accent2">
                  <a:alpha val="40000"/>
                </a:schemeClr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Line 16"/>
            <p:cNvSpPr/>
            <p:nvPr/>
          </p:nvSpPr>
          <p:spPr>
            <a:xfrm>
              <a:off x="7143750" y="4000500"/>
              <a:ext cx="666750" cy="1333500"/>
            </a:xfrm>
            <a:custGeom>
              <a:avLst/>
              <a:gdLst/>
              <a:ahLst/>
              <a:cxnLst/>
              <a:rect l="l" t="t" r="r" b="b"/>
              <a:pathLst>
                <a:path w="666750" h="1333500">
                  <a:moveTo>
                    <a:pt x="0" y="0"/>
                  </a:moveTo>
                  <a:lnTo>
                    <a:pt x="666750" y="1333500"/>
                  </a:lnTo>
                </a:path>
              </a:pathLst>
            </a:custGeom>
            <a:noFill/>
            <a:ln w="19050">
              <a:solidFill>
                <a:schemeClr val="accent2">
                  <a:alpha val="40000"/>
                </a:schemeClr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Line 17"/>
            <p:cNvSpPr/>
            <p:nvPr/>
          </p:nvSpPr>
          <p:spPr>
            <a:xfrm>
              <a:off x="7429500" y="3619500"/>
              <a:ext cx="2095500" cy="1333500"/>
            </a:xfrm>
            <a:custGeom>
              <a:avLst/>
              <a:gdLst/>
              <a:ahLst/>
              <a:cxnLst/>
              <a:rect l="l" t="t" r="r" b="b"/>
              <a:pathLst>
                <a:path w="2095500" h="1333500">
                  <a:moveTo>
                    <a:pt x="0" y="0"/>
                  </a:moveTo>
                  <a:lnTo>
                    <a:pt x="2095500" y="1333500"/>
                  </a:lnTo>
                </a:path>
              </a:pathLst>
            </a:custGeom>
            <a:noFill/>
            <a:ln w="19050">
              <a:solidFill>
                <a:schemeClr val="accent2">
                  <a:alpha val="40000"/>
                </a:schemeClr>
              </a:solidFill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619250" y="1143000"/>
            <a:ext cx="2095500" cy="476250"/>
            <a:chOff x="1619250" y="1143000"/>
            <a:chExt cx="2095500" cy="476250"/>
          </a:xfrm>
        </p:grpSpPr>
        <p:sp>
          <p:nvSpPr>
            <p:cNvPr id="19" name="Rectangle 19"/>
            <p:cNvSpPr/>
            <p:nvPr/>
          </p:nvSpPr>
          <p:spPr>
            <a:xfrm>
              <a:off x="1619250" y="1143000"/>
              <a:ext cx="2095500" cy="476250"/>
            </a:xfrm>
            <a:prstGeom prst="roundRect">
              <a:avLst>
                <a:gd name="adj" fmla="val 28000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985437" y="1308735"/>
              <a:ext cx="13631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Literature Agent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3429000" y="952500"/>
            <a:ext cx="1905000" cy="476250"/>
            <a:chOff x="3429000" y="952500"/>
            <a:chExt cx="1905000" cy="476250"/>
          </a:xfrm>
        </p:grpSpPr>
        <p:sp>
          <p:nvSpPr>
            <p:cNvPr id="22" name="Rectangle 22"/>
            <p:cNvSpPr/>
            <p:nvPr/>
          </p:nvSpPr>
          <p:spPr>
            <a:xfrm>
              <a:off x="3429000" y="952500"/>
              <a:ext cx="1905000" cy="476250"/>
            </a:xfrm>
            <a:prstGeom prst="roundRect">
              <a:avLst>
                <a:gd name="adj" fmla="val 28000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748430" y="1118235"/>
              <a:ext cx="126613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Chemistry Tools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143500" y="904875"/>
            <a:ext cx="1905000" cy="476250"/>
            <a:chOff x="5143500" y="904875"/>
            <a:chExt cx="1905000" cy="476250"/>
          </a:xfrm>
        </p:grpSpPr>
        <p:sp>
          <p:nvSpPr>
            <p:cNvPr id="25" name="Rectangle 25"/>
            <p:cNvSpPr/>
            <p:nvPr/>
          </p:nvSpPr>
          <p:spPr>
            <a:xfrm>
              <a:off x="5143500" y="904875"/>
              <a:ext cx="1905000" cy="476250"/>
            </a:xfrm>
            <a:prstGeom prst="roundRect">
              <a:avLst>
                <a:gd name="adj" fmla="val 28000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523650" y="1070610"/>
              <a:ext cx="11447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Docking Engine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858000" y="952500"/>
            <a:ext cx="1905000" cy="476250"/>
            <a:chOff x="6858000" y="952500"/>
            <a:chExt cx="1905000" cy="476250"/>
          </a:xfrm>
        </p:grpSpPr>
        <p:sp>
          <p:nvSpPr>
            <p:cNvPr id="28" name="Rectangle 28"/>
            <p:cNvSpPr/>
            <p:nvPr/>
          </p:nvSpPr>
          <p:spPr>
            <a:xfrm>
              <a:off x="6858000" y="952500"/>
              <a:ext cx="1905000" cy="476250"/>
            </a:xfrm>
            <a:prstGeom prst="roundRect">
              <a:avLst>
                <a:gd name="adj" fmla="val 28000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599578" y="1118235"/>
              <a:ext cx="42184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QSAR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8477250" y="1143000"/>
            <a:ext cx="2095500" cy="476250"/>
            <a:chOff x="8477250" y="1143000"/>
            <a:chExt cx="2095500" cy="476250"/>
          </a:xfrm>
        </p:grpSpPr>
        <p:sp>
          <p:nvSpPr>
            <p:cNvPr id="31" name="Rectangle 31"/>
            <p:cNvSpPr/>
            <p:nvPr/>
          </p:nvSpPr>
          <p:spPr>
            <a:xfrm>
              <a:off x="8477250" y="1143000"/>
              <a:ext cx="2095500" cy="476250"/>
            </a:xfrm>
            <a:prstGeom prst="roundRect">
              <a:avLst>
                <a:gd name="adj" fmla="val 28000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922645" y="1308735"/>
              <a:ext cx="120471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Pharmacophore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619250" y="4572000"/>
            <a:ext cx="2095500" cy="476250"/>
            <a:chOff x="1619250" y="4572000"/>
            <a:chExt cx="2095500" cy="476250"/>
          </a:xfrm>
        </p:grpSpPr>
        <p:sp>
          <p:nvSpPr>
            <p:cNvPr id="34" name="Rectangle 34"/>
            <p:cNvSpPr/>
            <p:nvPr/>
          </p:nvSpPr>
          <p:spPr>
            <a:xfrm>
              <a:off x="1619250" y="4572000"/>
              <a:ext cx="2095500" cy="476250"/>
            </a:xfrm>
            <a:prstGeom prst="roundRect">
              <a:avLst>
                <a:gd name="adj" fmla="val 28000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409139" y="4737735"/>
              <a:ext cx="51572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ADMET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3429000" y="4953000"/>
            <a:ext cx="1905000" cy="476250"/>
            <a:chOff x="3429000" y="4953000"/>
            <a:chExt cx="1905000" cy="476250"/>
          </a:xfrm>
        </p:grpSpPr>
        <p:sp>
          <p:nvSpPr>
            <p:cNvPr id="37" name="Rectangle 37"/>
            <p:cNvSpPr/>
            <p:nvPr/>
          </p:nvSpPr>
          <p:spPr>
            <a:xfrm>
              <a:off x="3429000" y="4953000"/>
              <a:ext cx="1905000" cy="476250"/>
            </a:xfrm>
            <a:prstGeom prst="roundRect">
              <a:avLst>
                <a:gd name="adj" fmla="val 28000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838861" y="5118735"/>
              <a:ext cx="108527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MD Simulation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5143500" y="4953000"/>
            <a:ext cx="1905000" cy="476250"/>
            <a:chOff x="5143500" y="4953000"/>
            <a:chExt cx="1905000" cy="476250"/>
          </a:xfrm>
        </p:grpSpPr>
        <p:sp>
          <p:nvSpPr>
            <p:cNvPr id="40" name="Rectangle 40"/>
            <p:cNvSpPr/>
            <p:nvPr/>
          </p:nvSpPr>
          <p:spPr>
            <a:xfrm>
              <a:off x="5143500" y="4953000"/>
              <a:ext cx="1905000" cy="476250"/>
            </a:xfrm>
            <a:prstGeom prst="roundRect">
              <a:avLst>
                <a:gd name="adj" fmla="val 28000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683758" y="5118735"/>
              <a:ext cx="824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Statistics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6858000" y="4953000"/>
            <a:ext cx="1905000" cy="476250"/>
            <a:chOff x="6858000" y="4953000"/>
            <a:chExt cx="1905000" cy="476250"/>
          </a:xfrm>
        </p:grpSpPr>
        <p:sp>
          <p:nvSpPr>
            <p:cNvPr id="43" name="Rectangle 43"/>
            <p:cNvSpPr/>
            <p:nvPr/>
          </p:nvSpPr>
          <p:spPr>
            <a:xfrm>
              <a:off x="6858000" y="4953000"/>
              <a:ext cx="1905000" cy="476250"/>
            </a:xfrm>
            <a:prstGeom prst="roundRect">
              <a:avLst>
                <a:gd name="adj" fmla="val 28000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305493" y="5118735"/>
              <a:ext cx="101001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Visualization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8477250" y="4572000"/>
            <a:ext cx="2095500" cy="476250"/>
            <a:chOff x="8477250" y="4572000"/>
            <a:chExt cx="2095500" cy="476250"/>
          </a:xfrm>
        </p:grpSpPr>
        <p:sp>
          <p:nvSpPr>
            <p:cNvPr id="46" name="Rectangle 46"/>
            <p:cNvSpPr/>
            <p:nvPr/>
          </p:nvSpPr>
          <p:spPr>
            <a:xfrm>
              <a:off x="8477250" y="4572000"/>
              <a:ext cx="2095500" cy="476250"/>
            </a:xfrm>
            <a:prstGeom prst="roundRect">
              <a:avLst>
                <a:gd name="adj" fmla="val 28000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875645" y="4737735"/>
              <a:ext cx="12987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Academic Writer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0" y="6619875"/>
            <a:ext cx="12192000" cy="238125"/>
            <a:chOff x="0" y="6619875"/>
            <a:chExt cx="12192000" cy="238125"/>
          </a:xfrm>
        </p:grpSpPr>
        <p:sp>
          <p:nvSpPr>
            <p:cNvPr id="49" name="Rectangle 49"/>
            <p:cNvSpPr/>
            <p:nvPr/>
          </p:nvSpPr>
          <p:spPr>
            <a:xfrm>
              <a:off x="0" y="6619875"/>
              <a:ext cx="12192000" cy="238125"/>
            </a:xfrm>
            <a:prstGeom prst="rect">
              <a:avLst/>
            </a:prstGeom>
            <a:solidFill>
              <a:srgbClr val="0D0F24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4203998" y="6692741"/>
              <a:ext cx="378400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dirty="0">
                  <a:solidFill>
                    <a:srgbClr val="7A85A8"/>
                  </a:solidFill>
                  <a:latin typeface="+mj-lt"/>
                  <a:ea typeface="+mj-ea"/>
                  <a:cs typeface="+mj-cs"/>
                </a:rPr>
                <a:t>BioDockify — Building the Future of AI-Driven Pharmaceutical Research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1302858" y="260985"/>
            <a:ext cx="9586283" cy="528066"/>
            <a:chOff x="1302858" y="260985"/>
            <a:chExt cx="9586283" cy="528066"/>
          </a:xfrm>
        </p:grpSpPr>
        <p:sp>
          <p:nvSpPr>
            <p:cNvPr id="2" name="TextBox 2"/>
            <p:cNvSpPr txBox="1"/>
            <p:nvPr/>
          </p:nvSpPr>
          <p:spPr>
            <a:xfrm>
              <a:off x="1302858" y="260985"/>
              <a:ext cx="958628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7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One Research Question → Multiple Scientific Stages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4259088" y="710565"/>
            <a:ext cx="3673825" cy="352044"/>
            <a:chOff x="4259088" y="710565"/>
            <a:chExt cx="3673825" cy="352044"/>
          </a:xfrm>
        </p:grpSpPr>
        <p:sp>
          <p:nvSpPr>
            <p:cNvPr id="4" name="TextBox 4"/>
            <p:cNvSpPr txBox="1"/>
            <p:nvPr/>
          </p:nvSpPr>
          <p:spPr>
            <a:xfrm>
              <a:off x="4259088" y="710565"/>
              <a:ext cx="36738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8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Alzheimer’s + Phytochemicals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19125" y="1428750"/>
            <a:ext cx="9350375" cy="1400175"/>
            <a:chOff x="619125" y="1428750"/>
            <a:chExt cx="9350375" cy="1400175"/>
          </a:xfrm>
        </p:grpSpPr>
        <p:sp>
          <p:nvSpPr>
            <p:cNvPr id="6" name="Rectangle 6"/>
            <p:cNvSpPr/>
            <p:nvPr/>
          </p:nvSpPr>
          <p:spPr>
            <a:xfrm>
              <a:off x="619125" y="1428750"/>
              <a:ext cx="1476375" cy="4191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 w="14288">
              <a:solidFill>
                <a:schemeClr val="accent1"/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974069" y="1582102"/>
              <a:ext cx="7569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05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Literature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2095500" y="1638300"/>
              <a:ext cx="190500" cy="9525"/>
            </a:xfrm>
            <a:custGeom>
              <a:avLst/>
              <a:gdLst/>
              <a:ahLst/>
              <a:cxnLst/>
              <a:rect l="l" t="t" r="r" b="b"/>
              <a:pathLst>
                <a:path w="190500" h="9525">
                  <a:moveTo>
                    <a:pt x="0" y="0"/>
                  </a:moveTo>
                  <a:lnTo>
                    <a:pt x="19050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Polygon 9"/>
            <p:cNvSpPr/>
            <p:nvPr/>
          </p:nvSpPr>
          <p:spPr>
            <a:xfrm>
              <a:off x="2257425" y="159067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0"/>
                  </a:moveTo>
                  <a:lnTo>
                    <a:pt x="95250" y="47625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Rectangle 10"/>
            <p:cNvSpPr/>
            <p:nvPr/>
          </p:nvSpPr>
          <p:spPr>
            <a:xfrm>
              <a:off x="2381250" y="1428750"/>
              <a:ext cx="1476375" cy="4191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 w="14288">
              <a:solidFill>
                <a:schemeClr val="accent1"/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429895" y="1582102"/>
              <a:ext cx="13695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05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Disease Mechanisms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3857625" y="1638300"/>
              <a:ext cx="190500" cy="9525"/>
            </a:xfrm>
            <a:custGeom>
              <a:avLst/>
              <a:gdLst/>
              <a:ahLst/>
              <a:cxnLst/>
              <a:rect l="l" t="t" r="r" b="b"/>
              <a:pathLst>
                <a:path w="190500" h="9525">
                  <a:moveTo>
                    <a:pt x="0" y="0"/>
                  </a:moveTo>
                  <a:lnTo>
                    <a:pt x="19050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Polygon 13"/>
            <p:cNvSpPr/>
            <p:nvPr/>
          </p:nvSpPr>
          <p:spPr>
            <a:xfrm>
              <a:off x="4019550" y="159067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0"/>
                  </a:moveTo>
                  <a:lnTo>
                    <a:pt x="95250" y="47625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Rectangle 14"/>
            <p:cNvSpPr/>
            <p:nvPr/>
          </p:nvSpPr>
          <p:spPr>
            <a:xfrm>
              <a:off x="4143375" y="1428750"/>
              <a:ext cx="1476375" cy="4191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 w="14288">
              <a:solidFill>
                <a:schemeClr val="accent1"/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550284" y="1582102"/>
              <a:ext cx="65303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05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Target ID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5619750" y="1638300"/>
              <a:ext cx="190500" cy="9525"/>
            </a:xfrm>
            <a:custGeom>
              <a:avLst/>
              <a:gdLst/>
              <a:ahLst/>
              <a:cxnLst/>
              <a:rect l="l" t="t" r="r" b="b"/>
              <a:pathLst>
                <a:path w="190500" h="9525">
                  <a:moveTo>
                    <a:pt x="0" y="0"/>
                  </a:moveTo>
                  <a:lnTo>
                    <a:pt x="19050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Polygon 17"/>
            <p:cNvSpPr/>
            <p:nvPr/>
          </p:nvSpPr>
          <p:spPr>
            <a:xfrm>
              <a:off x="5781675" y="159067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0"/>
                  </a:moveTo>
                  <a:lnTo>
                    <a:pt x="95250" y="47625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905500" y="1428750"/>
              <a:ext cx="1857375" cy="4191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 w="14288">
              <a:solidFill>
                <a:schemeClr val="accent1"/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982277" y="1582102"/>
              <a:ext cx="16942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05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Phytochemical Discovery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7762875" y="1638300"/>
              <a:ext cx="190500" cy="9525"/>
            </a:xfrm>
            <a:custGeom>
              <a:avLst/>
              <a:gdLst/>
              <a:ahLst/>
              <a:cxnLst/>
              <a:rect l="l" t="t" r="r" b="b"/>
              <a:pathLst>
                <a:path w="190500" h="9525">
                  <a:moveTo>
                    <a:pt x="0" y="0"/>
                  </a:moveTo>
                  <a:lnTo>
                    <a:pt x="19050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Polygon 21"/>
            <p:cNvSpPr/>
            <p:nvPr/>
          </p:nvSpPr>
          <p:spPr>
            <a:xfrm>
              <a:off x="7924800" y="159067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0"/>
                  </a:moveTo>
                  <a:lnTo>
                    <a:pt x="95250" y="47625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Rectangle 22"/>
            <p:cNvSpPr/>
            <p:nvPr/>
          </p:nvSpPr>
          <p:spPr>
            <a:xfrm>
              <a:off x="8048625" y="1428750"/>
              <a:ext cx="1666875" cy="4191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 w="14288">
              <a:solidFill>
                <a:schemeClr val="accent1"/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182102" y="1582102"/>
              <a:ext cx="139039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05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Structure Retrieval</a:t>
              </a:r>
            </a:p>
          </p:txBody>
        </p:sp>
        <p:sp>
          <p:nvSpPr>
            <p:cNvPr id="24" name="Freeform 24"/>
            <p:cNvSpPr/>
            <p:nvPr/>
          </p:nvSpPr>
          <p:spPr>
            <a:xfrm>
              <a:off x="2095500" y="1847850"/>
              <a:ext cx="7874000" cy="914400"/>
            </a:xfrm>
            <a:custGeom>
              <a:avLst/>
              <a:gdLst/>
              <a:ahLst/>
              <a:cxnLst/>
              <a:rect l="l" t="t" r="r" b="b"/>
              <a:pathLst>
                <a:path w="7874000" h="914400">
                  <a:moveTo>
                    <a:pt x="7620000" y="0"/>
                  </a:moveTo>
                  <a:cubicBezTo>
                    <a:pt x="7874000" y="228600"/>
                    <a:pt x="7874000" y="438150"/>
                    <a:pt x="7620000" y="628650"/>
                  </a:cubicBezTo>
                  <a:lnTo>
                    <a:pt x="381000" y="628650"/>
                  </a:lnTo>
                  <a:cubicBezTo>
                    <a:pt x="127000" y="628650"/>
                    <a:pt x="0" y="723900"/>
                    <a:pt x="0" y="914400"/>
                  </a:cubicBez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Polygon 25"/>
            <p:cNvSpPr/>
            <p:nvPr/>
          </p:nvSpPr>
          <p:spPr>
            <a:xfrm>
              <a:off x="2047875" y="273367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0"/>
                  </a:moveTo>
                  <a:lnTo>
                    <a:pt x="95250" y="0"/>
                  </a:lnTo>
                  <a:lnTo>
                    <a:pt x="47625" y="9525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619125" y="2952750"/>
            <a:ext cx="9982200" cy="419100"/>
            <a:chOff x="619125" y="2952750"/>
            <a:chExt cx="9982200" cy="419100"/>
          </a:xfrm>
        </p:grpSpPr>
        <p:sp>
          <p:nvSpPr>
            <p:cNvPr id="27" name="Rectangle 27"/>
            <p:cNvSpPr/>
            <p:nvPr/>
          </p:nvSpPr>
          <p:spPr>
            <a:xfrm>
              <a:off x="619125" y="2952750"/>
              <a:ext cx="1428750" cy="4191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 w="14288">
              <a:solidFill>
                <a:schemeClr val="accent1"/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55957" y="3106102"/>
              <a:ext cx="9550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05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Drug-likeness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2047875" y="3162300"/>
              <a:ext cx="142875" cy="9525"/>
            </a:xfrm>
            <a:custGeom>
              <a:avLst/>
              <a:gdLst/>
              <a:ahLst/>
              <a:cxnLst/>
              <a:rect l="l" t="t" r="r" b="b"/>
              <a:pathLst>
                <a:path w="142875" h="9525">
                  <a:moveTo>
                    <a:pt x="0" y="0"/>
                  </a:moveTo>
                  <a:lnTo>
                    <a:pt x="142875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Polygon 30"/>
            <p:cNvSpPr/>
            <p:nvPr/>
          </p:nvSpPr>
          <p:spPr>
            <a:xfrm>
              <a:off x="2162175" y="311467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0"/>
                  </a:moveTo>
                  <a:lnTo>
                    <a:pt x="95250" y="47625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Rectangle 31"/>
            <p:cNvSpPr/>
            <p:nvPr/>
          </p:nvSpPr>
          <p:spPr>
            <a:xfrm>
              <a:off x="2266950" y="2952750"/>
              <a:ext cx="1143000" cy="4191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 w="14288">
              <a:solidFill>
                <a:schemeClr val="accent1"/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576627" y="3106102"/>
              <a:ext cx="52364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05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Docking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3409950" y="3162300"/>
              <a:ext cx="142875" cy="9525"/>
            </a:xfrm>
            <a:custGeom>
              <a:avLst/>
              <a:gdLst/>
              <a:ahLst/>
              <a:cxnLst/>
              <a:rect l="l" t="t" r="r" b="b"/>
              <a:pathLst>
                <a:path w="142875" h="9525">
                  <a:moveTo>
                    <a:pt x="0" y="0"/>
                  </a:moveTo>
                  <a:lnTo>
                    <a:pt x="142875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Polygon 34"/>
            <p:cNvSpPr/>
            <p:nvPr/>
          </p:nvSpPr>
          <p:spPr>
            <a:xfrm>
              <a:off x="3524250" y="311467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0"/>
                  </a:moveTo>
                  <a:lnTo>
                    <a:pt x="95250" y="47625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5" name="Rectangle 35"/>
            <p:cNvSpPr/>
            <p:nvPr/>
          </p:nvSpPr>
          <p:spPr>
            <a:xfrm>
              <a:off x="3619500" y="2952750"/>
              <a:ext cx="1143000" cy="4191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 w="14288">
              <a:solidFill>
                <a:schemeClr val="accent1"/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965372" y="3106102"/>
              <a:ext cx="4512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05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ADMET</a:t>
              </a:r>
            </a:p>
          </p:txBody>
        </p:sp>
        <p:sp>
          <p:nvSpPr>
            <p:cNvPr id="37" name="Line 37"/>
            <p:cNvSpPr/>
            <p:nvPr/>
          </p:nvSpPr>
          <p:spPr>
            <a:xfrm>
              <a:off x="4762500" y="3162300"/>
              <a:ext cx="142875" cy="9525"/>
            </a:xfrm>
            <a:custGeom>
              <a:avLst/>
              <a:gdLst/>
              <a:ahLst/>
              <a:cxnLst/>
              <a:rect l="l" t="t" r="r" b="b"/>
              <a:pathLst>
                <a:path w="142875" h="9525">
                  <a:moveTo>
                    <a:pt x="0" y="0"/>
                  </a:moveTo>
                  <a:lnTo>
                    <a:pt x="142875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8" name="Polygon 38"/>
            <p:cNvSpPr/>
            <p:nvPr/>
          </p:nvSpPr>
          <p:spPr>
            <a:xfrm>
              <a:off x="4876800" y="311467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0"/>
                  </a:moveTo>
                  <a:lnTo>
                    <a:pt x="95250" y="47625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Rectangle 39"/>
            <p:cNvSpPr/>
            <p:nvPr/>
          </p:nvSpPr>
          <p:spPr>
            <a:xfrm>
              <a:off x="4972050" y="2952750"/>
              <a:ext cx="1143000" cy="4191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 w="14288">
              <a:solidFill>
                <a:schemeClr val="accent1"/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358994" y="3106102"/>
              <a:ext cx="36911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05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QSAR</a:t>
              </a:r>
            </a:p>
          </p:txBody>
        </p:sp>
        <p:sp>
          <p:nvSpPr>
            <p:cNvPr id="41" name="Line 41"/>
            <p:cNvSpPr/>
            <p:nvPr/>
          </p:nvSpPr>
          <p:spPr>
            <a:xfrm>
              <a:off x="6115050" y="3162300"/>
              <a:ext cx="142875" cy="9525"/>
            </a:xfrm>
            <a:custGeom>
              <a:avLst/>
              <a:gdLst/>
              <a:ahLst/>
              <a:cxnLst/>
              <a:rect l="l" t="t" r="r" b="b"/>
              <a:pathLst>
                <a:path w="142875" h="9525">
                  <a:moveTo>
                    <a:pt x="0" y="0"/>
                  </a:moveTo>
                  <a:lnTo>
                    <a:pt x="142875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2" name="Polygon 42"/>
            <p:cNvSpPr/>
            <p:nvPr/>
          </p:nvSpPr>
          <p:spPr>
            <a:xfrm>
              <a:off x="6229350" y="311467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0"/>
                  </a:moveTo>
                  <a:lnTo>
                    <a:pt x="95250" y="47625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324600" y="2952750"/>
              <a:ext cx="1143000" cy="4191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 w="14288">
              <a:solidFill>
                <a:schemeClr val="accent1"/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793687" y="3106102"/>
              <a:ext cx="2048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05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MD</a:t>
              </a:r>
            </a:p>
          </p:txBody>
        </p:sp>
        <p:sp>
          <p:nvSpPr>
            <p:cNvPr id="45" name="Line 45"/>
            <p:cNvSpPr/>
            <p:nvPr/>
          </p:nvSpPr>
          <p:spPr>
            <a:xfrm>
              <a:off x="7467600" y="3162300"/>
              <a:ext cx="142875" cy="9525"/>
            </a:xfrm>
            <a:custGeom>
              <a:avLst/>
              <a:gdLst/>
              <a:ahLst/>
              <a:cxnLst/>
              <a:rect l="l" t="t" r="r" b="b"/>
              <a:pathLst>
                <a:path w="142875" h="9525">
                  <a:moveTo>
                    <a:pt x="0" y="0"/>
                  </a:moveTo>
                  <a:lnTo>
                    <a:pt x="142875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" name="Polygon 46"/>
            <p:cNvSpPr/>
            <p:nvPr/>
          </p:nvSpPr>
          <p:spPr>
            <a:xfrm>
              <a:off x="7581900" y="311467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0"/>
                  </a:moveTo>
                  <a:lnTo>
                    <a:pt x="95250" y="47625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7" name="Rectangle 47"/>
            <p:cNvSpPr/>
            <p:nvPr/>
          </p:nvSpPr>
          <p:spPr>
            <a:xfrm>
              <a:off x="7677150" y="2952750"/>
              <a:ext cx="1571625" cy="4191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 w="14288">
              <a:solidFill>
                <a:schemeClr val="accent1"/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777448" y="3106102"/>
              <a:ext cx="13615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05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Statistical Analysis</a:t>
              </a:r>
            </a:p>
          </p:txBody>
        </p:sp>
        <p:sp>
          <p:nvSpPr>
            <p:cNvPr id="49" name="Line 49"/>
            <p:cNvSpPr/>
            <p:nvPr/>
          </p:nvSpPr>
          <p:spPr>
            <a:xfrm>
              <a:off x="9248775" y="3162300"/>
              <a:ext cx="142875" cy="9525"/>
            </a:xfrm>
            <a:custGeom>
              <a:avLst/>
              <a:gdLst/>
              <a:ahLst/>
              <a:cxnLst/>
              <a:rect l="l" t="t" r="r" b="b"/>
              <a:pathLst>
                <a:path w="142875" h="9525">
                  <a:moveTo>
                    <a:pt x="0" y="0"/>
                  </a:moveTo>
                  <a:lnTo>
                    <a:pt x="142875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0" name="Polygon 50"/>
            <p:cNvSpPr/>
            <p:nvPr/>
          </p:nvSpPr>
          <p:spPr>
            <a:xfrm>
              <a:off x="9363075" y="311467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0"/>
                  </a:moveTo>
                  <a:lnTo>
                    <a:pt x="95250" y="47625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1" name="Rectangle 51"/>
            <p:cNvSpPr/>
            <p:nvPr/>
          </p:nvSpPr>
          <p:spPr>
            <a:xfrm>
              <a:off x="9458325" y="2952750"/>
              <a:ext cx="1143000" cy="4191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 w="14288">
              <a:solidFill>
                <a:schemeClr val="accent1"/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789062" y="3106102"/>
              <a:ext cx="4815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05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Report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3562788" y="6124575"/>
            <a:ext cx="5066424" cy="293370"/>
            <a:chOff x="3562788" y="6124575"/>
            <a:chExt cx="5066424" cy="293370"/>
          </a:xfrm>
        </p:grpSpPr>
        <p:sp>
          <p:nvSpPr>
            <p:cNvPr id="54" name="TextBox 54"/>
            <p:cNvSpPr txBox="1"/>
            <p:nvPr/>
          </p:nvSpPr>
          <p:spPr>
            <a:xfrm>
              <a:off x="3562788" y="6124575"/>
              <a:ext cx="50664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This demonstrates the real value of BioDockify.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0" y="6619875"/>
            <a:ext cx="12192000" cy="238125"/>
            <a:chOff x="0" y="6619875"/>
            <a:chExt cx="12192000" cy="238125"/>
          </a:xfrm>
        </p:grpSpPr>
        <p:sp>
          <p:nvSpPr>
            <p:cNvPr id="56" name="Rectangle 56"/>
            <p:cNvSpPr/>
            <p:nvPr/>
          </p:nvSpPr>
          <p:spPr>
            <a:xfrm>
              <a:off x="0" y="6619875"/>
              <a:ext cx="12192000" cy="238125"/>
            </a:xfrm>
            <a:prstGeom prst="rect">
              <a:avLst/>
            </a:prstGeom>
            <a:solidFill>
              <a:srgbClr val="0D0F24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4203998" y="6692741"/>
              <a:ext cx="378400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dirty="0">
                  <a:solidFill>
                    <a:srgbClr val="7A85A8"/>
                  </a:solidFill>
                  <a:latin typeface="+mj-lt"/>
                  <a:ea typeface="+mj-ea"/>
                  <a:cs typeface="+mj-cs"/>
                </a:rPr>
                <a:t>BioDockify — Building the Future of AI-Driven Pharmaceutical Research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2300408" y="212408"/>
            <a:ext cx="7591185" cy="616077"/>
            <a:chOff x="2300408" y="212408"/>
            <a:chExt cx="7591185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2300408" y="212408"/>
              <a:ext cx="759118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BioDockify for Pharmacy Education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62000" y="904875"/>
            <a:ext cx="3524250" cy="1714500"/>
            <a:chOff x="762000" y="904875"/>
            <a:chExt cx="3524250" cy="1714500"/>
          </a:xfrm>
        </p:grpSpPr>
        <p:sp>
          <p:nvSpPr>
            <p:cNvPr id="4" name="Rectangle 4"/>
            <p:cNvSpPr/>
            <p:nvPr/>
          </p:nvSpPr>
          <p:spPr>
            <a:xfrm>
              <a:off x="762000" y="904875"/>
              <a:ext cx="3524250" cy="1714500"/>
            </a:xfrm>
            <a:prstGeom prst="roundRect">
              <a:avLst>
                <a:gd name="adj" fmla="val 7778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Rectangle 5"/>
            <p:cNvSpPr/>
            <p:nvPr/>
          </p:nvSpPr>
          <p:spPr>
            <a:xfrm>
              <a:off x="762000" y="904875"/>
              <a:ext cx="47625" cy="1714500"/>
            </a:xfrm>
            <a:prstGeom prst="roundRect">
              <a:avLst>
                <a:gd name="adj" fmla="val 4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039368" y="1060132"/>
              <a:ext cx="155162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Pharmacology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41654" y="1442085"/>
              <a:ext cx="178911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Target identification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41654" y="1727835"/>
              <a:ext cx="20641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Drug-target interaction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41654" y="2013585"/>
              <a:ext cx="13197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PK/PD modeling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476750" y="904875"/>
            <a:ext cx="3524250" cy="1714500"/>
            <a:chOff x="4476750" y="904875"/>
            <a:chExt cx="3524250" cy="1714500"/>
          </a:xfrm>
        </p:grpSpPr>
        <p:sp>
          <p:nvSpPr>
            <p:cNvPr id="11" name="Rectangle 11"/>
            <p:cNvSpPr/>
            <p:nvPr/>
          </p:nvSpPr>
          <p:spPr>
            <a:xfrm>
              <a:off x="4476750" y="904875"/>
              <a:ext cx="3524250" cy="1714500"/>
            </a:xfrm>
            <a:prstGeom prst="roundRect">
              <a:avLst>
                <a:gd name="adj" fmla="val 7778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Rectangle 12"/>
            <p:cNvSpPr/>
            <p:nvPr/>
          </p:nvSpPr>
          <p:spPr>
            <a:xfrm>
              <a:off x="4476750" y="904875"/>
              <a:ext cx="47625" cy="1714500"/>
            </a:xfrm>
            <a:prstGeom prst="roundRect">
              <a:avLst>
                <a:gd name="adj" fmla="val 4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754118" y="1060132"/>
              <a:ext cx="173846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Pharmacognosy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756404" y="1442085"/>
              <a:ext cx="1847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Plant → Phytochemical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756404" y="1727835"/>
              <a:ext cx="198447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Phytochemical → Target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756404" y="2013585"/>
              <a:ext cx="189367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Network pharmacology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8191500" y="904875"/>
            <a:ext cx="3524250" cy="1714500"/>
            <a:chOff x="8191500" y="904875"/>
            <a:chExt cx="3524250" cy="1714500"/>
          </a:xfrm>
        </p:grpSpPr>
        <p:sp>
          <p:nvSpPr>
            <p:cNvPr id="18" name="Rectangle 18"/>
            <p:cNvSpPr/>
            <p:nvPr/>
          </p:nvSpPr>
          <p:spPr>
            <a:xfrm>
              <a:off x="8191500" y="904875"/>
              <a:ext cx="3524250" cy="1714500"/>
            </a:xfrm>
            <a:prstGeom prst="roundRect">
              <a:avLst>
                <a:gd name="adj" fmla="val 7778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Rectangle 19"/>
            <p:cNvSpPr/>
            <p:nvPr/>
          </p:nvSpPr>
          <p:spPr>
            <a:xfrm>
              <a:off x="8191500" y="904875"/>
              <a:ext cx="47625" cy="1714500"/>
            </a:xfrm>
            <a:prstGeom prst="roundRect">
              <a:avLst>
                <a:gd name="adj" fmla="val 40000"/>
              </a:avLst>
            </a:prstGeom>
            <a:solidFill>
              <a:srgbClr val="6366F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468868" y="1060132"/>
              <a:ext cx="29699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Pharmaceutical Chemistry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471154" y="1442085"/>
              <a:ext cx="18495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Structure → Property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471154" y="1727835"/>
              <a:ext cx="161861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Property → Docking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471154" y="2013585"/>
              <a:ext cx="10690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SAR analysis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762000" y="2905125"/>
            <a:ext cx="3524250" cy="1714500"/>
            <a:chOff x="762000" y="2905125"/>
            <a:chExt cx="3524250" cy="1714500"/>
          </a:xfrm>
        </p:grpSpPr>
        <p:sp>
          <p:nvSpPr>
            <p:cNvPr id="25" name="Rectangle 25"/>
            <p:cNvSpPr/>
            <p:nvPr/>
          </p:nvSpPr>
          <p:spPr>
            <a:xfrm>
              <a:off x="762000" y="2905125"/>
              <a:ext cx="3524250" cy="1714500"/>
            </a:xfrm>
            <a:prstGeom prst="roundRect">
              <a:avLst>
                <a:gd name="adj" fmla="val 7778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Rectangle 26"/>
            <p:cNvSpPr/>
            <p:nvPr/>
          </p:nvSpPr>
          <p:spPr>
            <a:xfrm>
              <a:off x="762000" y="2905125"/>
              <a:ext cx="47625" cy="1714500"/>
            </a:xfrm>
            <a:prstGeom prst="roundRect">
              <a:avLst>
                <a:gd name="adj" fmla="val 40000"/>
              </a:avLst>
            </a:prstGeom>
            <a:solidFill>
              <a:srgbClr val="10B98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39368" y="3060382"/>
              <a:ext cx="16799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Pharmaceutics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41654" y="3442335"/>
              <a:ext cx="15850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Formulation design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41654" y="3728085"/>
              <a:ext cx="147181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DOE optimization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41654" y="4013835"/>
              <a:ext cx="256779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Response surface methodology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4476750" y="2905125"/>
            <a:ext cx="3524250" cy="1714500"/>
            <a:chOff x="4476750" y="2905125"/>
            <a:chExt cx="3524250" cy="1714500"/>
          </a:xfrm>
        </p:grpSpPr>
        <p:sp>
          <p:nvSpPr>
            <p:cNvPr id="32" name="Rectangle 32"/>
            <p:cNvSpPr/>
            <p:nvPr/>
          </p:nvSpPr>
          <p:spPr>
            <a:xfrm>
              <a:off x="4476750" y="2905125"/>
              <a:ext cx="3524250" cy="1714500"/>
            </a:xfrm>
            <a:prstGeom prst="roundRect">
              <a:avLst>
                <a:gd name="adj" fmla="val 7778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Rectangle 33"/>
            <p:cNvSpPr/>
            <p:nvPr/>
          </p:nvSpPr>
          <p:spPr>
            <a:xfrm>
              <a:off x="4476750" y="2905125"/>
              <a:ext cx="47625" cy="1714500"/>
            </a:xfrm>
            <a:prstGeom prst="roundRect">
              <a:avLst>
                <a:gd name="adj" fmla="val 4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754118" y="3060382"/>
              <a:ext cx="196626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Clinical Pharmacy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756404" y="3442335"/>
              <a:ext cx="19702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Drug-drug interactions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756404" y="3728085"/>
              <a:ext cx="23878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Therapeutic drug monitoring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756404" y="4013835"/>
              <a:ext cx="136257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Safety profiling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8191500" y="2905125"/>
            <a:ext cx="3524250" cy="1714500"/>
            <a:chOff x="8191500" y="2905125"/>
            <a:chExt cx="3524250" cy="1714500"/>
          </a:xfrm>
        </p:grpSpPr>
        <p:sp>
          <p:nvSpPr>
            <p:cNvPr id="39" name="Rectangle 39"/>
            <p:cNvSpPr/>
            <p:nvPr/>
          </p:nvSpPr>
          <p:spPr>
            <a:xfrm>
              <a:off x="8191500" y="2905125"/>
              <a:ext cx="3524250" cy="1714500"/>
            </a:xfrm>
            <a:prstGeom prst="roundRect">
              <a:avLst>
                <a:gd name="adj" fmla="val 7778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0" name="Rectangle 40"/>
            <p:cNvSpPr/>
            <p:nvPr/>
          </p:nvSpPr>
          <p:spPr>
            <a:xfrm>
              <a:off x="8191500" y="2905125"/>
              <a:ext cx="47625" cy="1714500"/>
            </a:xfrm>
            <a:prstGeom prst="roundRect">
              <a:avLst>
                <a:gd name="adj" fmla="val 4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468868" y="3060382"/>
              <a:ext cx="273614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Pharmaceutical Analysis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471154" y="3442335"/>
              <a:ext cx="135527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Data processing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471154" y="3728085"/>
              <a:ext cx="16520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Statistical analysis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471154" y="4013835"/>
              <a:ext cx="10792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Visualization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0" y="6619875"/>
            <a:ext cx="12192000" cy="238125"/>
            <a:chOff x="0" y="6619875"/>
            <a:chExt cx="12192000" cy="238125"/>
          </a:xfrm>
        </p:grpSpPr>
        <p:sp>
          <p:nvSpPr>
            <p:cNvPr id="46" name="Rectangle 46"/>
            <p:cNvSpPr/>
            <p:nvPr/>
          </p:nvSpPr>
          <p:spPr>
            <a:xfrm>
              <a:off x="0" y="6619875"/>
              <a:ext cx="12192000" cy="238125"/>
            </a:xfrm>
            <a:prstGeom prst="rect">
              <a:avLst/>
            </a:prstGeom>
            <a:solidFill>
              <a:srgbClr val="0D0F24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4203998" y="6692741"/>
              <a:ext cx="378400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dirty="0">
                  <a:solidFill>
                    <a:srgbClr val="7A85A8"/>
                  </a:solidFill>
                  <a:latin typeface="+mj-lt"/>
                  <a:ea typeface="+mj-ea"/>
                  <a:cs typeface="+mj-cs"/>
                </a:rPr>
                <a:t>BioDockify — Building the Future of AI-Driven Pharmaceutical Research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3098098" y="212408"/>
            <a:ext cx="5995804" cy="616077"/>
            <a:chOff x="3098098" y="212408"/>
            <a:chExt cx="5995804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3098098" y="212408"/>
              <a:ext cx="5995804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BioDockify in the Classroom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52500" y="916305"/>
            <a:ext cx="4762500" cy="2322195"/>
            <a:chOff x="952500" y="916305"/>
            <a:chExt cx="4762500" cy="2322195"/>
          </a:xfrm>
        </p:grpSpPr>
        <p:sp>
          <p:nvSpPr>
            <p:cNvPr id="4" name="TextBox 4"/>
            <p:cNvSpPr txBox="1"/>
            <p:nvPr/>
          </p:nvSpPr>
          <p:spPr>
            <a:xfrm>
              <a:off x="1823033" y="916305"/>
              <a:ext cx="302143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100" b="1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Traditional Practical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952500" y="1333500"/>
              <a:ext cx="4762500" cy="1905000"/>
            </a:xfrm>
            <a:prstGeom prst="roundRect">
              <a:avLst>
                <a:gd name="adj" fmla="val 7000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684956" y="1917382"/>
              <a:ext cx="329758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“Explain molecular docking.”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2286000" y="2762250"/>
              <a:ext cx="2095500" cy="304800"/>
            </a:xfrm>
            <a:prstGeom prst="roundRect">
              <a:avLst>
                <a:gd name="adj" fmla="val 25000"/>
              </a:avLst>
            </a:prstGeom>
            <a:solidFill>
              <a:srgbClr val="2A2D4A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775067" y="2858452"/>
              <a:ext cx="111736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050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Theoretical only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477000" y="916305"/>
            <a:ext cx="4762500" cy="3655695"/>
            <a:chOff x="6477000" y="916305"/>
            <a:chExt cx="4762500" cy="3655695"/>
          </a:xfrm>
        </p:grpSpPr>
        <p:sp>
          <p:nvSpPr>
            <p:cNvPr id="10" name="TextBox 10"/>
            <p:cNvSpPr txBox="1"/>
            <p:nvPr/>
          </p:nvSpPr>
          <p:spPr>
            <a:xfrm>
              <a:off x="7387568" y="916305"/>
              <a:ext cx="294136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1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BioDockify Practical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477000" y="1333500"/>
              <a:ext cx="4762500" cy="3238500"/>
            </a:xfrm>
            <a:prstGeom prst="roundRect">
              <a:avLst>
                <a:gd name="adj" fmla="val 4118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851142" y="1568768"/>
              <a:ext cx="220815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45732" indent="-145732" algn="l">
                <a:buClr>
                  <a:schemeClr val="dk1"/>
                </a:buClr>
                <a:buSzTx/>
                <a:buFontTx/>
                <a:buChar char="•"/>
              </a:pPr>
              <a:r>
                <a:rPr lang="e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Select protein target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851142" y="1873568"/>
              <a:ext cx="18149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45732" indent="-145732" algn="l">
                <a:buClr>
                  <a:schemeClr val="dk1"/>
                </a:buClr>
                <a:buSzTx/>
                <a:buFontTx/>
                <a:buChar char="•"/>
              </a:pPr>
              <a:r>
                <a:rPr lang="e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Select compounds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851142" y="2178368"/>
              <a:ext cx="20358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45732" indent="-145732" algn="l">
                <a:buClr>
                  <a:schemeClr val="dk1"/>
                </a:buClr>
                <a:buSzTx/>
                <a:buFontTx/>
                <a:buChar char="•"/>
              </a:pPr>
              <a:r>
                <a:rPr lang="e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Prepare structures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851142" y="2483168"/>
              <a:ext cx="6045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45732" indent="-145732" algn="l">
                <a:buClr>
                  <a:schemeClr val="dk1"/>
                </a:buClr>
                <a:buSzTx/>
                <a:buFontTx/>
                <a:buChar char="•"/>
              </a:pPr>
              <a:r>
                <a:rPr lang="e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Dock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851142" y="2787968"/>
              <a:ext cx="173567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45732" indent="-145732" algn="l">
                <a:buClr>
                  <a:schemeClr val="dk1"/>
                </a:buClr>
                <a:buSzTx/>
                <a:buFontTx/>
                <a:buChar char="•"/>
              </a:pPr>
              <a:r>
                <a:rPr lang="e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Visualize results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851142" y="3092768"/>
              <a:ext cx="165264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45732" indent="-145732" algn="l">
                <a:buClr>
                  <a:schemeClr val="dk1"/>
                </a:buClr>
                <a:buSzTx/>
                <a:buFontTx/>
                <a:buChar char="•"/>
              </a:pPr>
              <a:r>
                <a:rPr lang="e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Compare scores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851142" y="3397568"/>
              <a:ext cx="18900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45732" indent="-145732" algn="l">
                <a:buClr>
                  <a:schemeClr val="dk1"/>
                </a:buClr>
                <a:buSzTx/>
                <a:buFontTx/>
                <a:buChar char="•"/>
              </a:pPr>
              <a:r>
                <a:rPr lang="e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Interpret findings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7715250" y="4000500"/>
              <a:ext cx="2286000" cy="304800"/>
            </a:xfrm>
            <a:prstGeom prst="roundRect">
              <a:avLst>
                <a:gd name="adj" fmla="val 25000"/>
              </a:avLst>
            </a:prstGeom>
            <a:solidFill>
              <a:srgbClr val="2A2D4A"/>
            </a:solidFill>
            <a:ln w="9525">
              <a:solidFill>
                <a:schemeClr val="accent1"/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627923" y="4096702"/>
              <a:ext cx="24606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0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Hands-on computational experiment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2285543" y="5362575"/>
            <a:ext cx="7620914" cy="735140"/>
            <a:chOff x="2285543" y="5362575"/>
            <a:chExt cx="7620914" cy="735140"/>
          </a:xfrm>
        </p:grpSpPr>
        <p:sp>
          <p:nvSpPr>
            <p:cNvPr id="22" name="TextBox 22"/>
            <p:cNvSpPr txBox="1"/>
            <p:nvPr/>
          </p:nvSpPr>
          <p:spPr>
            <a:xfrm>
              <a:off x="4586151" y="5362575"/>
              <a:ext cx="301969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strike="sngStrike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Not: I know what docking is.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285543" y="5775008"/>
              <a:ext cx="762091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But: I performed and interpreted a computational experiment.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0" y="6619875"/>
            <a:ext cx="12192000" cy="238125"/>
            <a:chOff x="0" y="6619875"/>
            <a:chExt cx="12192000" cy="238125"/>
          </a:xfrm>
        </p:grpSpPr>
        <p:sp>
          <p:nvSpPr>
            <p:cNvPr id="25" name="Rectangle 25"/>
            <p:cNvSpPr/>
            <p:nvPr/>
          </p:nvSpPr>
          <p:spPr>
            <a:xfrm>
              <a:off x="0" y="6619875"/>
              <a:ext cx="12192000" cy="238125"/>
            </a:xfrm>
            <a:prstGeom prst="rect">
              <a:avLst/>
            </a:prstGeom>
            <a:solidFill>
              <a:srgbClr val="0D0F24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203998" y="6692741"/>
              <a:ext cx="378400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dirty="0">
                  <a:solidFill>
                    <a:srgbClr val="7A85A8"/>
                  </a:solidFill>
                  <a:latin typeface="+mj-lt"/>
                  <a:ea typeface="+mj-ea"/>
                  <a:cs typeface="+mj-cs"/>
                </a:rPr>
                <a:t>BioDockify — Building the Future of AI-Driven Pharmaceutical Research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1358779" y="212408"/>
            <a:ext cx="9474442" cy="616077"/>
            <a:chOff x="1358779" y="212408"/>
            <a:chExt cx="9474442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1358779" y="212408"/>
              <a:ext cx="947444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Responsible AI for Pharmaceutical Research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3920862" y="946785"/>
            <a:ext cx="4350276" cy="528066"/>
            <a:chOff x="3920862" y="946785"/>
            <a:chExt cx="4350276" cy="528066"/>
          </a:xfrm>
        </p:grpSpPr>
        <p:sp>
          <p:nvSpPr>
            <p:cNvPr id="4" name="TextBox 4"/>
            <p:cNvSpPr txBox="1"/>
            <p:nvPr/>
          </p:nvSpPr>
          <p:spPr>
            <a:xfrm>
              <a:off x="3920862" y="946785"/>
              <a:ext cx="4350276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7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AI ≠ Scientific Evidence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238250" y="1694498"/>
            <a:ext cx="4191000" cy="3258502"/>
            <a:chOff x="1238250" y="1694498"/>
            <a:chExt cx="4191000" cy="3258502"/>
          </a:xfrm>
        </p:grpSpPr>
        <p:sp>
          <p:nvSpPr>
            <p:cNvPr id="6" name="TextBox 6"/>
            <p:cNvSpPr txBox="1"/>
            <p:nvPr/>
          </p:nvSpPr>
          <p:spPr>
            <a:xfrm>
              <a:off x="2851703" y="1694498"/>
              <a:ext cx="96409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950" b="1" dirty="0">
                  <a:solidFill>
                    <a:srgbClr val="10B981"/>
                  </a:solidFill>
                  <a:latin typeface="+mj-lt"/>
                  <a:ea typeface="+mj-ea"/>
                  <a:cs typeface="+mj-cs"/>
                </a:rPr>
                <a:t>AI can: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1238250" y="2095500"/>
              <a:ext cx="4191000" cy="2857500"/>
            </a:xfrm>
            <a:prstGeom prst="roundRect">
              <a:avLst>
                <a:gd name="adj" fmla="val 4667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Ellipse 8"/>
            <p:cNvSpPr/>
            <p:nvPr/>
          </p:nvSpPr>
          <p:spPr>
            <a:xfrm>
              <a:off x="1543050" y="2495550"/>
              <a:ext cx="152400" cy="152400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848993" y="2460308"/>
              <a:ext cx="243916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Generate hypotheses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1543050" y="3019425"/>
              <a:ext cx="152400" cy="152400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848993" y="2984182"/>
              <a:ext cx="177021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Plan workflows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1543050" y="3543300"/>
              <a:ext cx="152400" cy="152400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848993" y="3508058"/>
              <a:ext cx="232214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Search &amp; Summarize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1543050" y="4067175"/>
              <a:ext cx="152400" cy="152400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848993" y="4031932"/>
              <a:ext cx="227386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Analyze &amp; Automate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762750" y="1694498"/>
            <a:ext cx="4191000" cy="3258502"/>
            <a:chOff x="6762750" y="1694498"/>
            <a:chExt cx="4191000" cy="3258502"/>
          </a:xfrm>
        </p:grpSpPr>
        <p:sp>
          <p:nvSpPr>
            <p:cNvPr id="17" name="TextBox 17"/>
            <p:cNvSpPr txBox="1"/>
            <p:nvPr/>
          </p:nvSpPr>
          <p:spPr>
            <a:xfrm>
              <a:off x="7637568" y="1694498"/>
              <a:ext cx="244136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9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Researcher must: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6762750" y="2095500"/>
              <a:ext cx="4191000" cy="2857500"/>
            </a:xfrm>
            <a:prstGeom prst="roundRect">
              <a:avLst>
                <a:gd name="adj" fmla="val 4667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Ellipse 19"/>
            <p:cNvSpPr/>
            <p:nvPr/>
          </p:nvSpPr>
          <p:spPr>
            <a:xfrm>
              <a:off x="7067550" y="2495550"/>
              <a:ext cx="152400" cy="152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373493" y="2460308"/>
              <a:ext cx="197599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Verify &amp; Validate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7067550" y="3019425"/>
              <a:ext cx="152400" cy="152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373493" y="2984182"/>
              <a:ext cx="261183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Interpret &amp; Reproduce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7067550" y="3543300"/>
              <a:ext cx="152400" cy="152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373493" y="3508058"/>
              <a:ext cx="248304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Cite &amp; Make decisions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2999789" y="5806440"/>
            <a:ext cx="6192422" cy="352044"/>
            <a:chOff x="2999789" y="5806440"/>
            <a:chExt cx="6192422" cy="352044"/>
          </a:xfrm>
        </p:grpSpPr>
        <p:sp>
          <p:nvSpPr>
            <p:cNvPr id="26" name="TextBox 26"/>
            <p:cNvSpPr txBox="1"/>
            <p:nvPr/>
          </p:nvSpPr>
          <p:spPr>
            <a:xfrm>
              <a:off x="2999789" y="5806440"/>
              <a:ext cx="619242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8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BioDockify Principle: Human-in-the-loop Research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0" y="6619875"/>
            <a:ext cx="12192000" cy="238125"/>
            <a:chOff x="0" y="6619875"/>
            <a:chExt cx="12192000" cy="238125"/>
          </a:xfrm>
        </p:grpSpPr>
        <p:sp>
          <p:nvSpPr>
            <p:cNvPr id="28" name="Rectangle 28"/>
            <p:cNvSpPr/>
            <p:nvPr/>
          </p:nvSpPr>
          <p:spPr>
            <a:xfrm>
              <a:off x="0" y="6619875"/>
              <a:ext cx="12192000" cy="238125"/>
            </a:xfrm>
            <a:prstGeom prst="rect">
              <a:avLst/>
            </a:prstGeom>
            <a:solidFill>
              <a:srgbClr val="0D0F24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203998" y="6692741"/>
              <a:ext cx="378400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dirty="0">
                  <a:solidFill>
                    <a:srgbClr val="7A85A8"/>
                  </a:solidFill>
                  <a:latin typeface="+mj-lt"/>
                  <a:ea typeface="+mj-ea"/>
                  <a:cs typeface="+mj-cs"/>
                </a:rPr>
                <a:t>BioDockify — Building the Future of AI-Driven Pharmaceutical Research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745998" y="421958"/>
            <a:ext cx="8208854" cy="616077"/>
            <a:chOff x="745998" y="421958"/>
            <a:chExt cx="8208854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745998" y="421958"/>
              <a:ext cx="8208854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Case Study — EGFR Inhibitor Screening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762000" y="1143000"/>
            <a:ext cx="5334000" cy="5000625"/>
            <a:chOff x="762000" y="1143000"/>
            <a:chExt cx="5334000" cy="5000625"/>
          </a:xfrm>
        </p:grpSpPr>
        <p:sp>
          <p:nvSpPr>
            <p:cNvPr id="4" name="Rectangle 4"/>
            <p:cNvSpPr/>
            <p:nvPr/>
          </p:nvSpPr>
          <p:spPr>
            <a:xfrm>
              <a:off x="762000" y="1143000"/>
              <a:ext cx="5334000" cy="1143000"/>
            </a:xfrm>
            <a:prstGeom prst="roundRect">
              <a:avLst>
                <a:gd name="adj" fmla="val 11667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Ellipse 5"/>
            <p:cNvSpPr/>
            <p:nvPr/>
          </p:nvSpPr>
          <p:spPr>
            <a:xfrm>
              <a:off x="990600" y="1562100"/>
              <a:ext cx="304800" cy="3048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096851" y="165830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0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1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421130" y="1457325"/>
              <a:ext cx="229248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Docked 500 compounds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421892" y="1759268"/>
              <a:ext cx="164835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→ Top 20 selected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762000" y="2428875"/>
              <a:ext cx="5334000" cy="1143000"/>
            </a:xfrm>
            <a:prstGeom prst="roundRect">
              <a:avLst>
                <a:gd name="adj" fmla="val 11667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Ellipse 10"/>
            <p:cNvSpPr/>
            <p:nvPr/>
          </p:nvSpPr>
          <p:spPr>
            <a:xfrm>
              <a:off x="990600" y="2847975"/>
              <a:ext cx="304800" cy="3048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96851" y="294417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0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421130" y="2743200"/>
              <a:ext cx="173492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ADMET screening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421892" y="3045142"/>
              <a:ext cx="174193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→ 8 pass all filters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762000" y="3714750"/>
              <a:ext cx="5334000" cy="1143000"/>
            </a:xfrm>
            <a:prstGeom prst="roundRect">
              <a:avLst>
                <a:gd name="adj" fmla="val 11667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Ellipse 15"/>
            <p:cNvSpPr/>
            <p:nvPr/>
          </p:nvSpPr>
          <p:spPr>
            <a:xfrm>
              <a:off x="990600" y="4133850"/>
              <a:ext cx="304800" cy="304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96851" y="423005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0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3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421130" y="4029075"/>
              <a:ext cx="194959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10ns MD simulation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21892" y="4331018"/>
              <a:ext cx="19243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→ 2 stable complexes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762000" y="5000625"/>
              <a:ext cx="5334000" cy="1143000"/>
            </a:xfrm>
            <a:prstGeom prst="roundRect">
              <a:avLst>
                <a:gd name="adj" fmla="val 11667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Ellipse 20"/>
            <p:cNvSpPr/>
            <p:nvPr/>
          </p:nvSpPr>
          <p:spPr>
            <a:xfrm>
              <a:off x="990600" y="5419725"/>
              <a:ext cx="304800" cy="304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96851" y="551592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0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4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421130" y="5314950"/>
              <a:ext cx="267209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Jarvis interprets results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421892" y="5616892"/>
              <a:ext cx="265824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→ Publication-ready analysis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667500" y="2667000"/>
            <a:ext cx="4762500" cy="1905000"/>
            <a:chOff x="6667500" y="2667000"/>
            <a:chExt cx="4762500" cy="1905000"/>
          </a:xfrm>
        </p:grpSpPr>
        <p:sp>
          <p:nvSpPr>
            <p:cNvPr id="25" name="Rectangle 25"/>
            <p:cNvSpPr/>
            <p:nvPr/>
          </p:nvSpPr>
          <p:spPr>
            <a:xfrm>
              <a:off x="6667500" y="2667000"/>
              <a:ext cx="4762500" cy="1905000"/>
            </a:xfrm>
            <a:prstGeom prst="roundRect">
              <a:avLst>
                <a:gd name="adj" fmla="val 7000"/>
              </a:avLst>
            </a:prstGeom>
            <a:solidFill>
              <a:schemeClr val="lt2"/>
            </a:solidFill>
            <a:ln w="19050">
              <a:solidFill>
                <a:schemeClr val="accent1"/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901024" y="3234690"/>
              <a:ext cx="229545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8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2 publishable leads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435330" y="3615690"/>
              <a:ext cx="122683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8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in 3 hours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660642" y="4902518"/>
            <a:ext cx="1313478" cy="264033"/>
            <a:chOff x="6660642" y="4902518"/>
            <a:chExt cx="1313478" cy="264033"/>
          </a:xfrm>
        </p:grpSpPr>
        <p:sp>
          <p:nvSpPr>
            <p:cNvPr id="29" name="TextBox 29"/>
            <p:cNvSpPr txBox="1"/>
            <p:nvPr/>
          </p:nvSpPr>
          <p:spPr>
            <a:xfrm>
              <a:off x="6660642" y="4902518"/>
              <a:ext cx="13134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Scenario data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0" y="6619875"/>
            <a:ext cx="12192000" cy="238125"/>
            <a:chOff x="0" y="6619875"/>
            <a:chExt cx="12192000" cy="238125"/>
          </a:xfrm>
        </p:grpSpPr>
        <p:sp>
          <p:nvSpPr>
            <p:cNvPr id="31" name="Rectangle 31"/>
            <p:cNvSpPr/>
            <p:nvPr/>
          </p:nvSpPr>
          <p:spPr>
            <a:xfrm>
              <a:off x="0" y="6619875"/>
              <a:ext cx="12192000" cy="238125"/>
            </a:xfrm>
            <a:prstGeom prst="rect">
              <a:avLst/>
            </a:prstGeom>
            <a:solidFill>
              <a:srgbClr val="0D0F24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203998" y="6692741"/>
              <a:ext cx="378400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dirty="0">
                  <a:solidFill>
                    <a:srgbClr val="7A85A8"/>
                  </a:solidFill>
                  <a:latin typeface="+mj-lt"/>
                  <a:ea typeface="+mj-ea"/>
                  <a:cs typeface="+mj-cs"/>
                </a:rPr>
                <a:t>BioDockify — Building the Future of AI-Driven Pharmaceutical Research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745998" y="421958"/>
            <a:ext cx="9495076" cy="616077"/>
            <a:chOff x="745998" y="421958"/>
            <a:chExt cx="9495076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745998" y="421958"/>
              <a:ext cx="949507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Integrating BioDockify into Your Curriculum</a:t>
              </a:r>
            </a:p>
          </p:txBody>
        </p:sp>
      </p:grpSp>
      <p:sp>
        <p:nvSpPr>
          <p:cNvPr id="4" name="Line 4"/>
          <p:cNvSpPr/>
          <p:nvPr/>
        </p:nvSpPr>
        <p:spPr>
          <a:xfrm>
            <a:off x="6096000" y="1143000"/>
            <a:ext cx="9525" cy="5334000"/>
          </a:xfrm>
          <a:custGeom>
            <a:avLst/>
            <a:gdLst/>
            <a:ahLst/>
            <a:cxnLst/>
            <a:rect l="l" t="t" r="r" b="b"/>
            <a:pathLst>
              <a:path w="9525" h="5334000">
                <a:moveTo>
                  <a:pt x="0" y="0"/>
                </a:moveTo>
                <a:lnTo>
                  <a:pt x="0" y="5334000"/>
                </a:lnTo>
              </a:path>
            </a:pathLst>
          </a:custGeom>
          <a:noFill/>
          <a:ln w="19050">
            <a:solidFill>
              <a:srgbClr val="1A1D3A"/>
            </a:solidFill>
          </a:ln>
        </p:spPr>
        <p:txBody>
          <a:bodyPr/>
          <a:lstStyle/>
          <a:p>
            <a:endParaRPr lang="en-IN"/>
          </a:p>
        </p:txBody>
      </p:sp>
      <p:grpSp>
        <p:nvGrpSpPr>
          <p:cNvPr id="18" name="Group 18"/>
          <p:cNvGrpSpPr/>
          <p:nvPr/>
        </p:nvGrpSpPr>
        <p:grpSpPr>
          <a:xfrm>
            <a:off x="751332" y="1202055"/>
            <a:ext cx="4963668" cy="5036820"/>
            <a:chOff x="751332" y="1202055"/>
            <a:chExt cx="4963668" cy="5036820"/>
          </a:xfrm>
        </p:grpSpPr>
        <p:sp>
          <p:nvSpPr>
            <p:cNvPr id="5" name="TextBox 5"/>
            <p:cNvSpPr txBox="1"/>
            <p:nvPr/>
          </p:nvSpPr>
          <p:spPr>
            <a:xfrm>
              <a:off x="751332" y="1202055"/>
              <a:ext cx="3794911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1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Undergraduate (B.Pharm)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762000" y="1619250"/>
              <a:ext cx="4953000" cy="1047750"/>
            </a:xfrm>
            <a:prstGeom prst="roundRect">
              <a:avLst>
                <a:gd name="adj" fmla="val 12727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40892" y="1759268"/>
              <a:ext cx="10610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Semester 5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40892" y="2025968"/>
              <a:ext cx="407861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Introduction to molecular docking concepts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762000" y="2809875"/>
              <a:ext cx="4953000" cy="1047750"/>
            </a:xfrm>
            <a:prstGeom prst="roundRect">
              <a:avLst>
                <a:gd name="adj" fmla="val 12727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40892" y="2949892"/>
              <a:ext cx="10610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Semester 6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40892" y="3216592"/>
              <a:ext cx="412347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ADMET prediction and drug-likeness filters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762000" y="4000500"/>
              <a:ext cx="4953000" cy="1047750"/>
            </a:xfrm>
            <a:prstGeom prst="roundRect">
              <a:avLst>
                <a:gd name="adj" fmla="val 12727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40892" y="4140518"/>
              <a:ext cx="10610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Semester 7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40892" y="4407218"/>
              <a:ext cx="34664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MD simulations and stability analysis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762000" y="5191125"/>
              <a:ext cx="4953000" cy="1047750"/>
            </a:xfrm>
            <a:prstGeom prst="roundRect">
              <a:avLst>
                <a:gd name="adj" fmla="val 12727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40892" y="5331142"/>
              <a:ext cx="10610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Semester 8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40892" y="5597842"/>
              <a:ext cx="337192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Capstone: Full pipeline mini-project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466332" y="1202055"/>
            <a:ext cx="4963668" cy="4703445"/>
            <a:chOff x="6466332" y="1202055"/>
            <a:chExt cx="4963668" cy="4703445"/>
          </a:xfrm>
        </p:grpSpPr>
        <p:sp>
          <p:nvSpPr>
            <p:cNvPr id="19" name="TextBox 19"/>
            <p:cNvSpPr txBox="1"/>
            <p:nvPr/>
          </p:nvSpPr>
          <p:spPr>
            <a:xfrm>
              <a:off x="6466332" y="1202055"/>
              <a:ext cx="436843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1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Postgraduate (M.Pharm/PhD)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477000" y="1619250"/>
              <a:ext cx="4953000" cy="1333500"/>
            </a:xfrm>
            <a:prstGeom prst="roundRect">
              <a:avLst>
                <a:gd name="adj" fmla="val 10000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755892" y="1759268"/>
              <a:ext cx="20964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Research Application 1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755892" y="2025968"/>
              <a:ext cx="33490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Virtual screening for novel targets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755892" y="2292668"/>
              <a:ext cx="27212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as part of dissertation work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6477000" y="3095625"/>
              <a:ext cx="4953000" cy="1333500"/>
            </a:xfrm>
            <a:prstGeom prst="roundRect">
              <a:avLst>
                <a:gd name="adj" fmla="val 10000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755892" y="3235642"/>
              <a:ext cx="20964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Research Application 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755892" y="3502342"/>
              <a:ext cx="28500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Drug repurposing studies with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755892" y="3769042"/>
              <a:ext cx="24620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publication-ready outputs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6477000" y="4572000"/>
              <a:ext cx="4953000" cy="1333500"/>
            </a:xfrm>
            <a:prstGeom prst="roundRect">
              <a:avLst>
                <a:gd name="adj" fmla="val 10000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755892" y="4712018"/>
              <a:ext cx="20964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Research Application 3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755892" y="4978718"/>
              <a:ext cx="34925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Collaborative multi-target screening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755892" y="5245418"/>
              <a:ext cx="1876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for grant proposals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0" y="6619875"/>
            <a:ext cx="12192000" cy="238125"/>
            <a:chOff x="0" y="6619875"/>
            <a:chExt cx="12192000" cy="238125"/>
          </a:xfrm>
        </p:grpSpPr>
        <p:sp>
          <p:nvSpPr>
            <p:cNvPr id="33" name="Rectangle 33"/>
            <p:cNvSpPr/>
            <p:nvPr/>
          </p:nvSpPr>
          <p:spPr>
            <a:xfrm>
              <a:off x="0" y="6619875"/>
              <a:ext cx="12192000" cy="238125"/>
            </a:xfrm>
            <a:prstGeom prst="rect">
              <a:avLst/>
            </a:prstGeom>
            <a:solidFill>
              <a:srgbClr val="0D0F24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203998" y="6692741"/>
              <a:ext cx="378400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dirty="0">
                  <a:solidFill>
                    <a:srgbClr val="7A85A8"/>
                  </a:solidFill>
                  <a:latin typeface="+mj-lt"/>
                  <a:ea typeface="+mj-ea"/>
                  <a:cs typeface="+mj-cs"/>
                </a:rPr>
                <a:t>BioDockify — Building the Future of AI-Driven Pharmaceutical Research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745998" y="421958"/>
            <a:ext cx="6933402" cy="616077"/>
            <a:chOff x="745998" y="421958"/>
            <a:chExt cx="6933402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745998" y="421958"/>
              <a:ext cx="693340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Five Ready-to-Use UG Activities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62000" y="1047750"/>
            <a:ext cx="10668000" cy="1000125"/>
            <a:chOff x="762000" y="1047750"/>
            <a:chExt cx="10668000" cy="1000125"/>
          </a:xfrm>
        </p:grpSpPr>
        <p:sp>
          <p:nvSpPr>
            <p:cNvPr id="4" name="Rectangle 4"/>
            <p:cNvSpPr/>
            <p:nvPr/>
          </p:nvSpPr>
          <p:spPr>
            <a:xfrm>
              <a:off x="762000" y="1047750"/>
              <a:ext cx="10668000" cy="1000125"/>
            </a:xfrm>
            <a:prstGeom prst="roundRect">
              <a:avLst>
                <a:gd name="adj" fmla="val 13333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Rectangle 5"/>
            <p:cNvSpPr/>
            <p:nvPr/>
          </p:nvSpPr>
          <p:spPr>
            <a:xfrm>
              <a:off x="1047750" y="1238250"/>
              <a:ext cx="476250" cy="266700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204734" y="1323499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98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2h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706118" y="1250632"/>
              <a:ext cx="250032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Dock aspirin to COX-2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707642" y="1568768"/>
              <a:ext cx="670556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Module: Docking | Objective: Understand binding energy interpretation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762000" y="2143125"/>
            <a:ext cx="10668000" cy="1000125"/>
            <a:chOff x="762000" y="2143125"/>
            <a:chExt cx="10668000" cy="1000125"/>
          </a:xfrm>
        </p:grpSpPr>
        <p:sp>
          <p:nvSpPr>
            <p:cNvPr id="10" name="Rectangle 10"/>
            <p:cNvSpPr/>
            <p:nvPr/>
          </p:nvSpPr>
          <p:spPr>
            <a:xfrm>
              <a:off x="762000" y="2143125"/>
              <a:ext cx="10668000" cy="1000125"/>
            </a:xfrm>
            <a:prstGeom prst="roundRect">
              <a:avLst>
                <a:gd name="adj" fmla="val 13333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Rectangle 11"/>
            <p:cNvSpPr/>
            <p:nvPr/>
          </p:nvSpPr>
          <p:spPr>
            <a:xfrm>
              <a:off x="1047750" y="2333625"/>
              <a:ext cx="571500" cy="266700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76171" y="2418874"/>
              <a:ext cx="31465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98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1.5h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801368" y="2346008"/>
              <a:ext cx="291466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Compare NSAIDs by ADMET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802892" y="2664142"/>
              <a:ext cx="70977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Module: ADMET | Objective: Evaluate drug-likeness across compound class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762000" y="3238500"/>
            <a:ext cx="10668000" cy="1000125"/>
            <a:chOff x="762000" y="3238500"/>
            <a:chExt cx="10668000" cy="1000125"/>
          </a:xfrm>
        </p:grpSpPr>
        <p:sp>
          <p:nvSpPr>
            <p:cNvPr id="16" name="Rectangle 16"/>
            <p:cNvSpPr/>
            <p:nvPr/>
          </p:nvSpPr>
          <p:spPr>
            <a:xfrm>
              <a:off x="762000" y="3238500"/>
              <a:ext cx="10668000" cy="1000125"/>
            </a:xfrm>
            <a:prstGeom prst="roundRect">
              <a:avLst>
                <a:gd name="adj" fmla="val 13333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Rectangle 17"/>
            <p:cNvSpPr/>
            <p:nvPr/>
          </p:nvSpPr>
          <p:spPr>
            <a:xfrm>
              <a:off x="1047750" y="3429000"/>
              <a:ext cx="476250" cy="266700"/>
            </a:xfrm>
            <a:prstGeom prst="roundRect">
              <a:avLst>
                <a:gd name="adj" fmla="val 42857"/>
              </a:avLst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204734" y="3514249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98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2h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706118" y="3441382"/>
              <a:ext cx="315861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Watch metformin bind AMPK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707642" y="3759518"/>
              <a:ext cx="6614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Module: MD | Objective: Visualize dynamic protein-ligand interactions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762000" y="4333875"/>
            <a:ext cx="10668000" cy="1000125"/>
            <a:chOff x="762000" y="4333875"/>
            <a:chExt cx="10668000" cy="1000125"/>
          </a:xfrm>
        </p:grpSpPr>
        <p:sp>
          <p:nvSpPr>
            <p:cNvPr id="22" name="Rectangle 22"/>
            <p:cNvSpPr/>
            <p:nvPr/>
          </p:nvSpPr>
          <p:spPr>
            <a:xfrm>
              <a:off x="762000" y="4333875"/>
              <a:ext cx="10668000" cy="1000125"/>
            </a:xfrm>
            <a:prstGeom prst="roundRect">
              <a:avLst>
                <a:gd name="adj" fmla="val 13333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Rectangle 23"/>
            <p:cNvSpPr/>
            <p:nvPr/>
          </p:nvSpPr>
          <p:spPr>
            <a:xfrm>
              <a:off x="1047750" y="4524375"/>
              <a:ext cx="619125" cy="266700"/>
            </a:xfrm>
            <a:prstGeom prst="roundRect">
              <a:avLst>
                <a:gd name="adj" fmla="val 42857"/>
              </a:avLst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160590" y="4609624"/>
              <a:ext cx="38392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98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30min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848993" y="4536758"/>
              <a:ext cx="328504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Ask Jarvis to explain results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850517" y="4854892"/>
              <a:ext cx="70601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Module: Jarvis | Objective: Practice AI-assisted scientific communication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762000" y="5429250"/>
            <a:ext cx="10668000" cy="1000125"/>
            <a:chOff x="762000" y="5429250"/>
            <a:chExt cx="10668000" cy="1000125"/>
          </a:xfrm>
        </p:grpSpPr>
        <p:sp>
          <p:nvSpPr>
            <p:cNvPr id="28" name="Rectangle 28"/>
            <p:cNvSpPr/>
            <p:nvPr/>
          </p:nvSpPr>
          <p:spPr>
            <a:xfrm>
              <a:off x="762000" y="5429250"/>
              <a:ext cx="10668000" cy="1000125"/>
            </a:xfrm>
            <a:prstGeom prst="roundRect">
              <a:avLst>
                <a:gd name="adj" fmla="val 13333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9" name="Rectangle 29"/>
            <p:cNvSpPr/>
            <p:nvPr/>
          </p:nvSpPr>
          <p:spPr>
            <a:xfrm>
              <a:off x="1047750" y="5619750"/>
              <a:ext cx="476250" cy="266700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204734" y="5704999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98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4h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706118" y="5632132"/>
              <a:ext cx="28224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Full pipeline mini-project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707642" y="5950268"/>
              <a:ext cx="71519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Module: All | Objective: End-to-end computational drug discovery workflow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0" y="6619875"/>
            <a:ext cx="12192000" cy="238125"/>
            <a:chOff x="0" y="6619875"/>
            <a:chExt cx="12192000" cy="238125"/>
          </a:xfrm>
        </p:grpSpPr>
        <p:sp>
          <p:nvSpPr>
            <p:cNvPr id="34" name="Rectangle 34"/>
            <p:cNvSpPr/>
            <p:nvPr/>
          </p:nvSpPr>
          <p:spPr>
            <a:xfrm>
              <a:off x="0" y="6619875"/>
              <a:ext cx="12192000" cy="238125"/>
            </a:xfrm>
            <a:prstGeom prst="rect">
              <a:avLst/>
            </a:prstGeom>
            <a:solidFill>
              <a:srgbClr val="0D0F24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203998" y="6692741"/>
              <a:ext cx="378400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dirty="0">
                  <a:solidFill>
                    <a:srgbClr val="7A85A8"/>
                  </a:solidFill>
                  <a:latin typeface="+mj-lt"/>
                  <a:ea typeface="+mj-ea"/>
                  <a:cs typeface="+mj-cs"/>
                </a:rPr>
                <a:t>BioDockify — Building the Future of AI-Driven Pharmaceutical Research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745998" y="421958"/>
            <a:ext cx="6680998" cy="616077"/>
            <a:chOff x="745998" y="421958"/>
            <a:chExt cx="6680998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745998" y="421958"/>
              <a:ext cx="668099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PG/PhD Research Project Ideas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762000" y="1143000"/>
            <a:ext cx="3429000" cy="4953000"/>
            <a:chOff x="762000" y="1143000"/>
            <a:chExt cx="3429000" cy="4953000"/>
          </a:xfrm>
        </p:grpSpPr>
        <p:sp>
          <p:nvSpPr>
            <p:cNvPr id="4" name="Rectangle 4"/>
            <p:cNvSpPr/>
            <p:nvPr/>
          </p:nvSpPr>
          <p:spPr>
            <a:xfrm>
              <a:off x="762000" y="1143000"/>
              <a:ext cx="3429000" cy="4953000"/>
            </a:xfrm>
            <a:prstGeom prst="roundRect">
              <a:avLst>
                <a:gd name="adj" fmla="val 3889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Rectangle 5"/>
            <p:cNvSpPr/>
            <p:nvPr/>
          </p:nvSpPr>
          <p:spPr>
            <a:xfrm>
              <a:off x="1047750" y="1428750"/>
              <a:ext cx="2857500" cy="381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040130" y="1647825"/>
              <a:ext cx="20889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Virtual screening of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40130" y="1914525"/>
              <a:ext cx="260196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natural products against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40130" y="2181225"/>
              <a:ext cx="18164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SARS-CoV-2 Mpro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40892" y="2711768"/>
              <a:ext cx="27365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Scope: Screen 1000+ natural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40892" y="2978468"/>
              <a:ext cx="227959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compounds for protease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40892" y="3245168"/>
              <a:ext cx="17899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inhibition potential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41654" y="3870960"/>
              <a:ext cx="1740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Timeline: 3–6 months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41654" y="4251960"/>
              <a:ext cx="222009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Output: Research paper +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41654" y="4499610"/>
              <a:ext cx="199217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lead compound shortlist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4381500" y="1143000"/>
            <a:ext cx="3429000" cy="4953000"/>
            <a:chOff x="4381500" y="1143000"/>
            <a:chExt cx="3429000" cy="4953000"/>
          </a:xfrm>
        </p:grpSpPr>
        <p:sp>
          <p:nvSpPr>
            <p:cNvPr id="16" name="Rectangle 16"/>
            <p:cNvSpPr/>
            <p:nvPr/>
          </p:nvSpPr>
          <p:spPr>
            <a:xfrm>
              <a:off x="4381500" y="1143000"/>
              <a:ext cx="3429000" cy="4953000"/>
            </a:xfrm>
            <a:prstGeom prst="roundRect">
              <a:avLst>
                <a:gd name="adj" fmla="val 3889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Rectangle 17"/>
            <p:cNvSpPr/>
            <p:nvPr/>
          </p:nvSpPr>
          <p:spPr>
            <a:xfrm>
              <a:off x="4667250" y="1428750"/>
              <a:ext cx="2857500" cy="381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659630" y="1647825"/>
              <a:ext cx="214182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Repurposing existing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659630" y="1914525"/>
              <a:ext cx="230169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drugs for Alzheimer's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659630" y="2181225"/>
              <a:ext cx="83154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targets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660392" y="2711768"/>
              <a:ext cx="258306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Scope: Dock FDA-approved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660392" y="2978468"/>
              <a:ext cx="221730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drugs against AChE and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660392" y="3245168"/>
              <a:ext cx="144192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BACE1 targets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661154" y="3870960"/>
              <a:ext cx="1740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Timeline: 2–4 months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661154" y="4251960"/>
              <a:ext cx="178835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Output: Repurposing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661154" y="4499610"/>
              <a:ext cx="233537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candidates + ADMET report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8001000" y="1143000"/>
            <a:ext cx="3429000" cy="4953000"/>
            <a:chOff x="8001000" y="1143000"/>
            <a:chExt cx="3429000" cy="4953000"/>
          </a:xfrm>
        </p:grpSpPr>
        <p:sp>
          <p:nvSpPr>
            <p:cNvPr id="28" name="Rectangle 28"/>
            <p:cNvSpPr/>
            <p:nvPr/>
          </p:nvSpPr>
          <p:spPr>
            <a:xfrm>
              <a:off x="8001000" y="1143000"/>
              <a:ext cx="3429000" cy="4953000"/>
            </a:xfrm>
            <a:prstGeom prst="roundRect">
              <a:avLst>
                <a:gd name="adj" fmla="val 3889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9" name="Rectangle 29"/>
            <p:cNvSpPr/>
            <p:nvPr/>
          </p:nvSpPr>
          <p:spPr>
            <a:xfrm>
              <a:off x="8286750" y="1428750"/>
              <a:ext cx="2857500" cy="381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279130" y="1647825"/>
              <a:ext cx="23362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SAR study of quinolone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279130" y="1914525"/>
              <a:ext cx="11389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antibiotics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279892" y="2711768"/>
              <a:ext cx="29161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Scope: Systematic structure-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279892" y="2978468"/>
              <a:ext cx="22123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activity relationship of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279892" y="3245168"/>
              <a:ext cx="25772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fluoroquinolone derivatives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280654" y="3870960"/>
              <a:ext cx="1740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Timeline: 4–6 months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280654" y="4251960"/>
              <a:ext cx="16581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Output: SAR map +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280654" y="4499610"/>
              <a:ext cx="204337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optimized analog designs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0" y="6619875"/>
            <a:ext cx="12192000" cy="238125"/>
            <a:chOff x="0" y="6619875"/>
            <a:chExt cx="12192000" cy="238125"/>
          </a:xfrm>
        </p:grpSpPr>
        <p:sp>
          <p:nvSpPr>
            <p:cNvPr id="39" name="Rectangle 39"/>
            <p:cNvSpPr/>
            <p:nvPr/>
          </p:nvSpPr>
          <p:spPr>
            <a:xfrm>
              <a:off x="0" y="6619875"/>
              <a:ext cx="12192000" cy="238125"/>
            </a:xfrm>
            <a:prstGeom prst="rect">
              <a:avLst/>
            </a:prstGeom>
            <a:solidFill>
              <a:srgbClr val="0D0F24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203998" y="6692741"/>
              <a:ext cx="378400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dirty="0">
                  <a:solidFill>
                    <a:srgbClr val="7A85A8"/>
                  </a:solidFill>
                  <a:latin typeface="+mj-lt"/>
                  <a:ea typeface="+mj-ea"/>
                  <a:cs typeface="+mj-cs"/>
                </a:rPr>
                <a:t>BioDockify — Building the Future of AI-Driven Pharmaceutical Research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745998" y="421958"/>
            <a:ext cx="9550062" cy="616077"/>
            <a:chOff x="745998" y="421958"/>
            <a:chExt cx="9550062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745998" y="421958"/>
              <a:ext cx="955006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Engaging Students with Computational Tools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62000" y="1238250"/>
            <a:ext cx="3429000" cy="4572000"/>
            <a:chOff x="762000" y="1238250"/>
            <a:chExt cx="3429000" cy="4572000"/>
          </a:xfrm>
        </p:grpSpPr>
        <p:sp>
          <p:nvSpPr>
            <p:cNvPr id="4" name="Rectangle 4"/>
            <p:cNvSpPr/>
            <p:nvPr/>
          </p:nvSpPr>
          <p:spPr>
            <a:xfrm>
              <a:off x="762000" y="1238250"/>
              <a:ext cx="3429000" cy="4572000"/>
            </a:xfrm>
            <a:prstGeom prst="roundRect">
              <a:avLst>
                <a:gd name="adj" fmla="val 3889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Ellipse 5"/>
            <p:cNvSpPr/>
            <p:nvPr/>
          </p:nvSpPr>
          <p:spPr>
            <a:xfrm>
              <a:off x="2095500" y="1619250"/>
              <a:ext cx="762000" cy="762000"/>
            </a:xfrm>
            <a:prstGeom prst="ellipse">
              <a:avLst/>
            </a:prstGeom>
            <a:solidFill>
              <a:schemeClr val="lt1"/>
            </a:solidFill>
            <a:ln w="19050">
              <a:solidFill>
                <a:schemeClr val="accent1"/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2384202" y="1849755"/>
              <a:ext cx="18459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1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1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694069" y="2567940"/>
              <a:ext cx="156486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8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Gamification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566172" y="3076575"/>
              <a:ext cx="182065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Virtual screening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535430" y="3362325"/>
              <a:ext cx="18821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competitions with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850136" y="3648075"/>
              <a:ext cx="125272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leaderboard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4381500" y="1238250"/>
            <a:ext cx="3429000" cy="4572000"/>
            <a:chOff x="4381500" y="1238250"/>
            <a:chExt cx="3429000" cy="4572000"/>
          </a:xfrm>
        </p:grpSpPr>
        <p:sp>
          <p:nvSpPr>
            <p:cNvPr id="12" name="Rectangle 12"/>
            <p:cNvSpPr/>
            <p:nvPr/>
          </p:nvSpPr>
          <p:spPr>
            <a:xfrm>
              <a:off x="4381500" y="1238250"/>
              <a:ext cx="3429000" cy="4572000"/>
            </a:xfrm>
            <a:prstGeom prst="roundRect">
              <a:avLst>
                <a:gd name="adj" fmla="val 3889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Ellipse 13"/>
            <p:cNvSpPr/>
            <p:nvPr/>
          </p:nvSpPr>
          <p:spPr>
            <a:xfrm>
              <a:off x="5715000" y="1619250"/>
              <a:ext cx="762000" cy="762000"/>
            </a:xfrm>
            <a:prstGeom prst="ellipse">
              <a:avLst/>
            </a:prstGeom>
            <a:solidFill>
              <a:schemeClr val="lt1"/>
            </a:solidFill>
            <a:ln w="19050">
              <a:solidFill>
                <a:schemeClr val="accent2"/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003702" y="1849755"/>
              <a:ext cx="18459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1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232889" y="2567940"/>
              <a:ext cx="172622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8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Peer Teaching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036820" y="3076575"/>
              <a:ext cx="21183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PG students mentor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000154" y="3362325"/>
              <a:ext cx="219169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UG students through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229606" y="3648075"/>
              <a:ext cx="17327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guided exercises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8001000" y="1238250"/>
            <a:ext cx="3429000" cy="4572000"/>
            <a:chOff x="8001000" y="1238250"/>
            <a:chExt cx="3429000" cy="4572000"/>
          </a:xfrm>
        </p:grpSpPr>
        <p:sp>
          <p:nvSpPr>
            <p:cNvPr id="20" name="Rectangle 20"/>
            <p:cNvSpPr/>
            <p:nvPr/>
          </p:nvSpPr>
          <p:spPr>
            <a:xfrm>
              <a:off x="8001000" y="1238250"/>
              <a:ext cx="3429000" cy="4572000"/>
            </a:xfrm>
            <a:prstGeom prst="roundRect">
              <a:avLst>
                <a:gd name="adj" fmla="val 3889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Ellipse 21"/>
            <p:cNvSpPr/>
            <p:nvPr/>
          </p:nvSpPr>
          <p:spPr>
            <a:xfrm>
              <a:off x="9334500" y="1619250"/>
              <a:ext cx="762000" cy="762000"/>
            </a:xfrm>
            <a:prstGeom prst="ellipse">
              <a:avLst/>
            </a:prstGeom>
            <a:solidFill>
              <a:schemeClr val="lt1"/>
            </a:solidFill>
            <a:ln w="19050">
              <a:solidFill>
                <a:schemeClr val="accent1"/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623202" y="1849755"/>
              <a:ext cx="18459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1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326562" y="2567940"/>
              <a:ext cx="277787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8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Real-World Connection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808883" y="3076575"/>
              <a:ext cx="181323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Use current drug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721090" y="3362325"/>
              <a:ext cx="1988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targets from news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875776" y="3648075"/>
              <a:ext cx="167944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and publications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0" y="6619875"/>
            <a:ext cx="12192000" cy="238125"/>
            <a:chOff x="0" y="6619875"/>
            <a:chExt cx="12192000" cy="238125"/>
          </a:xfrm>
        </p:grpSpPr>
        <p:sp>
          <p:nvSpPr>
            <p:cNvPr id="28" name="Rectangle 28"/>
            <p:cNvSpPr/>
            <p:nvPr/>
          </p:nvSpPr>
          <p:spPr>
            <a:xfrm>
              <a:off x="0" y="6619875"/>
              <a:ext cx="12192000" cy="238125"/>
            </a:xfrm>
            <a:prstGeom prst="rect">
              <a:avLst/>
            </a:prstGeom>
            <a:solidFill>
              <a:srgbClr val="0D0F24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203998" y="6692741"/>
              <a:ext cx="378400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dirty="0">
                  <a:solidFill>
                    <a:srgbClr val="7A85A8"/>
                  </a:solidFill>
                  <a:latin typeface="+mj-lt"/>
                  <a:ea typeface="+mj-ea"/>
                  <a:cs typeface="+mj-cs"/>
                </a:rPr>
                <a:t>BioDockify — Building the Future of AI-Driven Pharmaceutical Research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745998" y="421958"/>
            <a:ext cx="6091487" cy="616077"/>
            <a:chOff x="745998" y="421958"/>
            <a:chExt cx="6091487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745998" y="421958"/>
              <a:ext cx="6091487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Collaboration Opportunities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5048250" y="2762250"/>
            <a:ext cx="2095500" cy="1333500"/>
            <a:chOff x="5048250" y="2762250"/>
            <a:chExt cx="2095500" cy="1333500"/>
          </a:xfrm>
        </p:grpSpPr>
        <p:sp>
          <p:nvSpPr>
            <p:cNvPr id="4" name="Rectangle 4"/>
            <p:cNvSpPr/>
            <p:nvPr/>
          </p:nvSpPr>
          <p:spPr>
            <a:xfrm>
              <a:off x="5048250" y="2762250"/>
              <a:ext cx="2095500" cy="1333500"/>
            </a:xfrm>
            <a:prstGeom prst="roundRect">
              <a:avLst>
                <a:gd name="adj" fmla="val 10000"/>
              </a:avLst>
            </a:prstGeom>
            <a:solidFill>
              <a:schemeClr val="lt2"/>
            </a:solidFill>
            <a:ln w="19050">
              <a:solidFill>
                <a:schemeClr val="accent1"/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552313" y="3314700"/>
              <a:ext cx="108737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BioDockify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410208" y="3632835"/>
              <a:ext cx="137158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b="1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Shared Platform</a:t>
              </a:r>
            </a:p>
          </p:txBody>
        </p:sp>
      </p:grpSp>
      <p:sp>
        <p:nvSpPr>
          <p:cNvPr id="8" name="Line 8"/>
          <p:cNvSpPr/>
          <p:nvPr/>
        </p:nvSpPr>
        <p:spPr>
          <a:xfrm>
            <a:off x="3619500" y="2095500"/>
            <a:ext cx="1428750" cy="952500"/>
          </a:xfrm>
          <a:custGeom>
            <a:avLst/>
            <a:gdLst/>
            <a:ahLst/>
            <a:cxnLst/>
            <a:rect l="l" t="t" r="r" b="b"/>
            <a:pathLst>
              <a:path w="1428750" h="952500">
                <a:moveTo>
                  <a:pt x="1428750" y="952500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chemeClr val="accent1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9" name="Line 9"/>
          <p:cNvSpPr/>
          <p:nvPr/>
        </p:nvSpPr>
        <p:spPr>
          <a:xfrm>
            <a:off x="7143750" y="2095500"/>
            <a:ext cx="1428750" cy="952500"/>
          </a:xfrm>
          <a:custGeom>
            <a:avLst/>
            <a:gdLst/>
            <a:ahLst/>
            <a:cxnLst/>
            <a:rect l="l" t="t" r="r" b="b"/>
            <a:pathLst>
              <a:path w="1428750" h="952500">
                <a:moveTo>
                  <a:pt x="0" y="952500"/>
                </a:moveTo>
                <a:lnTo>
                  <a:pt x="1428750" y="0"/>
                </a:lnTo>
              </a:path>
            </a:pathLst>
          </a:custGeom>
          <a:noFill/>
          <a:ln w="19050">
            <a:solidFill>
              <a:schemeClr val="accent1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0" name="Line 10"/>
          <p:cNvSpPr/>
          <p:nvPr/>
        </p:nvSpPr>
        <p:spPr>
          <a:xfrm>
            <a:off x="3619500" y="3810000"/>
            <a:ext cx="1428750" cy="1143000"/>
          </a:xfrm>
          <a:custGeom>
            <a:avLst/>
            <a:gdLst/>
            <a:ahLst/>
            <a:cxnLst/>
            <a:rect l="l" t="t" r="r" b="b"/>
            <a:pathLst>
              <a:path w="1428750" h="1143000">
                <a:moveTo>
                  <a:pt x="1428750" y="0"/>
                </a:moveTo>
                <a:lnTo>
                  <a:pt x="0" y="1143000"/>
                </a:lnTo>
              </a:path>
            </a:pathLst>
          </a:custGeom>
          <a:noFill/>
          <a:ln w="19050">
            <a:solidFill>
              <a:schemeClr val="accent2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1" name="Line 11"/>
          <p:cNvSpPr/>
          <p:nvPr/>
        </p:nvSpPr>
        <p:spPr>
          <a:xfrm>
            <a:off x="7143750" y="3810000"/>
            <a:ext cx="1428750" cy="1143000"/>
          </a:xfrm>
          <a:custGeom>
            <a:avLst/>
            <a:gdLst/>
            <a:ahLst/>
            <a:cxnLst/>
            <a:rect l="l" t="t" r="r" b="b"/>
            <a:pathLst>
              <a:path w="1428750" h="1143000">
                <a:moveTo>
                  <a:pt x="0" y="0"/>
                </a:moveTo>
                <a:lnTo>
                  <a:pt x="1428750" y="1143000"/>
                </a:lnTo>
              </a:path>
            </a:pathLst>
          </a:custGeom>
          <a:noFill/>
          <a:ln w="19050">
            <a:solidFill>
              <a:schemeClr val="accent2"/>
            </a:solidFill>
          </a:ln>
        </p:spPr>
        <p:txBody>
          <a:bodyPr/>
          <a:lstStyle/>
          <a:p>
            <a:endParaRPr lang="en-IN"/>
          </a:p>
        </p:txBody>
      </p:sp>
      <p:grpSp>
        <p:nvGrpSpPr>
          <p:cNvPr id="16" name="Group 16"/>
          <p:cNvGrpSpPr/>
          <p:nvPr/>
        </p:nvGrpSpPr>
        <p:grpSpPr>
          <a:xfrm>
            <a:off x="1143000" y="1333500"/>
            <a:ext cx="2857500" cy="1524000"/>
            <a:chOff x="1143000" y="1333500"/>
            <a:chExt cx="2857500" cy="1524000"/>
          </a:xfrm>
        </p:grpSpPr>
        <p:sp>
          <p:nvSpPr>
            <p:cNvPr id="12" name="Rectangle 12"/>
            <p:cNvSpPr/>
            <p:nvPr/>
          </p:nvSpPr>
          <p:spPr>
            <a:xfrm>
              <a:off x="1143000" y="1333500"/>
              <a:ext cx="2857500" cy="1524000"/>
            </a:xfrm>
            <a:prstGeom prst="roundRect">
              <a:avLst>
                <a:gd name="adj" fmla="val 8750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421130" y="1552575"/>
              <a:ext cx="20574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Inter-departmental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421892" y="1902142"/>
              <a:ext cx="18998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Pool targets across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421892" y="2168842"/>
              <a:ext cx="121386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departments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8191500" y="1333500"/>
            <a:ext cx="2857500" cy="1524000"/>
            <a:chOff x="8191500" y="1333500"/>
            <a:chExt cx="2857500" cy="1524000"/>
          </a:xfrm>
        </p:grpSpPr>
        <p:sp>
          <p:nvSpPr>
            <p:cNvPr id="17" name="Rectangle 17"/>
            <p:cNvSpPr/>
            <p:nvPr/>
          </p:nvSpPr>
          <p:spPr>
            <a:xfrm>
              <a:off x="8191500" y="1333500"/>
              <a:ext cx="2857500" cy="1524000"/>
            </a:xfrm>
            <a:prstGeom prst="roundRect">
              <a:avLst>
                <a:gd name="adj" fmla="val 8750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469630" y="1552575"/>
              <a:ext cx="17812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Multi-institution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470392" y="1902142"/>
              <a:ext cx="22165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Shared projects across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470392" y="2168842"/>
              <a:ext cx="762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colleges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143000" y="4191000"/>
            <a:ext cx="2857500" cy="1524000"/>
            <a:chOff x="1143000" y="4191000"/>
            <a:chExt cx="2857500" cy="1524000"/>
          </a:xfrm>
        </p:grpSpPr>
        <p:sp>
          <p:nvSpPr>
            <p:cNvPr id="22" name="Rectangle 22"/>
            <p:cNvSpPr/>
            <p:nvPr/>
          </p:nvSpPr>
          <p:spPr>
            <a:xfrm>
              <a:off x="1143000" y="4191000"/>
              <a:ext cx="2857500" cy="1524000"/>
            </a:xfrm>
            <a:prstGeom prst="roundRect">
              <a:avLst>
                <a:gd name="adj" fmla="val 8750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421130" y="4410075"/>
              <a:ext cx="194086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Industry-academia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421892" y="4759642"/>
              <a:ext cx="17261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Companies provide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21892" y="5026342"/>
              <a:ext cx="18091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real-world targets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8191500" y="4191000"/>
            <a:ext cx="2857500" cy="1524000"/>
            <a:chOff x="8191500" y="4191000"/>
            <a:chExt cx="2857500" cy="1524000"/>
          </a:xfrm>
        </p:grpSpPr>
        <p:sp>
          <p:nvSpPr>
            <p:cNvPr id="27" name="Rectangle 27"/>
            <p:cNvSpPr/>
            <p:nvPr/>
          </p:nvSpPr>
          <p:spPr>
            <a:xfrm>
              <a:off x="8191500" y="4191000"/>
              <a:ext cx="2857500" cy="1524000"/>
            </a:xfrm>
            <a:prstGeom prst="roundRect">
              <a:avLst>
                <a:gd name="adj" fmla="val 8750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469630" y="4410075"/>
              <a:ext cx="137811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International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470392" y="4759642"/>
              <a:ext cx="198596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Worldwide via shared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470392" y="5026342"/>
              <a:ext cx="10026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workspace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0" y="6619875"/>
            <a:ext cx="12192000" cy="238125"/>
            <a:chOff x="0" y="6619875"/>
            <a:chExt cx="12192000" cy="238125"/>
          </a:xfrm>
        </p:grpSpPr>
        <p:sp>
          <p:nvSpPr>
            <p:cNvPr id="32" name="Rectangle 32"/>
            <p:cNvSpPr/>
            <p:nvPr/>
          </p:nvSpPr>
          <p:spPr>
            <a:xfrm>
              <a:off x="0" y="6619875"/>
              <a:ext cx="12192000" cy="238125"/>
            </a:xfrm>
            <a:prstGeom prst="rect">
              <a:avLst/>
            </a:prstGeom>
            <a:solidFill>
              <a:srgbClr val="0D0F24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203998" y="6692741"/>
              <a:ext cx="378400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dirty="0">
                  <a:solidFill>
                    <a:srgbClr val="7A85A8"/>
                  </a:solidFill>
                  <a:latin typeface="+mj-lt"/>
                  <a:ea typeface="+mj-ea"/>
                  <a:cs typeface="+mj-cs"/>
                </a:rPr>
                <a:t>BioDockify — Building the Future of AI-Driven Pharmaceutical Research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1809840" y="212408"/>
            <a:ext cx="8572320" cy="616077"/>
            <a:chOff x="1809840" y="212408"/>
            <a:chExt cx="8572320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1809840" y="212408"/>
              <a:ext cx="857232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The Future of Pharmaceutical Research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762000" y="1139190"/>
            <a:ext cx="2857500" cy="3813810"/>
            <a:chOff x="762000" y="1139190"/>
            <a:chExt cx="2857500" cy="3813810"/>
          </a:xfrm>
        </p:grpSpPr>
        <p:sp>
          <p:nvSpPr>
            <p:cNvPr id="4" name="TextBox 4"/>
            <p:cNvSpPr txBox="1"/>
            <p:nvPr/>
          </p:nvSpPr>
          <p:spPr>
            <a:xfrm>
              <a:off x="1827802" y="1139190"/>
              <a:ext cx="72589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800" b="1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Today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762000" y="1524000"/>
              <a:ext cx="2857500" cy="3429000"/>
            </a:xfrm>
            <a:prstGeom prst="roundRect">
              <a:avLst>
                <a:gd name="adj" fmla="val 4667"/>
              </a:avLst>
            </a:prstGeom>
            <a:solidFill>
              <a:schemeClr val="lt2"/>
            </a:solidFill>
            <a:ln w="14288">
              <a:solidFill>
                <a:schemeClr val="accent3"/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583817" y="1933575"/>
              <a:ext cx="121386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Researcher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2140229" y="229933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+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34540" y="2616518"/>
              <a:ext cx="231242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Many disconnected tools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47355" y="3117056"/>
              <a:ext cx="20867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20904" indent="-120904" algn="ctr">
                <a:buClr>
                  <a:schemeClr val="accent3"/>
                </a:buClr>
                <a:buSzTx/>
                <a:buFontTx/>
                <a:buChar char="•"/>
              </a:pPr>
              <a:r>
                <a:rPr lang="en" sz="112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Manual literature search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230946" y="3402806"/>
              <a:ext cx="19196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20904" indent="-120904" algn="ctr">
                <a:buClr>
                  <a:schemeClr val="accent3"/>
                </a:buClr>
                <a:buSzTx/>
                <a:buFontTx/>
                <a:buChar char="•"/>
              </a:pPr>
              <a:r>
                <a:rPr lang="en" sz="112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Separate docking tools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12335" y="3688556"/>
              <a:ext cx="215683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20904" indent="-120904" algn="ctr">
                <a:buClr>
                  <a:schemeClr val="accent3"/>
                </a:buClr>
                <a:buSzTx/>
                <a:buFontTx/>
                <a:buChar char="•"/>
              </a:pPr>
              <a:r>
                <a:rPr lang="en" sz="112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Individual analysis scripts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274225" y="3974306"/>
              <a:ext cx="18330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20904" indent="-120904" algn="ctr">
                <a:buClr>
                  <a:schemeClr val="accent3"/>
                </a:buClr>
                <a:buSzTx/>
                <a:buFontTx/>
                <a:buChar char="•"/>
              </a:pPr>
              <a:r>
                <a:rPr lang="en" sz="112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Fragmented workflow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3810000" y="2971800"/>
            <a:ext cx="571500" cy="152400"/>
            <a:chOff x="3810000" y="2971800"/>
            <a:chExt cx="571500" cy="152400"/>
          </a:xfrm>
        </p:grpSpPr>
        <p:sp>
          <p:nvSpPr>
            <p:cNvPr id="14" name="Line 14"/>
            <p:cNvSpPr/>
            <p:nvPr/>
          </p:nvSpPr>
          <p:spPr>
            <a:xfrm>
              <a:off x="3810000" y="3048000"/>
              <a:ext cx="476250" cy="9525"/>
            </a:xfrm>
            <a:custGeom>
              <a:avLst/>
              <a:gdLst/>
              <a:ahLst/>
              <a:cxnLst/>
              <a:rect l="l" t="t" r="r" b="b"/>
              <a:pathLst>
                <a:path w="476250" h="9525">
                  <a:moveTo>
                    <a:pt x="0" y="0"/>
                  </a:moveTo>
                  <a:lnTo>
                    <a:pt x="47625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Polygon 15"/>
            <p:cNvSpPr/>
            <p:nvPr/>
          </p:nvSpPr>
          <p:spPr>
            <a:xfrm>
              <a:off x="4238625" y="2971800"/>
              <a:ext cx="142875" cy="152400"/>
            </a:xfrm>
            <a:custGeom>
              <a:avLst/>
              <a:gdLst/>
              <a:ahLst/>
              <a:cxnLst/>
              <a:rect l="l" t="t" r="r" b="b"/>
              <a:pathLst>
                <a:path w="142875" h="152400">
                  <a:moveTo>
                    <a:pt x="0" y="0"/>
                  </a:moveTo>
                  <a:lnTo>
                    <a:pt x="142875" y="762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4667250" y="1139190"/>
            <a:ext cx="2857500" cy="3813810"/>
            <a:chOff x="4667250" y="1139190"/>
            <a:chExt cx="2857500" cy="3813810"/>
          </a:xfrm>
        </p:grpSpPr>
        <p:sp>
          <p:nvSpPr>
            <p:cNvPr id="17" name="TextBox 17"/>
            <p:cNvSpPr txBox="1"/>
            <p:nvPr/>
          </p:nvSpPr>
          <p:spPr>
            <a:xfrm>
              <a:off x="5447176" y="1139190"/>
              <a:ext cx="12976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8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Transition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4667250" y="1524000"/>
              <a:ext cx="2857500" cy="3429000"/>
            </a:xfrm>
            <a:prstGeom prst="roundRect">
              <a:avLst>
                <a:gd name="adj" fmla="val 4667"/>
              </a:avLst>
            </a:prstGeom>
            <a:solidFill>
              <a:schemeClr val="lt2"/>
            </a:solidFill>
            <a:ln w="14288">
              <a:solidFill>
                <a:schemeClr val="accent2"/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489067" y="1933575"/>
              <a:ext cx="121386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Researcher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045479" y="229933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+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626227" y="2616518"/>
              <a:ext cx="93954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AI Copilot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045479" y="296608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+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305204" y="3283268"/>
              <a:ext cx="15815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Integrated tools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281473" y="3783806"/>
              <a:ext cx="16290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20904" indent="-120904" algn="ctr">
                <a:buClr>
                  <a:schemeClr val="accent3"/>
                </a:buClr>
                <a:buSzTx/>
                <a:buFontTx/>
                <a:buChar char="•"/>
              </a:pPr>
              <a:r>
                <a:rPr lang="en" sz="112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AI-assisted search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347138" y="4069556"/>
              <a:ext cx="14977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20904" indent="-120904" algn="ctr">
                <a:buClr>
                  <a:schemeClr val="accent3"/>
                </a:buClr>
                <a:buSzTx/>
                <a:buFontTx/>
                <a:buChar char="•"/>
              </a:pPr>
              <a:r>
                <a:rPr lang="en" sz="112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Guided workflows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295841" y="4355306"/>
              <a:ext cx="16003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20904" indent="-120904" algn="ctr">
                <a:buClr>
                  <a:schemeClr val="accent3"/>
                </a:buClr>
                <a:buSzTx/>
                <a:buFontTx/>
                <a:buChar char="•"/>
              </a:pPr>
              <a:r>
                <a:rPr lang="en" sz="112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Partial automation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7715250" y="2971800"/>
            <a:ext cx="571500" cy="152400"/>
            <a:chOff x="7715250" y="2971800"/>
            <a:chExt cx="571500" cy="152400"/>
          </a:xfrm>
        </p:grpSpPr>
        <p:sp>
          <p:nvSpPr>
            <p:cNvPr id="28" name="Line 28"/>
            <p:cNvSpPr/>
            <p:nvPr/>
          </p:nvSpPr>
          <p:spPr>
            <a:xfrm>
              <a:off x="7715250" y="3048000"/>
              <a:ext cx="476250" cy="9525"/>
            </a:xfrm>
            <a:custGeom>
              <a:avLst/>
              <a:gdLst/>
              <a:ahLst/>
              <a:cxnLst/>
              <a:rect l="l" t="t" r="r" b="b"/>
              <a:pathLst>
                <a:path w="476250" h="9525">
                  <a:moveTo>
                    <a:pt x="0" y="0"/>
                  </a:moveTo>
                  <a:lnTo>
                    <a:pt x="476250" y="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9" name="Polygon 29"/>
            <p:cNvSpPr/>
            <p:nvPr/>
          </p:nvSpPr>
          <p:spPr>
            <a:xfrm>
              <a:off x="8143875" y="2971800"/>
              <a:ext cx="142875" cy="152400"/>
            </a:xfrm>
            <a:custGeom>
              <a:avLst/>
              <a:gdLst/>
              <a:ahLst/>
              <a:cxnLst/>
              <a:rect l="l" t="t" r="r" b="b"/>
              <a:pathLst>
                <a:path w="142875" h="152400">
                  <a:moveTo>
                    <a:pt x="0" y="0"/>
                  </a:moveTo>
                  <a:lnTo>
                    <a:pt x="142875" y="762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8572500" y="1139190"/>
            <a:ext cx="2857500" cy="3813810"/>
            <a:chOff x="8572500" y="1139190"/>
            <a:chExt cx="2857500" cy="3813810"/>
          </a:xfrm>
        </p:grpSpPr>
        <p:sp>
          <p:nvSpPr>
            <p:cNvPr id="31" name="TextBox 31"/>
            <p:cNvSpPr txBox="1"/>
            <p:nvPr/>
          </p:nvSpPr>
          <p:spPr>
            <a:xfrm>
              <a:off x="9568333" y="1139190"/>
              <a:ext cx="86583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8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Future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8572500" y="1524000"/>
              <a:ext cx="2857500" cy="3429000"/>
            </a:xfrm>
            <a:prstGeom prst="roundRect">
              <a:avLst>
                <a:gd name="adj" fmla="val 4667"/>
              </a:avLst>
            </a:prstGeom>
            <a:solidFill>
              <a:schemeClr val="lt2"/>
            </a:solidFill>
            <a:ln w="23812">
              <a:solidFill>
                <a:schemeClr val="accent1"/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629796" y="1838325"/>
              <a:ext cx="274290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Researcher × AI Partner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607042" y="2355056"/>
              <a:ext cx="7884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12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→ Planning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188951" y="2640806"/>
              <a:ext cx="162459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12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→ Evidence gathering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284563" y="2926556"/>
              <a:ext cx="14333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12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→ Experimentation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607042" y="3212306"/>
              <a:ext cx="7884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12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→ Analysis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539912" y="3498056"/>
              <a:ext cx="9226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12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→ Validation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526617" y="3783806"/>
              <a:ext cx="9492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12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→ Knowledge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184855" y="4363402"/>
              <a:ext cx="163279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0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Full research lifecycle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2793057" y="5822632"/>
            <a:ext cx="6605885" cy="322707"/>
            <a:chOff x="2793057" y="5822632"/>
            <a:chExt cx="6605885" cy="322707"/>
          </a:xfrm>
        </p:grpSpPr>
        <p:sp>
          <p:nvSpPr>
            <p:cNvPr id="42" name="TextBox 42"/>
            <p:cNvSpPr txBox="1"/>
            <p:nvPr/>
          </p:nvSpPr>
          <p:spPr>
            <a:xfrm>
              <a:off x="2793057" y="5822632"/>
              <a:ext cx="660588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The future is researchers becoming more capable with AI.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0" y="6619875"/>
            <a:ext cx="12192000" cy="238125"/>
            <a:chOff x="0" y="6619875"/>
            <a:chExt cx="12192000" cy="238125"/>
          </a:xfrm>
        </p:grpSpPr>
        <p:sp>
          <p:nvSpPr>
            <p:cNvPr id="44" name="Rectangle 44"/>
            <p:cNvSpPr/>
            <p:nvPr/>
          </p:nvSpPr>
          <p:spPr>
            <a:xfrm>
              <a:off x="0" y="6619875"/>
              <a:ext cx="12192000" cy="238125"/>
            </a:xfrm>
            <a:prstGeom prst="rect">
              <a:avLst/>
            </a:prstGeom>
            <a:solidFill>
              <a:srgbClr val="0D0F24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203998" y="6692741"/>
              <a:ext cx="378400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dirty="0">
                  <a:solidFill>
                    <a:srgbClr val="7A85A8"/>
                  </a:solidFill>
                  <a:latin typeface="+mj-lt"/>
                  <a:ea typeface="+mj-ea"/>
                  <a:cs typeface="+mj-cs"/>
                </a:rPr>
                <a:t>BioDockify — Building the Future of AI-Driven Pharmaceutical Research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745998" y="421958"/>
            <a:ext cx="5010709" cy="616077"/>
            <a:chOff x="745998" y="421958"/>
            <a:chExt cx="5010709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745998" y="421958"/>
              <a:ext cx="5010709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What You Actually Need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52856" y="1282065"/>
            <a:ext cx="10486644" cy="1718310"/>
            <a:chOff x="752856" y="1282065"/>
            <a:chExt cx="10486644" cy="1718310"/>
          </a:xfrm>
        </p:grpSpPr>
        <p:sp>
          <p:nvSpPr>
            <p:cNvPr id="4" name="TextBox 4"/>
            <p:cNvSpPr txBox="1"/>
            <p:nvPr/>
          </p:nvSpPr>
          <p:spPr>
            <a:xfrm>
              <a:off x="752856" y="1282065"/>
              <a:ext cx="109125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8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You Need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762000" y="1666875"/>
              <a:ext cx="3238500" cy="1333500"/>
            </a:xfrm>
            <a:prstGeom prst="roundRect">
              <a:avLst>
                <a:gd name="adj" fmla="val 10000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743935" y="2203132"/>
              <a:ext cx="127463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✓ Browser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4381500" y="1666875"/>
              <a:ext cx="3238500" cy="1333500"/>
            </a:xfrm>
            <a:prstGeom prst="roundRect">
              <a:avLst>
                <a:gd name="adj" fmla="val 10000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352322" y="2203132"/>
              <a:ext cx="12968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✓ Internet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8001000" y="1666875"/>
              <a:ext cx="3238500" cy="1333500"/>
            </a:xfrm>
            <a:prstGeom prst="roundRect">
              <a:avLst>
                <a:gd name="adj" fmla="val 10000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628040" y="2203132"/>
              <a:ext cx="198441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✓ Academic email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752856" y="3663315"/>
            <a:ext cx="10677144" cy="2385060"/>
            <a:chOff x="752856" y="3663315"/>
            <a:chExt cx="10677144" cy="2385060"/>
          </a:xfrm>
        </p:grpSpPr>
        <p:sp>
          <p:nvSpPr>
            <p:cNvPr id="12" name="TextBox 12"/>
            <p:cNvSpPr txBox="1"/>
            <p:nvPr/>
          </p:nvSpPr>
          <p:spPr>
            <a:xfrm>
              <a:off x="752856" y="3663315"/>
              <a:ext cx="187847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800" b="1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You Don't Need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762000" y="4048125"/>
              <a:ext cx="5143500" cy="571500"/>
            </a:xfrm>
            <a:prstGeom prst="roundRect">
              <a:avLst>
                <a:gd name="adj" fmla="val 23333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374773" y="4238625"/>
              <a:ext cx="191795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chemeClr val="accent3">
                      <a:alphaMod val="60000"/>
                    </a:schemeClr>
                  </a:solidFill>
                  <a:latin typeface="+mn-lt"/>
                  <a:ea typeface="+mn-ea"/>
                  <a:cs typeface="+mn-cs"/>
                </a:rPr>
                <a:t>Linux workstation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2381250" y="4343400"/>
              <a:ext cx="1905000" cy="9525"/>
            </a:xfrm>
            <a:custGeom>
              <a:avLst/>
              <a:gdLst/>
              <a:ahLst/>
              <a:cxnLst/>
              <a:rect l="l" t="t" r="r" b="b"/>
              <a:pathLst>
                <a:path w="1905000" h="9525">
                  <a:moveTo>
                    <a:pt x="0" y="0"/>
                  </a:moveTo>
                  <a:lnTo>
                    <a:pt x="190500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Rectangle 16"/>
            <p:cNvSpPr/>
            <p:nvPr/>
          </p:nvSpPr>
          <p:spPr>
            <a:xfrm>
              <a:off x="6286500" y="4048125"/>
              <a:ext cx="5143500" cy="571500"/>
            </a:xfrm>
            <a:prstGeom prst="roundRect">
              <a:avLst>
                <a:gd name="adj" fmla="val 23333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220494" y="4238625"/>
              <a:ext cx="12755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chemeClr val="accent3">
                      <a:alphaMod val="60000"/>
                    </a:schemeClr>
                  </a:solidFill>
                  <a:latin typeface="+mn-lt"/>
                  <a:ea typeface="+mn-ea"/>
                  <a:cs typeface="+mn-cs"/>
                </a:rPr>
                <a:t>GPU cluster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8191500" y="4343400"/>
              <a:ext cx="1333500" cy="9525"/>
            </a:xfrm>
            <a:custGeom>
              <a:avLst/>
              <a:gdLst/>
              <a:ahLst/>
              <a:cxnLst/>
              <a:rect l="l" t="t" r="r" b="b"/>
              <a:pathLst>
                <a:path w="1333500" h="9525">
                  <a:moveTo>
                    <a:pt x="0" y="0"/>
                  </a:moveTo>
                  <a:lnTo>
                    <a:pt x="133350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Rectangle 19"/>
            <p:cNvSpPr/>
            <p:nvPr/>
          </p:nvSpPr>
          <p:spPr>
            <a:xfrm>
              <a:off x="762000" y="4762500"/>
              <a:ext cx="5143500" cy="571500"/>
            </a:xfrm>
            <a:prstGeom prst="roundRect">
              <a:avLst>
                <a:gd name="adj" fmla="val 23333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658332" y="4953000"/>
              <a:ext cx="13508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chemeClr val="accent3">
                      <a:alphaMod val="60000"/>
                    </a:schemeClr>
                  </a:solidFill>
                  <a:latin typeface="+mn-lt"/>
                  <a:ea typeface="+mn-ea"/>
                  <a:cs typeface="+mn-cs"/>
                </a:rPr>
                <a:t>Python skills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2571750" y="5057775"/>
              <a:ext cx="1524000" cy="9525"/>
            </a:xfrm>
            <a:custGeom>
              <a:avLst/>
              <a:gdLst/>
              <a:ahLst/>
              <a:cxnLst/>
              <a:rect l="l" t="t" r="r" b="b"/>
              <a:pathLst>
                <a:path w="1524000" h="9525">
                  <a:moveTo>
                    <a:pt x="0" y="0"/>
                  </a:moveTo>
                  <a:lnTo>
                    <a:pt x="152400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Rectangle 22"/>
            <p:cNvSpPr/>
            <p:nvPr/>
          </p:nvSpPr>
          <p:spPr>
            <a:xfrm>
              <a:off x="6286500" y="4762500"/>
              <a:ext cx="5143500" cy="571500"/>
            </a:xfrm>
            <a:prstGeom prst="roundRect">
              <a:avLst>
                <a:gd name="adj" fmla="val 23333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99273" y="4953000"/>
              <a:ext cx="191795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chemeClr val="accent3">
                      <a:alphaMod val="60000"/>
                    </a:schemeClr>
                  </a:solidFill>
                  <a:latin typeface="+mn-lt"/>
                  <a:ea typeface="+mn-ea"/>
                  <a:cs typeface="+mn-cs"/>
                </a:rPr>
                <a:t>Software licenses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8048625" y="5057775"/>
              <a:ext cx="1619250" cy="9525"/>
            </a:xfrm>
            <a:custGeom>
              <a:avLst/>
              <a:gdLst/>
              <a:ahLst/>
              <a:cxnLst/>
              <a:rect l="l" t="t" r="r" b="b"/>
              <a:pathLst>
                <a:path w="1619250" h="9525">
                  <a:moveTo>
                    <a:pt x="0" y="0"/>
                  </a:moveTo>
                  <a:lnTo>
                    <a:pt x="161925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Rectangle 25"/>
            <p:cNvSpPr/>
            <p:nvPr/>
          </p:nvSpPr>
          <p:spPr>
            <a:xfrm>
              <a:off x="762000" y="5476875"/>
              <a:ext cx="5143500" cy="571500"/>
            </a:xfrm>
            <a:prstGeom prst="roundRect">
              <a:avLst>
                <a:gd name="adj" fmla="val 23333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569273" y="5667375"/>
              <a:ext cx="152895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chemeClr val="accent3">
                      <a:alphaMod val="60000"/>
                    </a:schemeClr>
                  </a:solidFill>
                  <a:latin typeface="+mn-lt"/>
                  <a:ea typeface="+mn-ea"/>
                  <a:cs typeface="+mn-cs"/>
                </a:rPr>
                <a:t>IT department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2552700" y="5772150"/>
              <a:ext cx="1562100" cy="9525"/>
            </a:xfrm>
            <a:custGeom>
              <a:avLst/>
              <a:gdLst/>
              <a:ahLst/>
              <a:cxnLst/>
              <a:rect l="l" t="t" r="r" b="b"/>
              <a:pathLst>
                <a:path w="1562100" h="9525">
                  <a:moveTo>
                    <a:pt x="0" y="0"/>
                  </a:moveTo>
                  <a:lnTo>
                    <a:pt x="156210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0" y="6619875"/>
            <a:ext cx="12192000" cy="238125"/>
            <a:chOff x="0" y="6619875"/>
            <a:chExt cx="12192000" cy="238125"/>
          </a:xfrm>
        </p:grpSpPr>
        <p:sp>
          <p:nvSpPr>
            <p:cNvPr id="29" name="Rectangle 29"/>
            <p:cNvSpPr/>
            <p:nvPr/>
          </p:nvSpPr>
          <p:spPr>
            <a:xfrm>
              <a:off x="0" y="6619875"/>
              <a:ext cx="12192000" cy="238125"/>
            </a:xfrm>
            <a:prstGeom prst="rect">
              <a:avLst/>
            </a:prstGeom>
            <a:solidFill>
              <a:srgbClr val="0D0F24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203998" y="6692741"/>
              <a:ext cx="378400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dirty="0">
                  <a:solidFill>
                    <a:srgbClr val="7A85A8"/>
                  </a:solidFill>
                  <a:latin typeface="+mj-lt"/>
                  <a:ea typeface="+mj-ea"/>
                  <a:cs typeface="+mj-cs"/>
                </a:rPr>
                <a:t>BioDockify — Building the Future of AI-Driven Pharmaceutical Research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745998" y="421958"/>
            <a:ext cx="7743933" cy="616077"/>
            <a:chOff x="745998" y="421958"/>
            <a:chExt cx="7743933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745998" y="421958"/>
              <a:ext cx="7743933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Hands-On: Dock Celecoxib to COX-2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62000" y="1143000"/>
            <a:ext cx="3429000" cy="1619250"/>
            <a:chOff x="762000" y="1143000"/>
            <a:chExt cx="3429000" cy="1619250"/>
          </a:xfrm>
        </p:grpSpPr>
        <p:sp>
          <p:nvSpPr>
            <p:cNvPr id="4" name="Rectangle 4"/>
            <p:cNvSpPr/>
            <p:nvPr/>
          </p:nvSpPr>
          <p:spPr>
            <a:xfrm>
              <a:off x="762000" y="1143000"/>
              <a:ext cx="3429000" cy="1619250"/>
            </a:xfrm>
            <a:prstGeom prst="roundRect">
              <a:avLst>
                <a:gd name="adj" fmla="val 8235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Ellipse 5"/>
            <p:cNvSpPr/>
            <p:nvPr/>
          </p:nvSpPr>
          <p:spPr>
            <a:xfrm>
              <a:off x="971550" y="1304925"/>
              <a:ext cx="342900" cy="342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096851" y="142970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0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1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421892" y="1378268"/>
              <a:ext cx="19474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Open biodockify.com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41654" y="1775460"/>
              <a:ext cx="19788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Navigate to the docking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41654" y="2004060"/>
              <a:ext cx="5669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module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381500" y="1143000"/>
            <a:ext cx="3429000" cy="1619250"/>
            <a:chOff x="4381500" y="1143000"/>
            <a:chExt cx="3429000" cy="1619250"/>
          </a:xfrm>
        </p:grpSpPr>
        <p:sp>
          <p:nvSpPr>
            <p:cNvPr id="11" name="Rectangle 11"/>
            <p:cNvSpPr/>
            <p:nvPr/>
          </p:nvSpPr>
          <p:spPr>
            <a:xfrm>
              <a:off x="4381500" y="1143000"/>
              <a:ext cx="3429000" cy="1619250"/>
            </a:xfrm>
            <a:prstGeom prst="roundRect">
              <a:avLst>
                <a:gd name="adj" fmla="val 8235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Ellipse 12"/>
            <p:cNvSpPr/>
            <p:nvPr/>
          </p:nvSpPr>
          <p:spPr>
            <a:xfrm>
              <a:off x="4591050" y="1304925"/>
              <a:ext cx="342900" cy="342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716351" y="142970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0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2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041392" y="1378268"/>
              <a:ext cx="17809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Fetch protein 1CX2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661154" y="1775460"/>
              <a:ext cx="16707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Enter PDB ID in the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661154" y="2004060"/>
              <a:ext cx="15398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protein input field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8001000" y="1143000"/>
            <a:ext cx="3429000" cy="1619250"/>
            <a:chOff x="8001000" y="1143000"/>
            <a:chExt cx="3429000" cy="1619250"/>
          </a:xfrm>
        </p:grpSpPr>
        <p:sp>
          <p:nvSpPr>
            <p:cNvPr id="18" name="Rectangle 18"/>
            <p:cNvSpPr/>
            <p:nvPr/>
          </p:nvSpPr>
          <p:spPr>
            <a:xfrm>
              <a:off x="8001000" y="1143000"/>
              <a:ext cx="3429000" cy="1619250"/>
            </a:xfrm>
            <a:prstGeom prst="roundRect">
              <a:avLst>
                <a:gd name="adj" fmla="val 8235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Ellipse 19"/>
            <p:cNvSpPr/>
            <p:nvPr/>
          </p:nvSpPr>
          <p:spPr>
            <a:xfrm>
              <a:off x="8210550" y="1304925"/>
              <a:ext cx="342900" cy="3429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335851" y="142970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0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660892" y="1378268"/>
              <a:ext cx="259514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Fetch celecoxib (CID: 2662)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280654" y="1775460"/>
              <a:ext cx="19781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Enter PubChem CID for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280654" y="2004060"/>
              <a:ext cx="8229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the ligand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762000" y="3048000"/>
            <a:ext cx="3429000" cy="1619250"/>
            <a:chOff x="762000" y="3048000"/>
            <a:chExt cx="3429000" cy="1619250"/>
          </a:xfrm>
        </p:grpSpPr>
        <p:sp>
          <p:nvSpPr>
            <p:cNvPr id="25" name="Rectangle 25"/>
            <p:cNvSpPr/>
            <p:nvPr/>
          </p:nvSpPr>
          <p:spPr>
            <a:xfrm>
              <a:off x="762000" y="3048000"/>
              <a:ext cx="3429000" cy="1619250"/>
            </a:xfrm>
            <a:prstGeom prst="roundRect">
              <a:avLst>
                <a:gd name="adj" fmla="val 8235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Ellipse 26"/>
            <p:cNvSpPr/>
            <p:nvPr/>
          </p:nvSpPr>
          <p:spPr>
            <a:xfrm>
              <a:off x="971550" y="3209925"/>
              <a:ext cx="342900" cy="3429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96851" y="333470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0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4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421892" y="3283268"/>
              <a:ext cx="23002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Auto-detect binding site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41654" y="3680460"/>
              <a:ext cx="196926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Platform identifies the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41654" y="3909060"/>
              <a:ext cx="20945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active site automatically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4381500" y="3048000"/>
            <a:ext cx="3429000" cy="1619250"/>
            <a:chOff x="4381500" y="3048000"/>
            <a:chExt cx="3429000" cy="1619250"/>
          </a:xfrm>
        </p:grpSpPr>
        <p:sp>
          <p:nvSpPr>
            <p:cNvPr id="32" name="Rectangle 32"/>
            <p:cNvSpPr/>
            <p:nvPr/>
          </p:nvSpPr>
          <p:spPr>
            <a:xfrm>
              <a:off x="4381500" y="3048000"/>
              <a:ext cx="3429000" cy="1619250"/>
            </a:xfrm>
            <a:prstGeom prst="roundRect">
              <a:avLst>
                <a:gd name="adj" fmla="val 8235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Ellipse 33"/>
            <p:cNvSpPr/>
            <p:nvPr/>
          </p:nvSpPr>
          <p:spPr>
            <a:xfrm>
              <a:off x="4591050" y="3209925"/>
              <a:ext cx="342900" cy="342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716351" y="333470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0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5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041392" y="3283268"/>
              <a:ext cx="23495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Run docking (exhaust. 8)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661154" y="3680460"/>
              <a:ext cx="20231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Set exhaustiveness to 8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661154" y="3909060"/>
              <a:ext cx="14374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and start the job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8001000" y="3048000"/>
            <a:ext cx="3429000" cy="1619250"/>
            <a:chOff x="8001000" y="3048000"/>
            <a:chExt cx="3429000" cy="1619250"/>
          </a:xfrm>
        </p:grpSpPr>
        <p:sp>
          <p:nvSpPr>
            <p:cNvPr id="39" name="Rectangle 39"/>
            <p:cNvSpPr/>
            <p:nvPr/>
          </p:nvSpPr>
          <p:spPr>
            <a:xfrm>
              <a:off x="8001000" y="3048000"/>
              <a:ext cx="3429000" cy="1619250"/>
            </a:xfrm>
            <a:prstGeom prst="roundRect">
              <a:avLst>
                <a:gd name="adj" fmla="val 8235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0" name="Ellipse 40"/>
            <p:cNvSpPr/>
            <p:nvPr/>
          </p:nvSpPr>
          <p:spPr>
            <a:xfrm>
              <a:off x="8210550" y="3209925"/>
              <a:ext cx="342900" cy="342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335851" y="333470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0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6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660892" y="3283268"/>
              <a:ext cx="11741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View results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280654" y="3680460"/>
              <a:ext cx="17901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Analyze binding poses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280654" y="3909060"/>
              <a:ext cx="152278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and energy scores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762000" y="5143500"/>
            <a:ext cx="10668000" cy="571500"/>
            <a:chOff x="762000" y="5143500"/>
            <a:chExt cx="10668000" cy="571500"/>
          </a:xfrm>
        </p:grpSpPr>
        <p:sp>
          <p:nvSpPr>
            <p:cNvPr id="46" name="Rectangle 46"/>
            <p:cNvSpPr/>
            <p:nvPr/>
          </p:nvSpPr>
          <p:spPr>
            <a:xfrm>
              <a:off x="762000" y="5143500"/>
              <a:ext cx="10668000" cy="571500"/>
            </a:xfrm>
            <a:prstGeom prst="roundRect">
              <a:avLst>
                <a:gd name="adj" fmla="val 23333"/>
              </a:avLst>
            </a:prstGeom>
            <a:solidFill>
              <a:schemeClr val="lt2"/>
            </a:solidFill>
            <a:ln w="9525">
              <a:solidFill>
                <a:schemeClr val="accent1"/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3459742" y="5327332"/>
              <a:ext cx="527251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Expected: Binding energy ~-10 to -12 kcal/mol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0" y="6619875"/>
            <a:ext cx="12192000" cy="238125"/>
            <a:chOff x="0" y="6619875"/>
            <a:chExt cx="12192000" cy="238125"/>
          </a:xfrm>
        </p:grpSpPr>
        <p:sp>
          <p:nvSpPr>
            <p:cNvPr id="49" name="Rectangle 49"/>
            <p:cNvSpPr/>
            <p:nvPr/>
          </p:nvSpPr>
          <p:spPr>
            <a:xfrm>
              <a:off x="0" y="6619875"/>
              <a:ext cx="12192000" cy="238125"/>
            </a:xfrm>
            <a:prstGeom prst="rect">
              <a:avLst/>
            </a:prstGeom>
            <a:solidFill>
              <a:srgbClr val="0D0F24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4203998" y="6692741"/>
              <a:ext cx="378400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dirty="0">
                  <a:solidFill>
                    <a:srgbClr val="7A85A8"/>
                  </a:solidFill>
                  <a:latin typeface="+mj-lt"/>
                  <a:ea typeface="+mj-ea"/>
                  <a:cs typeface="+mj-cs"/>
                </a:rPr>
                <a:t>BioDockify — Building the Future of AI-Driven Pharmaceutical Research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745998" y="421958"/>
            <a:ext cx="6085486" cy="616077"/>
            <a:chOff x="745998" y="421958"/>
            <a:chExt cx="6085486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745998" y="421958"/>
              <a:ext cx="608548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Frequently Asked Questions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62000" y="1143000"/>
            <a:ext cx="10668000" cy="1190625"/>
            <a:chOff x="762000" y="1143000"/>
            <a:chExt cx="10668000" cy="1190625"/>
          </a:xfrm>
        </p:grpSpPr>
        <p:sp>
          <p:nvSpPr>
            <p:cNvPr id="4" name="Rectangle 4"/>
            <p:cNvSpPr/>
            <p:nvPr/>
          </p:nvSpPr>
          <p:spPr>
            <a:xfrm>
              <a:off x="762000" y="1143000"/>
              <a:ext cx="10668000" cy="1190625"/>
            </a:xfrm>
            <a:prstGeom prst="roundRect">
              <a:avLst>
                <a:gd name="adj" fmla="val 11200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135380" y="1362075"/>
              <a:ext cx="14429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Q: Is it free?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135380" y="1743075"/>
              <a:ext cx="550385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→ Yes, full access for verified academic institutions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62000" y="2476500"/>
            <a:ext cx="10668000" cy="1190625"/>
            <a:chOff x="762000" y="2476500"/>
            <a:chExt cx="10668000" cy="1190625"/>
          </a:xfrm>
        </p:grpSpPr>
        <p:sp>
          <p:nvSpPr>
            <p:cNvPr id="8" name="Rectangle 8"/>
            <p:cNvSpPr/>
            <p:nvPr/>
          </p:nvSpPr>
          <p:spPr>
            <a:xfrm>
              <a:off x="762000" y="2476500"/>
              <a:ext cx="10668000" cy="1190625"/>
            </a:xfrm>
            <a:prstGeom prst="roundRect">
              <a:avLst>
                <a:gd name="adj" fmla="val 11200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35380" y="2695575"/>
              <a:ext cx="171675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Q: How reliable?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35380" y="3076575"/>
              <a:ext cx="510512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→ Validated against experimental data (R²=0.72)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762000" y="3810000"/>
            <a:ext cx="10668000" cy="1190625"/>
            <a:chOff x="762000" y="3810000"/>
            <a:chExt cx="10668000" cy="1190625"/>
          </a:xfrm>
        </p:grpSpPr>
        <p:sp>
          <p:nvSpPr>
            <p:cNvPr id="12" name="Rectangle 12"/>
            <p:cNvSpPr/>
            <p:nvPr/>
          </p:nvSpPr>
          <p:spPr>
            <a:xfrm>
              <a:off x="762000" y="3810000"/>
              <a:ext cx="10668000" cy="1190625"/>
            </a:xfrm>
            <a:prstGeom prst="roundRect">
              <a:avLst>
                <a:gd name="adj" fmla="val 11200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35380" y="4029075"/>
              <a:ext cx="358214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Q: Can students damage anything?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35380" y="4410075"/>
              <a:ext cx="30421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→ No, sandboxed environment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762000" y="5143500"/>
            <a:ext cx="10668000" cy="1190625"/>
            <a:chOff x="762000" y="5143500"/>
            <a:chExt cx="10668000" cy="1190625"/>
          </a:xfrm>
        </p:grpSpPr>
        <p:sp>
          <p:nvSpPr>
            <p:cNvPr id="16" name="Rectangle 16"/>
            <p:cNvSpPr/>
            <p:nvPr/>
          </p:nvSpPr>
          <p:spPr>
            <a:xfrm>
              <a:off x="762000" y="5143500"/>
              <a:ext cx="10668000" cy="1190625"/>
            </a:xfrm>
            <a:prstGeom prst="roundRect">
              <a:avLst>
                <a:gd name="adj" fmla="val 11200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135380" y="5362575"/>
              <a:ext cx="178096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Q: Data privacy?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35380" y="5743575"/>
              <a:ext cx="425731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→ Indian servers, no third-party sharing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0" y="6619875"/>
            <a:ext cx="12192000" cy="238125"/>
            <a:chOff x="0" y="6619875"/>
            <a:chExt cx="12192000" cy="238125"/>
          </a:xfrm>
        </p:grpSpPr>
        <p:sp>
          <p:nvSpPr>
            <p:cNvPr id="20" name="Rectangle 20"/>
            <p:cNvSpPr/>
            <p:nvPr/>
          </p:nvSpPr>
          <p:spPr>
            <a:xfrm>
              <a:off x="0" y="6619875"/>
              <a:ext cx="12192000" cy="238125"/>
            </a:xfrm>
            <a:prstGeom prst="rect">
              <a:avLst/>
            </a:prstGeom>
            <a:solidFill>
              <a:srgbClr val="0D0F24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203998" y="6692741"/>
              <a:ext cx="378400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dirty="0">
                  <a:solidFill>
                    <a:srgbClr val="7A85A8"/>
                  </a:solidFill>
                  <a:latin typeface="+mj-lt"/>
                  <a:ea typeface="+mj-ea"/>
                  <a:cs typeface="+mj-cs"/>
                </a:rPr>
                <a:t>BioDockify — Building the Future of AI-Driven Pharmaceutical Research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745998" y="421958"/>
            <a:ext cx="4332333" cy="616077"/>
            <a:chOff x="745998" y="421958"/>
            <a:chExt cx="4332333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745998" y="421958"/>
              <a:ext cx="4332333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What's Coming Next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333500" y="2819400"/>
            <a:ext cx="9715500" cy="2038350"/>
            <a:chOff x="1333500" y="2819400"/>
            <a:chExt cx="9715500" cy="2038350"/>
          </a:xfrm>
        </p:grpSpPr>
        <p:sp>
          <p:nvSpPr>
            <p:cNvPr id="4" name="Line 4"/>
            <p:cNvSpPr/>
            <p:nvPr/>
          </p:nvSpPr>
          <p:spPr>
            <a:xfrm>
              <a:off x="1333500" y="3048000"/>
              <a:ext cx="9525000" cy="9525"/>
            </a:xfrm>
            <a:custGeom>
              <a:avLst/>
              <a:gdLst/>
              <a:ahLst/>
              <a:cxnLst/>
              <a:rect l="l" t="t" r="r" b="b"/>
              <a:pathLst>
                <a:path w="9525000" h="9525">
                  <a:moveTo>
                    <a:pt x="0" y="0"/>
                  </a:moveTo>
                  <a:lnTo>
                    <a:pt x="9525000" y="0"/>
                  </a:lnTo>
                </a:path>
              </a:pathLst>
            </a:custGeom>
            <a:noFill/>
            <a:ln w="38100">
              <a:solidFill>
                <a:srgbClr val="1A1D3A"/>
              </a:solidFill>
            </a:ln>
          </p:spPr>
          <p:txBody>
            <a:bodyPr/>
            <a:lstStyle/>
            <a:p>
              <a:endParaRPr lang="en-IN"/>
            </a:p>
          </p:txBody>
        </p:sp>
        <p:grpSp>
          <p:nvGrpSpPr>
            <p:cNvPr id="11" name="Group 11"/>
            <p:cNvGrpSpPr/>
            <p:nvPr/>
          </p:nvGrpSpPr>
          <p:grpSpPr>
            <a:xfrm>
              <a:off x="1333500" y="2819400"/>
              <a:ext cx="2286000" cy="2038350"/>
              <a:chOff x="1333500" y="2819400"/>
              <a:chExt cx="2286000" cy="2038350"/>
            </a:xfrm>
          </p:grpSpPr>
          <p:sp>
            <p:nvSpPr>
              <p:cNvPr id="5" name="Ellipse 5"/>
              <p:cNvSpPr/>
              <p:nvPr/>
            </p:nvSpPr>
            <p:spPr>
              <a:xfrm>
                <a:off x="2057400" y="2819400"/>
                <a:ext cx="457200" cy="4572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2119926" y="2991802"/>
                <a:ext cx="33214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" sz="1050" b="1" dirty="0">
                    <a:solidFill>
                      <a:schemeClr val="dk1"/>
                    </a:solidFill>
                    <a:latin typeface="+mj-lt"/>
                    <a:ea typeface="+mj-ea"/>
                    <a:cs typeface="+mj-cs"/>
                  </a:rPr>
                  <a:t>NOW</a:t>
                </a:r>
              </a:p>
            </p:txBody>
          </p:sp>
          <p:sp>
            <p:nvSpPr>
              <p:cNvPr id="7" name="Rectangle 7"/>
              <p:cNvSpPr/>
              <p:nvPr/>
            </p:nvSpPr>
            <p:spPr>
              <a:xfrm>
                <a:off x="1333500" y="3524250"/>
                <a:ext cx="2286000" cy="1333500"/>
              </a:xfrm>
              <a:prstGeom prst="roundRect">
                <a:avLst>
                  <a:gd name="adj" fmla="val 10000"/>
                </a:avLst>
              </a:prstGeom>
              <a:solidFill>
                <a:schemeClr val="lt2"/>
              </a:solidFill>
              <a:ln w="19050">
                <a:solidFill>
                  <a:schemeClr val="accent1"/>
                </a:solidFill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2259736" y="3711892"/>
                <a:ext cx="43352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" sz="1350" b="1" dirty="0">
                    <a:solidFill>
                      <a:schemeClr val="accent1"/>
                    </a:solidFill>
                    <a:latin typeface="+mj-lt"/>
                    <a:ea typeface="+mj-ea"/>
                    <a:cs typeface="+mj-cs"/>
                  </a:rPr>
                  <a:t>v2.0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1589532" y="4013835"/>
                <a:ext cx="177393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Multi-target docking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1988506" y="4315778"/>
                <a:ext cx="975989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" sz="1050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Available now</a:t>
                </a:r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4762500" y="2876550"/>
              <a:ext cx="2667000" cy="1981200"/>
              <a:chOff x="4762500" y="2876550"/>
              <a:chExt cx="2667000" cy="1981200"/>
            </a:xfrm>
          </p:grpSpPr>
          <p:sp>
            <p:nvSpPr>
              <p:cNvPr id="12" name="Ellipse 12"/>
              <p:cNvSpPr/>
              <p:nvPr/>
            </p:nvSpPr>
            <p:spPr>
              <a:xfrm>
                <a:off x="5924550" y="2876550"/>
                <a:ext cx="342900" cy="342900"/>
              </a:xfrm>
              <a:prstGeom prst="ellipse">
                <a:avLst/>
              </a:prstGeom>
              <a:solidFill>
                <a:schemeClr val="lt2"/>
              </a:solidFill>
              <a:ln w="19050">
                <a:solidFill>
                  <a:schemeClr val="accent2"/>
                </a:solidFill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3" name="Rectangle 13"/>
              <p:cNvSpPr/>
              <p:nvPr/>
            </p:nvSpPr>
            <p:spPr>
              <a:xfrm>
                <a:off x="4762500" y="3524250"/>
                <a:ext cx="2667000" cy="1333500"/>
              </a:xfrm>
              <a:prstGeom prst="roundRect">
                <a:avLst>
                  <a:gd name="adj" fmla="val 10000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5879236" y="3711892"/>
                <a:ext cx="43352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" sz="1350" b="1" dirty="0">
                    <a:solidFill>
                      <a:schemeClr val="accent2"/>
                    </a:solidFill>
                    <a:latin typeface="+mj-lt"/>
                    <a:ea typeface="+mj-ea"/>
                    <a:cs typeface="+mj-cs"/>
                  </a:rPr>
                  <a:t>v2.5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4956277" y="4013835"/>
                <a:ext cx="227944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AI-guided lead optimization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5746090" y="4315778"/>
                <a:ext cx="69982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" sz="1050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Q4 2026</a:t>
                </a: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8382000" y="2876550"/>
              <a:ext cx="2667000" cy="1981200"/>
              <a:chOff x="8382000" y="2876550"/>
              <a:chExt cx="2667000" cy="1981200"/>
            </a:xfrm>
          </p:grpSpPr>
          <p:sp>
            <p:nvSpPr>
              <p:cNvPr id="18" name="Ellipse 18"/>
              <p:cNvSpPr/>
              <p:nvPr/>
            </p:nvSpPr>
            <p:spPr>
              <a:xfrm>
                <a:off x="9544050" y="2876550"/>
                <a:ext cx="342900" cy="342900"/>
              </a:xfrm>
              <a:prstGeom prst="ellipse">
                <a:avLst/>
              </a:prstGeom>
              <a:solidFill>
                <a:schemeClr val="lt2"/>
              </a:solidFill>
              <a:ln w="19050">
                <a:solidFill>
                  <a:schemeClr val="accent2"/>
                </a:solidFill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9" name="Rectangle 19"/>
              <p:cNvSpPr/>
              <p:nvPr/>
            </p:nvSpPr>
            <p:spPr>
              <a:xfrm>
                <a:off x="8382000" y="3524250"/>
                <a:ext cx="2667000" cy="1333500"/>
              </a:xfrm>
              <a:prstGeom prst="roundRect">
                <a:avLst>
                  <a:gd name="adj" fmla="val 10000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9498736" y="3711892"/>
                <a:ext cx="43352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" sz="1350" b="1" dirty="0">
                    <a:solidFill>
                      <a:schemeClr val="accent2"/>
                    </a:solidFill>
                    <a:latin typeface="+mj-lt"/>
                    <a:ea typeface="+mj-ea"/>
                    <a:cs typeface="+mj-cs"/>
                  </a:rPr>
                  <a:t>v3.0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9022080" y="4013835"/>
                <a:ext cx="138684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LMS integration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9545879" y="4315778"/>
                <a:ext cx="33924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" sz="1050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2027</a:t>
                </a:r>
              </a:p>
            </p:txBody>
          </p:sp>
        </p:grpSp>
      </p:grpSp>
      <p:sp>
        <p:nvSpPr>
          <p:cNvPr id="25" name="TextBox 25"/>
          <p:cNvSpPr txBox="1"/>
          <p:nvPr/>
        </p:nvSpPr>
        <p:spPr>
          <a:xfrm>
            <a:off x="4490603" y="5553075"/>
            <a:ext cx="321079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" sz="150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Your feature requests matter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755142" y="6236018"/>
            <a:ext cx="1313478" cy="264033"/>
            <a:chOff x="755142" y="6236018"/>
            <a:chExt cx="1313478" cy="264033"/>
          </a:xfrm>
        </p:grpSpPr>
        <p:sp>
          <p:nvSpPr>
            <p:cNvPr id="26" name="TextBox 26"/>
            <p:cNvSpPr txBox="1"/>
            <p:nvPr/>
          </p:nvSpPr>
          <p:spPr>
            <a:xfrm>
              <a:off x="755142" y="6236018"/>
              <a:ext cx="13134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Scenario data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0" y="6619875"/>
            <a:ext cx="12192000" cy="238125"/>
            <a:chOff x="0" y="6619875"/>
            <a:chExt cx="12192000" cy="238125"/>
          </a:xfrm>
        </p:grpSpPr>
        <p:sp>
          <p:nvSpPr>
            <p:cNvPr id="28" name="Rectangle 28"/>
            <p:cNvSpPr/>
            <p:nvPr/>
          </p:nvSpPr>
          <p:spPr>
            <a:xfrm>
              <a:off x="0" y="6619875"/>
              <a:ext cx="12192000" cy="238125"/>
            </a:xfrm>
            <a:prstGeom prst="rect">
              <a:avLst/>
            </a:prstGeom>
            <a:solidFill>
              <a:srgbClr val="0D0F24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203998" y="6692741"/>
              <a:ext cx="378400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dirty="0">
                  <a:solidFill>
                    <a:srgbClr val="7A85A8"/>
                  </a:solidFill>
                  <a:latin typeface="+mj-lt"/>
                  <a:ea typeface="+mj-ea"/>
                  <a:cs typeface="+mj-cs"/>
                </a:rPr>
                <a:t>BioDockify — Building the Future of AI-Driven Pharmaceutical Research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745998" y="421958"/>
            <a:ext cx="3911221" cy="616077"/>
            <a:chOff x="745998" y="421958"/>
            <a:chExt cx="3911221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745998" y="421958"/>
              <a:ext cx="3911221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Your Next 3 Steps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762000" y="1238250"/>
            <a:ext cx="3429000" cy="4000500"/>
            <a:chOff x="762000" y="1238250"/>
            <a:chExt cx="3429000" cy="4000500"/>
          </a:xfrm>
        </p:grpSpPr>
        <p:sp>
          <p:nvSpPr>
            <p:cNvPr id="4" name="Rectangle 4"/>
            <p:cNvSpPr/>
            <p:nvPr/>
          </p:nvSpPr>
          <p:spPr>
            <a:xfrm>
              <a:off x="762000" y="1238250"/>
              <a:ext cx="3429000" cy="4000500"/>
            </a:xfrm>
            <a:prstGeom prst="roundRect">
              <a:avLst>
                <a:gd name="adj" fmla="val 3889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Ellipse 5"/>
            <p:cNvSpPr/>
            <p:nvPr/>
          </p:nvSpPr>
          <p:spPr>
            <a:xfrm>
              <a:off x="2133600" y="1562100"/>
              <a:ext cx="685800" cy="6858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2384202" y="1773555"/>
              <a:ext cx="18459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1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1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996195" y="2456498"/>
              <a:ext cx="96061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9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Sign Up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394777" y="2981325"/>
              <a:ext cx="216344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Visit biodockify.com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64880" y="3286125"/>
              <a:ext cx="262323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Create academic account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905000" y="3810000"/>
              <a:ext cx="1143000" cy="304800"/>
            </a:xfrm>
            <a:prstGeom prst="roundRect">
              <a:avLst>
                <a:gd name="adj" fmla="val 37500"/>
              </a:avLst>
            </a:prstGeom>
            <a:solidFill>
              <a:schemeClr val="accent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289353" y="3906202"/>
              <a:ext cx="37429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0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2 min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4381500" y="1238250"/>
            <a:ext cx="3429000" cy="4000500"/>
            <a:chOff x="4381500" y="1238250"/>
            <a:chExt cx="3429000" cy="4000500"/>
          </a:xfrm>
        </p:grpSpPr>
        <p:sp>
          <p:nvSpPr>
            <p:cNvPr id="13" name="Rectangle 13"/>
            <p:cNvSpPr/>
            <p:nvPr/>
          </p:nvSpPr>
          <p:spPr>
            <a:xfrm>
              <a:off x="4381500" y="1238250"/>
              <a:ext cx="3429000" cy="4000500"/>
            </a:xfrm>
            <a:prstGeom prst="roundRect">
              <a:avLst>
                <a:gd name="adj" fmla="val 3889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Ellipse 14"/>
            <p:cNvSpPr/>
            <p:nvPr/>
          </p:nvSpPr>
          <p:spPr>
            <a:xfrm>
              <a:off x="5753100" y="1562100"/>
              <a:ext cx="685800" cy="685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003702" y="1773555"/>
              <a:ext cx="18459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1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208016" y="2456498"/>
              <a:ext cx="177596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9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Try the Demo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913852" y="2981325"/>
              <a:ext cx="236429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Repeat COX-2 docking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701540" y="3286125"/>
              <a:ext cx="27889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exercise from this session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8001000" y="1238250"/>
            <a:ext cx="3429000" cy="4000500"/>
            <a:chOff x="8001000" y="1238250"/>
            <a:chExt cx="3429000" cy="4000500"/>
          </a:xfrm>
        </p:grpSpPr>
        <p:sp>
          <p:nvSpPr>
            <p:cNvPr id="20" name="Rectangle 20"/>
            <p:cNvSpPr/>
            <p:nvPr/>
          </p:nvSpPr>
          <p:spPr>
            <a:xfrm>
              <a:off x="8001000" y="1238250"/>
              <a:ext cx="3429000" cy="4000500"/>
            </a:xfrm>
            <a:prstGeom prst="roundRect">
              <a:avLst>
                <a:gd name="adj" fmla="val 3889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Ellipse 21"/>
            <p:cNvSpPr/>
            <p:nvPr/>
          </p:nvSpPr>
          <p:spPr>
            <a:xfrm>
              <a:off x="9372600" y="1562100"/>
              <a:ext cx="685800" cy="6858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623202" y="1773555"/>
              <a:ext cx="18459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1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622507" y="2456498"/>
              <a:ext cx="218598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9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Plan Integration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356572" y="2981325"/>
              <a:ext cx="2717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Pick one practical session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445647" y="3286125"/>
              <a:ext cx="253970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Design a 2-hour activity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3437382" y="5838825"/>
            <a:ext cx="5317236" cy="293370"/>
            <a:chOff x="3437382" y="5838825"/>
            <a:chExt cx="5317236" cy="293370"/>
          </a:xfrm>
        </p:grpSpPr>
        <p:sp>
          <p:nvSpPr>
            <p:cNvPr id="27" name="TextBox 27"/>
            <p:cNvSpPr txBox="1"/>
            <p:nvPr/>
          </p:nvSpPr>
          <p:spPr>
            <a:xfrm>
              <a:off x="3437382" y="5838825"/>
              <a:ext cx="53172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support@biodockify.com for onboarding assistance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0" y="6619875"/>
            <a:ext cx="12192000" cy="238125"/>
            <a:chOff x="0" y="6619875"/>
            <a:chExt cx="12192000" cy="238125"/>
          </a:xfrm>
        </p:grpSpPr>
        <p:sp>
          <p:nvSpPr>
            <p:cNvPr id="29" name="Rectangle 29"/>
            <p:cNvSpPr/>
            <p:nvPr/>
          </p:nvSpPr>
          <p:spPr>
            <a:xfrm>
              <a:off x="0" y="6619875"/>
              <a:ext cx="12192000" cy="238125"/>
            </a:xfrm>
            <a:prstGeom prst="rect">
              <a:avLst/>
            </a:prstGeom>
            <a:solidFill>
              <a:srgbClr val="0D0F24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203998" y="6692741"/>
              <a:ext cx="378400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dirty="0">
                  <a:solidFill>
                    <a:srgbClr val="7A85A8"/>
                  </a:solidFill>
                  <a:latin typeface="+mj-lt"/>
                  <a:ea typeface="+mj-ea"/>
                  <a:cs typeface="+mj-cs"/>
                </a:rPr>
                <a:t>BioDockify — Building the Future of AI-Driven Pharmaceutical Research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858012"/>
            <a:chOff x="0" y="0"/>
            <a:chExt cx="12192000" cy="858012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857250"/>
            </a:xfrm>
            <a:prstGeom prst="rect">
              <a:avLst/>
            </a:prstGeom>
            <a:solidFill>
              <a:schemeClr val="accent1">
                <a:alpha val="9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722140" y="191452"/>
              <a:ext cx="7477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0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LAUNCHING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2497626" y="388620"/>
              <a:ext cx="719674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4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BioDockify Faculty Beta Testing Programme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525000" y="952500"/>
            <a:ext cx="2381250" cy="476250"/>
            <a:chOff x="9525000" y="952500"/>
            <a:chExt cx="2381250" cy="476250"/>
          </a:xfrm>
        </p:grpSpPr>
        <p:sp>
          <p:nvSpPr>
            <p:cNvPr id="6" name="Rectangle 6"/>
            <p:cNvSpPr/>
            <p:nvPr/>
          </p:nvSpPr>
          <p:spPr>
            <a:xfrm>
              <a:off x="9525000" y="952500"/>
              <a:ext cx="2381250" cy="476250"/>
            </a:xfrm>
            <a:prstGeom prst="roundRect">
              <a:avLst>
                <a:gd name="adj" fmla="val 16000"/>
              </a:avLst>
            </a:prstGeom>
            <a:solidFill>
              <a:schemeClr val="lt2"/>
            </a:solidFill>
            <a:ln w="14288">
              <a:solidFill>
                <a:srgbClr val="76B900"/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143508" y="1047274"/>
              <a:ext cx="11442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980" b="1" dirty="0">
                  <a:solidFill>
                    <a:srgbClr val="76B900"/>
                  </a:solidFill>
                  <a:latin typeface="+mj-lt"/>
                  <a:ea typeface="+mj-ea"/>
                  <a:cs typeface="+mj-cs"/>
                </a:rPr>
                <a:t>NVIDIA INCEPTION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794462" y="1245870"/>
              <a:ext cx="184232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900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$10,000 Cloud Credits Received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71500" y="1047750"/>
            <a:ext cx="4000500" cy="1714500"/>
            <a:chOff x="571500" y="1047750"/>
            <a:chExt cx="4000500" cy="1714500"/>
          </a:xfrm>
        </p:grpSpPr>
        <p:sp>
          <p:nvSpPr>
            <p:cNvPr id="10" name="Rectangle 10"/>
            <p:cNvSpPr/>
            <p:nvPr/>
          </p:nvSpPr>
          <p:spPr>
            <a:xfrm>
              <a:off x="571500" y="1047750"/>
              <a:ext cx="4000500" cy="1714500"/>
            </a:xfrm>
            <a:prstGeom prst="roundRect">
              <a:avLst>
                <a:gd name="adj" fmla="val 7778"/>
              </a:avLst>
            </a:prstGeom>
            <a:solidFill>
              <a:schemeClr val="lt2"/>
            </a:solidFill>
            <a:ln w="19050">
              <a:solidFill>
                <a:schemeClr val="accent1"/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984996" y="1323499"/>
              <a:ext cx="11735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98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EXCLUSIVE OFFER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643106" y="1560195"/>
              <a:ext cx="1857287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39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₹2,500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662754" y="2126456"/>
              <a:ext cx="18179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12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FREE RESEARCH CREDITS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08629" y="2495074"/>
              <a:ext cx="332624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98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100 Faculty x ₹2,500 = ₹2,50,000 Total Support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571500" y="2905125"/>
            <a:ext cx="8191500" cy="762000"/>
            <a:chOff x="571500" y="2905125"/>
            <a:chExt cx="8191500" cy="762000"/>
          </a:xfrm>
        </p:grpSpPr>
        <p:sp>
          <p:nvSpPr>
            <p:cNvPr id="16" name="Rectangle 16"/>
            <p:cNvSpPr/>
            <p:nvPr/>
          </p:nvSpPr>
          <p:spPr>
            <a:xfrm>
              <a:off x="571500" y="2905125"/>
              <a:ext cx="4000500" cy="762000"/>
            </a:xfrm>
            <a:prstGeom prst="roundRect">
              <a:avLst>
                <a:gd name="adj" fmla="val 12500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56666" y="3029902"/>
              <a:ext cx="6290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Our Goal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57047" y="3247549"/>
              <a:ext cx="265621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Empower Pharma Faculty with AI tools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57047" y="3438049"/>
              <a:ext cx="279781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to accelerate research and publications.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4762500" y="2905125"/>
              <a:ext cx="4000500" cy="762000"/>
            </a:xfrm>
            <a:prstGeom prst="roundRect">
              <a:avLst>
                <a:gd name="adj" fmla="val 12500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947666" y="3029902"/>
              <a:ext cx="108824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Who Can Apply?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948047" y="3247549"/>
              <a:ext cx="300501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Pharma Faculty from Colleges, Universities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948047" y="3438049"/>
              <a:ext cx="178481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and Research Institutions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571500" y="3926681"/>
            <a:ext cx="10877550" cy="978694"/>
            <a:chOff x="571500" y="3926681"/>
            <a:chExt cx="10877550" cy="978694"/>
          </a:xfrm>
        </p:grpSpPr>
        <p:sp>
          <p:nvSpPr>
            <p:cNvPr id="25" name="TextBox 25"/>
            <p:cNvSpPr txBox="1"/>
            <p:nvPr/>
          </p:nvSpPr>
          <p:spPr>
            <a:xfrm>
              <a:off x="5534098" y="3926681"/>
              <a:ext cx="11238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12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HOW IT WORKS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71500" y="4143375"/>
              <a:ext cx="1885950" cy="762000"/>
            </a:xfrm>
            <a:prstGeom prst="roundRect">
              <a:avLst>
                <a:gd name="adj" fmla="val 12500"/>
              </a:avLst>
            </a:prstGeom>
            <a:solidFill>
              <a:schemeClr val="lt2"/>
            </a:solidFill>
            <a:ln w="9525">
              <a:solidFill>
                <a:schemeClr val="accent1"/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53198" y="4248150"/>
              <a:ext cx="92255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1 Sign Up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41192" y="4665345"/>
              <a:ext cx="154656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9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Free BioDockify account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2590800" y="4143375"/>
              <a:ext cx="1885950" cy="762000"/>
            </a:xfrm>
            <a:prstGeom prst="roundRect">
              <a:avLst>
                <a:gd name="adj" fmla="val 12500"/>
              </a:avLst>
            </a:prstGeom>
            <a:solidFill>
              <a:schemeClr val="lt2"/>
            </a:solidFill>
            <a:ln w="9525">
              <a:solidFill>
                <a:schemeClr val="accent2"/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956334" y="4248150"/>
              <a:ext cx="115488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2 Join Beta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732924" y="4665345"/>
              <a:ext cx="160170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9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Apply to Beta Programme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4610100" y="4143375"/>
              <a:ext cx="1885950" cy="762000"/>
            </a:xfrm>
            <a:prstGeom prst="roundRect">
              <a:avLst>
                <a:gd name="adj" fmla="val 12500"/>
              </a:avLst>
            </a:prstGeom>
            <a:solidFill>
              <a:schemeClr val="lt2"/>
            </a:solidFill>
            <a:ln w="9525">
              <a:solidFill>
                <a:schemeClr val="accent1"/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069881" y="4248150"/>
              <a:ext cx="96638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3 Credits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033048" y="4665345"/>
              <a:ext cx="10400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9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₹2,500 instantly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6629400" y="4143375"/>
              <a:ext cx="1885950" cy="762000"/>
            </a:xfrm>
            <a:prstGeom prst="roundRect">
              <a:avLst>
                <a:gd name="adj" fmla="val 12500"/>
              </a:avLst>
            </a:prstGeom>
            <a:solidFill>
              <a:schemeClr val="lt2"/>
            </a:solidFill>
            <a:ln w="9525">
              <a:solidFill>
                <a:schemeClr val="accent2"/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089181" y="4248150"/>
              <a:ext cx="96638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4 Explore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877812" y="4665345"/>
              <a:ext cx="138912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9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Use premium features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8648700" y="4143375"/>
              <a:ext cx="2800350" cy="762000"/>
            </a:xfrm>
            <a:prstGeom prst="roundRect">
              <a:avLst>
                <a:gd name="adj" fmla="val 12500"/>
              </a:avLst>
            </a:prstGeom>
            <a:solidFill>
              <a:schemeClr val="lt2"/>
            </a:solidFill>
            <a:ln w="9525">
              <a:solidFill>
                <a:schemeClr val="accent1"/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480747" y="4248150"/>
              <a:ext cx="11362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5 Feedback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275592" y="4665345"/>
              <a:ext cx="154656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9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Shape BioDockify future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571500" y="5286375"/>
            <a:ext cx="11049000" cy="523875"/>
            <a:chOff x="571500" y="5286375"/>
            <a:chExt cx="11049000" cy="523875"/>
          </a:xfrm>
        </p:grpSpPr>
        <p:sp>
          <p:nvSpPr>
            <p:cNvPr id="42" name="Rectangle 42"/>
            <p:cNvSpPr/>
            <p:nvPr/>
          </p:nvSpPr>
          <p:spPr>
            <a:xfrm>
              <a:off x="571500" y="5286375"/>
              <a:ext cx="11049000" cy="523875"/>
            </a:xfrm>
            <a:prstGeom prst="roundRect">
              <a:avLst>
                <a:gd name="adj" fmla="val 21818"/>
              </a:avLst>
            </a:prstGeom>
            <a:solidFill>
              <a:schemeClr val="accent1">
                <a:alpha val="9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216814" y="5374481"/>
              <a:ext cx="375837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12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LIMITED TO FIRST 100 PHARMA FACULTY MEMBERS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2858286" y="5581174"/>
              <a:ext cx="647542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98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JOIN NOW: www.biodockify.com/beta — No payment • Easy registration • Start research today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0" y="6619875"/>
            <a:ext cx="12192000" cy="238125"/>
            <a:chOff x="0" y="6619875"/>
            <a:chExt cx="12192000" cy="238125"/>
          </a:xfrm>
        </p:grpSpPr>
        <p:sp>
          <p:nvSpPr>
            <p:cNvPr id="46" name="Rectangle 46"/>
            <p:cNvSpPr/>
            <p:nvPr/>
          </p:nvSpPr>
          <p:spPr>
            <a:xfrm>
              <a:off x="0" y="6619875"/>
              <a:ext cx="12192000" cy="238125"/>
            </a:xfrm>
            <a:prstGeom prst="rect">
              <a:avLst/>
            </a:prstGeom>
            <a:solidFill>
              <a:srgbClr val="0D0F24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4203998" y="6692741"/>
              <a:ext cx="378400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dirty="0">
                  <a:solidFill>
                    <a:srgbClr val="7A85A8"/>
                  </a:solidFill>
                  <a:latin typeface="+mj-lt"/>
                  <a:ea typeface="+mj-ea"/>
                  <a:cs typeface="+mj-cs"/>
                </a:rPr>
                <a:t>BioDockify — Building the Future of AI-Driven Pharmaceutical Research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0" y="0"/>
            <a:ext cx="12192000" cy="476250"/>
            <a:chOff x="0" y="0"/>
            <a:chExt cx="12192000" cy="4762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476250"/>
            </a:xfrm>
            <a:prstGeom prst="rect">
              <a:avLst/>
            </a:prstGeom>
            <a:solidFill>
              <a:srgbClr val="0D0F24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335280" y="133350"/>
              <a:ext cx="108714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Bio</a:t>
              </a:r>
              <a:r>
                <a:rPr lang="en" sz="15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Dockify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709547" y="190024"/>
              <a:ext cx="348653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dirty="0">
                  <a:solidFill>
                    <a:srgbClr val="7A85A8"/>
                  </a:solidFill>
                  <a:latin typeface="+mn-lt"/>
                  <a:ea typeface="+mn-ea"/>
                  <a:cs typeface="+mn-cs"/>
                </a:rPr>
                <a:t>AI Operating System for Pharmaceutical Research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0" y="457200"/>
              <a:ext cx="12192000" cy="19050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791151" y="611505"/>
            <a:ext cx="2609698" cy="704088"/>
            <a:chOff x="4791151" y="611505"/>
            <a:chExt cx="2609698" cy="704088"/>
          </a:xfrm>
        </p:grpSpPr>
        <p:sp>
          <p:nvSpPr>
            <p:cNvPr id="7" name="TextBox 7"/>
            <p:cNvSpPr txBox="1"/>
            <p:nvPr/>
          </p:nvSpPr>
          <p:spPr>
            <a:xfrm>
              <a:off x="4791151" y="611505"/>
              <a:ext cx="2609698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36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BioDockify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2818853" y="1249680"/>
            <a:ext cx="6554294" cy="410718"/>
            <a:chOff x="2818853" y="1249680"/>
            <a:chExt cx="6554294" cy="410718"/>
          </a:xfrm>
        </p:grpSpPr>
        <p:sp>
          <p:nvSpPr>
            <p:cNvPr id="9" name="TextBox 9"/>
            <p:cNvSpPr txBox="1"/>
            <p:nvPr/>
          </p:nvSpPr>
          <p:spPr>
            <a:xfrm>
              <a:off x="2818853" y="1249680"/>
              <a:ext cx="655429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1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From Research Question to Scientific Insight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333500" y="1905000"/>
            <a:ext cx="4191000" cy="1524000"/>
            <a:chOff x="1333500" y="1905000"/>
            <a:chExt cx="4191000" cy="1524000"/>
          </a:xfrm>
        </p:grpSpPr>
        <p:sp>
          <p:nvSpPr>
            <p:cNvPr id="11" name="Rectangle 11"/>
            <p:cNvSpPr/>
            <p:nvPr/>
          </p:nvSpPr>
          <p:spPr>
            <a:xfrm>
              <a:off x="1333500" y="1905000"/>
              <a:ext cx="4191000" cy="1524000"/>
            </a:xfrm>
            <a:prstGeom prst="roundRect">
              <a:avLst>
                <a:gd name="adj" fmla="val 8750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298841" y="2139315"/>
              <a:ext cx="226031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8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Community Edition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423746" y="2600325"/>
              <a:ext cx="201050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🐳 Docker-powered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714581" y="2949892"/>
              <a:ext cx="14288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Run it yourself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667500" y="1905000"/>
            <a:ext cx="4191000" cy="1524000"/>
            <a:chOff x="6667500" y="1905000"/>
            <a:chExt cx="4191000" cy="1524000"/>
          </a:xfrm>
        </p:grpSpPr>
        <p:sp>
          <p:nvSpPr>
            <p:cNvPr id="16" name="Rectangle 16"/>
            <p:cNvSpPr/>
            <p:nvPr/>
          </p:nvSpPr>
          <p:spPr>
            <a:xfrm>
              <a:off x="6667500" y="1905000"/>
              <a:ext cx="4191000" cy="1524000"/>
            </a:xfrm>
            <a:prstGeom prst="roundRect">
              <a:avLst>
                <a:gd name="adj" fmla="val 8750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366963" y="2139315"/>
              <a:ext cx="279207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8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Premium Web Platform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923380" y="2600325"/>
              <a:ext cx="16792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☁ Cloud-hosted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203034" y="2949892"/>
              <a:ext cx="31199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Let AI orchestrate the research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2260663" y="3933825"/>
            <a:ext cx="7670673" cy="598170"/>
            <a:chOff x="2260663" y="3933825"/>
            <a:chExt cx="7670673" cy="598170"/>
          </a:xfrm>
        </p:grpSpPr>
        <p:sp>
          <p:nvSpPr>
            <p:cNvPr id="21" name="TextBox 21"/>
            <p:cNvSpPr txBox="1"/>
            <p:nvPr/>
          </p:nvSpPr>
          <p:spPr>
            <a:xfrm>
              <a:off x="2260663" y="3933825"/>
              <a:ext cx="767067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i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“The future of pharmaceutical research is not AI replacing researchers.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454394" y="4238625"/>
              <a:ext cx="528321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i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It is researchers becoming more capable with AI.”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2686511" y="4953000"/>
            <a:ext cx="6818978" cy="499301"/>
            <a:chOff x="2686511" y="4953000"/>
            <a:chExt cx="6818978" cy="499301"/>
          </a:xfrm>
        </p:grpSpPr>
        <p:sp>
          <p:nvSpPr>
            <p:cNvPr id="24" name="Rectangle 24"/>
            <p:cNvSpPr/>
            <p:nvPr/>
          </p:nvSpPr>
          <p:spPr>
            <a:xfrm>
              <a:off x="3810000" y="4953000"/>
              <a:ext cx="4572000" cy="19050"/>
            </a:xfrm>
            <a:prstGeom prst="rect">
              <a:avLst/>
            </a:prstGeom>
            <a:solidFill>
              <a:schemeClr val="accent1">
                <a:alpha val="4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686511" y="5188268"/>
              <a:ext cx="68189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Mr. Tajuddin Shaik | Co-Founder, BioDockify | Assistant Professor, MRCP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4590080" y="5555456"/>
            <a:ext cx="3011841" cy="220028"/>
            <a:chOff x="4590080" y="5555456"/>
            <a:chExt cx="3011841" cy="220028"/>
          </a:xfrm>
        </p:grpSpPr>
        <p:sp>
          <p:nvSpPr>
            <p:cNvPr id="27" name="TextBox 27"/>
            <p:cNvSpPr txBox="1"/>
            <p:nvPr/>
          </p:nvSpPr>
          <p:spPr>
            <a:xfrm>
              <a:off x="4590080" y="5555456"/>
              <a:ext cx="30118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12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www.biodockify.com | ai.biodockify.com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333500" y="5886450"/>
            <a:ext cx="9525000" cy="590550"/>
            <a:chOff x="1333500" y="5886450"/>
            <a:chExt cx="9525000" cy="590550"/>
          </a:xfrm>
        </p:grpSpPr>
        <p:sp>
          <p:nvSpPr>
            <p:cNvPr id="29" name="Rectangle 29"/>
            <p:cNvSpPr/>
            <p:nvPr/>
          </p:nvSpPr>
          <p:spPr>
            <a:xfrm>
              <a:off x="1333500" y="5886450"/>
              <a:ext cx="9525000" cy="590550"/>
            </a:xfrm>
            <a:prstGeom prst="roundRect">
              <a:avLst>
                <a:gd name="adj" fmla="val 19355"/>
              </a:avLst>
            </a:prstGeom>
            <a:solidFill>
              <a:schemeClr val="accent1">
                <a:alpha val="10000"/>
              </a:schemeClr>
            </a:solidFill>
            <a:ln w="14288">
              <a:solidFill>
                <a:schemeClr val="accent1">
                  <a:alpha val="10000"/>
                </a:schemeClr>
              </a:solidFill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407734" y="5975985"/>
              <a:ext cx="537653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🚀 Sign Up Free | Login | Apply to Faculty Beta Testing Programme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515795" y="6220778"/>
              <a:ext cx="51604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05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www.biodockify.com/beta — First 100 Faculty receive ₹2,500 free credits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0" y="6619875"/>
            <a:ext cx="12192000" cy="238125"/>
            <a:chOff x="0" y="6619875"/>
            <a:chExt cx="12192000" cy="238125"/>
          </a:xfrm>
        </p:grpSpPr>
        <p:sp>
          <p:nvSpPr>
            <p:cNvPr id="33" name="Rectangle 33"/>
            <p:cNvSpPr/>
            <p:nvPr/>
          </p:nvSpPr>
          <p:spPr>
            <a:xfrm>
              <a:off x="0" y="6619875"/>
              <a:ext cx="12192000" cy="238125"/>
            </a:xfrm>
            <a:prstGeom prst="rect">
              <a:avLst/>
            </a:prstGeom>
            <a:solidFill>
              <a:srgbClr val="0D0F24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203998" y="6692741"/>
              <a:ext cx="378400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dirty="0">
                  <a:solidFill>
                    <a:srgbClr val="7A85A8"/>
                  </a:solidFill>
                  <a:latin typeface="+mj-lt"/>
                  <a:ea typeface="+mj-ea"/>
                  <a:cs typeface="+mj-cs"/>
                </a:rPr>
                <a:t>BioDockify — Building the Future of AI-Driven Pharmaceutical Research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biodockify_fdp_2026">
  <a:themeElements>
    <a:clrScheme name="biodockify_fdp_2026">
      <a:dk1>
        <a:srgbClr val="FFFFFF"/>
      </a:dk1>
      <a:lt1>
        <a:srgbClr val="10122B"/>
      </a:lt1>
      <a:dk2>
        <a:srgbClr val="1F497D"/>
      </a:dk2>
      <a:lt2>
        <a:srgbClr val="1A1D3A"/>
      </a:lt2>
      <a:accent1>
        <a:srgbClr val="EE5586"/>
      </a:accent1>
      <a:accent2>
        <a:srgbClr val="C034EB"/>
      </a:accent2>
      <a:accent3>
        <a:srgbClr val="B0BCD5"/>
      </a:accent3>
      <a:accent4>
        <a:srgbClr val="EE5586"/>
      </a:accent4>
      <a:accent5>
        <a:srgbClr val="4BACC6"/>
      </a:accent5>
      <a:accent6>
        <a:srgbClr val="F79646"/>
      </a:accent6>
      <a:hlink>
        <a:srgbClr val="C034EB"/>
      </a:hlink>
      <a:folHlink>
        <a:srgbClr val="B0BCD5"/>
      </a:folHlink>
    </a:clrScheme>
    <a:fontScheme name="biodockify_fdp_2026">
      <a:majorFont>
        <a:latin typeface="Inter"/>
        <a:ea typeface="Microsoft YaHei"/>
        <a:cs typeface="Inter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ource Serif Pro"/>
        <a:ea typeface="Microsoft YaHei"/>
        <a:cs typeface="Source Serif Pro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iodockify_fdp_2026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4734</Words>
  <Application>Microsoft Office PowerPoint</Application>
  <PresentationFormat>Widescreen</PresentationFormat>
  <Paragraphs>1389</Paragraphs>
  <Slides>80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80</vt:i4>
      </vt:variant>
    </vt:vector>
  </HeadingPairs>
  <TitlesOfParts>
    <vt:vector size="85" baseType="lpstr">
      <vt:lpstr>Arial</vt:lpstr>
      <vt:lpstr>Courier New</vt:lpstr>
      <vt:lpstr>Inter</vt:lpstr>
      <vt:lpstr>Source Serif Pro</vt:lpstr>
      <vt:lpstr>biodockify_fdp_2026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Office</cp:lastModifiedBy>
  <cp:revision>2</cp:revision>
  <dcterms:created xsi:type="dcterms:W3CDTF">2026-08-18T16:08:50Z</dcterms:created>
  <dcterms:modified xsi:type="dcterms:W3CDTF">2026-08-19T01:32:17Z</dcterms:modified>
  <cp:category/>
  <cp:contentStatus/>
  <dc:language>en</dc:language>
</cp:coreProperties>
</file>