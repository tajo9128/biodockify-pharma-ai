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iodockify_fdp_202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iodockify_fdp_202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0"/>
          <p:cNvGrpSpPr/>
          <p:nvPr/>
        </p:nvGrpSpPr>
        <p:grpSpPr>
          <a:xfrm>
            <a:off x="9667875" y="1666875"/>
            <a:ext cx="1800225" cy="3524250"/>
            <a:chOff x="9667875" y="1666875"/>
            <a:chExt cx="1800225" cy="3524250"/>
          </a:xfrm>
        </p:grpSpPr>
        <p:sp>
          <p:nvSpPr>
            <p:cNvPr id="2" name="Ellipse 2"/>
            <p:cNvSpPr/>
            <p:nvPr/>
          </p:nvSpPr>
          <p:spPr>
            <a:xfrm>
              <a:off x="9944100" y="1847850"/>
              <a:ext cx="114300" cy="114300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0439400" y="2438400"/>
              <a:ext cx="76200" cy="7620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10001250" y="1905000"/>
              <a:ext cx="476250" cy="571500"/>
            </a:xfrm>
            <a:custGeom>
              <a:avLst/>
              <a:gdLst/>
              <a:ahLst/>
              <a:cxnLst/>
              <a:rect l="l" t="t" r="r" b="b"/>
              <a:pathLst>
                <a:path w="476250" h="571500">
                  <a:moveTo>
                    <a:pt x="0" y="0"/>
                  </a:moveTo>
                  <a:lnTo>
                    <a:pt x="476250" y="571500"/>
                  </a:lnTo>
                </a:path>
              </a:pathLst>
            </a:custGeom>
            <a:noFill/>
            <a:ln w="9525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0906125" y="1666875"/>
              <a:ext cx="95250" cy="95250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10477500" y="1714500"/>
              <a:ext cx="476250" cy="762000"/>
            </a:xfrm>
            <a:custGeom>
              <a:avLst/>
              <a:gdLst/>
              <a:ahLst/>
              <a:cxnLst/>
              <a:rect l="l" t="t" r="r" b="b"/>
              <a:pathLst>
                <a:path w="476250" h="762000">
                  <a:moveTo>
                    <a:pt x="0" y="762000"/>
                  </a:moveTo>
                  <a:lnTo>
                    <a:pt x="476250" y="0"/>
                  </a:lnTo>
                </a:path>
              </a:pathLst>
            </a:custGeom>
            <a:noFill/>
            <a:ln w="9525">
              <a:solidFill>
                <a:schemeClr val="accent2">
                  <a:alpha val="20000"/>
                </a:scheme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1172825" y="2981325"/>
              <a:ext cx="133350" cy="133350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0477500" y="2476500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0"/>
                  </a:moveTo>
                  <a:lnTo>
                    <a:pt x="762000" y="571500"/>
                  </a:lnTo>
                </a:path>
              </a:pathLst>
            </a:custGeom>
            <a:noFill/>
            <a:ln w="9525">
              <a:solidFill>
                <a:schemeClr val="accent1">
                  <a:alpha val="15000"/>
                </a:schemeClr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667875" y="3286125"/>
              <a:ext cx="95250" cy="95250"/>
            </a:xfrm>
            <a:prstGeom prst="ellipse">
              <a:avLst/>
            </a:prstGeom>
            <a:solidFill>
              <a:schemeClr val="accent1">
                <a:alpha val="35000"/>
              </a:schemeClr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9715500" y="1905000"/>
              <a:ext cx="285750" cy="1428750"/>
            </a:xfrm>
            <a:custGeom>
              <a:avLst/>
              <a:gdLst/>
              <a:ahLst/>
              <a:cxnLst/>
              <a:rect l="l" t="t" r="r" b="b"/>
              <a:pathLst>
                <a:path w="285750" h="1428750">
                  <a:moveTo>
                    <a:pt x="285750" y="0"/>
                  </a:moveTo>
                  <a:lnTo>
                    <a:pt x="0" y="1428750"/>
                  </a:lnTo>
                </a:path>
              </a:pathLst>
            </a:custGeom>
            <a:noFill/>
            <a:ln w="9525">
              <a:solidFill>
                <a:schemeClr val="accent2">
                  <a:alpha val="20000"/>
                </a:scheme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610850" y="3752850"/>
              <a:ext cx="114300" cy="114300"/>
            </a:xfrm>
            <a:prstGeom prst="ellipse">
              <a:avLst/>
            </a:prstGeom>
            <a:solidFill>
              <a:schemeClr val="accent2">
                <a:alpha val="25000"/>
              </a:schemeClr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9715500" y="333375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0"/>
                  </a:moveTo>
                  <a:lnTo>
                    <a:pt x="952500" y="476250"/>
                  </a:lnTo>
                </a:path>
              </a:pathLst>
            </a:custGeom>
            <a:noFill/>
            <a:ln w="9525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668000" y="3048000"/>
              <a:ext cx="571500" cy="762000"/>
            </a:xfrm>
            <a:custGeom>
              <a:avLst/>
              <a:gdLst/>
              <a:ahLst/>
              <a:cxnLst/>
              <a:rect l="l" t="t" r="r" b="b"/>
              <a:pathLst>
                <a:path w="571500" h="762000">
                  <a:moveTo>
                    <a:pt x="571500" y="0"/>
                  </a:moveTo>
                  <a:lnTo>
                    <a:pt x="0" y="762000"/>
                  </a:lnTo>
                </a:path>
              </a:pathLst>
            </a:custGeom>
            <a:noFill/>
            <a:ln w="9525">
              <a:solidFill>
                <a:schemeClr val="accent2">
                  <a:alpha val="15000"/>
                </a:scheme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1391900" y="4248150"/>
              <a:ext cx="76200" cy="76200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10668000" y="3810000"/>
              <a:ext cx="762000" cy="476250"/>
            </a:xfrm>
            <a:custGeom>
              <a:avLst/>
              <a:gdLst/>
              <a:ahLst/>
              <a:cxnLst/>
              <a:rect l="l" t="t" r="r" b="b"/>
              <a:pathLst>
                <a:path w="762000" h="476250">
                  <a:moveTo>
                    <a:pt x="0" y="0"/>
                  </a:moveTo>
                  <a:lnTo>
                    <a:pt x="762000" y="476250"/>
                  </a:lnTo>
                </a:path>
              </a:pathLst>
            </a:custGeom>
            <a:noFill/>
            <a:ln w="9525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020300" y="4495800"/>
              <a:ext cx="152400" cy="1524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10096500" y="3810000"/>
              <a:ext cx="571500" cy="762000"/>
            </a:xfrm>
            <a:custGeom>
              <a:avLst/>
              <a:gdLst/>
              <a:ahLst/>
              <a:cxnLst/>
              <a:rect l="l" t="t" r="r" b="b"/>
              <a:pathLst>
                <a:path w="571500" h="762000">
                  <a:moveTo>
                    <a:pt x="571500" y="0"/>
                  </a:moveTo>
                  <a:lnTo>
                    <a:pt x="0" y="762000"/>
                  </a:lnTo>
                </a:path>
              </a:pathLst>
            </a:custGeom>
            <a:noFill/>
            <a:ln w="9525">
              <a:solidFill>
                <a:schemeClr val="accent2">
                  <a:alpha val="15000"/>
                </a:schemeClr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1001375" y="5095875"/>
              <a:ext cx="95250" cy="95250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10096500" y="4572000"/>
              <a:ext cx="952500" cy="571500"/>
            </a:xfrm>
            <a:custGeom>
              <a:avLst/>
              <a:gdLst/>
              <a:ahLst/>
              <a:cxnLst/>
              <a:rect l="l" t="t" r="r" b="b"/>
              <a:pathLst>
                <a:path w="952500" h="571500">
                  <a:moveTo>
                    <a:pt x="0" y="0"/>
                  </a:moveTo>
                  <a:lnTo>
                    <a:pt x="952500" y="571500"/>
                  </a:lnTo>
                </a:path>
              </a:pathLst>
            </a:custGeom>
            <a:noFill/>
            <a:ln w="9525">
              <a:solidFill>
                <a:schemeClr val="accent1">
                  <a:alpha val="20000"/>
                </a:schemeClr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34212" y="1706880"/>
            <a:ext cx="7141183" cy="4031171"/>
            <a:chOff x="934212" y="1706880"/>
            <a:chExt cx="7141183" cy="4031171"/>
          </a:xfrm>
        </p:grpSpPr>
        <p:sp>
          <p:nvSpPr>
            <p:cNvPr id="21" name="TextBox 21"/>
            <p:cNvSpPr txBox="1"/>
            <p:nvPr/>
          </p:nvSpPr>
          <p:spPr>
            <a:xfrm>
              <a:off x="934212" y="1706880"/>
              <a:ext cx="260969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52500" y="2286000"/>
              <a:ext cx="2667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0308" y="2598420"/>
              <a:ext cx="71350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From Research Question to Scientific Insight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3356" y="3329940"/>
              <a:ext cx="63737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AI • Computational Science • Research Automation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118" y="3822382"/>
              <a:ext cx="46529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 + Premium Web Platform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5188268"/>
              <a:ext cx="4244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Mr. Tajuddin Shaik | Co-Founder, BioDockify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642" y="5474018"/>
              <a:ext cx="6803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Assistant Professor, Malla Reddy College of Pharmacy | 20 August 2026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9" name="Rectangle 2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90500" y="-476250"/>
            <a:ext cx="12192000" cy="7715250"/>
            <a:chOff x="190500" y="-476250"/>
            <a:chExt cx="12192000" cy="7715250"/>
          </a:xfrm>
        </p:grpSpPr>
        <p:sp>
          <p:nvSpPr>
            <p:cNvPr id="2" name="Ellipse 2"/>
            <p:cNvSpPr/>
            <p:nvPr/>
          </p:nvSpPr>
          <p:spPr>
            <a:xfrm>
              <a:off x="8572500" y="-476250"/>
              <a:ext cx="3810000" cy="3810000"/>
            </a:xfrm>
            <a:prstGeom prst="ellipse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90500" y="4191000"/>
              <a:ext cx="3048000" cy="3048000"/>
            </a:xfrm>
            <a:prstGeom prst="ellipse">
              <a:avLst/>
            </a:prstGeom>
            <a:solidFill>
              <a:schemeClr val="accent2">
                <a:alpha val="5000"/>
              </a:scheme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43712" y="2087880"/>
            <a:ext cx="6484348" cy="2260854"/>
            <a:chOff x="743712" y="2087880"/>
            <a:chExt cx="6484348" cy="2260854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2087880"/>
              <a:ext cx="260969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0570" y="2805112"/>
              <a:ext cx="64774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AI-Powered Computational Drug Discovery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3233738"/>
              <a:ext cx="37170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for Pharmacy Education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3810000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2856" y="3996690"/>
              <a:ext cx="4094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Faculty Development Programme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3618" y="4965382"/>
            <a:ext cx="4217194" cy="982219"/>
            <a:chOff x="753618" y="4965382"/>
            <a:chExt cx="4217194" cy="982219"/>
          </a:xfrm>
        </p:grpSpPr>
        <p:sp>
          <p:nvSpPr>
            <p:cNvPr id="11" name="TextBox 11"/>
            <p:cNvSpPr txBox="1"/>
            <p:nvPr/>
          </p:nvSpPr>
          <p:spPr>
            <a:xfrm>
              <a:off x="753618" y="4965382"/>
              <a:ext cx="21828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Mr. Tajuddin Shaik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142" y="5378768"/>
              <a:ext cx="4215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Malla Reddy College of Pharmacy, Hyderabad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5683568"/>
              <a:ext cx="1445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 August 2026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953375" y="1381125"/>
            <a:ext cx="3476625" cy="3667125"/>
            <a:chOff x="7953375" y="1381125"/>
            <a:chExt cx="3476625" cy="3667125"/>
          </a:xfrm>
        </p:grpSpPr>
        <p:sp>
          <p:nvSpPr>
            <p:cNvPr id="15" name="Ellipse 15"/>
            <p:cNvSpPr/>
            <p:nvPr/>
          </p:nvSpPr>
          <p:spPr>
            <a:xfrm>
              <a:off x="8763000" y="2286000"/>
              <a:ext cx="1524000" cy="1524000"/>
            </a:xfrm>
            <a:prstGeom prst="ellipse">
              <a:avLst/>
            </a:prstGeom>
            <a:noFill/>
            <a:ln w="14288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144000" y="2667000"/>
              <a:ext cx="762000" cy="762000"/>
            </a:xfrm>
            <a:prstGeom prst="ellipse">
              <a:avLst/>
            </a:prstGeom>
            <a:noFill/>
            <a:ln w="9525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467850" y="2990850"/>
              <a:ext cx="114300" cy="1143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9525000" y="2571750"/>
              <a:ext cx="666750" cy="476250"/>
            </a:xfrm>
            <a:custGeom>
              <a:avLst/>
              <a:gdLst/>
              <a:ahLst/>
              <a:cxnLst/>
              <a:rect l="l" t="t" r="r" b="b"/>
              <a:pathLst>
                <a:path w="666750" h="476250">
                  <a:moveTo>
                    <a:pt x="0" y="47625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144125" y="2524125"/>
              <a:ext cx="95250" cy="9525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8953500" y="24765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500" y="5715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8905875" y="2428875"/>
              <a:ext cx="95250" cy="9525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9525000" y="30480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571500"/>
                  </a:lnTo>
                </a:path>
              </a:pathLst>
            </a:custGeom>
            <a:noFill/>
            <a:ln w="14288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058400" y="3581400"/>
              <a:ext cx="76200" cy="762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8858250" y="3048000"/>
              <a:ext cx="666750" cy="476250"/>
            </a:xfrm>
            <a:custGeom>
              <a:avLst/>
              <a:gdLst/>
              <a:ahLst/>
              <a:cxnLst/>
              <a:rect l="l" t="t" r="r" b="b"/>
              <a:pathLst>
                <a:path w="666750" h="476250">
                  <a:moveTo>
                    <a:pt x="666750" y="0"/>
                  </a:moveTo>
                  <a:lnTo>
                    <a:pt x="0" y="476250"/>
                  </a:lnTo>
                </a:path>
              </a:pathLst>
            </a:custGeom>
            <a:noFill/>
            <a:ln w="14288">
              <a:solidFill>
                <a:schemeClr val="accent2">
                  <a:alpha val="30000"/>
                </a:schemeClr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820150" y="3486150"/>
              <a:ext cx="76200" cy="762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0477500" y="4095750"/>
              <a:ext cx="952500" cy="952500"/>
            </a:xfrm>
            <a:prstGeom prst="ellipse">
              <a:avLst/>
            </a:prstGeom>
            <a:noFill/>
            <a:ln w="9525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0715625" y="4333875"/>
              <a:ext cx="476250" cy="476250"/>
            </a:xfrm>
            <a:prstGeom prst="ellipse">
              <a:avLst/>
            </a:prstGeom>
            <a:noFill/>
            <a:ln w="7620">
              <a:solidFill>
                <a:schemeClr val="accent2">
                  <a:alpha val="30000"/>
                </a:schemeClr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953375" y="1381125"/>
              <a:ext cx="666750" cy="666750"/>
            </a:xfrm>
            <a:prstGeom prst="ellipse">
              <a:avLst/>
            </a:prstGeom>
            <a:noFill/>
            <a:ln w="9525">
              <a:solidFill>
                <a:schemeClr val="accent2">
                  <a:alpha val="20000"/>
                </a:schemeClr>
              </a:solidFill>
            </a:ln>
          </p:spPr>
        </p:sp>
      </p:grpSp>
      <p:sp>
        <p:nvSpPr>
          <p:cNvPr id="30" name="Rectangle 30"/>
          <p:cNvSpPr/>
          <p:nvPr/>
        </p:nvSpPr>
        <p:spPr>
          <a:xfrm>
            <a:off x="0" y="6667500"/>
            <a:ext cx="12192000" cy="381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accent2">
                  <a:alpha val="6000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1" name="Rectangle 3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5498" y="421958"/>
            <a:ext cx="3600410" cy="616077"/>
            <a:chOff x="555498" y="421958"/>
            <a:chExt cx="360041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36004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Session Roadmap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904875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71500" y="1405890"/>
            <a:ext cx="5197504" cy="3998785"/>
            <a:chOff x="571500" y="1405890"/>
            <a:chExt cx="5197504" cy="3998785"/>
          </a:xfrm>
        </p:grpSpPr>
        <p:grpSp>
          <p:nvGrpSpPr>
            <p:cNvPr id="9" name="Group 9"/>
            <p:cNvGrpSpPr/>
            <p:nvPr/>
          </p:nvGrpSpPr>
          <p:grpSpPr>
            <a:xfrm>
              <a:off x="571500" y="1405890"/>
              <a:ext cx="4406287" cy="569785"/>
              <a:chOff x="571500" y="1405890"/>
              <a:chExt cx="4406287" cy="569785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428750"/>
                <a:ext cx="419100" cy="4191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15123" y="15525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171956" y="1405890"/>
                <a:ext cx="150158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Foundations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74242" y="1711642"/>
                <a:ext cx="38035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Drug Discovery Landscape (Slides 3–12)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71500" y="2263140"/>
              <a:ext cx="4017340" cy="569785"/>
              <a:chOff x="571500" y="2263140"/>
              <a:chExt cx="4017340" cy="569785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2286000"/>
                <a:ext cx="419100" cy="4191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15123" y="24098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71956" y="2263140"/>
                <a:ext cx="27689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Platform Introduction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74242" y="2568892"/>
                <a:ext cx="34145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BioDockify Overview (Slides 13–20)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571500" y="3120390"/>
              <a:ext cx="5197504" cy="569785"/>
              <a:chOff x="571500" y="3120390"/>
              <a:chExt cx="5197504" cy="56978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71500" y="3143250"/>
                <a:ext cx="419100" cy="4191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15123" y="32670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71956" y="3120390"/>
                <a:ext cx="22183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Module Deep Dives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74242" y="3426142"/>
                <a:ext cx="45947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Docking, ADMET, MD, Jarvis AI (Slides 21–38)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71500" y="3977640"/>
              <a:ext cx="4542072" cy="569785"/>
              <a:chOff x="571500" y="3977640"/>
              <a:chExt cx="4542072" cy="569785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71500" y="4000500"/>
                <a:ext cx="419100" cy="4191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15123" y="41243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4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71956" y="3977640"/>
                <a:ext cx="25777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Teaching Integration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74242" y="4283392"/>
                <a:ext cx="39393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Curriculum &amp; Collaboration (Slides 39–44)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71500" y="4834890"/>
              <a:ext cx="4297404" cy="569785"/>
              <a:chOff x="571500" y="4834890"/>
              <a:chExt cx="4297404" cy="569785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71500" y="4857750"/>
                <a:ext cx="419100" cy="4191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15123" y="49815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5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5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71956" y="4834890"/>
                <a:ext cx="285664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Hands-On &amp; Next Steps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74242" y="5140642"/>
                <a:ext cx="3694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Live Demo &amp; Action Plan (Slides 45–50)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9518904" y="1584960"/>
            <a:ext cx="614347" cy="3663696"/>
            <a:chOff x="9518904" y="1584960"/>
            <a:chExt cx="614347" cy="3663696"/>
          </a:xfrm>
        </p:grpSpPr>
        <p:sp>
          <p:nvSpPr>
            <p:cNvPr id="31" name="TextBox 31"/>
            <p:cNvSpPr txBox="1"/>
            <p:nvPr/>
          </p:nvSpPr>
          <p:spPr>
            <a:xfrm>
              <a:off x="9518904" y="1584960"/>
              <a:ext cx="614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~30 min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18904" y="2442210"/>
              <a:ext cx="614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~25 min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18904" y="3299460"/>
              <a:ext cx="614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~60 min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18904" y="4156710"/>
              <a:ext cx="614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~20 min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18904" y="5013960"/>
              <a:ext cx="614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~25 min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7" name="Rectangle 3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738323" y="1455420"/>
            <a:ext cx="6715354" cy="898017"/>
            <a:chOff x="2738323" y="1455420"/>
            <a:chExt cx="6715354" cy="898017"/>
          </a:xfrm>
        </p:grpSpPr>
        <p:sp>
          <p:nvSpPr>
            <p:cNvPr id="2" name="TextBox 2"/>
            <p:cNvSpPr txBox="1"/>
            <p:nvPr/>
          </p:nvSpPr>
          <p:spPr>
            <a:xfrm>
              <a:off x="2884714" y="1455420"/>
              <a:ext cx="64225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“How many tools do we need to answer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738323" y="1884045"/>
              <a:ext cx="6715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pharmaceutical research question?”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7700" y="3238500"/>
            <a:ext cx="10810875" cy="381000"/>
            <a:chOff x="647700" y="3238500"/>
            <a:chExt cx="10810875" cy="381000"/>
          </a:xfrm>
        </p:grpSpPr>
        <p:sp>
          <p:nvSpPr>
            <p:cNvPr id="5" name="Rectangle 5"/>
            <p:cNvSpPr/>
            <p:nvPr/>
          </p:nvSpPr>
          <p:spPr>
            <a:xfrm>
              <a:off x="647700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86651" y="3356610"/>
              <a:ext cx="865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Literature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41849" y="3324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028825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195957" y="3356610"/>
              <a:ext cx="808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Chemistry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22974" y="3324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09950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82223" y="3356610"/>
              <a:ext cx="598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04099" y="3324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791075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04714" y="3356610"/>
              <a:ext cx="515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85224" y="3324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172200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32778" y="3356610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QSAR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66349" y="3324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553325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07782" y="3356610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47474" y="3324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934450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93708" y="3356610"/>
              <a:ext cx="824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Statistics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28599" y="3324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315575" y="323850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591920" y="3356610"/>
              <a:ext cx="590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Writing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085011" y="5139690"/>
            <a:ext cx="8021977" cy="352044"/>
            <a:chOff x="2085011" y="5139690"/>
            <a:chExt cx="8021977" cy="352044"/>
          </a:xfrm>
        </p:grpSpPr>
        <p:sp>
          <p:nvSpPr>
            <p:cNvPr id="29" name="TextBox 29"/>
            <p:cNvSpPr txBox="1"/>
            <p:nvPr/>
          </p:nvSpPr>
          <p:spPr>
            <a:xfrm>
              <a:off x="2085011" y="5139690"/>
              <a:ext cx="80219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problem is not lack of tools. The problem is fragmentation.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1" name="Rectangle 3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6498" y="421958"/>
            <a:ext cx="6820052" cy="616077"/>
            <a:chOff x="936498" y="421958"/>
            <a:chExt cx="682005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936498" y="421958"/>
              <a:ext cx="68200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Pharmaceutical Research Today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2500" y="1143000"/>
            <a:ext cx="2095500" cy="4362450"/>
            <a:chOff x="952500" y="1143000"/>
            <a:chExt cx="2095500" cy="4362450"/>
          </a:xfrm>
        </p:grpSpPr>
        <p:sp>
          <p:nvSpPr>
            <p:cNvPr id="4" name="Rectangle 4"/>
            <p:cNvSpPr/>
            <p:nvPr/>
          </p:nvSpPr>
          <p:spPr>
            <a:xfrm>
              <a:off x="952500" y="11430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307454" y="1259681"/>
              <a:ext cx="13855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Question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949729" y="15087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17145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00611" y="1831181"/>
              <a:ext cx="1599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Literature databases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49729" y="2080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22860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49499" y="2402681"/>
              <a:ext cx="1501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Compound databases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49729" y="26517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52500" y="28575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13650" y="2974181"/>
              <a:ext cx="13732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Chemical software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49729" y="3223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52500" y="34290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51326" y="3545681"/>
              <a:ext cx="12978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Docking software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9729" y="37947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52500" y="40005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48790" y="4117181"/>
              <a:ext cx="9029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tools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49729" y="4366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52500" y="45720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5598" y="4688681"/>
              <a:ext cx="18893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Statistics / MD software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49729" y="49377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52500" y="514350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 w="9525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35922" y="5260181"/>
              <a:ext cx="15286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Writing → Publication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23332" y="3011805"/>
            <a:ext cx="4424172" cy="1596390"/>
            <a:chOff x="5323332" y="3011805"/>
            <a:chExt cx="4424172" cy="1596390"/>
          </a:xfrm>
        </p:grpSpPr>
        <p:sp>
          <p:nvSpPr>
            <p:cNvPr id="28" name="TextBox 28"/>
            <p:cNvSpPr txBox="1"/>
            <p:nvPr/>
          </p:nvSpPr>
          <p:spPr>
            <a:xfrm>
              <a:off x="5323332" y="3011805"/>
              <a:ext cx="35339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researcher becomes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23332" y="3392805"/>
              <a:ext cx="32420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integration layer.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26380" y="4029075"/>
              <a:ext cx="42341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Each transition requires manual effort,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26380" y="4314825"/>
              <a:ext cx="4421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format conversion, and domain expertise.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3" name="Rectangle 3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6498" y="421958"/>
            <a:ext cx="6808963" cy="616077"/>
            <a:chOff x="936498" y="421958"/>
            <a:chExt cx="680896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936498" y="421958"/>
              <a:ext cx="680896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Where AI Changes the Workflow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14500" y="1234440"/>
            <a:ext cx="1524000" cy="3451860"/>
            <a:chOff x="1714500" y="1234440"/>
            <a:chExt cx="1524000" cy="3451860"/>
          </a:xfrm>
        </p:grpSpPr>
        <p:sp>
          <p:nvSpPr>
            <p:cNvPr id="4" name="TextBox 4"/>
            <p:cNvSpPr txBox="1"/>
            <p:nvPr/>
          </p:nvSpPr>
          <p:spPr>
            <a:xfrm>
              <a:off x="1789642" y="1234440"/>
              <a:ext cx="13737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Traditional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714500" y="17145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198545" y="1816418"/>
              <a:ext cx="555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Human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419664" y="21021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714500" y="23622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289941" y="2464118"/>
              <a:ext cx="373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Tool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19664" y="27498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714500" y="30099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98545" y="3111818"/>
              <a:ext cx="555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Human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19664" y="33975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14500" y="36576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89941" y="3759518"/>
              <a:ext cx="373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Tool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19664" y="40452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714500" y="43053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198545" y="4407218"/>
              <a:ext cx="555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Human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001000" y="1234440"/>
            <a:ext cx="1524000" cy="3451860"/>
            <a:chOff x="8001000" y="1234440"/>
            <a:chExt cx="1524000" cy="3451860"/>
          </a:xfrm>
        </p:grpSpPr>
        <p:sp>
          <p:nvSpPr>
            <p:cNvPr id="20" name="TextBox 20"/>
            <p:cNvSpPr txBox="1"/>
            <p:nvPr/>
          </p:nvSpPr>
          <p:spPr>
            <a:xfrm>
              <a:off x="8047448" y="1234440"/>
              <a:ext cx="14311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AI-Powered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0" y="17145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85045" y="1816418"/>
              <a:ext cx="555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Human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06164" y="21021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01000" y="23622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73276" y="2464118"/>
              <a:ext cx="13794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Agent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6164" y="27498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001000" y="30099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26399" y="3111818"/>
              <a:ext cx="473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Tools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06164" y="33975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001000" y="36576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76370" y="3759518"/>
              <a:ext cx="773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Evidence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06164" y="40452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001000" y="4305300"/>
              <a:ext cx="1524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23708" y="4407218"/>
              <a:ext cx="147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Human Validation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2500" y="5334000"/>
            <a:ext cx="10287000" cy="762000"/>
            <a:chOff x="952500" y="5334000"/>
            <a:chExt cx="10287000" cy="762000"/>
          </a:xfrm>
        </p:grpSpPr>
        <p:sp>
          <p:nvSpPr>
            <p:cNvPr id="36" name="Rectangle 36"/>
            <p:cNvSpPr/>
            <p:nvPr/>
          </p:nvSpPr>
          <p:spPr>
            <a:xfrm>
              <a:off x="952500" y="5334000"/>
              <a:ext cx="102870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0793" y="5536882"/>
              <a:ext cx="10230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should help researchers: plan, search, retrieve, execute, analyze, verify, document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67127" y="5852160"/>
              <a:ext cx="3857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human validates — the agent orchestrates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0" name="Rectangle 4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936498" y="421958"/>
            <a:ext cx="7338078" cy="1212151"/>
            <a:chOff x="936498" y="421958"/>
            <a:chExt cx="7338078" cy="1212151"/>
          </a:xfrm>
        </p:grpSpPr>
        <p:sp>
          <p:nvSpPr>
            <p:cNvPr id="2" name="TextBox 2"/>
            <p:cNvSpPr txBox="1"/>
            <p:nvPr/>
          </p:nvSpPr>
          <p:spPr>
            <a:xfrm>
              <a:off x="936498" y="421958"/>
              <a:ext cx="427663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What Is BioDockify?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43356" y="996315"/>
              <a:ext cx="73312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 AI-powered research environment designed specifically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3356" y="1282065"/>
              <a:ext cx="36923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 pharmaceutical sciences.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1905000"/>
            <a:ext cx="3690671" cy="2095500"/>
            <a:chOff x="762000" y="1905000"/>
            <a:chExt cx="3690671" cy="20955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3429000" cy="20955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905000"/>
              <a:ext cx="38100" cy="2095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4618" y="2203132"/>
              <a:ext cx="27147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 Research Intelligence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6142" y="2616518"/>
              <a:ext cx="2946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Autonomous research planning,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6142" y="2854642"/>
              <a:ext cx="29516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literature analysis, hypothesis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6142" y="3092768"/>
              <a:ext cx="33165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generation, and evidence synthesis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429000" y="3429000"/>
              <a:ext cx="381000" cy="3810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21773" y="354044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🧠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81500" y="1905000"/>
            <a:ext cx="3429000" cy="2095500"/>
            <a:chOff x="4381500" y="1905000"/>
            <a:chExt cx="3429000" cy="2095500"/>
          </a:xfrm>
        </p:grpSpPr>
        <p:sp>
          <p:nvSpPr>
            <p:cNvPr id="15" name="Rectangle 15"/>
            <p:cNvSpPr/>
            <p:nvPr/>
          </p:nvSpPr>
          <p:spPr>
            <a:xfrm>
              <a:off x="4381500" y="1905000"/>
              <a:ext cx="3429000" cy="20955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81500" y="1905000"/>
              <a:ext cx="38100" cy="2095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54118" y="2203132"/>
              <a:ext cx="28058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Scientific Computational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54118" y="2469832"/>
              <a:ext cx="6064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Tools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5642" y="2883218"/>
              <a:ext cx="26424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Molecular docking, ADMET,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55642" y="3121342"/>
              <a:ext cx="2997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QSAR modeling, MD simulation,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55642" y="3359468"/>
              <a:ext cx="2231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pharmacophore analysis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048500" y="3429000"/>
              <a:ext cx="381000" cy="38100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41274" y="354044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⚗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001000" y="1905000"/>
            <a:ext cx="3429000" cy="2095500"/>
            <a:chOff x="8001000" y="1905000"/>
            <a:chExt cx="34290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8001000" y="1905000"/>
              <a:ext cx="3429000" cy="20955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01000" y="1905000"/>
              <a:ext cx="38100" cy="2095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73618" y="2203132"/>
              <a:ext cx="16412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Data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3618" y="2469832"/>
              <a:ext cx="11324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&amp; Analysis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5142" y="2883218"/>
              <a:ext cx="2446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Statistical analysis, data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5142" y="3121342"/>
              <a:ext cx="2884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visualization, knowledge base,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5142" y="3359468"/>
              <a:ext cx="2423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automated documentation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10668000" y="3429000"/>
              <a:ext cx="381000" cy="381000"/>
            </a:xfrm>
            <a:prstGeom prst="ellipse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760774" y="354044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📊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826241" y="4965382"/>
            <a:ext cx="4539519" cy="322707"/>
            <a:chOff x="3826241" y="4965382"/>
            <a:chExt cx="4539519" cy="322707"/>
          </a:xfrm>
        </p:grpSpPr>
        <p:sp>
          <p:nvSpPr>
            <p:cNvPr id="35" name="TextBox 35"/>
            <p:cNvSpPr txBox="1"/>
            <p:nvPr/>
          </p:nvSpPr>
          <p:spPr>
            <a:xfrm>
              <a:off x="3826241" y="4965382"/>
              <a:ext cx="45395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Human-in-the-loop scientific validation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7" name="Rectangle 3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6498" y="421958"/>
            <a:ext cx="3676852" cy="616077"/>
            <a:chOff x="936498" y="421958"/>
            <a:chExt cx="367685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936498" y="421958"/>
              <a:ext cx="367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 Vision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0564" y="1392555"/>
            <a:ext cx="8810872" cy="791718"/>
            <a:chOff x="1690564" y="1392555"/>
            <a:chExt cx="8810872" cy="791718"/>
          </a:xfrm>
        </p:grpSpPr>
        <p:sp>
          <p:nvSpPr>
            <p:cNvPr id="4" name="TextBox 4"/>
            <p:cNvSpPr txBox="1"/>
            <p:nvPr/>
          </p:nvSpPr>
          <p:spPr>
            <a:xfrm>
              <a:off x="1690564" y="1392555"/>
              <a:ext cx="88108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Move pharmaceutical research from tool-centric workflows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747973" y="1773555"/>
              <a:ext cx="46960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 question-centric workflows.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2667000"/>
            <a:ext cx="10668000" cy="1905000"/>
            <a:chOff x="762000" y="2667000"/>
            <a:chExt cx="10668000" cy="1905000"/>
          </a:xfrm>
        </p:grpSpPr>
        <p:sp>
          <p:nvSpPr>
            <p:cNvPr id="7" name="Rectangle 7"/>
            <p:cNvSpPr/>
            <p:nvPr/>
          </p:nvSpPr>
          <p:spPr>
            <a:xfrm>
              <a:off x="762000" y="2667000"/>
              <a:ext cx="4953000" cy="1905000"/>
            </a:xfrm>
            <a:prstGeom prst="roundRect">
              <a:avLst>
                <a:gd name="adj" fmla="val 7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515109" y="2869882"/>
              <a:ext cx="14467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Tool-centric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714500" y="3238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13167" y="3631882"/>
              <a:ext cx="3250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“I need to learn AutoDock.”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477000" y="2667000"/>
              <a:ext cx="4953000" cy="1905000"/>
            </a:xfrm>
            <a:prstGeom prst="roundRect">
              <a:avLst>
                <a:gd name="adj" fmla="val 7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50154" y="2869882"/>
              <a:ext cx="20066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Question-centric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429500" y="3238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90436" y="3552825"/>
              <a:ext cx="39261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“I want to investigate whether these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18960" y="3838575"/>
              <a:ext cx="4069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compounds interact with this target.”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371495" y="5441632"/>
            <a:ext cx="5449009" cy="322707"/>
            <a:chOff x="3371495" y="5441632"/>
            <a:chExt cx="5449009" cy="322707"/>
          </a:xfrm>
        </p:grpSpPr>
        <p:sp>
          <p:nvSpPr>
            <p:cNvPr id="17" name="TextBox 17"/>
            <p:cNvSpPr txBox="1"/>
            <p:nvPr/>
          </p:nvSpPr>
          <p:spPr>
            <a:xfrm>
              <a:off x="3371495" y="5441632"/>
              <a:ext cx="54490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The agent helps determine: What should I do next?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19" name="Rectangle 1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8117490" cy="616077"/>
            <a:chOff x="555498" y="421958"/>
            <a:chExt cx="811749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811749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Drug Discovery Attrition Problem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428750"/>
            <a:ext cx="6096000" cy="4290251"/>
            <a:chOff x="762000" y="1428750"/>
            <a:chExt cx="6096000" cy="4290251"/>
          </a:xfrm>
        </p:grpSpPr>
        <p:sp>
          <p:nvSpPr>
            <p:cNvPr id="4" name="Rectangle 4"/>
            <p:cNvSpPr/>
            <p:nvPr/>
          </p:nvSpPr>
          <p:spPr>
            <a:xfrm>
              <a:off x="762000" y="1428750"/>
              <a:ext cx="6096000" cy="857250"/>
            </a:xfrm>
            <a:prstGeom prst="roundRect">
              <a:avLst>
                <a:gd name="adj" fmla="val 8889"/>
              </a:avLst>
            </a:prstGeom>
            <a:solidFill>
              <a:schemeClr val="accent1">
                <a:alpha val="95000"/>
              </a:scheme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492502" y="1678305"/>
              <a:ext cx="26349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10,000 Compounds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029260" y="2025968"/>
              <a:ext cx="1561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Initial Discovery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524000" y="2571750"/>
              <a:ext cx="4572000" cy="857250"/>
            </a:xfrm>
            <a:prstGeom prst="roundRect">
              <a:avLst>
                <a:gd name="adj" fmla="val 8889"/>
              </a:avLst>
            </a:prstGeom>
            <a:solidFill>
              <a:srgbClr val="D43E8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755056" y="2821305"/>
              <a:ext cx="21098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250 Preclinical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47438" y="3168968"/>
              <a:ext cx="1125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Lab Testing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286000" y="3714750"/>
              <a:ext cx="3048000" cy="857250"/>
            </a:xfrm>
            <a:prstGeom prst="roundRect">
              <a:avLst>
                <a:gd name="adj" fmla="val 8889"/>
              </a:avLst>
            </a:prstGeom>
            <a:solidFill>
              <a:srgbClr val="B836C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17344" y="3964305"/>
              <a:ext cx="23853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 Clinical Trials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21971" y="4311968"/>
              <a:ext cx="1376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Human Testing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048000" y="4857750"/>
              <a:ext cx="1524000" cy="857250"/>
            </a:xfrm>
            <a:prstGeom prst="roundRect">
              <a:avLst>
                <a:gd name="adj" fmla="val 88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14621" y="5107305"/>
              <a:ext cx="15907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 Approved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49762" y="5454968"/>
              <a:ext cx="13204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dk1">
                      <a:alphaMod val="80000"/>
                    </a:schemeClr>
                  </a:solidFill>
                  <a:latin typeface="+mn-lt"/>
                  <a:ea typeface="+mn-ea"/>
                  <a:cs typeface="+mn-cs"/>
                </a:rPr>
                <a:t>Market Ready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762000" y="2286000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0" y="0"/>
                  </a:moveTo>
                  <a:lnTo>
                    <a:pt x="762000" y="285750"/>
                  </a:lnTo>
                  <a:lnTo>
                    <a:pt x="762000" y="190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</p:sp>
        <p:sp>
          <p:nvSpPr>
            <p:cNvPr id="17" name="Polygon 17"/>
            <p:cNvSpPr/>
            <p:nvPr/>
          </p:nvSpPr>
          <p:spPr>
            <a:xfrm>
              <a:off x="6096000" y="2286000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762000" y="0"/>
                  </a:moveTo>
                  <a:lnTo>
                    <a:pt x="0" y="285750"/>
                  </a:lnTo>
                  <a:lnTo>
                    <a:pt x="0" y="1905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chemeClr val="lt1">
                <a:alpha val="30000"/>
              </a:scheme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7715250" y="1619250"/>
            <a:ext cx="3810000" cy="4000500"/>
            <a:chOff x="7715250" y="1619250"/>
            <a:chExt cx="3810000" cy="4000500"/>
          </a:xfrm>
        </p:grpSpPr>
        <p:sp>
          <p:nvSpPr>
            <p:cNvPr id="19" name="Rectangle 19"/>
            <p:cNvSpPr/>
            <p:nvPr/>
          </p:nvSpPr>
          <p:spPr>
            <a:xfrm>
              <a:off x="7715250" y="1619250"/>
              <a:ext cx="3810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87226" y="1756410"/>
              <a:ext cx="226604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12–15 Years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19961" y="2279332"/>
              <a:ext cx="3400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Average development timeline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715250" y="3048000"/>
              <a:ext cx="3810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3439" y="3185160"/>
              <a:ext cx="28336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$2.6B Per Drug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99831" y="3708082"/>
              <a:ext cx="24408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Total cost to market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715250" y="4476750"/>
              <a:ext cx="3810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42714" y="4613910"/>
              <a:ext cx="23550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&gt;90% Failure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50108" y="5136832"/>
              <a:ext cx="3140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Clinical trial attrition rate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64642" y="6331268"/>
            <a:ext cx="45073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Source: Tufts CSDD, PhRMA Industry Reports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0" name="Rectangle 3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9705361" cy="616077"/>
            <a:chOff x="555498" y="421958"/>
            <a:chExt cx="970536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97053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Traditional Lab vs Computational Approaches</a:t>
              </a:r>
            </a:p>
          </p:txBody>
        </p:sp>
      </p:grpSp>
      <p:sp>
        <p:nvSpPr>
          <p:cNvPr id="4" name="Line 4"/>
          <p:cNvSpPr/>
          <p:nvPr/>
        </p:nvSpPr>
        <p:spPr>
          <a:xfrm>
            <a:off x="6096000" y="1238250"/>
            <a:ext cx="9525" cy="4476750"/>
          </a:xfrm>
          <a:custGeom>
            <a:avLst/>
            <a:gdLst/>
            <a:ahLst/>
            <a:cxnLst/>
            <a:rect l="l" t="t" r="r" b="b"/>
            <a:pathLst>
              <a:path w="9525" h="4476750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9525">
            <a:solidFill>
              <a:schemeClr val="accent3">
                <a:alpha val="30000"/>
              </a:schemeClr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762000" y="1264920"/>
            <a:ext cx="4762500" cy="4164330"/>
            <a:chOff x="762000" y="1264920"/>
            <a:chExt cx="4762500" cy="4164330"/>
          </a:xfrm>
        </p:grpSpPr>
        <p:sp>
          <p:nvSpPr>
            <p:cNvPr id="5" name="TextBox 5"/>
            <p:cNvSpPr txBox="1"/>
            <p:nvPr/>
          </p:nvSpPr>
          <p:spPr>
            <a:xfrm>
              <a:off x="2132190" y="1264920"/>
              <a:ext cx="18316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Traditional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18097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09650" y="2057400"/>
              <a:ext cx="266700" cy="266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0368" y="1965008"/>
              <a:ext cx="2476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Months per compound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1892" y="2254568"/>
              <a:ext cx="27928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Slow iterative wet-lab cycles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7622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09650" y="3009900"/>
              <a:ext cx="266700" cy="266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20368" y="2917508"/>
              <a:ext cx="24429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$10K–50K per screen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21892" y="3207068"/>
              <a:ext cx="28422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Reagents, consumables, labor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7147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09650" y="3962400"/>
              <a:ext cx="266700" cy="266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20368" y="3870008"/>
              <a:ext cx="3424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Limited by physical resources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1892" y="4159568"/>
              <a:ext cx="2736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Equipment, space, personnel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46672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09650" y="4914900"/>
              <a:ext cx="266700" cy="2667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20368" y="4822508"/>
              <a:ext cx="21318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Sequential testing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1892" y="5112068"/>
              <a:ext cx="2238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One compound at a time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77000" y="1264920"/>
            <a:ext cx="4762500" cy="4164330"/>
            <a:chOff x="6477000" y="1264920"/>
            <a:chExt cx="4762500" cy="4164330"/>
          </a:xfrm>
        </p:grpSpPr>
        <p:sp>
          <p:nvSpPr>
            <p:cNvPr id="23" name="TextBox 23"/>
            <p:cNvSpPr txBox="1"/>
            <p:nvPr/>
          </p:nvSpPr>
          <p:spPr>
            <a:xfrm>
              <a:off x="7774344" y="1264920"/>
              <a:ext cx="23583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Computational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77000" y="18097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724650" y="2057400"/>
              <a:ext cx="266700" cy="2667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35368" y="1965008"/>
              <a:ext cx="25460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Minutes per compound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36892" y="2254568"/>
              <a:ext cx="2349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Rapid in-silico evaluation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77000" y="27622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724650" y="3009900"/>
              <a:ext cx="266700" cy="2667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35368" y="2917508"/>
              <a:ext cx="27183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Negligible marginal cost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36892" y="3207068"/>
              <a:ext cx="1756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Only compute time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77000" y="37147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724650" y="3962400"/>
              <a:ext cx="266700" cy="2667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35368" y="3870008"/>
              <a:ext cx="31757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Unlimited parallel screening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36892" y="4159568"/>
              <a:ext cx="25332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Scale with cloud resources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77000" y="4667250"/>
              <a:ext cx="4762500" cy="762000"/>
            </a:xfrm>
            <a:prstGeom prst="roundRect">
              <a:avLst>
                <a:gd name="adj" fmla="val 1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724650" y="4914900"/>
              <a:ext cx="266700" cy="2667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35368" y="4822508"/>
              <a:ext cx="25773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Iterative optimization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36892" y="5112068"/>
              <a:ext cx="1956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Rapid feedback loops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148965" y="6139815"/>
            <a:ext cx="3894071" cy="352044"/>
            <a:chOff x="4148965" y="6139815"/>
            <a:chExt cx="3894071" cy="352044"/>
          </a:xfrm>
        </p:grpSpPr>
        <p:sp>
          <p:nvSpPr>
            <p:cNvPr id="41" name="TextBox 41"/>
            <p:cNvSpPr txBox="1"/>
            <p:nvPr/>
          </p:nvSpPr>
          <p:spPr>
            <a:xfrm>
              <a:off x="4148965" y="6139815"/>
              <a:ext cx="38940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Not replacement — acceleration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3" name="Rectangle 4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7452982" cy="616077"/>
            <a:chOff x="555498" y="421958"/>
            <a:chExt cx="745298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74529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Why Pharmacy Faculty Should Care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1428750"/>
            <a:ext cx="3524250" cy="4191000"/>
            <a:chOff x="571500" y="1428750"/>
            <a:chExt cx="3524250" cy="4191000"/>
          </a:xfrm>
        </p:grpSpPr>
        <p:sp>
          <p:nvSpPr>
            <p:cNvPr id="4" name="Rectangle 4"/>
            <p:cNvSpPr/>
            <p:nvPr/>
          </p:nvSpPr>
          <p:spPr>
            <a:xfrm>
              <a:off x="571500" y="1428750"/>
              <a:ext cx="3524250" cy="41910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952625" y="1809750"/>
              <a:ext cx="762000" cy="76200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105025" y="19621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09390" y="21050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3488" y="272605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Industry Demand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97940" y="3298508"/>
              <a:ext cx="16713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78% of pharma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21409" y="3584258"/>
              <a:ext cx="16244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companies use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1409" y="3870008"/>
              <a:ext cx="16244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computational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73707" y="4155758"/>
              <a:ext cx="11198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screening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66885" y="4756785"/>
              <a:ext cx="7334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78%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33875" y="1428750"/>
            <a:ext cx="3524250" cy="4191000"/>
            <a:chOff x="4333875" y="1428750"/>
            <a:chExt cx="3524250" cy="4191000"/>
          </a:xfrm>
        </p:grpSpPr>
        <p:sp>
          <p:nvSpPr>
            <p:cNvPr id="15" name="Rectangle 15"/>
            <p:cNvSpPr/>
            <p:nvPr/>
          </p:nvSpPr>
          <p:spPr>
            <a:xfrm>
              <a:off x="4333875" y="1428750"/>
              <a:ext cx="3524250" cy="41910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715000" y="1809750"/>
              <a:ext cx="762000" cy="762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867400" y="19621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71765" y="21050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44161" y="2726055"/>
              <a:ext cx="25036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Enabler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42262" y="3298508"/>
              <a:ext cx="2507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Publish computational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19243" y="3584258"/>
              <a:ext cx="1753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papers without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36591" y="3870008"/>
              <a:ext cx="15188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million-dollar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13375" y="4155758"/>
              <a:ext cx="17652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infrastructure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99947" y="4821555"/>
              <a:ext cx="11921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$0 Infra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96250" y="1428750"/>
            <a:ext cx="3524250" cy="4191000"/>
            <a:chOff x="8096250" y="1428750"/>
            <a:chExt cx="3524250" cy="4191000"/>
          </a:xfrm>
        </p:grpSpPr>
        <p:sp>
          <p:nvSpPr>
            <p:cNvPr id="26" name="Rectangle 26"/>
            <p:cNvSpPr/>
            <p:nvPr/>
          </p:nvSpPr>
          <p:spPr>
            <a:xfrm>
              <a:off x="8096250" y="1428750"/>
              <a:ext cx="3524250" cy="41910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477375" y="1809750"/>
              <a:ext cx="762000" cy="76200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629775" y="19621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34140" y="21050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4818" y="2726055"/>
              <a:ext cx="30671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Curriculum Relevance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15832" y="3298508"/>
              <a:ext cx="16850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PCI and AICTE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82635" y="3584258"/>
              <a:ext cx="25514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encourage integrating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17585" y="3870008"/>
              <a:ext cx="22815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computational tools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00237" y="4155758"/>
              <a:ext cx="25162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 pharmacy programs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60151" y="4821555"/>
              <a:ext cx="13964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Mandated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7" name="Rectangle 3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10252102" cy="616077"/>
            <a:chOff x="555498" y="421958"/>
            <a:chExt cx="102521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102521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Docking — The Lock-and-Key Principle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2058" y="1714500"/>
            <a:ext cx="3739442" cy="3287839"/>
            <a:chOff x="642058" y="1714500"/>
            <a:chExt cx="3739442" cy="3287839"/>
          </a:xfrm>
        </p:grpSpPr>
        <p:sp>
          <p:nvSpPr>
            <p:cNvPr id="4" name="Rectangle 4"/>
            <p:cNvSpPr/>
            <p:nvPr/>
          </p:nvSpPr>
          <p:spPr>
            <a:xfrm>
              <a:off x="1714500" y="2286000"/>
              <a:ext cx="2667000" cy="20955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2667000" y="1714500"/>
              <a:ext cx="762000" cy="762000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2809875" y="3048000"/>
              <a:ext cx="476250" cy="666750"/>
            </a:xfrm>
            <a:prstGeom prst="roundRect">
              <a:avLst>
                <a:gd name="adj" fmla="val 12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2905125" y="3143250"/>
              <a:ext cx="285750" cy="476250"/>
            </a:xfrm>
            <a:prstGeom prst="roundRect">
              <a:avLst>
                <a:gd name="adj" fmla="val 1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91352" y="4679632"/>
              <a:ext cx="17132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Protein (Lock)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3143250"/>
              <a:ext cx="952500" cy="285750"/>
            </a:xfrm>
            <a:prstGeom prst="roundRect">
              <a:avLst>
                <a:gd name="adj" fmla="val 1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1714500" y="3143250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0" y="0"/>
                  </a:moveTo>
                  <a:lnTo>
                    <a:pt x="0" y="285750"/>
                  </a:lnTo>
                  <a:lnTo>
                    <a:pt x="190500" y="1428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2058" y="3569018"/>
              <a:ext cx="11923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Ligand (Key)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77356" y="1901190"/>
            <a:ext cx="3282696" cy="2542794"/>
            <a:chOff x="6277356" y="1901190"/>
            <a:chExt cx="3282696" cy="2542794"/>
          </a:xfrm>
        </p:grpSpPr>
        <p:sp>
          <p:nvSpPr>
            <p:cNvPr id="13" name="TextBox 13"/>
            <p:cNvSpPr txBox="1"/>
            <p:nvPr/>
          </p:nvSpPr>
          <p:spPr>
            <a:xfrm>
              <a:off x="6277356" y="1901190"/>
              <a:ext cx="31235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Think of the protein as 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7356" y="2282190"/>
              <a:ext cx="32826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lock and the drug molecule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7356" y="2663190"/>
              <a:ext cx="1157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 a key.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7356" y="3329940"/>
              <a:ext cx="30171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Docking computationally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77356" y="3710940"/>
              <a:ext cx="30650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tests </a:t>
              </a:r>
              <a:r>
                <a:rPr lang="e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thousands of keys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77356" y="4091940"/>
              <a:ext cx="25914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 find the best fit.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4642" y="5524500"/>
            <a:ext cx="11055858" cy="880301"/>
            <a:chOff x="564642" y="5524500"/>
            <a:chExt cx="11055858" cy="880301"/>
          </a:xfrm>
        </p:grpSpPr>
        <p:sp>
          <p:nvSpPr>
            <p:cNvPr id="20" name="Line 20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3">
                  <a:alpha val="20000"/>
                </a:scheme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4642" y="5855018"/>
              <a:ext cx="8850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Molecular docking predicts the preferred orientation of a ligand within a protein binding site,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4642" y="6140768"/>
              <a:ext cx="5131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estimating binding affinity through scoring functions.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4" name="Rectangle 2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8044085" cy="616077"/>
            <a:chOff x="555498" y="421958"/>
            <a:chExt cx="804408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80440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Docking — 5-Step Workflow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14500" y="2667000"/>
            <a:ext cx="8763000" cy="9525"/>
            <a:chOff x="1714500" y="2667000"/>
            <a:chExt cx="8763000" cy="9525"/>
          </a:xfrm>
        </p:grpSpPr>
        <p:sp>
          <p:nvSpPr>
            <p:cNvPr id="4" name="Line 4"/>
            <p:cNvSpPr/>
            <p:nvPr/>
          </p:nvSpPr>
          <p:spPr>
            <a:xfrm>
              <a:off x="1714500" y="26670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19050">
              <a:solidFill>
                <a:schemeClr val="accent3">
                  <a:alpha val="30000"/>
                </a:scheme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04961" y="2286000"/>
            <a:ext cx="1419078" cy="2070925"/>
            <a:chOff x="1004961" y="2286000"/>
            <a:chExt cx="1419078" cy="2070925"/>
          </a:xfrm>
        </p:grpSpPr>
        <p:sp>
          <p:nvSpPr>
            <p:cNvPr id="6" name="Ellipse 6"/>
            <p:cNvSpPr/>
            <p:nvPr/>
          </p:nvSpPr>
          <p:spPr>
            <a:xfrm>
              <a:off x="1333500" y="2286000"/>
              <a:ext cx="762000" cy="76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22202" y="25546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3238500"/>
              <a:ext cx="13335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9093" y="3375660"/>
              <a:ext cx="11508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Select Target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04961" y="3854768"/>
              <a:ext cx="1419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Choose protein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51634" y="4092892"/>
              <a:ext cx="925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from PDB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143250" y="2286000"/>
            <a:ext cx="1524000" cy="2070925"/>
            <a:chOff x="3143250" y="2286000"/>
            <a:chExt cx="1524000" cy="2070925"/>
          </a:xfrm>
        </p:grpSpPr>
        <p:sp>
          <p:nvSpPr>
            <p:cNvPr id="13" name="Ellipse 13"/>
            <p:cNvSpPr/>
            <p:nvPr/>
          </p:nvSpPr>
          <p:spPr>
            <a:xfrm>
              <a:off x="3524250" y="2286000"/>
              <a:ext cx="762000" cy="762000"/>
            </a:xfrm>
            <a:prstGeom prst="ellipse">
              <a:avLst/>
            </a:prstGeom>
            <a:solidFill>
              <a:srgbClr val="D43E8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12952" y="25546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143250" y="323850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rgbClr val="D43E8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36557" y="3375660"/>
              <a:ext cx="1337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Prepare Protein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83851" y="3854768"/>
              <a:ext cx="14427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Remove water,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35909" y="4092892"/>
              <a:ext cx="1338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add hydrogens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0" y="2286000"/>
            <a:ext cx="1524000" cy="2070925"/>
            <a:chOff x="5334000" y="2286000"/>
            <a:chExt cx="1524000" cy="2070925"/>
          </a:xfrm>
        </p:grpSpPr>
        <p:sp>
          <p:nvSpPr>
            <p:cNvPr id="20" name="Ellipse 20"/>
            <p:cNvSpPr/>
            <p:nvPr/>
          </p:nvSpPr>
          <p:spPr>
            <a:xfrm>
              <a:off x="5715000" y="2286000"/>
              <a:ext cx="762000" cy="762000"/>
            </a:xfrm>
            <a:prstGeom prst="ellipse">
              <a:avLst/>
            </a:prstGeom>
            <a:solidFill>
              <a:srgbClr val="B836C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03702" y="25546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0" y="323850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rgbClr val="B836C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473950" y="3375660"/>
              <a:ext cx="12441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Prepare Ligand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15813" y="3854768"/>
              <a:ext cx="1160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Optimize 3D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47487" y="4092892"/>
              <a:ext cx="8970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geometry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25385" y="2286000"/>
            <a:ext cx="1722730" cy="2070925"/>
            <a:chOff x="7425385" y="2286000"/>
            <a:chExt cx="1722730" cy="2070925"/>
          </a:xfrm>
        </p:grpSpPr>
        <p:sp>
          <p:nvSpPr>
            <p:cNvPr id="27" name="Ellipse 27"/>
            <p:cNvSpPr/>
            <p:nvPr/>
          </p:nvSpPr>
          <p:spPr>
            <a:xfrm>
              <a:off x="7905750" y="2286000"/>
              <a:ext cx="762000" cy="762000"/>
            </a:xfrm>
            <a:prstGeom prst="ellipse">
              <a:avLst/>
            </a:prstGeom>
            <a:solidFill>
              <a:srgbClr val="A030D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94452" y="25546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429500" y="3238500"/>
              <a:ext cx="17145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rgbClr val="A030D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9774" y="3375660"/>
              <a:ext cx="1673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Define Search Space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06186" y="3854768"/>
              <a:ext cx="11611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Set grid box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25385" y="4092892"/>
              <a:ext cx="17227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around active site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15500" y="2286000"/>
            <a:ext cx="1524000" cy="2070925"/>
            <a:chOff x="9715500" y="2286000"/>
            <a:chExt cx="1524000" cy="2070925"/>
          </a:xfrm>
        </p:grpSpPr>
        <p:sp>
          <p:nvSpPr>
            <p:cNvPr id="34" name="Ellipse 34"/>
            <p:cNvSpPr/>
            <p:nvPr/>
          </p:nvSpPr>
          <p:spPr>
            <a:xfrm>
              <a:off x="10096500" y="2286000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385202" y="25546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715500" y="323850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40493" y="3375660"/>
              <a:ext cx="874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Run &amp; Rank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45192" y="3854768"/>
              <a:ext cx="1264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Score binding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06609" y="4092892"/>
              <a:ext cx="541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poses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5334000"/>
            <a:ext cx="11049000" cy="952500"/>
            <a:chOff x="571500" y="5334000"/>
            <a:chExt cx="11049000" cy="952500"/>
          </a:xfrm>
        </p:grpSpPr>
        <p:sp>
          <p:nvSpPr>
            <p:cNvPr id="41" name="Rectangle 41"/>
            <p:cNvSpPr/>
            <p:nvPr/>
          </p:nvSpPr>
          <p:spPr>
            <a:xfrm>
              <a:off x="571500" y="5334000"/>
              <a:ext cx="11049000" cy="952500"/>
            </a:xfrm>
            <a:prstGeom prst="roundRect">
              <a:avLst>
                <a:gd name="adj" fmla="val 1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852364" y="5536882"/>
              <a:ext cx="8487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Output: Ranked list of compounds by predicted binding affinity (kcal/mol)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37091" y="5902642"/>
              <a:ext cx="6317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Lower energy = stronger predicted binding = better drug candidate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5" name="Rectangle 45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7109049" cy="616077"/>
            <a:chOff x="555498" y="421958"/>
            <a:chExt cx="710904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710904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— The Drug Viability Filter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953000" y="2952750"/>
            <a:ext cx="2286000" cy="666750"/>
            <a:chOff x="4953000" y="2952750"/>
            <a:chExt cx="2286000" cy="666750"/>
          </a:xfrm>
        </p:grpSpPr>
        <p:sp>
          <p:nvSpPr>
            <p:cNvPr id="4" name="Rectangle 4"/>
            <p:cNvSpPr/>
            <p:nvPr/>
          </p:nvSpPr>
          <p:spPr>
            <a:xfrm>
              <a:off x="4953000" y="2952750"/>
              <a:ext cx="2286000" cy="666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588908" y="3138488"/>
              <a:ext cx="10141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1500" y="1333500"/>
            <a:ext cx="4381500" cy="1809750"/>
            <a:chOff x="571500" y="1333500"/>
            <a:chExt cx="4381500" cy="1809750"/>
          </a:xfrm>
        </p:grpSpPr>
        <p:sp>
          <p:nvSpPr>
            <p:cNvPr id="7" name="Line 7"/>
            <p:cNvSpPr/>
            <p:nvPr/>
          </p:nvSpPr>
          <p:spPr>
            <a:xfrm>
              <a:off x="3429000" y="2000250"/>
              <a:ext cx="1524000" cy="1143000"/>
            </a:xfrm>
            <a:custGeom>
              <a:avLst/>
              <a:gdLst/>
              <a:ahLst/>
              <a:cxnLst/>
              <a:rect l="l" t="t" r="r" b="b"/>
              <a:pathLst>
                <a:path w="1524000" h="1143000">
                  <a:moveTo>
                    <a:pt x="1524000" y="1143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0308" y="14554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6731" y="1520190"/>
              <a:ext cx="13616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Absorption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5642" y="1949768"/>
              <a:ext cx="2362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How well the drug enters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5642" y="218789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bloodstream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39000" y="1333500"/>
            <a:ext cx="4381500" cy="1809750"/>
            <a:chOff x="7239000" y="1333500"/>
            <a:chExt cx="4381500" cy="1809750"/>
          </a:xfrm>
        </p:grpSpPr>
        <p:sp>
          <p:nvSpPr>
            <p:cNvPr id="14" name="Line 14"/>
            <p:cNvSpPr/>
            <p:nvPr/>
          </p:nvSpPr>
          <p:spPr>
            <a:xfrm>
              <a:off x="7239000" y="2000250"/>
              <a:ext cx="1524000" cy="1143000"/>
            </a:xfrm>
            <a:custGeom>
              <a:avLst/>
              <a:gdLst/>
              <a:ahLst/>
              <a:cxnLst/>
              <a:rect l="l" t="t" r="r" b="b"/>
              <a:pathLst>
                <a:path w="1524000" h="1143000">
                  <a:moveTo>
                    <a:pt x="0" y="114300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chemeClr val="accent2">
                  <a:alpha val="50000"/>
                </a:schemeClr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382000" y="1333500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0808" y="14554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7231" y="1520190"/>
              <a:ext cx="15137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Distribution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6142" y="1949768"/>
              <a:ext cx="20456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How the drug spreads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56142" y="2187892"/>
              <a:ext cx="1607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through the body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3524250"/>
            <a:ext cx="4381500" cy="2000250"/>
            <a:chOff x="571500" y="3524250"/>
            <a:chExt cx="4381500" cy="2000250"/>
          </a:xfrm>
        </p:grpSpPr>
        <p:sp>
          <p:nvSpPr>
            <p:cNvPr id="21" name="Line 21"/>
            <p:cNvSpPr/>
            <p:nvPr/>
          </p:nvSpPr>
          <p:spPr>
            <a:xfrm>
              <a:off x="3429000" y="3524250"/>
              <a:ext cx="1524000" cy="1333500"/>
            </a:xfrm>
            <a:custGeom>
              <a:avLst/>
              <a:gdLst/>
              <a:ahLst/>
              <a:cxnLst/>
              <a:rect l="l" t="t" r="r" b="b"/>
              <a:pathLst>
                <a:path w="1524000" h="1333500">
                  <a:moveTo>
                    <a:pt x="152400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71500" y="4191000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0308" y="4312920"/>
              <a:ext cx="2932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4356" y="4377690"/>
              <a:ext cx="1399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Metabolism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4807268"/>
              <a:ext cx="1940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How the body breaks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5045392"/>
              <a:ext cx="1329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down the drug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39000" y="3524250"/>
            <a:ext cx="4381500" cy="2000250"/>
            <a:chOff x="7239000" y="3524250"/>
            <a:chExt cx="4381500" cy="2000250"/>
          </a:xfrm>
        </p:grpSpPr>
        <p:sp>
          <p:nvSpPr>
            <p:cNvPr id="28" name="Line 28"/>
            <p:cNvSpPr/>
            <p:nvPr/>
          </p:nvSpPr>
          <p:spPr>
            <a:xfrm>
              <a:off x="7239000" y="3524250"/>
              <a:ext cx="1524000" cy="1333500"/>
            </a:xfrm>
            <a:custGeom>
              <a:avLst/>
              <a:gdLst/>
              <a:ahLst/>
              <a:cxnLst/>
              <a:rect l="l" t="t" r="r" b="b"/>
              <a:pathLst>
                <a:path w="1524000" h="1333500">
                  <a:moveTo>
                    <a:pt x="0" y="0"/>
                  </a:moveTo>
                  <a:lnTo>
                    <a:pt x="1524000" y="1333500"/>
                  </a:lnTo>
                </a:path>
              </a:pathLst>
            </a:custGeom>
            <a:noFill/>
            <a:ln w="19050">
              <a:solidFill>
                <a:schemeClr val="accent2">
                  <a:alpha val="50000"/>
                </a:schemeClr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382000" y="4191000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750808" y="4312920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87231" y="4377690"/>
              <a:ext cx="1221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Excretion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56142" y="4807268"/>
              <a:ext cx="23051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How the drug is removed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56142" y="5045392"/>
              <a:ext cx="1329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from the body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76750" y="3619500"/>
            <a:ext cx="3238500" cy="2714625"/>
            <a:chOff x="4476750" y="3619500"/>
            <a:chExt cx="3238500" cy="2714625"/>
          </a:xfrm>
        </p:grpSpPr>
        <p:sp>
          <p:nvSpPr>
            <p:cNvPr id="35" name="Line 35"/>
            <p:cNvSpPr/>
            <p:nvPr/>
          </p:nvSpPr>
          <p:spPr>
            <a:xfrm>
              <a:off x="6096000" y="36195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19050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476750" y="5191125"/>
              <a:ext cx="32385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45558" y="5313045"/>
              <a:ext cx="221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81981" y="5377815"/>
              <a:ext cx="10175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Toxicity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50892" y="5807392"/>
              <a:ext cx="2475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Potential harmful effects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50892" y="6045518"/>
              <a:ext cx="1780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 organs and cells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2" name="Rectangle 4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10102442" cy="616077"/>
            <a:chOff x="555498" y="421958"/>
            <a:chExt cx="1010244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101024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Dynamics — Watching Molecules Move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2500" y="1524000"/>
            <a:ext cx="4191000" cy="3452051"/>
            <a:chOff x="952500" y="1524000"/>
            <a:chExt cx="4191000" cy="3452051"/>
          </a:xfrm>
        </p:grpSpPr>
        <p:sp>
          <p:nvSpPr>
            <p:cNvPr id="4" name="Rectangle 4"/>
            <p:cNvSpPr/>
            <p:nvPr/>
          </p:nvSpPr>
          <p:spPr>
            <a:xfrm>
              <a:off x="952500" y="1524000"/>
              <a:ext cx="4191000" cy="3048000"/>
            </a:xfrm>
            <a:prstGeom prst="roundRect">
              <a:avLst>
                <a:gd name="adj" fmla="val 4375"/>
              </a:avLst>
            </a:prstGeom>
            <a:solidFill>
              <a:schemeClr val="lt2">
                <a:alpha val="50000"/>
              </a:schemeClr>
            </a:solidFill>
            <a:ln w="9525">
              <a:solidFill>
                <a:schemeClr val="accent3">
                  <a:alpha val="50000"/>
                </a:scheme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714500" y="2286000"/>
              <a:ext cx="381000" cy="381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2095500" y="2286000"/>
              <a:ext cx="285750" cy="142875"/>
            </a:xfrm>
            <a:custGeom>
              <a:avLst/>
              <a:gdLst/>
              <a:ahLst/>
              <a:cxnLst/>
              <a:rect l="l" t="t" r="r" b="b"/>
              <a:pathLst>
                <a:path w="285750" h="142875">
                  <a:moveTo>
                    <a:pt x="0" y="142875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2333625" y="2238375"/>
              <a:ext cx="95250" cy="123825"/>
            </a:xfrm>
            <a:custGeom>
              <a:avLst/>
              <a:gdLst/>
              <a:ahLst/>
              <a:cxnLst/>
              <a:rect l="l" t="t" r="r" b="b"/>
              <a:pathLst>
                <a:path w="95250" h="123825">
                  <a:moveTo>
                    <a:pt x="0" y="28575"/>
                  </a:moveTo>
                  <a:lnTo>
                    <a:pt x="95250" y="0"/>
                  </a:lnTo>
                  <a:lnTo>
                    <a:pt x="47625" y="123825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181350" y="2038350"/>
              <a:ext cx="304800" cy="304800"/>
            </a:xfrm>
            <a:prstGeom prst="ellips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3476625" y="2000250"/>
              <a:ext cx="238125" cy="142875"/>
            </a:xfrm>
            <a:custGeom>
              <a:avLst/>
              <a:gdLst/>
              <a:ahLst/>
              <a:cxnLst/>
              <a:rect l="l" t="t" r="r" b="b"/>
              <a:pathLst>
                <a:path w="238125" h="142875">
                  <a:moveTo>
                    <a:pt x="0" y="142875"/>
                  </a:moveTo>
                  <a:lnTo>
                    <a:pt x="238125" y="0"/>
                  </a:lnTo>
                </a:path>
              </a:pathLst>
            </a:custGeom>
            <a:noFill/>
            <a:ln w="19050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667125" y="1952625"/>
              <a:ext cx="95250" cy="123825"/>
            </a:xfrm>
            <a:custGeom>
              <a:avLst/>
              <a:gdLst/>
              <a:ahLst/>
              <a:cxnLst/>
              <a:rect l="l" t="t" r="r" b="b"/>
              <a:pathLst>
                <a:path w="95250" h="123825">
                  <a:moveTo>
                    <a:pt x="0" y="28575"/>
                  </a:moveTo>
                  <a:lnTo>
                    <a:pt x="95250" y="0"/>
                  </a:lnTo>
                  <a:lnTo>
                    <a:pt x="47625" y="123825"/>
                  </a:lnTo>
                  <a:close/>
                </a:path>
              </a:pathLst>
            </a:cu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438400" y="3009900"/>
              <a:ext cx="457200" cy="45720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2857500" y="2952750"/>
              <a:ext cx="285750" cy="190500"/>
            </a:xfrm>
            <a:custGeom>
              <a:avLst/>
              <a:gdLst/>
              <a:ahLst/>
              <a:cxnLst/>
              <a:rect l="l" t="t" r="r" b="b"/>
              <a:pathLst>
                <a:path w="285750" h="190500">
                  <a:moveTo>
                    <a:pt x="0" y="19050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095625" y="2905125"/>
              <a:ext cx="95250" cy="123825"/>
            </a:xfrm>
            <a:custGeom>
              <a:avLst/>
              <a:gdLst/>
              <a:ahLst/>
              <a:cxnLst/>
              <a:rect l="l" t="t" r="r" b="b"/>
              <a:pathLst>
                <a:path w="95250" h="123825">
                  <a:moveTo>
                    <a:pt x="0" y="28575"/>
                  </a:moveTo>
                  <a:lnTo>
                    <a:pt x="95250" y="0"/>
                  </a:lnTo>
                  <a:lnTo>
                    <a:pt x="47625" y="123825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924300" y="2781300"/>
              <a:ext cx="342900" cy="34290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4238625" y="2667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381500" y="2619375"/>
              <a:ext cx="95250" cy="123825"/>
            </a:xfrm>
            <a:custGeom>
              <a:avLst/>
              <a:gdLst/>
              <a:ahLst/>
              <a:cxnLst/>
              <a:rect l="l" t="t" r="r" b="b"/>
              <a:pathLst>
                <a:path w="95250" h="123825">
                  <a:moveTo>
                    <a:pt x="0" y="28575"/>
                  </a:moveTo>
                  <a:lnTo>
                    <a:pt x="95250" y="0"/>
                  </a:lnTo>
                  <a:lnTo>
                    <a:pt x="47625" y="123825"/>
                  </a:lnTo>
                  <a:close/>
                </a:path>
              </a:pathLst>
            </a:cu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581150" y="3676650"/>
              <a:ext cx="266700" cy="266700"/>
            </a:xfrm>
            <a:prstGeom prst="ellipse">
              <a:avLst/>
            </a:prstGeom>
            <a:solidFill>
              <a:schemeClr val="dk1">
                <a:alpha val="40000"/>
              </a:schemeClr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1828800" y="3600450"/>
              <a:ext cx="171450" cy="142875"/>
            </a:xfrm>
            <a:custGeom>
              <a:avLst/>
              <a:gdLst/>
              <a:ahLst/>
              <a:cxnLst/>
              <a:rect l="l" t="t" r="r" b="b"/>
              <a:pathLst>
                <a:path w="171450" h="142875">
                  <a:moveTo>
                    <a:pt x="0" y="142875"/>
                  </a:moveTo>
                  <a:lnTo>
                    <a:pt x="171450" y="0"/>
                  </a:lnTo>
                </a:path>
              </a:pathLst>
            </a:custGeom>
            <a:noFill/>
            <a:ln w="14288">
              <a:solidFill>
                <a:schemeClr val="dk1">
                  <a:alpha val="40000"/>
                </a:schemeClr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1962150" y="3552825"/>
              <a:ext cx="76200" cy="104775"/>
            </a:xfrm>
            <a:custGeom>
              <a:avLst/>
              <a:gdLst/>
              <a:ahLst/>
              <a:cxnLst/>
              <a:rect l="l" t="t" r="r" b="b"/>
              <a:pathLst>
                <a:path w="76200" h="104775">
                  <a:moveTo>
                    <a:pt x="0" y="28575"/>
                  </a:moveTo>
                  <a:lnTo>
                    <a:pt x="76200" y="0"/>
                  </a:lnTo>
                  <a:lnTo>
                    <a:pt x="38100" y="104775"/>
                  </a:lnTo>
                  <a:close/>
                </a:path>
              </a:pathLst>
            </a:custGeom>
            <a:solidFill>
              <a:schemeClr val="dk1">
                <a:alpha val="40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409950" y="3790950"/>
              <a:ext cx="419100" cy="4191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3790950" y="3733800"/>
              <a:ext cx="209550" cy="171450"/>
            </a:xfrm>
            <a:custGeom>
              <a:avLst/>
              <a:gdLst/>
              <a:ahLst/>
              <a:cxnLst/>
              <a:rect l="l" t="t" r="r" b="b"/>
              <a:pathLst>
                <a:path w="209550" h="171450">
                  <a:moveTo>
                    <a:pt x="0" y="171450"/>
                  </a:moveTo>
                  <a:lnTo>
                    <a:pt x="209550" y="0"/>
                  </a:lnTo>
                </a:path>
              </a:pathLst>
            </a:custGeom>
            <a:noFill/>
            <a:ln w="19050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962400" y="3686175"/>
              <a:ext cx="76200" cy="123825"/>
            </a:xfrm>
            <a:custGeom>
              <a:avLst/>
              <a:gdLst/>
              <a:ahLst/>
              <a:cxnLst/>
              <a:rect l="l" t="t" r="r" b="b"/>
              <a:pathLst>
                <a:path w="76200" h="123825">
                  <a:moveTo>
                    <a:pt x="0" y="28575"/>
                  </a:moveTo>
                  <a:lnTo>
                    <a:pt x="76200" y="0"/>
                  </a:lnTo>
                  <a:lnTo>
                    <a:pt x="38100" y="123825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457700" y="3505200"/>
              <a:ext cx="228600" cy="22860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1905000" y="24765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76200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2667000" y="2190750"/>
              <a:ext cx="666750" cy="1047750"/>
            </a:xfrm>
            <a:custGeom>
              <a:avLst/>
              <a:gdLst/>
              <a:ahLst/>
              <a:cxnLst/>
              <a:rect l="l" t="t" r="r" b="b"/>
              <a:pathLst>
                <a:path w="666750" h="1047750">
                  <a:moveTo>
                    <a:pt x="666750" y="0"/>
                  </a:moveTo>
                  <a:lnTo>
                    <a:pt x="0" y="104775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2667000" y="3238500"/>
              <a:ext cx="952500" cy="762000"/>
            </a:xfrm>
            <a:custGeom>
              <a:avLst/>
              <a:gdLst/>
              <a:ahLst/>
              <a:cxnLst/>
              <a:rect l="l" t="t" r="r" b="b"/>
              <a:pathLst>
                <a:path w="952500" h="762000">
                  <a:moveTo>
                    <a:pt x="0" y="0"/>
                  </a:moveTo>
                  <a:lnTo>
                    <a:pt x="952500" y="76200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35711" y="4712018"/>
              <a:ext cx="2424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Atoms in motion over time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86500" y="1714500"/>
            <a:ext cx="5143500" cy="1905000"/>
            <a:chOff x="6286500" y="1714500"/>
            <a:chExt cx="5143500" cy="1905000"/>
          </a:xfrm>
        </p:grpSpPr>
        <p:sp>
          <p:nvSpPr>
            <p:cNvPr id="29" name="Rectangle 29"/>
            <p:cNvSpPr/>
            <p:nvPr/>
          </p:nvSpPr>
          <p:spPr>
            <a:xfrm>
              <a:off x="6286500" y="1714500"/>
              <a:ext cx="5143500" cy="1905000"/>
            </a:xfrm>
            <a:prstGeom prst="roundRect">
              <a:avLst>
                <a:gd name="adj" fmla="val 7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47419" y="2075498"/>
              <a:ext cx="20216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Key Difference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03130" y="2663190"/>
              <a:ext cx="3110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 xml:space="preserve">Docking is a </a:t>
              </a:r>
              <a:r>
                <a:rPr lang="e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photograph</a:t>
              </a:r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93346" y="3091815"/>
              <a:ext cx="31298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 xml:space="preserve">MD simulation is a </a:t>
              </a:r>
              <a:r>
                <a:rPr lang="e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video</a:t>
              </a:r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77356" y="4282440"/>
            <a:ext cx="4004256" cy="1114044"/>
            <a:chOff x="6277356" y="4282440"/>
            <a:chExt cx="4004256" cy="1114044"/>
          </a:xfrm>
        </p:grpSpPr>
        <p:sp>
          <p:nvSpPr>
            <p:cNvPr id="34" name="TextBox 34"/>
            <p:cNvSpPr txBox="1"/>
            <p:nvPr/>
          </p:nvSpPr>
          <p:spPr>
            <a:xfrm>
              <a:off x="6277356" y="4282440"/>
              <a:ext cx="3247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Confirms binding stability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77356" y="4663440"/>
              <a:ext cx="40042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Reveals conformational changes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77356" y="5044440"/>
              <a:ext cx="3659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Predicts drug residence time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79642" y="5855018"/>
            <a:ext cx="5807367" cy="264033"/>
            <a:chOff x="6279642" y="5855018"/>
            <a:chExt cx="5807367" cy="264033"/>
          </a:xfrm>
        </p:grpSpPr>
        <p:sp>
          <p:nvSpPr>
            <p:cNvPr id="38" name="TextBox 38"/>
            <p:cNvSpPr txBox="1"/>
            <p:nvPr/>
          </p:nvSpPr>
          <p:spPr>
            <a:xfrm>
              <a:off x="6279642" y="5855018"/>
              <a:ext cx="5807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Simulates nanoseconds to microseconds of molecular behavior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0" name="Rectangle 4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2857500"/>
            <a:ext cx="12192000" cy="1905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2857500"/>
            <a:ext cx="3048000" cy="1905000"/>
          </a:xfrm>
          <a:prstGeom prst="rect">
            <a:avLst/>
          </a:prstGeom>
          <a:solidFill>
            <a:schemeClr val="lt2">
              <a:alpha val="15000"/>
            </a:scheme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048000" y="2857500"/>
            <a:ext cx="3048000" cy="1905000"/>
          </a:xfrm>
          <a:prstGeom prst="rect">
            <a:avLst/>
          </a:prstGeom>
          <a:solidFill>
            <a:schemeClr val="lt2">
              <a:alpha val="10000"/>
            </a:scheme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6096000" y="2857500"/>
            <a:ext cx="3048000" cy="1905000"/>
          </a:xfrm>
          <a:prstGeom prst="rect">
            <a:avLst/>
          </a:prstGeom>
          <a:solidFill>
            <a:schemeClr val="lt2">
              <a:alpha val="5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55498" y="421958"/>
            <a:ext cx="11202544" cy="616077"/>
            <a:chOff x="555498" y="421958"/>
            <a:chExt cx="11202544" cy="616077"/>
          </a:xfrm>
        </p:grpSpPr>
        <p:sp>
          <p:nvSpPr>
            <p:cNvPr id="6" name="TextBox 6"/>
            <p:cNvSpPr txBox="1"/>
            <p:nvPr/>
          </p:nvSpPr>
          <p:spPr>
            <a:xfrm>
              <a:off x="555498" y="421958"/>
              <a:ext cx="112025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Complete Computational Drug Discovery Pipeline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1714500"/>
            <a:ext cx="2095500" cy="2667000"/>
            <a:chOff x="762000" y="1714500"/>
            <a:chExt cx="2095500" cy="2667000"/>
          </a:xfrm>
        </p:grpSpPr>
        <p:sp>
          <p:nvSpPr>
            <p:cNvPr id="8" name="Rectangle 8"/>
            <p:cNvSpPr/>
            <p:nvPr/>
          </p:nvSpPr>
          <p:spPr>
            <a:xfrm>
              <a:off x="762000" y="1714500"/>
              <a:ext cx="2095500" cy="26670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11587" y="18973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600" b="1" dirty="0">
                  <a:solidFill>
                    <a:schemeClr val="accent1">
                      <a:alphaMod val="30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07550" y="2584132"/>
              <a:ext cx="804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Virtual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49832" y="2869882"/>
              <a:ext cx="11198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Screening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5889" y="3473768"/>
              <a:ext cx="1307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Screen 100K+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5210" y="3711892"/>
              <a:ext cx="1329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compounds via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57249" y="3950018"/>
              <a:ext cx="705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docking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048000" y="3381375"/>
            <a:ext cx="285750" cy="285750"/>
            <a:chOff x="3048000" y="3381375"/>
            <a:chExt cx="285750" cy="285750"/>
          </a:xfrm>
        </p:grpSpPr>
        <p:sp>
          <p:nvSpPr>
            <p:cNvPr id="17" name="Polygon 17"/>
            <p:cNvSpPr/>
            <p:nvPr/>
          </p:nvSpPr>
          <p:spPr>
            <a:xfrm>
              <a:off x="3048000" y="33813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28575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3619500" y="1714500"/>
            <a:ext cx="2095500" cy="2667000"/>
            <a:chOff x="3619500" y="1714500"/>
            <a:chExt cx="2095500" cy="2667000"/>
          </a:xfrm>
        </p:grpSpPr>
        <p:sp>
          <p:nvSpPr>
            <p:cNvPr id="19" name="Rectangle 19"/>
            <p:cNvSpPr/>
            <p:nvPr/>
          </p:nvSpPr>
          <p:spPr>
            <a:xfrm>
              <a:off x="3619500" y="1714500"/>
              <a:ext cx="2095500" cy="26670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6195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rgbClr val="D43E8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69087" y="18973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600" b="1" dirty="0">
                  <a:solidFill>
                    <a:srgbClr val="D43E8E">
                      <a:alphaMod val="30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95383" y="2584132"/>
              <a:ext cx="7437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66006" y="286988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Filtering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86989" y="3473768"/>
              <a:ext cx="13605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Eliminate poor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21912" y="3711892"/>
              <a:ext cx="1290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drug-likeness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56329" y="3950018"/>
              <a:ext cx="1021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candidates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05500" y="3381375"/>
            <a:ext cx="285750" cy="285750"/>
            <a:chOff x="5905500" y="3381375"/>
            <a:chExt cx="285750" cy="285750"/>
          </a:xfrm>
        </p:grpSpPr>
        <p:sp>
          <p:nvSpPr>
            <p:cNvPr id="28" name="Polygon 28"/>
            <p:cNvSpPr/>
            <p:nvPr/>
          </p:nvSpPr>
          <p:spPr>
            <a:xfrm>
              <a:off x="5905500" y="33813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28575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D43E8E">
                <a:alpha val="70000"/>
              </a:srgbClr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477000" y="1714500"/>
            <a:ext cx="2095500" cy="2667000"/>
            <a:chOff x="6477000" y="1714500"/>
            <a:chExt cx="2095500" cy="2667000"/>
          </a:xfrm>
        </p:grpSpPr>
        <p:sp>
          <p:nvSpPr>
            <p:cNvPr id="30" name="Rectangle 30"/>
            <p:cNvSpPr/>
            <p:nvPr/>
          </p:nvSpPr>
          <p:spPr>
            <a:xfrm>
              <a:off x="6477000" y="1714500"/>
              <a:ext cx="2095500" cy="26670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70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rgbClr val="B836C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26587" y="18973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600" b="1" dirty="0">
                  <a:solidFill>
                    <a:srgbClr val="B836C8">
                      <a:alphaMod val="30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56188" y="2584132"/>
              <a:ext cx="3371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59313" y="2869882"/>
              <a:ext cx="11308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Validation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91654" y="3473768"/>
              <a:ext cx="1466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Confirm binding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4612" y="3711892"/>
              <a:ext cx="1300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stability over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11466" y="3950018"/>
              <a:ext cx="426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time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763000" y="3381375"/>
            <a:ext cx="285750" cy="285750"/>
            <a:chOff x="8763000" y="3381375"/>
            <a:chExt cx="285750" cy="285750"/>
          </a:xfrm>
        </p:grpSpPr>
        <p:sp>
          <p:nvSpPr>
            <p:cNvPr id="39" name="Polygon 39"/>
            <p:cNvSpPr/>
            <p:nvPr/>
          </p:nvSpPr>
          <p:spPr>
            <a:xfrm>
              <a:off x="8763000" y="33813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28575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B836C8">
                <a:alpha val="70000"/>
              </a:srgbClr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9334500" y="1714500"/>
            <a:ext cx="2095500" cy="2667000"/>
            <a:chOff x="9334500" y="1714500"/>
            <a:chExt cx="2095500" cy="2667000"/>
          </a:xfrm>
        </p:grpSpPr>
        <p:sp>
          <p:nvSpPr>
            <p:cNvPr id="41" name="Rectangle 41"/>
            <p:cNvSpPr/>
            <p:nvPr/>
          </p:nvSpPr>
          <p:spPr>
            <a:xfrm>
              <a:off x="9334500" y="1714500"/>
              <a:ext cx="2095500" cy="2667000"/>
            </a:xfrm>
            <a:prstGeom prst="roundRect">
              <a:avLst>
                <a:gd name="adj" fmla="val 6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3345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084087" y="18973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600" b="1" dirty="0">
                  <a:solidFill>
                    <a:schemeClr val="accent2">
                      <a:alphaMod val="30000"/>
                    </a:schemeClr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13685" y="2584132"/>
              <a:ext cx="5371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Lead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41589" y="2869882"/>
              <a:ext cx="14813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Optimization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67108" y="3473768"/>
              <a:ext cx="1630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Refine structure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31299" y="3711892"/>
              <a:ext cx="1501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 potency and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66528" y="3950018"/>
              <a:ext cx="10314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selectivity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5143500"/>
            <a:ext cx="11049000" cy="952500"/>
            <a:chOff x="571500" y="5143500"/>
            <a:chExt cx="11049000" cy="952500"/>
          </a:xfrm>
        </p:grpSpPr>
        <p:sp>
          <p:nvSpPr>
            <p:cNvPr id="50" name="Rectangle 50"/>
            <p:cNvSpPr/>
            <p:nvPr/>
          </p:nvSpPr>
          <p:spPr>
            <a:xfrm>
              <a:off x="571500" y="5143500"/>
              <a:ext cx="11049000" cy="952500"/>
            </a:xfrm>
            <a:prstGeom prst="roundRect">
              <a:avLst>
                <a:gd name="adj" fmla="val 14000"/>
              </a:avLst>
            </a:prstGeom>
            <a:solidFill>
              <a:schemeClr val="lt2">
                <a:alpha val="60000"/>
              </a:scheme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495889" y="5346382"/>
              <a:ext cx="7200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100,000 compounds → 500 hits → 50 validated → 5 optimized leads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989105" y="5740718"/>
              <a:ext cx="42137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Entire pipeline executable in days, not years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54" name="Rectangle 5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55498" y="421958"/>
            <a:ext cx="10250551" cy="616077"/>
            <a:chOff x="555498" y="421958"/>
            <a:chExt cx="1025055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55498" y="421958"/>
              <a:ext cx="1025055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Why Most Pharmacy Departments Don't Do This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3524250" cy="3619500"/>
            <a:chOff x="571500" y="1428750"/>
            <a:chExt cx="3524250" cy="3619500"/>
          </a:xfrm>
        </p:grpSpPr>
        <p:sp>
          <p:nvSpPr>
            <p:cNvPr id="4" name="Rectangle 4"/>
            <p:cNvSpPr/>
            <p:nvPr/>
          </p:nvSpPr>
          <p:spPr>
            <a:xfrm>
              <a:off x="571500" y="1428750"/>
              <a:ext cx="3524250" cy="36195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571500" y="1428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466850"/>
              <a:ext cx="3524250" cy="38100"/>
            </a:xfrm>
            <a:prstGeom prst="rect">
              <a:avLst/>
            </a:prstGeom>
            <a:solidFill>
              <a:srgbClr val="D43E8E">
                <a:alpha val="60000"/>
              </a:srgb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504950"/>
              <a:ext cx="3524250" cy="28575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35401" y="1773555"/>
              <a:ext cx="13964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Hardware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52500" y="2238375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chemeClr val="accent3">
                  <a:alpha val="15000"/>
                </a:scheme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14209" y="2488882"/>
              <a:ext cx="22388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Linux workstations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7586" y="2869882"/>
              <a:ext cx="1532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GPU clusters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07399" y="3250882"/>
              <a:ext cx="22524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High-speed storage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6700" y="3964305"/>
              <a:ext cx="15738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$50K–200K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8652" y="4378642"/>
              <a:ext cx="18499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Capital expenditure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33875" y="1428750"/>
            <a:ext cx="3524250" cy="3619500"/>
            <a:chOff x="4333875" y="1428750"/>
            <a:chExt cx="3524250" cy="3619500"/>
          </a:xfrm>
        </p:grpSpPr>
        <p:sp>
          <p:nvSpPr>
            <p:cNvPr id="16" name="Rectangle 16"/>
            <p:cNvSpPr/>
            <p:nvPr/>
          </p:nvSpPr>
          <p:spPr>
            <a:xfrm>
              <a:off x="4333875" y="1428750"/>
              <a:ext cx="3524250" cy="36195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33875" y="1428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33875" y="1466850"/>
              <a:ext cx="3524250" cy="38100"/>
            </a:xfrm>
            <a:prstGeom prst="rect">
              <a:avLst/>
            </a:prstGeom>
            <a:solidFill>
              <a:srgbClr val="D43E8E">
                <a:alpha val="60000"/>
              </a:srgb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33875" y="1504950"/>
              <a:ext cx="3524250" cy="28575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76877" y="1773555"/>
              <a:ext cx="30382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Software Complexity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714875" y="2238375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chemeClr val="accent3">
                  <a:alpha val="15000"/>
                </a:scheme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81665" y="2488882"/>
              <a:ext cx="22286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Command-line tools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29472" y="2869882"/>
              <a:ext cx="19330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Python scripting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06837" y="3250882"/>
              <a:ext cx="23783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Linux administration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17393" y="3964305"/>
              <a:ext cx="13572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20+ Tools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35663" y="4378642"/>
              <a:ext cx="2120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To learn and integrate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96250" y="1428750"/>
            <a:ext cx="3524250" cy="3619500"/>
            <a:chOff x="8096250" y="1428750"/>
            <a:chExt cx="3524250" cy="3619500"/>
          </a:xfrm>
        </p:grpSpPr>
        <p:sp>
          <p:nvSpPr>
            <p:cNvPr id="28" name="Rectangle 28"/>
            <p:cNvSpPr/>
            <p:nvPr/>
          </p:nvSpPr>
          <p:spPr>
            <a:xfrm>
              <a:off x="8096250" y="1428750"/>
              <a:ext cx="3524250" cy="3619500"/>
            </a:xfrm>
            <a:prstGeom prst="roundRect">
              <a:avLst>
                <a:gd name="adj" fmla="val 37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096250" y="1428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96250" y="1466850"/>
              <a:ext cx="3524250" cy="38100"/>
            </a:xfrm>
            <a:prstGeom prst="rect">
              <a:avLst/>
            </a:prstGeom>
            <a:solidFill>
              <a:srgbClr val="D43E8E">
                <a:alpha val="60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096250" y="1504950"/>
              <a:ext cx="3524250" cy="28575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69788" y="1773555"/>
              <a:ext cx="21771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Learning Curve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477250" y="2238375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chemeClr val="accent3">
                  <a:alpha val="15000"/>
                </a:scheme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08249" y="2488882"/>
              <a:ext cx="2500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Months of self-study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33474" y="2869882"/>
              <a:ext cx="26498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 structured training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85196" y="3250882"/>
              <a:ext cx="17463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Trial and error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48795" y="3964305"/>
              <a:ext cx="18191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6–12 Months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17235" y="4378642"/>
              <a:ext cx="2282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Before first publication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238242" y="5774055"/>
            <a:ext cx="5715517" cy="410718"/>
            <a:chOff x="3238242" y="5774055"/>
            <a:chExt cx="5715517" cy="410718"/>
          </a:xfrm>
        </p:grpSpPr>
        <p:sp>
          <p:nvSpPr>
            <p:cNvPr id="40" name="TextBox 40"/>
            <p:cNvSpPr txBox="1"/>
            <p:nvPr/>
          </p:nvSpPr>
          <p:spPr>
            <a:xfrm>
              <a:off x="3238242" y="5774055"/>
              <a:ext cx="57155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What if all three barriers disappeared?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2" name="Rectangle 4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0"/>
          <p:cNvGrpSpPr/>
          <p:nvPr/>
        </p:nvGrpSpPr>
        <p:grpSpPr>
          <a:xfrm>
            <a:off x="723900" y="733425"/>
            <a:ext cx="10744200" cy="5495925"/>
            <a:chOff x="723900" y="733425"/>
            <a:chExt cx="10744200" cy="5495925"/>
          </a:xfrm>
        </p:grpSpPr>
        <p:sp>
          <p:nvSpPr>
            <p:cNvPr id="2" name="Ellipse 2"/>
            <p:cNvSpPr/>
            <p:nvPr/>
          </p:nvSpPr>
          <p:spPr>
            <a:xfrm>
              <a:off x="1104900" y="1390650"/>
              <a:ext cx="76200" cy="76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876425" y="923925"/>
              <a:ext cx="57150" cy="57150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1143000" y="952500"/>
              <a:ext cx="762000" cy="476250"/>
            </a:xfrm>
            <a:custGeom>
              <a:avLst/>
              <a:gdLst/>
              <a:ahLst/>
              <a:cxnLst/>
              <a:rect l="l" t="t" r="r" b="b"/>
              <a:pathLst>
                <a:path w="762000" h="476250">
                  <a:moveTo>
                    <a:pt x="0" y="47625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chemeClr val="accent3">
                  <a:alpha val="6000"/>
                </a:scheme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0429875" y="5667375"/>
              <a:ext cx="95250" cy="95250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1210925" y="5305425"/>
              <a:ext cx="57150" cy="5715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10477500" y="53340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38100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chemeClr val="accent3">
                  <a:alpha val="6000"/>
                </a:scheme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963150" y="6153150"/>
              <a:ext cx="76200" cy="76200"/>
            </a:xfrm>
            <a:prstGeom prst="ellipse">
              <a:avLst/>
            </a:prstGeom>
            <a:solidFill>
              <a:schemeClr val="accent3">
                <a:alpha val="8000"/>
              </a:schemeClr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0001250" y="5715000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47625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chemeClr val="accent3">
                  <a:alpha val="5000"/>
                </a:schemeClr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400175" y="5495925"/>
              <a:ext cx="57150" cy="57150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723900" y="5867400"/>
              <a:ext cx="76200" cy="7620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762000" y="5524500"/>
              <a:ext cx="666750" cy="381000"/>
            </a:xfrm>
            <a:custGeom>
              <a:avLst/>
              <a:gdLst/>
              <a:ahLst/>
              <a:cxnLst/>
              <a:rect l="l" t="t" r="r" b="b"/>
              <a:pathLst>
                <a:path w="666750" h="381000">
                  <a:moveTo>
                    <a:pt x="66675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chemeClr val="accent3">
                  <a:alpha val="6000"/>
                </a:schemeClr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925175" y="1114425"/>
              <a:ext cx="57150" cy="57150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391900" y="1485900"/>
              <a:ext cx="76200" cy="762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10953750" y="114300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0" y="0"/>
                  </a:moveTo>
                  <a:lnTo>
                    <a:pt x="476250" y="381000"/>
                  </a:lnTo>
                </a:path>
              </a:pathLst>
            </a:custGeom>
            <a:noFill/>
            <a:ln w="9525">
              <a:solidFill>
                <a:schemeClr val="accent3">
                  <a:alpha val="6000"/>
                </a:schemeClr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828925" y="6162675"/>
              <a:ext cx="57150" cy="57150"/>
            </a:xfrm>
            <a:prstGeom prst="ellipse">
              <a:avLst/>
            </a:prstGeom>
            <a:solidFill>
              <a:schemeClr val="accent3">
                <a:alpha val="7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020175" y="733425"/>
              <a:ext cx="57150" cy="57150"/>
            </a:xfrm>
            <a:prstGeom prst="ellipse">
              <a:avLst/>
            </a:prstGeom>
            <a:solidFill>
              <a:schemeClr val="accent3">
                <a:alpha val="7000"/>
              </a:scheme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790950" y="933450"/>
              <a:ext cx="38100" cy="38100"/>
            </a:xfrm>
            <a:prstGeom prst="ellipse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553450" y="6172200"/>
              <a:ext cx="38100" cy="38100"/>
            </a:xfrm>
            <a:prstGeom prst="ellipse">
              <a:avLst/>
            </a:prstGeom>
            <a:solidFill>
              <a:schemeClr val="accent2">
                <a:alpha val="6000"/>
              </a:schemeClr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2115543" y="2422208"/>
            <a:ext cx="7960915" cy="616077"/>
            <a:chOff x="2115543" y="2422208"/>
            <a:chExt cx="7960915" cy="616077"/>
          </a:xfrm>
        </p:grpSpPr>
        <p:sp>
          <p:nvSpPr>
            <p:cNvPr id="21" name="TextBox 21"/>
            <p:cNvSpPr txBox="1"/>
            <p:nvPr/>
          </p:nvSpPr>
          <p:spPr>
            <a:xfrm>
              <a:off x="2115543" y="2422208"/>
              <a:ext cx="79609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What If Your Browser Was Your Lab?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92953" y="3550920"/>
            <a:ext cx="9206094" cy="469392"/>
            <a:chOff x="1492953" y="3550920"/>
            <a:chExt cx="9206094" cy="469392"/>
          </a:xfrm>
        </p:grpSpPr>
        <p:sp>
          <p:nvSpPr>
            <p:cNvPr id="23" name="TextBox 23"/>
            <p:cNvSpPr txBox="1"/>
            <p:nvPr/>
          </p:nvSpPr>
          <p:spPr>
            <a:xfrm>
              <a:off x="1492953" y="3550920"/>
              <a:ext cx="92060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 installation. No command line. No hardware budget.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143500" y="4286250"/>
            <a:ext cx="1905000" cy="28575"/>
            <a:chOff x="5143500" y="4286250"/>
            <a:chExt cx="1905000" cy="28575"/>
          </a:xfrm>
        </p:grpSpPr>
        <p:sp>
          <p:nvSpPr>
            <p:cNvPr id="25" name="Rectangle 25"/>
            <p:cNvSpPr/>
            <p:nvPr/>
          </p:nvSpPr>
          <p:spPr>
            <a:xfrm>
              <a:off x="5143500" y="428625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7" name="Rectangle 2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6498" y="421958"/>
            <a:ext cx="5984988" cy="616077"/>
            <a:chOff x="936498" y="421958"/>
            <a:chExt cx="598498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936498" y="421958"/>
              <a:ext cx="59849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Two Ways to Use BioDockify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143000"/>
            <a:ext cx="5143500" cy="5143500"/>
            <a:chOff x="762000" y="1143000"/>
            <a:chExt cx="5143500" cy="514350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5143500" cy="5143500"/>
            </a:xfrm>
            <a:prstGeom prst="roundRect">
              <a:avLst>
                <a:gd name="adj" fmla="val 25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62000" y="1143000"/>
              <a:ext cx="5143500" cy="47625"/>
            </a:xfrm>
            <a:prstGeom prst="roundRect">
              <a:avLst>
                <a:gd name="adj" fmla="val 4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015231" y="1440180"/>
              <a:ext cx="2637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Community Edition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619331" y="1806892"/>
              <a:ext cx="1428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Run it yourself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428750" y="2143125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chemeClr val="dk1">
                  <a:alpha val="10000"/>
                </a:schemeClr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16380" y="2409825"/>
              <a:ext cx="2839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Docker-based deployment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6380" y="2790825"/>
              <a:ext cx="34039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Local / on-premise installation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6380" y="3171825"/>
              <a:ext cx="31484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Free access (MIT Licensed)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6380" y="3552825"/>
              <a:ext cx="39045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Researcher-controlled environment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6380" y="3933825"/>
              <a:ext cx="28441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22 scientific tool modules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6380" y="4314825"/>
              <a:ext cx="30520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Students &amp; faculty friendly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7904" y="4918710"/>
              <a:ext cx="3124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Best for: Individual researchers, labs,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7904" y="5156835"/>
              <a:ext cx="28005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institutions with IT infrastructure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6500" y="1143000"/>
            <a:ext cx="5143500" cy="5143500"/>
            <a:chOff x="6286500" y="1143000"/>
            <a:chExt cx="5143500" cy="5143500"/>
          </a:xfrm>
        </p:grpSpPr>
        <p:sp>
          <p:nvSpPr>
            <p:cNvPr id="18" name="Rectangle 18"/>
            <p:cNvSpPr/>
            <p:nvPr/>
          </p:nvSpPr>
          <p:spPr>
            <a:xfrm>
              <a:off x="6286500" y="1143000"/>
              <a:ext cx="5143500" cy="5143500"/>
            </a:xfrm>
            <a:prstGeom prst="roundRect">
              <a:avLst>
                <a:gd name="adj" fmla="val 25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86500" y="1143000"/>
              <a:ext cx="5143500" cy="47625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29540" y="1440180"/>
              <a:ext cx="32574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Premium Web Platform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90431" y="1806892"/>
              <a:ext cx="2335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AI research environment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953250" y="2143125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chemeClr val="dk1">
                  <a:alpha val="10000"/>
                </a:scheme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40880" y="2409825"/>
              <a:ext cx="2072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Web-based access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40880" y="2790825"/>
              <a:ext cx="29735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Advanced AI orchestration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40880" y="3171825"/>
              <a:ext cx="24009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Workflow automation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40880" y="3552825"/>
              <a:ext cx="3146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Team collaboration features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40880" y="3933825"/>
              <a:ext cx="2388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Cloud infrastructure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40880" y="4314825"/>
              <a:ext cx="31286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buClr>
                  <a:schemeClr val="dk1"/>
                </a:buClr>
                <a:buSzTx/>
                <a:buFontTx/>
                <a:buChar char="•"/>
              </a:pPr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Premium features &amp; support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42404" y="4918710"/>
              <a:ext cx="36992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Best for: Research teams, pharma companies,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42404" y="5156835"/>
              <a:ext cx="31865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organizations needing managed solutions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2" name="Rectangle 3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8022" y="454342"/>
            <a:ext cx="8118725" cy="557403"/>
            <a:chOff x="938022" y="454342"/>
            <a:chExt cx="8118725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938022" y="454342"/>
              <a:ext cx="81187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 Pharma AI — Community Edition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824331" y="1884998"/>
            <a:ext cx="6543338" cy="762381"/>
            <a:chOff x="2824331" y="1884998"/>
            <a:chExt cx="6543338" cy="762381"/>
          </a:xfrm>
        </p:grpSpPr>
        <p:sp>
          <p:nvSpPr>
            <p:cNvPr id="4" name="TextBox 4"/>
            <p:cNvSpPr txBox="1"/>
            <p:nvPr/>
          </p:nvSpPr>
          <p:spPr>
            <a:xfrm>
              <a:off x="2824331" y="1884998"/>
              <a:ext cx="65433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Professional pharmaceutical research software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485769" y="2265998"/>
              <a:ext cx="52204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that researchers can run themselves.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24000" y="3524250"/>
            <a:ext cx="9239250" cy="419100"/>
            <a:chOff x="1524000" y="3524250"/>
            <a:chExt cx="9239250" cy="419100"/>
          </a:xfrm>
        </p:grpSpPr>
        <p:sp>
          <p:nvSpPr>
            <p:cNvPr id="7" name="Rectangle 7"/>
            <p:cNvSpPr/>
            <p:nvPr/>
          </p:nvSpPr>
          <p:spPr>
            <a:xfrm>
              <a:off x="1524000" y="3524250"/>
              <a:ext cx="1428750" cy="4191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40675" y="3661410"/>
              <a:ext cx="995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15+ Modules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429000" y="3524250"/>
              <a:ext cx="1619250" cy="4191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9899" y="3661410"/>
              <a:ext cx="1137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Docker-based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0" y="352425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756739" y="3661410"/>
              <a:ext cx="10595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MIT Licensed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524750" y="3524250"/>
              <a:ext cx="1238250" cy="4191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90000"/>
              </a:scheme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57904" y="366141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v7.9.8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239250" y="352425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544298" y="3661410"/>
              <a:ext cx="9139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Agent Zero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905000" y="4616768"/>
            <a:ext cx="8382000" cy="1479232"/>
            <a:chOff x="1905000" y="4616768"/>
            <a:chExt cx="8382000" cy="1479232"/>
          </a:xfrm>
        </p:grpSpPr>
        <p:sp>
          <p:nvSpPr>
            <p:cNvPr id="18" name="TextBox 18"/>
            <p:cNvSpPr txBox="1"/>
            <p:nvPr/>
          </p:nvSpPr>
          <p:spPr>
            <a:xfrm>
              <a:off x="3055053" y="4616768"/>
              <a:ext cx="6081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Built on Agent Zero framework | 22 integrated research modules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905000" y="5143500"/>
              <a:ext cx="8382000" cy="952500"/>
            </a:xfrm>
            <a:prstGeom prst="roundRect">
              <a:avLst>
                <a:gd name="adj" fmla="val 1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77139" y="5314950"/>
              <a:ext cx="6837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Designed for researchers who want full control over their tools,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93464" y="5600700"/>
              <a:ext cx="40050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data, and computational environment.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3" name="Rectangle 2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6498" y="421958"/>
            <a:ext cx="2737142" cy="616077"/>
            <a:chOff x="936498" y="421958"/>
            <a:chExt cx="273714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936498" y="421958"/>
              <a:ext cx="27371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Why Docker?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33500" y="1155382"/>
            <a:ext cx="3048000" cy="3797618"/>
            <a:chOff x="1333500" y="1155382"/>
            <a:chExt cx="3048000" cy="3797618"/>
          </a:xfrm>
        </p:grpSpPr>
        <p:sp>
          <p:nvSpPr>
            <p:cNvPr id="4" name="TextBox 4"/>
            <p:cNvSpPr txBox="1"/>
            <p:nvPr/>
          </p:nvSpPr>
          <p:spPr>
            <a:xfrm>
              <a:off x="1652562" y="1155382"/>
              <a:ext cx="24098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Traditional Software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333500" y="1571625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rgbClr val="FF4D4D">
                  <a:alpha val="40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52528" y="1689735"/>
              <a:ext cx="1809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Installation complexity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813294" y="19631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333500" y="21717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rgbClr val="FF4D4D">
                  <a:alpha val="40000"/>
                </a:srgbClr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021025" y="2289810"/>
              <a:ext cx="16729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Dependency conflicts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13294" y="25631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2771775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rgbClr val="FF4D4D">
                  <a:alpha val="40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96721" y="2889885"/>
              <a:ext cx="1721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Python version issues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13294" y="31632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333500" y="337185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rgbClr val="FF4D4D">
                  <a:alpha val="4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43604" y="3489960"/>
              <a:ext cx="20277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RDKit / Vina build failures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13294" y="37633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0" y="3971925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rgbClr val="FF4D4D">
                  <a:alpha val="4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83902" y="4090035"/>
              <a:ext cx="1947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Library incompatibilities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13294" y="43634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33500" y="45720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rgbClr val="FF4D4D">
                  <a:alpha val="40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936220" y="4690110"/>
              <a:ext cx="1842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Configuration problems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39000" y="1155382"/>
            <a:ext cx="3429000" cy="3820669"/>
            <a:chOff x="7239000" y="1155382"/>
            <a:chExt cx="3429000" cy="3820669"/>
          </a:xfrm>
        </p:grpSpPr>
        <p:sp>
          <p:nvSpPr>
            <p:cNvPr id="23" name="TextBox 23"/>
            <p:cNvSpPr txBox="1"/>
            <p:nvPr/>
          </p:nvSpPr>
          <p:spPr>
            <a:xfrm>
              <a:off x="8355444" y="1155382"/>
              <a:ext cx="11961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239000" y="1905000"/>
              <a:ext cx="3429000" cy="5715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19050">
              <a:solidFill>
                <a:srgbClr val="10B98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92736" y="209550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Docker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96664" y="25212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39000" y="2857500"/>
              <a:ext cx="3429000" cy="5715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19050">
              <a:solidFill>
                <a:srgbClr val="10B98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04779" y="3048000"/>
              <a:ext cx="22974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Environment Packaged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96664" y="3473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239000" y="3810000"/>
              <a:ext cx="3429000" cy="5715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19050">
              <a:solidFill>
                <a:srgbClr val="10B98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67658" y="4000500"/>
              <a:ext cx="371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Run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54818" y="4712018"/>
              <a:ext cx="3197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One command. Everything works.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69495" y="5727382"/>
            <a:ext cx="9653010" cy="322707"/>
            <a:chOff x="1269495" y="5727382"/>
            <a:chExt cx="9653010" cy="322707"/>
          </a:xfrm>
        </p:grpSpPr>
        <p:sp>
          <p:nvSpPr>
            <p:cNvPr id="34" name="TextBox 34"/>
            <p:cNvSpPr txBox="1"/>
            <p:nvPr/>
          </p:nvSpPr>
          <p:spPr>
            <a:xfrm>
              <a:off x="1269495" y="5727382"/>
              <a:ext cx="9653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Makes Community Edition particularly attractive for institutions and laboratories.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6" name="Rectangle 3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36498" y="279083"/>
            <a:ext cx="7305633" cy="616077"/>
            <a:chOff x="936498" y="279083"/>
            <a:chExt cx="730563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936498" y="279083"/>
              <a:ext cx="73056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Edition: What's Inside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904875"/>
            <a:ext cx="3524250" cy="1809750"/>
            <a:chOff x="762000" y="904875"/>
            <a:chExt cx="3524250" cy="1809750"/>
          </a:xfrm>
        </p:grpSpPr>
        <p:sp>
          <p:nvSpPr>
            <p:cNvPr id="4" name="Rectangle 4"/>
            <p:cNvSpPr/>
            <p:nvPr/>
          </p:nvSpPr>
          <p:spPr>
            <a:xfrm>
              <a:off x="762000" y="904875"/>
              <a:ext cx="3524250" cy="1809750"/>
            </a:xfrm>
            <a:prstGeom prst="roundRect">
              <a:avLst>
                <a:gd name="adj" fmla="val 736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62000" y="904875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39368" y="1107758"/>
              <a:ext cx="10502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41654" y="1470660"/>
              <a:ext cx="2081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Literature Intelligence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1654" y="1718310"/>
              <a:ext cx="13615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Deep Research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1654" y="1965960"/>
              <a:ext cx="1446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Knowledge Base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1654" y="2213610"/>
              <a:ext cx="1502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Web Intelligence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76750" y="904875"/>
            <a:ext cx="3524250" cy="1809750"/>
            <a:chOff x="4476750" y="904875"/>
            <a:chExt cx="3524250" cy="1809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904875"/>
              <a:ext cx="3524250" cy="1809750"/>
            </a:xfrm>
            <a:prstGeom prst="roundRect">
              <a:avLst>
                <a:gd name="adj" fmla="val 736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76750" y="904875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54118" y="1107758"/>
              <a:ext cx="17106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Drug Discovery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56404" y="1470660"/>
              <a:ext cx="15963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Molecular Toolkit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56404" y="1718310"/>
              <a:ext cx="775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Docking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56404" y="1965960"/>
              <a:ext cx="141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Pharmacophore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56404" y="2213610"/>
              <a:ext cx="1670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ADMET Prediction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191500" y="904875"/>
            <a:ext cx="3524250" cy="1809750"/>
            <a:chOff x="8191500" y="904875"/>
            <a:chExt cx="3524250" cy="1809750"/>
          </a:xfrm>
        </p:grpSpPr>
        <p:sp>
          <p:nvSpPr>
            <p:cNvPr id="20" name="Rectangle 20"/>
            <p:cNvSpPr/>
            <p:nvPr/>
          </p:nvSpPr>
          <p:spPr>
            <a:xfrm>
              <a:off x="8191500" y="904875"/>
              <a:ext cx="3524250" cy="1809750"/>
            </a:xfrm>
            <a:prstGeom prst="roundRect">
              <a:avLst>
                <a:gd name="adj" fmla="val 736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91500" y="904875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68868" y="1107758"/>
              <a:ext cx="19554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Machine Learning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71154" y="1470660"/>
              <a:ext cx="14060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QSAR Modeling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71154" y="1718310"/>
              <a:ext cx="1013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Prediction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71154" y="1965960"/>
              <a:ext cx="1648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Feature Selection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71154" y="2213610"/>
              <a:ext cx="1502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Model Validation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2952750"/>
            <a:ext cx="3524250" cy="1809750"/>
            <a:chOff x="762000" y="2952750"/>
            <a:chExt cx="3524250" cy="1809750"/>
          </a:xfrm>
        </p:grpSpPr>
        <p:sp>
          <p:nvSpPr>
            <p:cNvPr id="28" name="Rectangle 28"/>
            <p:cNvSpPr/>
            <p:nvPr/>
          </p:nvSpPr>
          <p:spPr>
            <a:xfrm>
              <a:off x="762000" y="2952750"/>
              <a:ext cx="3524250" cy="1809750"/>
            </a:xfrm>
            <a:prstGeom prst="roundRect">
              <a:avLst>
                <a:gd name="adj" fmla="val 736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2000" y="2952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39368" y="3155632"/>
              <a:ext cx="14541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Data Science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1654" y="3518535"/>
              <a:ext cx="1013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Statistics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1654" y="3766185"/>
              <a:ext cx="1208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Visualization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1654" y="4013835"/>
              <a:ext cx="19154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 Transformation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1654" y="4261485"/>
              <a:ext cx="1692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Report Generation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476750" y="2952750"/>
            <a:ext cx="3524250" cy="1809750"/>
            <a:chOff x="4476750" y="2952750"/>
            <a:chExt cx="3524250" cy="1809750"/>
          </a:xfrm>
        </p:grpSpPr>
        <p:sp>
          <p:nvSpPr>
            <p:cNvPr id="36" name="Rectangle 36"/>
            <p:cNvSpPr/>
            <p:nvPr/>
          </p:nvSpPr>
          <p:spPr>
            <a:xfrm>
              <a:off x="4476750" y="2952750"/>
              <a:ext cx="3524250" cy="1809750"/>
            </a:xfrm>
            <a:prstGeom prst="roundRect">
              <a:avLst>
                <a:gd name="adj" fmla="val 736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476750" y="2952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754118" y="3155632"/>
              <a:ext cx="11777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Simulation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56404" y="3518535"/>
              <a:ext cx="8125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MD Lite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56404" y="3766185"/>
              <a:ext cx="1793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Trajectory Analysis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56404" y="4013835"/>
              <a:ext cx="18193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Energy Minimization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56404" y="4261485"/>
              <a:ext cx="20682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Structure Preparation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191500" y="2952750"/>
            <a:ext cx="3524250" cy="1809750"/>
            <a:chOff x="8191500" y="2952750"/>
            <a:chExt cx="3524250" cy="1809750"/>
          </a:xfrm>
        </p:grpSpPr>
        <p:sp>
          <p:nvSpPr>
            <p:cNvPr id="44" name="Rectangle 44"/>
            <p:cNvSpPr/>
            <p:nvPr/>
          </p:nvSpPr>
          <p:spPr>
            <a:xfrm>
              <a:off x="8191500" y="2952750"/>
              <a:ext cx="3524250" cy="1809750"/>
            </a:xfrm>
            <a:prstGeom prst="roundRect">
              <a:avLst>
                <a:gd name="adj" fmla="val 736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191500" y="2952750"/>
              <a:ext cx="35242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68868" y="3155632"/>
              <a:ext cx="1038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Academic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71154" y="3518535"/>
              <a:ext cx="15314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Academic Writer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71154" y="3766185"/>
              <a:ext cx="13671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Journal Finder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71154" y="4013835"/>
              <a:ext cx="12731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Faculty Tools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71154" y="4261485"/>
              <a:ext cx="1590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Citation Manager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905000" y="5143500"/>
            <a:ext cx="8382000" cy="571500"/>
            <a:chOff x="1905000" y="5143500"/>
            <a:chExt cx="8382000" cy="571500"/>
          </a:xfrm>
        </p:grpSpPr>
        <p:sp>
          <p:nvSpPr>
            <p:cNvPr id="52" name="Rectangle 52"/>
            <p:cNvSpPr/>
            <p:nvPr/>
          </p:nvSpPr>
          <p:spPr>
            <a:xfrm>
              <a:off x="1905000" y="5143500"/>
              <a:ext cx="83820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574997" y="5334000"/>
              <a:ext cx="70420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22 modules • All integrated • One Docker container • Ready to research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55" name="Rectangle 55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832255" y="307658"/>
            <a:ext cx="8527489" cy="616077"/>
            <a:chOff x="1832255" y="307658"/>
            <a:chExt cx="852748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1832255" y="307658"/>
              <a:ext cx="852748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Edition: Molecular Research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428750"/>
            <a:ext cx="9525000" cy="457200"/>
            <a:chOff x="762000" y="1428750"/>
            <a:chExt cx="9525000" cy="457200"/>
          </a:xfrm>
        </p:grpSpPr>
        <p:sp>
          <p:nvSpPr>
            <p:cNvPr id="4" name="Rectangle 4"/>
            <p:cNvSpPr/>
            <p:nvPr/>
          </p:nvSpPr>
          <p:spPr>
            <a:xfrm>
              <a:off x="762000" y="1428750"/>
              <a:ext cx="15240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94651" y="1584960"/>
              <a:ext cx="858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Compound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2286000" y="16573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" name="Rectangle 7"/>
            <p:cNvSpPr/>
            <p:nvPr/>
          </p:nvSpPr>
          <p:spPr>
            <a:xfrm>
              <a:off x="2667000" y="1428750"/>
              <a:ext cx="123825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027197" y="1584960"/>
              <a:ext cx="517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RDKit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905250" y="16573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286250" y="142875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98002" y="1584960"/>
              <a:ext cx="18814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Molecular Properties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6191250" y="16573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572250" y="1428750"/>
              <a:ext cx="161925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69223" y="1584960"/>
              <a:ext cx="1225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Drug-likeness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8191500" y="16573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572500" y="1428750"/>
              <a:ext cx="17145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76591" y="1584960"/>
              <a:ext cx="13063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Docking (Vina)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82125" y="1885950"/>
            <a:ext cx="95250" cy="828675"/>
            <a:chOff x="9382125" y="1885950"/>
            <a:chExt cx="95250" cy="828675"/>
          </a:xfrm>
        </p:grpSpPr>
        <p:sp>
          <p:nvSpPr>
            <p:cNvPr id="19" name="Freeform 19"/>
            <p:cNvSpPr/>
            <p:nvPr/>
          </p:nvSpPr>
          <p:spPr>
            <a:xfrm>
              <a:off x="9429750" y="1885950"/>
              <a:ext cx="9525" cy="781050"/>
            </a:xfrm>
            <a:custGeom>
              <a:avLst/>
              <a:gdLst/>
              <a:ahLst/>
              <a:cxnLst/>
              <a:rect l="l" t="t" r="r" b="b"/>
              <a:pathLst>
                <a:path w="9525" h="781050">
                  <a:moveTo>
                    <a:pt x="0" y="0"/>
                  </a:moveTo>
                  <a:lnTo>
                    <a:pt x="0" y="7810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prstDash val="dash"/>
            </a:ln>
          </p:spPr>
        </p:sp>
        <p:sp>
          <p:nvSpPr>
            <p:cNvPr id="20" name="Polygon 20"/>
            <p:cNvSpPr/>
            <p:nvPr/>
          </p:nvSpPr>
          <p:spPr>
            <a:xfrm>
              <a:off x="9382125" y="2619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3333750" y="2762250"/>
            <a:ext cx="6381750" cy="457200"/>
            <a:chOff x="3333750" y="2762250"/>
            <a:chExt cx="6381750" cy="457200"/>
          </a:xfrm>
        </p:grpSpPr>
        <p:sp>
          <p:nvSpPr>
            <p:cNvPr id="22" name="Rectangle 22"/>
            <p:cNvSpPr/>
            <p:nvPr/>
          </p:nvSpPr>
          <p:spPr>
            <a:xfrm>
              <a:off x="8191500" y="2762250"/>
              <a:ext cx="15240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84946" y="2918460"/>
              <a:ext cx="9371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MM-GBSA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715250" y="29908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4762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7667625" y="29432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0"/>
                  </a:moveTo>
                  <a:lnTo>
                    <a:pt x="0" y="47625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0" y="276225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67987" y="2918460"/>
              <a:ext cx="17990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Interaction Analysis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5334000" y="29908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381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5286375" y="29432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0"/>
                  </a:moveTo>
                  <a:lnTo>
                    <a:pt x="0" y="47625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33750" y="276225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488855" y="2918460"/>
              <a:ext cx="1594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Candidate Ranking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857500" y="3714750"/>
            <a:ext cx="6477000" cy="2286000"/>
            <a:chOff x="2857500" y="3714750"/>
            <a:chExt cx="6477000" cy="2286000"/>
          </a:xfrm>
        </p:grpSpPr>
        <p:sp>
          <p:nvSpPr>
            <p:cNvPr id="33" name="Rectangle 33"/>
            <p:cNvSpPr/>
            <p:nvPr/>
          </p:nvSpPr>
          <p:spPr>
            <a:xfrm>
              <a:off x="2857500" y="3714750"/>
              <a:ext cx="6477000" cy="2286000"/>
            </a:xfrm>
            <a:prstGeom prst="roundRect">
              <a:avLst>
                <a:gd name="adj" fmla="val 5833"/>
              </a:avLst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4000500" y="4286250"/>
              <a:ext cx="571500" cy="571500"/>
            </a:xfrm>
            <a:prstGeom prst="ellipse">
              <a:avLst/>
            </a:prstGeom>
            <a:noFill/>
            <a:ln w="19050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4762500" y="4667250"/>
              <a:ext cx="381000" cy="381000"/>
            </a:xfrm>
            <a:prstGeom prst="ellipse">
              <a:avLst/>
            </a:prstGeom>
            <a:noFill/>
            <a:ln w="19050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5286375" y="4238625"/>
              <a:ext cx="476250" cy="476250"/>
            </a:xfrm>
            <a:prstGeom prst="ellipse">
              <a:avLst/>
            </a:prstGeom>
            <a:noFill/>
            <a:ln w="14288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4286250" y="4572000"/>
              <a:ext cx="666750" cy="285750"/>
            </a:xfrm>
            <a:custGeom>
              <a:avLst/>
              <a:gdLst/>
              <a:ahLst/>
              <a:cxnLst/>
              <a:rect l="l" t="t" r="r" b="b"/>
              <a:pathLst>
                <a:path w="666750" h="285750">
                  <a:moveTo>
                    <a:pt x="0" y="0"/>
                  </a:moveTo>
                  <a:lnTo>
                    <a:pt x="666750" y="28575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4953000" y="4476750"/>
              <a:ext cx="571500" cy="381000"/>
            </a:xfrm>
            <a:custGeom>
              <a:avLst/>
              <a:gdLst/>
              <a:ahLst/>
              <a:cxnLst/>
              <a:rect l="l" t="t" r="r" b="b"/>
              <a:pathLst>
                <a:path w="571500" h="381000">
                  <a:moveTo>
                    <a:pt x="0" y="381000"/>
                  </a:moveTo>
                  <a:lnTo>
                    <a:pt x="571500" y="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076950" y="4552950"/>
              <a:ext cx="419100" cy="419100"/>
            </a:xfrm>
            <a:prstGeom prst="ellipse">
              <a:avLst/>
            </a:prstGeom>
            <a:noFill/>
            <a:ln w="14288">
              <a:solidFill>
                <a:schemeClr val="accent2">
                  <a:alpha val="50000"/>
                </a:scheme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5524500" y="4476750"/>
              <a:ext cx="762000" cy="285750"/>
            </a:xfrm>
            <a:custGeom>
              <a:avLst/>
              <a:gdLst/>
              <a:ahLst/>
              <a:cxnLst/>
              <a:rect l="l" t="t" r="r" b="b"/>
              <a:pathLst>
                <a:path w="762000" h="285750">
                  <a:moveTo>
                    <a:pt x="0" y="0"/>
                  </a:moveTo>
                  <a:lnTo>
                    <a:pt x="762000" y="28575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6877050" y="4210050"/>
              <a:ext cx="342900" cy="342900"/>
            </a:xfrm>
            <a:prstGeom prst="ellipse">
              <a:avLst/>
            </a:prstGeom>
            <a:noFill/>
            <a:ln w="14288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6286500" y="4381500"/>
              <a:ext cx="762000" cy="381000"/>
            </a:xfrm>
            <a:custGeom>
              <a:avLst/>
              <a:gdLst/>
              <a:ahLst/>
              <a:cxnLst/>
              <a:rect l="l" t="t" r="r" b="b"/>
              <a:pathLst>
                <a:path w="762000" h="381000">
                  <a:moveTo>
                    <a:pt x="0" y="38100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7486650" y="443865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7048500" y="4381500"/>
              <a:ext cx="666750" cy="285750"/>
            </a:xfrm>
            <a:custGeom>
              <a:avLst/>
              <a:gdLst/>
              <a:ahLst/>
              <a:cxnLst/>
              <a:rect l="l" t="t" r="r" b="b"/>
              <a:pathLst>
                <a:path w="666750" h="285750">
                  <a:moveTo>
                    <a:pt x="0" y="0"/>
                  </a:moveTo>
                  <a:lnTo>
                    <a:pt x="666750" y="28575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229600" y="4800600"/>
              <a:ext cx="304800" cy="304800"/>
            </a:xfrm>
            <a:prstGeom prst="ellipse">
              <a:avLst/>
            </a:prstGeom>
            <a:noFill/>
            <a:ln w="14288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7715250" y="4667250"/>
              <a:ext cx="666750" cy="285750"/>
            </a:xfrm>
            <a:custGeom>
              <a:avLst/>
              <a:gdLst/>
              <a:ahLst/>
              <a:cxnLst/>
              <a:rect l="l" t="t" r="r" b="b"/>
              <a:pathLst>
                <a:path w="666750" h="285750">
                  <a:moveTo>
                    <a:pt x="0" y="0"/>
                  </a:moveTo>
                  <a:lnTo>
                    <a:pt x="666750" y="28575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63269" y="5585460"/>
              <a:ext cx="326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rgbClr val="7A85A8"/>
                  </a:solidFill>
                  <a:latin typeface="+mn-lt"/>
                  <a:ea typeface="+mn-ea"/>
                  <a:cs typeface="+mn-cs"/>
                </a:rPr>
                <a:t>Molecular docking pipeline visualization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874827" y="6216968"/>
            <a:ext cx="8442346" cy="264033"/>
            <a:chOff x="1874827" y="6216968"/>
            <a:chExt cx="8442346" cy="264033"/>
          </a:xfrm>
        </p:grpSpPr>
        <p:sp>
          <p:nvSpPr>
            <p:cNvPr id="49" name="TextBox 49"/>
            <p:cNvSpPr txBox="1"/>
            <p:nvPr/>
          </p:nvSpPr>
          <p:spPr>
            <a:xfrm>
              <a:off x="1874827" y="6216968"/>
              <a:ext cx="84423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Integrates AutoDock Vina with MM-GBSA scoring. Supports PDB, SMILES, SDF inputs.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51" name="Rectangle 5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093338" y="307658"/>
            <a:ext cx="8005325" cy="616077"/>
            <a:chOff x="2093338" y="307658"/>
            <a:chExt cx="800532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2093338" y="307658"/>
              <a:ext cx="800532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Edition: AI + Data Science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047750"/>
            <a:ext cx="3429000" cy="5048250"/>
            <a:chOff x="762000" y="1047750"/>
            <a:chExt cx="3429000" cy="5048250"/>
          </a:xfrm>
        </p:grpSpPr>
        <p:sp>
          <p:nvSpPr>
            <p:cNvPr id="4" name="Rectangle 4"/>
            <p:cNvSpPr/>
            <p:nvPr/>
          </p:nvSpPr>
          <p:spPr>
            <a:xfrm>
              <a:off x="762000" y="1047750"/>
              <a:ext cx="3429000" cy="504825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089465" y="1249680"/>
              <a:ext cx="7740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QSAR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333500" y="1619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23690" y="1854518"/>
              <a:ext cx="2105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Regression (6 models)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85745" y="2235518"/>
              <a:ext cx="23815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Classification (3 models)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85704" y="2616518"/>
              <a:ext cx="1581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Batch prediction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76322" y="2997518"/>
              <a:ext cx="1200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Read-across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81500" y="1047750"/>
            <a:ext cx="3429000" cy="5048250"/>
            <a:chOff x="4381500" y="1047750"/>
            <a:chExt cx="3429000" cy="5048250"/>
          </a:xfrm>
        </p:grpSpPr>
        <p:sp>
          <p:nvSpPr>
            <p:cNvPr id="12" name="Rectangle 12"/>
            <p:cNvSpPr/>
            <p:nvPr/>
          </p:nvSpPr>
          <p:spPr>
            <a:xfrm>
              <a:off x="4381500" y="1047750"/>
              <a:ext cx="3429000" cy="504825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339039" y="1249680"/>
              <a:ext cx="15139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Statistics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953000" y="1619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45895" y="1854518"/>
              <a:ext cx="1100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Descriptive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5895" y="2235518"/>
              <a:ext cx="1100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Correlation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61381" y="2616518"/>
              <a:ext cx="1669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Group comparison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2056" y="2997518"/>
              <a:ext cx="9278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Normality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6775" y="3378518"/>
              <a:ext cx="3984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PCA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04665" y="3759518"/>
              <a:ext cx="782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Survival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19715" y="4140518"/>
              <a:ext cx="1352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Meta-analysis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01000" y="1047750"/>
            <a:ext cx="3429000" cy="5048250"/>
            <a:chOff x="8001000" y="1047750"/>
            <a:chExt cx="3429000" cy="5048250"/>
          </a:xfrm>
        </p:grpSpPr>
        <p:sp>
          <p:nvSpPr>
            <p:cNvPr id="23" name="Rectangle 23"/>
            <p:cNvSpPr/>
            <p:nvPr/>
          </p:nvSpPr>
          <p:spPr>
            <a:xfrm>
              <a:off x="8001000" y="1047750"/>
              <a:ext cx="3429000" cy="504825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88084" y="1249680"/>
              <a:ext cx="18548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Visualization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572500" y="1619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20822" y="1854518"/>
              <a:ext cx="789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2D plots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20529" y="2235518"/>
              <a:ext cx="1589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Statistical plots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67670" y="2616518"/>
              <a:ext cx="16956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Scientific results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901544" y="6236018"/>
            <a:ext cx="6388913" cy="264033"/>
            <a:chOff x="2901544" y="6236018"/>
            <a:chExt cx="6388913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2901544" y="6236018"/>
              <a:ext cx="63889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56 statistical analysis types | 6 regression + 3 classification models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2" name="Rectangle 3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432946" y="307658"/>
            <a:ext cx="9326108" cy="616077"/>
            <a:chOff x="1432946" y="307658"/>
            <a:chExt cx="932610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1432946" y="307658"/>
              <a:ext cx="93261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Edition: Literature Intelligence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16637" y="1043940"/>
            <a:ext cx="5558726" cy="352044"/>
            <a:chOff x="3316637" y="1043940"/>
            <a:chExt cx="5558726" cy="352044"/>
          </a:xfrm>
        </p:grpSpPr>
        <p:sp>
          <p:nvSpPr>
            <p:cNvPr id="4" name="TextBox 4"/>
            <p:cNvSpPr txBox="1"/>
            <p:nvPr/>
          </p:nvSpPr>
          <p:spPr>
            <a:xfrm>
              <a:off x="3316637" y="1043940"/>
              <a:ext cx="5558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“Researcher asks: What is known about X?”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619500" y="1619250"/>
            <a:ext cx="4953000" cy="619125"/>
            <a:chOff x="3619500" y="1619250"/>
            <a:chExt cx="4953000" cy="619125"/>
          </a:xfrm>
        </p:grpSpPr>
        <p:sp>
          <p:nvSpPr>
            <p:cNvPr id="6" name="Rectangle 6"/>
            <p:cNvSpPr/>
            <p:nvPr/>
          </p:nvSpPr>
          <p:spPr>
            <a:xfrm>
              <a:off x="3619500" y="1619250"/>
              <a:ext cx="4953000" cy="619125"/>
            </a:xfrm>
            <a:prstGeom prst="roundRect">
              <a:avLst>
                <a:gd name="adj" fmla="val 21538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143524" y="1724025"/>
              <a:ext cx="19049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Literature Search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024249" y="1993106"/>
              <a:ext cx="4143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Multi-source: PubMed, Semantic Scholar, CrossRef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48375" y="2238375"/>
            <a:ext cx="95250" cy="285750"/>
            <a:chOff x="6048375" y="2238375"/>
            <a:chExt cx="95250" cy="285750"/>
          </a:xfrm>
        </p:grpSpPr>
        <p:sp>
          <p:nvSpPr>
            <p:cNvPr id="10" name="Freeform 10"/>
            <p:cNvSpPr/>
            <p:nvPr/>
          </p:nvSpPr>
          <p:spPr>
            <a:xfrm>
              <a:off x="6096000" y="2238375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6048375" y="2428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810000" y="2524125"/>
            <a:ext cx="4572000" cy="619125"/>
            <a:chOff x="3810000" y="2524125"/>
            <a:chExt cx="4572000" cy="619125"/>
          </a:xfrm>
        </p:grpSpPr>
        <p:sp>
          <p:nvSpPr>
            <p:cNvPr id="13" name="Rectangle 13"/>
            <p:cNvSpPr/>
            <p:nvPr/>
          </p:nvSpPr>
          <p:spPr>
            <a:xfrm>
              <a:off x="3810000" y="2524125"/>
              <a:ext cx="4572000" cy="619125"/>
            </a:xfrm>
            <a:prstGeom prst="roundRect">
              <a:avLst>
                <a:gd name="adj" fmla="val 21538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586984" y="2628900"/>
              <a:ext cx="1018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Screening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70612" y="2897981"/>
              <a:ext cx="36507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PRISMA-compliant inclusion/exclusion criteria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48375" y="3143250"/>
            <a:ext cx="95250" cy="285750"/>
            <a:chOff x="6048375" y="3143250"/>
            <a:chExt cx="95250" cy="285750"/>
          </a:xfrm>
        </p:grpSpPr>
        <p:sp>
          <p:nvSpPr>
            <p:cNvPr id="17" name="Freeform 17"/>
            <p:cNvSpPr/>
            <p:nvPr/>
          </p:nvSpPr>
          <p:spPr>
            <a:xfrm>
              <a:off x="6096000" y="314325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6048375" y="3333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000500" y="3429000"/>
            <a:ext cx="4191000" cy="619125"/>
            <a:chOff x="4000500" y="3429000"/>
            <a:chExt cx="4191000" cy="619125"/>
          </a:xfrm>
        </p:grpSpPr>
        <p:sp>
          <p:nvSpPr>
            <p:cNvPr id="20" name="Rectangle 20"/>
            <p:cNvSpPr/>
            <p:nvPr/>
          </p:nvSpPr>
          <p:spPr>
            <a:xfrm>
              <a:off x="4000500" y="3429000"/>
              <a:ext cx="4191000" cy="619125"/>
            </a:xfrm>
            <a:prstGeom prst="roundRect">
              <a:avLst>
                <a:gd name="adj" fmla="val 21538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53584" y="3533775"/>
              <a:ext cx="2084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Evidence Extraction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97866" y="3802856"/>
              <a:ext cx="31962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BioNER, entity recognition, key findings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48375" y="4048125"/>
            <a:ext cx="95250" cy="285750"/>
            <a:chOff x="6048375" y="4048125"/>
            <a:chExt cx="95250" cy="285750"/>
          </a:xfrm>
        </p:grpSpPr>
        <p:sp>
          <p:nvSpPr>
            <p:cNvPr id="24" name="Freeform 24"/>
            <p:cNvSpPr/>
            <p:nvPr/>
          </p:nvSpPr>
          <p:spPr>
            <a:xfrm>
              <a:off x="6096000" y="4048125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048375" y="4238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4191000" y="4333875"/>
            <a:ext cx="3810000" cy="619125"/>
            <a:chOff x="4191000" y="4333875"/>
            <a:chExt cx="3810000" cy="619125"/>
          </a:xfrm>
        </p:grpSpPr>
        <p:sp>
          <p:nvSpPr>
            <p:cNvPr id="27" name="Rectangle 27"/>
            <p:cNvSpPr/>
            <p:nvPr/>
          </p:nvSpPr>
          <p:spPr>
            <a:xfrm>
              <a:off x="4191000" y="4333875"/>
              <a:ext cx="3810000" cy="619125"/>
            </a:xfrm>
            <a:prstGeom prst="roundRect">
              <a:avLst>
                <a:gd name="adj" fmla="val 21538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62655" y="4438650"/>
              <a:ext cx="24666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Knowledge Organization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04853" y="4707731"/>
              <a:ext cx="3782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Structured evidence tables and citation mapping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75" y="4953000"/>
            <a:ext cx="95250" cy="285750"/>
            <a:chOff x="6048375" y="4953000"/>
            <a:chExt cx="95250" cy="285750"/>
          </a:xfrm>
        </p:grpSpPr>
        <p:sp>
          <p:nvSpPr>
            <p:cNvPr id="31" name="Freeform 31"/>
            <p:cNvSpPr/>
            <p:nvPr/>
          </p:nvSpPr>
          <p:spPr>
            <a:xfrm>
              <a:off x="6096000" y="49530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6048375" y="5143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4232644" y="5238750"/>
            <a:ext cx="3726711" cy="619125"/>
            <a:chOff x="4232644" y="5238750"/>
            <a:chExt cx="3726711" cy="619125"/>
          </a:xfrm>
        </p:grpSpPr>
        <p:sp>
          <p:nvSpPr>
            <p:cNvPr id="34" name="Rectangle 34"/>
            <p:cNvSpPr/>
            <p:nvPr/>
          </p:nvSpPr>
          <p:spPr>
            <a:xfrm>
              <a:off x="4381500" y="5238750"/>
              <a:ext cx="3429000" cy="619125"/>
            </a:xfrm>
            <a:prstGeom prst="roundRect">
              <a:avLst>
                <a:gd name="adj" fmla="val 21538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86984" y="5343525"/>
              <a:ext cx="1018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Synthesis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32644" y="5612606"/>
              <a:ext cx="372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Citation-aware narrative with evidence grading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469490" y="6188392"/>
            <a:ext cx="7253021" cy="264033"/>
            <a:chOff x="2469490" y="6188392"/>
            <a:chExt cx="7253021" cy="264033"/>
          </a:xfrm>
        </p:grpSpPr>
        <p:sp>
          <p:nvSpPr>
            <p:cNvPr id="38" name="TextBox 38"/>
            <p:cNvSpPr txBox="1"/>
            <p:nvPr/>
          </p:nvSpPr>
          <p:spPr>
            <a:xfrm>
              <a:off x="2469490" y="6188392"/>
              <a:ext cx="72530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PRISMA screening, BioNER, multi-source search, citation-aware responses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0" name="Rectangle 4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898612" y="307658"/>
            <a:ext cx="8394777" cy="616077"/>
            <a:chOff x="1898612" y="307658"/>
            <a:chExt cx="839477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1898612" y="307658"/>
              <a:ext cx="839477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Edition: Academic Research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1524000"/>
            <a:ext cx="10620375" cy="476250"/>
            <a:chOff x="762000" y="1524000"/>
            <a:chExt cx="10620375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1524000"/>
              <a:ext cx="133350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3174" y="1697831"/>
              <a:ext cx="9511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Researcher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2095500" y="176212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2381250" y="171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524125" y="1524000"/>
              <a:ext cx="161925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572314" y="1697831"/>
              <a:ext cx="15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Literature Review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143375" y="176212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429125" y="171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572000" y="1524000"/>
              <a:ext cx="180975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11145" y="1697831"/>
              <a:ext cx="1531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Research Proposal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81750" y="176212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6667500" y="171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810375" y="1524000"/>
              <a:ext cx="123825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59581" y="1697831"/>
              <a:ext cx="539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Thesis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8048625" y="176212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8334375" y="171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477250" y="1524000"/>
              <a:ext cx="123825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50801" y="1697831"/>
              <a:ext cx="491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Paper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9715500" y="176212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0001250" y="171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0144125" y="1524000"/>
              <a:ext cx="123825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17676" y="1697831"/>
              <a:ext cx="491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Grant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75" y="2000250"/>
            <a:ext cx="4714875" cy="714375"/>
            <a:chOff x="6048375" y="2000250"/>
            <a:chExt cx="4714875" cy="714375"/>
          </a:xfrm>
        </p:grpSpPr>
        <p:sp>
          <p:nvSpPr>
            <p:cNvPr id="27" name="Freeform 27"/>
            <p:cNvSpPr/>
            <p:nvPr/>
          </p:nvSpPr>
          <p:spPr>
            <a:xfrm>
              <a:off x="6096000" y="2000250"/>
              <a:ext cx="4667250" cy="666750"/>
            </a:xfrm>
            <a:custGeom>
              <a:avLst/>
              <a:gdLst/>
              <a:ahLst/>
              <a:cxnLst/>
              <a:rect l="l" t="t" r="r" b="b"/>
              <a:pathLst>
                <a:path w="4667250" h="666750">
                  <a:moveTo>
                    <a:pt x="4667250" y="0"/>
                  </a:moveTo>
                  <a:lnTo>
                    <a:pt x="4667250" y="381000"/>
                  </a:lnTo>
                  <a:lnTo>
                    <a:pt x="0" y="381000"/>
                  </a:lnTo>
                  <a:lnTo>
                    <a:pt x="0" y="6667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prstDash val="dash"/>
            </a:ln>
          </p:spPr>
        </p:sp>
        <p:sp>
          <p:nvSpPr>
            <p:cNvPr id="28" name="Polygon 28"/>
            <p:cNvSpPr/>
            <p:nvPr/>
          </p:nvSpPr>
          <p:spPr>
            <a:xfrm>
              <a:off x="6048375" y="2619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3619500" y="2762250"/>
            <a:ext cx="4857750" cy="476250"/>
            <a:chOff x="3619500" y="2762250"/>
            <a:chExt cx="4857750" cy="476250"/>
          </a:xfrm>
        </p:grpSpPr>
        <p:sp>
          <p:nvSpPr>
            <p:cNvPr id="30" name="Rectangle 30"/>
            <p:cNvSpPr/>
            <p:nvPr/>
          </p:nvSpPr>
          <p:spPr>
            <a:xfrm>
              <a:off x="3619500" y="2762250"/>
              <a:ext cx="123825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897988" y="2936081"/>
              <a:ext cx="6812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Citation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4857750" y="30003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5143500" y="2952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286375" y="2762250"/>
              <a:ext cx="123825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67925" y="2936081"/>
              <a:ext cx="675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Lecture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524625" y="300037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6810375" y="2952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953250" y="2762250"/>
              <a:ext cx="1524000" cy="476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57623" y="2936081"/>
              <a:ext cx="915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Publication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33500" y="3714750"/>
            <a:ext cx="9525000" cy="2286000"/>
            <a:chOff x="1333500" y="3714750"/>
            <a:chExt cx="9525000" cy="2286000"/>
          </a:xfrm>
        </p:grpSpPr>
        <p:sp>
          <p:nvSpPr>
            <p:cNvPr id="41" name="Rectangle 41"/>
            <p:cNvSpPr/>
            <p:nvPr/>
          </p:nvSpPr>
          <p:spPr>
            <a:xfrm>
              <a:off x="1333500" y="3714750"/>
              <a:ext cx="9525000" cy="2286000"/>
            </a:xfrm>
            <a:prstGeom prst="roundRect">
              <a:avLst>
                <a:gd name="adj" fmla="val 5833"/>
              </a:avLst>
            </a:prstGeom>
            <a:solidFill>
              <a:schemeClr val="lt2">
                <a:alpha val="60000"/>
              </a:scheme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99276" y="3917632"/>
              <a:ext cx="25934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Writing Mode Features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905000" y="4333875"/>
              <a:ext cx="2286000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168168" y="4471035"/>
              <a:ext cx="17596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EQUATOR Guidelines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381500" y="4333875"/>
              <a:ext cx="2667000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21517" y="4471035"/>
              <a:ext cx="2386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Per-section Quality Scoring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239000" y="4333875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58512" y="4471035"/>
              <a:ext cx="14564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De-AIGC Rewrite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857500" y="4953000"/>
              <a:ext cx="2667000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072253" y="5090160"/>
              <a:ext cx="22374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 Dedicated Writing Modes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0" y="4953000"/>
              <a:ext cx="2667000" cy="419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59906" y="5090160"/>
              <a:ext cx="1777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Citation Management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538420" y="6216968"/>
            <a:ext cx="9115160" cy="264033"/>
            <a:chOff x="1538420" y="6216968"/>
            <a:chExt cx="9115160" cy="264033"/>
          </a:xfrm>
        </p:grpSpPr>
        <p:sp>
          <p:nvSpPr>
            <p:cNvPr id="54" name="TextBox 54"/>
            <p:cNvSpPr txBox="1"/>
            <p:nvPr/>
          </p:nvSpPr>
          <p:spPr>
            <a:xfrm>
              <a:off x="1538420" y="6216968"/>
              <a:ext cx="9115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 dedicated writing modes | EQUATOR guidelines | Per-section quality scoring | De-AIGC rewrite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56" name="Rectangle 5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415040" y="307658"/>
            <a:ext cx="7361920" cy="616077"/>
            <a:chOff x="2415040" y="307658"/>
            <a:chExt cx="736192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2415040" y="307658"/>
              <a:ext cx="73619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Edition: Who Is It For?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047750"/>
            <a:ext cx="5143500" cy="2190750"/>
            <a:chOff x="762000" y="1047750"/>
            <a:chExt cx="5143500" cy="2190750"/>
          </a:xfrm>
        </p:grpSpPr>
        <p:sp>
          <p:nvSpPr>
            <p:cNvPr id="4" name="Rectangle 4"/>
            <p:cNvSpPr/>
            <p:nvPr/>
          </p:nvSpPr>
          <p:spPr>
            <a:xfrm>
              <a:off x="762000" y="1047750"/>
              <a:ext cx="5143500" cy="2190750"/>
            </a:xfrm>
            <a:prstGeom prst="roundRect">
              <a:avLst>
                <a:gd name="adj" fmla="val 608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62000" y="10477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143000" y="1524000"/>
              <a:ext cx="571500" cy="5715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52600" y="1688782"/>
              <a:ext cx="152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90344" y="1551622"/>
              <a:ext cx="12411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Students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3392" y="1949768"/>
              <a:ext cx="8319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Projects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93392" y="2235518"/>
              <a:ext cx="1311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Dissertations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93392" y="2521268"/>
              <a:ext cx="23685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Computational practicals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86500" y="1047750"/>
            <a:ext cx="5143500" cy="2190750"/>
            <a:chOff x="6286500" y="1047750"/>
            <a:chExt cx="5143500" cy="2190750"/>
          </a:xfrm>
        </p:grpSpPr>
        <p:sp>
          <p:nvSpPr>
            <p:cNvPr id="13" name="Rectangle 13"/>
            <p:cNvSpPr/>
            <p:nvPr/>
          </p:nvSpPr>
          <p:spPr>
            <a:xfrm>
              <a:off x="6286500" y="1047750"/>
              <a:ext cx="5143500" cy="2190750"/>
            </a:xfrm>
            <a:prstGeom prst="roundRect">
              <a:avLst>
                <a:gd name="adj" fmla="val 608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86500" y="10477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667500" y="1524000"/>
              <a:ext cx="571500" cy="5715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77100" y="1688782"/>
              <a:ext cx="152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F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4844" y="1551622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Faculty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7892" y="1949768"/>
              <a:ext cx="8319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Teaching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7892" y="2235518"/>
              <a:ext cx="881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Research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7892" y="2521268"/>
              <a:ext cx="1264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 analysis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3524250"/>
            <a:ext cx="5143500" cy="2190750"/>
            <a:chOff x="762000" y="3524250"/>
            <a:chExt cx="5143500" cy="2190750"/>
          </a:xfrm>
        </p:grpSpPr>
        <p:sp>
          <p:nvSpPr>
            <p:cNvPr id="22" name="Rectangle 22"/>
            <p:cNvSpPr/>
            <p:nvPr/>
          </p:nvSpPr>
          <p:spPr>
            <a:xfrm>
              <a:off x="762000" y="3524250"/>
              <a:ext cx="5143500" cy="2190750"/>
            </a:xfrm>
            <a:prstGeom prst="roundRect">
              <a:avLst>
                <a:gd name="adj" fmla="val 608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2000" y="35242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143000" y="4000500"/>
              <a:ext cx="571500" cy="5715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6366F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52600" y="4165282"/>
              <a:ext cx="152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6366F1"/>
                  </a:solidFill>
                  <a:latin typeface="+mj-lt"/>
                  <a:ea typeface="+mj-ea"/>
                  <a:cs typeface="+mj-cs"/>
                </a:rPr>
                <a:t>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90344" y="4028122"/>
              <a:ext cx="16959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Researchers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93392" y="4426268"/>
              <a:ext cx="1419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Drug discovery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93392" y="4712018"/>
              <a:ext cx="1457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QSAR, Docking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93392" y="4997768"/>
              <a:ext cx="10434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Literature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3524250"/>
            <a:ext cx="5143500" cy="2190750"/>
            <a:chOff x="6286500" y="3524250"/>
            <a:chExt cx="5143500" cy="2190750"/>
          </a:xfrm>
        </p:grpSpPr>
        <p:sp>
          <p:nvSpPr>
            <p:cNvPr id="31" name="Rectangle 31"/>
            <p:cNvSpPr/>
            <p:nvPr/>
          </p:nvSpPr>
          <p:spPr>
            <a:xfrm>
              <a:off x="6286500" y="3524250"/>
              <a:ext cx="5143500" cy="2190750"/>
            </a:xfrm>
            <a:prstGeom prst="roundRect">
              <a:avLst>
                <a:gd name="adj" fmla="val 608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86500" y="35242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667500" y="4000500"/>
              <a:ext cx="571500" cy="5715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10B98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07903" y="4165282"/>
              <a:ext cx="906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I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14844" y="4028122"/>
              <a:ext cx="16398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Institutions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17892" y="4426268"/>
              <a:ext cx="1124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On-premise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17892" y="4712018"/>
              <a:ext cx="1313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Research labs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17892" y="4997768"/>
              <a:ext cx="1466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Infrastructure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3854" y="5994082"/>
            <a:ext cx="10924292" cy="322707"/>
            <a:chOff x="633854" y="5994082"/>
            <a:chExt cx="10924292" cy="322707"/>
          </a:xfrm>
        </p:grpSpPr>
        <p:sp>
          <p:nvSpPr>
            <p:cNvPr id="40" name="TextBox 40"/>
            <p:cNvSpPr txBox="1"/>
            <p:nvPr/>
          </p:nvSpPr>
          <p:spPr>
            <a:xfrm>
              <a:off x="633854" y="5994082"/>
              <a:ext cx="10924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“Scientific AI should not be accessible only to researchers with large computational budgets.”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2" name="Rectangle 4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743712" y="1897380"/>
            <a:ext cx="5602392" cy="704088"/>
            <a:chOff x="743712" y="1897380"/>
            <a:chExt cx="5602392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743712" y="1897380"/>
              <a:ext cx="56023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Introducing BioDockify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2856" y="2853690"/>
            <a:ext cx="5553222" cy="656844"/>
            <a:chOff x="752856" y="2853690"/>
            <a:chExt cx="5553222" cy="656844"/>
          </a:xfrm>
        </p:grpSpPr>
        <p:sp>
          <p:nvSpPr>
            <p:cNvPr id="5" name="TextBox 5"/>
            <p:cNvSpPr txBox="1"/>
            <p:nvPr/>
          </p:nvSpPr>
          <p:spPr>
            <a:xfrm>
              <a:off x="752856" y="2853690"/>
              <a:ext cx="55532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Democratizing computational drug discovery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2856" y="3158490"/>
              <a:ext cx="2975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 pharmacy education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76300" y="4019550"/>
            <a:ext cx="4803977" cy="2175701"/>
            <a:chOff x="876300" y="4019550"/>
            <a:chExt cx="4803977" cy="2175701"/>
          </a:xfrm>
        </p:grpSpPr>
        <p:sp>
          <p:nvSpPr>
            <p:cNvPr id="8" name="Ellipse 8"/>
            <p:cNvSpPr/>
            <p:nvPr/>
          </p:nvSpPr>
          <p:spPr>
            <a:xfrm>
              <a:off x="876300" y="4019550"/>
              <a:ext cx="342900" cy="34290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4114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70457" y="4040505"/>
              <a:ext cx="22133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Browser-based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4267" y="4407218"/>
              <a:ext cx="40426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 downloads, no installs, just open and go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76300" y="4781550"/>
              <a:ext cx="342900" cy="3429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71550" y="4876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70457" y="4802505"/>
              <a:ext cx="11749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No-code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74267" y="5169218"/>
              <a:ext cx="3973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Visual interface designed for pharmacists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76300" y="5543550"/>
              <a:ext cx="342900" cy="34290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71550" y="5638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70457" y="5564505"/>
              <a:ext cx="14412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All-in-one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74267" y="5931218"/>
              <a:ext cx="43060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Docking, ADMET, MD, and AI in one platform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219950" y="2400300"/>
            <a:ext cx="4229100" cy="2438400"/>
            <a:chOff x="7219950" y="2400300"/>
            <a:chExt cx="4229100" cy="2438400"/>
          </a:xfrm>
        </p:grpSpPr>
        <p:sp>
          <p:nvSpPr>
            <p:cNvPr id="21" name="Ellipse 21"/>
            <p:cNvSpPr/>
            <p:nvPr/>
          </p:nvSpPr>
          <p:spPr>
            <a:xfrm>
              <a:off x="8858250" y="3143250"/>
              <a:ext cx="952500" cy="9525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9220200" y="35052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924800" y="2400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115300" y="2590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8477250" y="28098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0"/>
                  </a:moveTo>
                  <a:lnTo>
                    <a:pt x="476250" y="476250"/>
                  </a:lnTo>
                </a:path>
              </a:pathLst>
            </a:custGeom>
            <a:noFill/>
            <a:ln w="14288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0210800" y="2400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0401300" y="2590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9715500" y="28098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476250" y="0"/>
                  </a:moveTo>
                  <a:lnTo>
                    <a:pt x="0" y="476250"/>
                  </a:lnTo>
                </a:path>
              </a:pathLst>
            </a:custGeom>
            <a:noFill/>
            <a:ln w="14288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924800" y="430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115300" y="4495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8477250" y="39528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0" y="47625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0210800" y="430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0401300" y="4495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9715500" y="39528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476250" y="4762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219950" y="3409950"/>
              <a:ext cx="419100" cy="419100"/>
            </a:xfrm>
            <a:prstGeom prst="ellipse">
              <a:avLst/>
            </a:prstGeom>
            <a:noFill/>
            <a:ln w="14288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372350" y="3562350"/>
              <a:ext cx="114300" cy="1143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7639050" y="3619500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1029950" y="3409950"/>
              <a:ext cx="419100" cy="419100"/>
            </a:xfrm>
            <a:prstGeom prst="ellipse">
              <a:avLst/>
            </a:prstGeom>
            <a:noFill/>
            <a:ln w="14288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1182350" y="3562350"/>
              <a:ext cx="114300" cy="1143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9810750" y="3619500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2" name="Rectangle 4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5350949" cy="616077"/>
            <a:chOff x="745998" y="421958"/>
            <a:chExt cx="535094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535094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Four Integrated Modules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238250"/>
            <a:ext cx="5143500" cy="2286000"/>
            <a:chOff x="762000" y="1238250"/>
            <a:chExt cx="5143500" cy="2286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09650" y="1485900"/>
              <a:ext cx="457200" cy="4572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78915" y="16259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08582" y="1544955"/>
              <a:ext cx="2577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Docking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30630" y="2028825"/>
              <a:ext cx="43390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AutoDock Vina-powered virtual screening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1392" y="2330768"/>
              <a:ext cx="4059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Predict binding affinity and pose of ligands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1392" y="2597468"/>
              <a:ext cx="3258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against protein targets in minutes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86500" y="1238250"/>
            <a:ext cx="5143500" cy="2286000"/>
            <a:chOff x="6286500" y="1238250"/>
            <a:chExt cx="5143500" cy="22860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534150" y="1485900"/>
              <a:ext cx="457200" cy="45720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03415" y="162591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3082" y="1544955"/>
              <a:ext cx="2525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Prediction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55130" y="2028825"/>
              <a:ext cx="37682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ML-based pharmacokinetic profiling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55892" y="2330768"/>
              <a:ext cx="3638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Absorption, distribution, metabolism,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55892" y="2597468"/>
              <a:ext cx="32877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excretion, and toxicity in one click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3810000"/>
            <a:ext cx="5143500" cy="2286000"/>
            <a:chOff x="762000" y="3810000"/>
            <a:chExt cx="5143500" cy="2286000"/>
          </a:xfrm>
        </p:grpSpPr>
        <p:sp>
          <p:nvSpPr>
            <p:cNvPr id="20" name="Rectangle 20"/>
            <p:cNvSpPr/>
            <p:nvPr/>
          </p:nvSpPr>
          <p:spPr>
            <a:xfrm>
              <a:off x="762000" y="381000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09650" y="4057650"/>
              <a:ext cx="457200" cy="4572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78915" y="41976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08582" y="4116705"/>
              <a:ext cx="19931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MD Simulation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30630" y="4600575"/>
              <a:ext cx="4348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GROMACS-powered dynamics in the cloud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31392" y="4902518"/>
              <a:ext cx="3954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Run nanosecond-scale simulations without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31392" y="5169218"/>
              <a:ext cx="25699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owning HPC infrastructure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3810000"/>
            <a:ext cx="5143500" cy="2286000"/>
            <a:chOff x="6286500" y="3810000"/>
            <a:chExt cx="5143500" cy="2286000"/>
          </a:xfrm>
        </p:grpSpPr>
        <p:sp>
          <p:nvSpPr>
            <p:cNvPr id="28" name="Rectangle 28"/>
            <p:cNvSpPr/>
            <p:nvPr/>
          </p:nvSpPr>
          <p:spPr>
            <a:xfrm>
              <a:off x="6286500" y="381000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534150" y="4057650"/>
              <a:ext cx="457200" cy="45720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03415" y="41976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33082" y="4116705"/>
              <a:ext cx="12945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Jarvis AI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55130" y="4600575"/>
              <a:ext cx="4008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Conversational assistant for guidance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55892" y="4902518"/>
              <a:ext cx="4310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Ask questions, get help interpreting results,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55892" y="5169218"/>
              <a:ext cx="3143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and learn computational concepts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333750" y="2381250"/>
            <a:ext cx="5534025" cy="2581275"/>
            <a:chOff x="3333750" y="2381250"/>
            <a:chExt cx="5534025" cy="2581275"/>
          </a:xfrm>
        </p:grpSpPr>
        <p:sp>
          <p:nvSpPr>
            <p:cNvPr id="36" name="Line 36"/>
            <p:cNvSpPr/>
            <p:nvPr/>
          </p:nvSpPr>
          <p:spPr>
            <a:xfrm>
              <a:off x="3333750" y="3524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  <a:prstDash val="dash"/>
            </a:ln>
          </p:spPr>
        </p:sp>
        <p:sp>
          <p:nvSpPr>
            <p:cNvPr id="37" name="Line 37"/>
            <p:cNvSpPr/>
            <p:nvPr/>
          </p:nvSpPr>
          <p:spPr>
            <a:xfrm>
              <a:off x="8858250" y="3524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chemeClr val="accent2">
                  <a:alpha val="40000"/>
                </a:schemeClr>
              </a:solidFill>
              <a:prstDash val="dash"/>
            </a:ln>
          </p:spPr>
        </p:sp>
        <p:sp>
          <p:nvSpPr>
            <p:cNvPr id="38" name="Line 38"/>
            <p:cNvSpPr/>
            <p:nvPr/>
          </p:nvSpPr>
          <p:spPr>
            <a:xfrm>
              <a:off x="5905500" y="2381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  <a:prstDash val="dash"/>
            </a:ln>
          </p:spPr>
        </p:sp>
        <p:sp>
          <p:nvSpPr>
            <p:cNvPr id="39" name="Line 39"/>
            <p:cNvSpPr/>
            <p:nvPr/>
          </p:nvSpPr>
          <p:spPr>
            <a:xfrm>
              <a:off x="5905500" y="49530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  <a:prstDash val="dash"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1" name="Rectangle 4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4916374" cy="616077"/>
            <a:chOff x="745998" y="421958"/>
            <a:chExt cx="491637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491637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Who Is BioDockify For?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333500"/>
            <a:ext cx="10668000" cy="1524000"/>
            <a:chOff x="762000" y="1333500"/>
            <a:chExt cx="10668000" cy="1524000"/>
          </a:xfrm>
        </p:grpSpPr>
        <p:sp>
          <p:nvSpPr>
            <p:cNvPr id="4" name="Rectangle 4"/>
            <p:cNvSpPr/>
            <p:nvPr/>
          </p:nvSpPr>
          <p:spPr>
            <a:xfrm>
              <a:off x="762000" y="133350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333500" y="1714500"/>
              <a:ext cx="762000" cy="7620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447800" y="18288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65" y="183832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UG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39852" y="2115502"/>
              <a:ext cx="549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Faculty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71344" y="1694498"/>
              <a:ext cx="308281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Undergraduate Faculty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73630" y="2124075"/>
              <a:ext cx="77116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Demonstrate docking concepts in lectures with live, interactive examples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74392" y="2426018"/>
              <a:ext cx="5519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Turn abstract pharmacology into visual, hands-on learning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3048000"/>
            <a:ext cx="10668000" cy="1524000"/>
            <a:chOff x="762000" y="3048000"/>
            <a:chExt cx="10668000" cy="1524000"/>
          </a:xfrm>
        </p:grpSpPr>
        <p:sp>
          <p:nvSpPr>
            <p:cNvPr id="13" name="Rectangle 13"/>
            <p:cNvSpPr/>
            <p:nvPr/>
          </p:nvSpPr>
          <p:spPr>
            <a:xfrm>
              <a:off x="762000" y="304800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333500" y="3429000"/>
              <a:ext cx="762000" cy="762000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447800" y="3543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83665" y="355282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46983" y="3830002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Mentor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71344" y="3408998"/>
              <a:ext cx="30559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Postgraduate Mentors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73630" y="3838575"/>
              <a:ext cx="7871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Guide dissertation students through computational workflows step by step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74392" y="4140518"/>
              <a:ext cx="6537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Supervise M.Pharm projects without needing a bioinformatics degree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4762500"/>
            <a:ext cx="10668000" cy="1524000"/>
            <a:chOff x="762000" y="4762500"/>
            <a:chExt cx="10668000" cy="1524000"/>
          </a:xfrm>
        </p:grpSpPr>
        <p:sp>
          <p:nvSpPr>
            <p:cNvPr id="22" name="Rectangle 22"/>
            <p:cNvSpPr/>
            <p:nvPr/>
          </p:nvSpPr>
          <p:spPr>
            <a:xfrm>
              <a:off x="762000" y="476250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333500" y="5143500"/>
              <a:ext cx="762000" cy="7620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447800" y="52578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60546" y="5347335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R&amp;D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84410" y="5554028"/>
              <a:ext cx="260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Lab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71344" y="5123498"/>
              <a:ext cx="16959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Researchers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73630" y="5553075"/>
              <a:ext cx="73810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Rapid preliminary screening before committing to wet-lab experiments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74392" y="5855018"/>
              <a:ext cx="457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>
                      <a:alphaMod val="70000"/>
                    </a:schemeClr>
                  </a:solidFill>
                  <a:latin typeface="+mn-lt"/>
                  <a:ea typeface="+mn-ea"/>
                  <a:cs typeface="+mn-cs"/>
                </a:rPr>
                <a:t>Reduce time-to-hypothesis from weeks to hours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1" name="Rectangle 3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571591" cy="616077"/>
            <a:chOff x="745998" y="421958"/>
            <a:chExt cx="657159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57159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Browser-Based Advantage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143000"/>
            <a:ext cx="5143500" cy="5334000"/>
            <a:chOff x="762000" y="1143000"/>
            <a:chExt cx="5143500" cy="533400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5143500" cy="5334000"/>
            </a:xfrm>
            <a:prstGeom prst="roundRect">
              <a:avLst>
                <a:gd name="adj" fmla="val 25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057180" y="1408748"/>
              <a:ext cx="25531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Without BioDockify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238250" y="1809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3">
                  <a:alpha val="20000"/>
                </a:scheme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16380" y="21240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30630" y="21240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64005" y="2124075"/>
              <a:ext cx="22273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Setup time: 2–5 days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0630" y="264795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4005" y="2647950"/>
              <a:ext cx="3578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Hardware: Dedicated workstation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0630" y="31718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4005" y="3171825"/>
              <a:ext cx="30435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Software: 5+ separate tools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0630" y="369570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64005" y="3695700"/>
              <a:ext cx="31883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Updates: Manual, break often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30630" y="42195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4005" y="4219575"/>
              <a:ext cx="40476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Collaboration: Email files back &amp; forth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30630" y="474345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64005" y="4743450"/>
              <a:ext cx="24399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Cost per student: High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86500" y="1143000"/>
            <a:ext cx="5143500" cy="5334000"/>
            <a:chOff x="6286500" y="1143000"/>
            <a:chExt cx="5143500" cy="5334000"/>
          </a:xfrm>
        </p:grpSpPr>
        <p:sp>
          <p:nvSpPr>
            <p:cNvPr id="21" name="Rectangle 21"/>
            <p:cNvSpPr/>
            <p:nvPr/>
          </p:nvSpPr>
          <p:spPr>
            <a:xfrm>
              <a:off x="6286500" y="1143000"/>
              <a:ext cx="5143500" cy="5334000"/>
            </a:xfrm>
            <a:prstGeom prst="roundRect">
              <a:avLst>
                <a:gd name="adj" fmla="val 25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09152" y="1408748"/>
              <a:ext cx="20981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With BioDockify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762750" y="1809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55130" y="21240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88505" y="2124075"/>
              <a:ext cx="30088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Setup time: Under 5 minutes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5130" y="264795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88505" y="2647950"/>
              <a:ext cx="37649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Hardware: Any browser, any device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55130" y="31718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88505" y="3171825"/>
              <a:ext cx="3398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Software: One unified platform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55130" y="369570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88505" y="3695700"/>
              <a:ext cx="3229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Updates: Automatic, seamless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55130" y="42195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88505" y="4219575"/>
              <a:ext cx="3266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Collaboration: Shared projects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55130" y="4743450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88505" y="4743450"/>
              <a:ext cx="40187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Cost per student: Free for academics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7" name="Rectangle 3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5777362" cy="616077"/>
            <a:chOff x="745998" y="421958"/>
            <a:chExt cx="577736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57773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Getting Started in 4 Steps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14500" y="2667000"/>
            <a:ext cx="8763000" cy="762000"/>
            <a:chOff x="1714500" y="2667000"/>
            <a:chExt cx="8763000" cy="762000"/>
          </a:xfrm>
        </p:grpSpPr>
        <p:sp>
          <p:nvSpPr>
            <p:cNvPr id="4" name="Line 4"/>
            <p:cNvSpPr/>
            <p:nvPr/>
          </p:nvSpPr>
          <p:spPr>
            <a:xfrm>
              <a:off x="2095500" y="304800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38100">
              <a:solidFill>
                <a:srgbClr val="1A1D3A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095500" y="3048000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19050">
              <a:solidFill>
                <a:schemeClr val="accent1">
                  <a:alpha val="40000"/>
                </a:schemeClr>
              </a:solidFill>
              <a:custDash>
                <a:ds d="300000" sp="300000"/>
              </a:custDash>
            </a:ln>
          </p:spPr>
        </p:sp>
        <p:sp>
          <p:nvSpPr>
            <p:cNvPr id="6" name="Ellipse 6"/>
            <p:cNvSpPr/>
            <p:nvPr/>
          </p:nvSpPr>
          <p:spPr>
            <a:xfrm>
              <a:off x="1714500" y="2667000"/>
              <a:ext cx="762000" cy="7620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016387" y="29298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4381500" y="2667000"/>
              <a:ext cx="762000" cy="7620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683387" y="29298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048500" y="2667000"/>
              <a:ext cx="762000" cy="7620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50387" y="29298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715500" y="2667000"/>
              <a:ext cx="762000" cy="7620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017387" y="29298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82594" y="3727132"/>
            <a:ext cx="9720841" cy="582169"/>
            <a:chOff x="1382594" y="3727132"/>
            <a:chExt cx="9720841" cy="582169"/>
          </a:xfrm>
        </p:grpSpPr>
        <p:sp>
          <p:nvSpPr>
            <p:cNvPr id="15" name="TextBox 15"/>
            <p:cNvSpPr txBox="1"/>
            <p:nvPr/>
          </p:nvSpPr>
          <p:spPr>
            <a:xfrm>
              <a:off x="1821765" y="3727132"/>
              <a:ext cx="547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Visit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2594" y="4045268"/>
              <a:ext cx="1425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biodockify.com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65659" y="372713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Create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87599" y="4045268"/>
              <a:ext cx="2149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Free academic account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32659" y="3727132"/>
              <a:ext cx="793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Choose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58743" y="4045268"/>
              <a:ext cx="11415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Your module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97342" y="3727132"/>
              <a:ext cx="13983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Upload &amp; Run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9565" y="4045268"/>
              <a:ext cx="2013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Get results instantly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619500" y="5334000"/>
            <a:ext cx="4953000" cy="666750"/>
            <a:chOff x="3619500" y="5334000"/>
            <a:chExt cx="4953000" cy="666750"/>
          </a:xfrm>
        </p:grpSpPr>
        <p:sp>
          <p:nvSpPr>
            <p:cNvPr id="24" name="Rectangle 24"/>
            <p:cNvSpPr/>
            <p:nvPr/>
          </p:nvSpPr>
          <p:spPr>
            <a:xfrm>
              <a:off x="3619500" y="5334000"/>
              <a:ext cx="4953000" cy="6667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26689" y="5539740"/>
              <a:ext cx="33386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&lt; 5 minutes to first result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7" name="Rectangle 2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5520028" cy="616077"/>
            <a:chOff x="745998" y="421958"/>
            <a:chExt cx="552002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55200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BioDockify Dashboard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24000" y="1143000"/>
            <a:ext cx="9144000" cy="4191000"/>
            <a:chOff x="1524000" y="1143000"/>
            <a:chExt cx="9144000" cy="4191000"/>
          </a:xfrm>
        </p:grpSpPr>
        <p:sp>
          <p:nvSpPr>
            <p:cNvPr id="4" name="Rectangle 4"/>
            <p:cNvSpPr/>
            <p:nvPr/>
          </p:nvSpPr>
          <p:spPr>
            <a:xfrm>
              <a:off x="1524000" y="1143000"/>
              <a:ext cx="9144000" cy="4191000"/>
            </a:xfrm>
            <a:prstGeom prst="roundRect">
              <a:avLst>
                <a:gd name="adj" fmla="val 2273"/>
              </a:avLst>
            </a:prstGeom>
            <a:solidFill>
              <a:srgbClr val="0D0F20"/>
            </a:solidFill>
            <a:ln w="19050">
              <a:solidFill>
                <a:srgbClr val="2A2D4A"/>
              </a:solidFill>
            </a:ln>
          </p:spPr>
        </p:sp>
        <p:sp>
          <p:nvSpPr>
            <p:cNvPr id="5" name="Rectangle 5"/>
            <p:cNvSpPr/>
            <p:nvPr/>
          </p:nvSpPr>
          <p:spPr>
            <a:xfrm>
              <a:off x="1524000" y="1143000"/>
              <a:ext cx="9144000" cy="304800"/>
            </a:xfrm>
            <a:prstGeom prst="roundRect">
              <a:avLst>
                <a:gd name="adj" fmla="val 312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714500" y="12477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76425" y="1247775"/>
              <a:ext cx="95250" cy="9525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38350" y="1247775"/>
              <a:ext cx="95250" cy="9525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524000" y="1447800"/>
              <a:ext cx="1714500" cy="3886200"/>
            </a:xfrm>
            <a:prstGeom prst="rect">
              <a:avLst/>
            </a:prstGeom>
            <a:solidFill>
              <a:srgbClr val="14163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666875" y="1666875"/>
              <a:ext cx="1428750" cy="2667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666875" y="2047875"/>
              <a:ext cx="1428750" cy="266700"/>
            </a:xfrm>
            <a:prstGeom prst="roundRect">
              <a:avLst>
                <a:gd name="adj" fmla="val 21429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666875" y="2428875"/>
              <a:ext cx="1428750" cy="2667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666875" y="2809875"/>
              <a:ext cx="1428750" cy="2667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666875" y="3190875"/>
              <a:ext cx="1428750" cy="2667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429000" y="1524000"/>
              <a:ext cx="4572000" cy="3619500"/>
            </a:xfrm>
            <a:prstGeom prst="roundRect">
              <a:avLst>
                <a:gd name="adj" fmla="val 1053"/>
              </a:avLst>
            </a:prstGeom>
            <a:solidFill>
              <a:srgbClr val="0A0C1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2571750"/>
              <a:ext cx="1524000" cy="1524000"/>
            </a:xfrm>
            <a:prstGeom prst="ellipse">
              <a:avLst/>
            </a:prstGeom>
            <a:noFill/>
            <a:ln w="14288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5238750" y="2857500"/>
              <a:ext cx="952500" cy="952500"/>
            </a:xfrm>
            <a:prstGeom prst="ellipse">
              <a:avLst/>
            </a:prstGeom>
            <a:noFill/>
            <a:ln w="9525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3067050"/>
              <a:ext cx="152400" cy="15240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848350" y="3371850"/>
              <a:ext cx="114300" cy="11430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572125" y="3571875"/>
              <a:ext cx="95250" cy="95250"/>
            </a:xfrm>
            <a:prstGeom prst="ellipse">
              <a:avLst/>
            </a:prstGeom>
            <a:solidFill>
              <a:srgbClr val="4ADE80">
                <a:alpha val="60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91500" y="1524000"/>
              <a:ext cx="2333625" cy="3619500"/>
            </a:xfrm>
            <a:prstGeom prst="roundRect">
              <a:avLst>
                <a:gd name="adj" fmla="val 1633"/>
              </a:avLst>
            </a:prstGeom>
            <a:solidFill>
              <a:srgbClr val="14163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34375" y="1714500"/>
              <a:ext cx="2047875" cy="228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334375" y="2057400"/>
              <a:ext cx="2047875" cy="571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334375" y="2743200"/>
              <a:ext cx="2047875" cy="228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334375" y="3086100"/>
              <a:ext cx="2047875" cy="571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334375" y="3771900"/>
              <a:ext cx="2047875" cy="2286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334375" y="4114800"/>
              <a:ext cx="1333500" cy="152400"/>
            </a:xfrm>
            <a:prstGeom prst="roundRect">
              <a:avLst>
                <a:gd name="adj" fmla="val 25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429000" y="1524000"/>
              <a:ext cx="4572000" cy="285750"/>
            </a:xfrm>
            <a:prstGeom prst="rect">
              <a:avLst/>
            </a:prstGeom>
            <a:solidFill>
              <a:srgbClr val="14163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571875" y="1590675"/>
              <a:ext cx="762000" cy="1524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429125" y="1590675"/>
              <a:ext cx="762000" cy="1524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286375" y="1590675"/>
              <a:ext cx="762000" cy="1524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375666" y="2248852"/>
            <a:ext cx="1148334" cy="395859"/>
            <a:chOff x="375666" y="2248852"/>
            <a:chExt cx="1148334" cy="395859"/>
          </a:xfrm>
        </p:grpSpPr>
        <p:sp>
          <p:nvSpPr>
            <p:cNvPr id="33" name="Line 33"/>
            <p:cNvSpPr/>
            <p:nvPr/>
          </p:nvSpPr>
          <p:spPr>
            <a:xfrm>
              <a:off x="952500" y="2476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914400" y="24384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75666" y="2248852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Module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5666" y="2439352"/>
              <a:ext cx="7569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Navigation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137374" y="5143500"/>
            <a:ext cx="1155251" cy="568261"/>
            <a:chOff x="5137374" y="5143500"/>
            <a:chExt cx="1155251" cy="568261"/>
          </a:xfrm>
        </p:grpSpPr>
        <p:sp>
          <p:nvSpPr>
            <p:cNvPr id="38" name="Line 38"/>
            <p:cNvSpPr/>
            <p:nvPr/>
          </p:nvSpPr>
          <p:spPr>
            <a:xfrm>
              <a:off x="5715000" y="51435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5676900" y="5295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137374" y="5506402"/>
              <a:ext cx="115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Molecule Viewer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25125" y="2887028"/>
            <a:ext cx="924961" cy="395859"/>
            <a:chOff x="10525125" y="2887028"/>
            <a:chExt cx="924961" cy="395859"/>
          </a:xfrm>
        </p:grpSpPr>
        <p:sp>
          <p:nvSpPr>
            <p:cNvPr id="42" name="Line 42"/>
            <p:cNvSpPr/>
            <p:nvPr/>
          </p:nvSpPr>
          <p:spPr>
            <a:xfrm>
              <a:off x="10525125" y="30480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142875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725150" y="30099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00791" y="2887028"/>
              <a:ext cx="549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Results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00791" y="3077528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Panel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025072" y="839152"/>
            <a:ext cx="1474856" cy="303848"/>
            <a:chOff x="4025072" y="839152"/>
            <a:chExt cx="1474856" cy="303848"/>
          </a:xfrm>
        </p:grpSpPr>
        <p:sp>
          <p:nvSpPr>
            <p:cNvPr id="47" name="Line 47"/>
            <p:cNvSpPr/>
            <p:nvPr/>
          </p:nvSpPr>
          <p:spPr>
            <a:xfrm>
              <a:off x="4762500" y="1095375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4724400" y="9906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025072" y="839152"/>
              <a:ext cx="1474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Project Management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837300" y="6315075"/>
            <a:ext cx="6517401" cy="293370"/>
            <a:chOff x="2837300" y="6315075"/>
            <a:chExt cx="6517401" cy="293370"/>
          </a:xfrm>
        </p:grpSpPr>
        <p:sp>
          <p:nvSpPr>
            <p:cNvPr id="51" name="TextBox 51"/>
            <p:cNvSpPr txBox="1"/>
            <p:nvPr/>
          </p:nvSpPr>
          <p:spPr>
            <a:xfrm>
              <a:off x="2837300" y="6315075"/>
              <a:ext cx="65174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Designed for pharmacy professionals, not software engineers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53" name="Rectangle 5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5106112" cy="616077"/>
            <a:chOff x="745998" y="421958"/>
            <a:chExt cx="510611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51061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Supported File Formats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1238250"/>
            <a:ext cx="5143500" cy="3810000"/>
            <a:chOff x="762000" y="1238250"/>
            <a:chExt cx="5143500" cy="3810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5143500" cy="3810000"/>
            </a:xfrm>
            <a:prstGeom prst="roundRect">
              <a:avLst>
                <a:gd name="adj" fmla="val 3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370890" y="1503998"/>
              <a:ext cx="19257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Input Formats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238250" y="1905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333500" y="2190750"/>
              <a:ext cx="9525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36551" y="22926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PDB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476500" y="219075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43745" y="2292668"/>
              <a:ext cx="608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PDBQT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810000" y="2190750"/>
              <a:ext cx="104775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064904" y="2292668"/>
              <a:ext cx="537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MOL2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333500" y="2762250"/>
              <a:ext cx="857250" cy="381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 w="14288">
              <a:solidFill>
                <a:schemeClr val="accent2">
                  <a:alpha val="15000"/>
                </a:scheme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88926" y="28641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SDF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381250" y="2762250"/>
              <a:ext cx="1238250" cy="381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 w="14288">
              <a:solidFill>
                <a:schemeClr val="accent2">
                  <a:alpha val="15000"/>
                </a:scheme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665876" y="2864168"/>
              <a:ext cx="668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SMILES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810000" y="276225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 w="14288">
              <a:solidFill>
                <a:schemeClr val="accent2">
                  <a:alpha val="15000"/>
                </a:scheme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097407" y="2864168"/>
              <a:ext cx="568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FASTA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93024" y="3569018"/>
              <a:ext cx="3081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Drag and drop any supported file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0118" y="3835718"/>
              <a:ext cx="3247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or paste a SMILES string directly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86500" y="1238250"/>
            <a:ext cx="5143500" cy="3810000"/>
            <a:chOff x="6286500" y="1238250"/>
            <a:chExt cx="5143500" cy="3810000"/>
          </a:xfrm>
        </p:grpSpPr>
        <p:sp>
          <p:nvSpPr>
            <p:cNvPr id="22" name="Rectangle 22"/>
            <p:cNvSpPr/>
            <p:nvPr/>
          </p:nvSpPr>
          <p:spPr>
            <a:xfrm>
              <a:off x="6286500" y="1238250"/>
              <a:ext cx="5143500" cy="3810000"/>
            </a:xfrm>
            <a:prstGeom prst="roundRect">
              <a:avLst>
                <a:gd name="adj" fmla="val 3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57058" y="1503998"/>
              <a:ext cx="22023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Output Formats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762750" y="1905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2">
                  <a:alpha val="20000"/>
                </a:schemeClr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0" y="2190750"/>
              <a:ext cx="11430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25245" y="2292668"/>
              <a:ext cx="608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PDBQT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191500" y="2190750"/>
              <a:ext cx="85725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46926" y="22926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CSV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239250" y="2190750"/>
              <a:ext cx="1333500" cy="381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5000"/>
              </a:schemeClr>
            </a:solidFill>
            <a:ln w="14288">
              <a:solidFill>
                <a:schemeClr val="accent1">
                  <a:alpha val="15000"/>
                </a:scheme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11013" y="2292668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XTC/TRR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858000" y="2762250"/>
              <a:ext cx="1333500" cy="381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 w="14288">
              <a:solidFill>
                <a:schemeClr val="accent2">
                  <a:alpha val="15000"/>
                </a:scheme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29763" y="2864168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PNG/SVG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382000" y="2762250"/>
              <a:ext cx="857250" cy="381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5000"/>
              </a:schemeClr>
            </a:solidFill>
            <a:ln w="14288">
              <a:solidFill>
                <a:schemeClr val="accent2">
                  <a:alpha val="15000"/>
                </a:scheme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37426" y="28641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PDF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49782" y="3569018"/>
              <a:ext cx="3216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Download results, share reports,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43191" y="3835718"/>
              <a:ext cx="3230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or continue analysis in other tools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250648" y="5727382"/>
            <a:ext cx="5690703" cy="322707"/>
            <a:chOff x="3250648" y="5727382"/>
            <a:chExt cx="5690703" cy="322707"/>
          </a:xfrm>
        </p:grpSpPr>
        <p:sp>
          <p:nvSpPr>
            <p:cNvPr id="38" name="TextBox 38"/>
            <p:cNvSpPr txBox="1"/>
            <p:nvPr/>
          </p:nvSpPr>
          <p:spPr>
            <a:xfrm>
              <a:off x="3250648" y="5727382"/>
              <a:ext cx="5690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 more spending hours on file format conversion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0" name="Rectangle 4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4557370" cy="616077"/>
            <a:chOff x="745998" y="421958"/>
            <a:chExt cx="455737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45573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Platform Comparison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1143000"/>
            <a:ext cx="10668000" cy="476250"/>
            <a:chOff x="762000" y="11430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26670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718336" y="1302068"/>
              <a:ext cx="754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Feature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429000" y="1143000"/>
              <a:ext cx="2095500" cy="47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987432" y="1302068"/>
              <a:ext cx="978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524500" y="1143000"/>
              <a:ext cx="19050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40249" y="1318260"/>
              <a:ext cx="1073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AutoDock CLI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29500" y="1143000"/>
              <a:ext cx="19050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42717" y="1318260"/>
              <a:ext cx="1078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GROMACS CLI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334500" y="1143000"/>
              <a:ext cx="20955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955355" y="1318260"/>
              <a:ext cx="8537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SwissDock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1619250"/>
            <a:ext cx="10668000" cy="476250"/>
            <a:chOff x="762000" y="1619250"/>
            <a:chExt cx="10668000" cy="476250"/>
          </a:xfrm>
        </p:grpSpPr>
        <p:sp>
          <p:nvSpPr>
            <p:cNvPr id="15" name="Rectangle 15"/>
            <p:cNvSpPr/>
            <p:nvPr/>
          </p:nvSpPr>
          <p:spPr>
            <a:xfrm>
              <a:off x="762000" y="1619250"/>
              <a:ext cx="2667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6023" y="1767364"/>
              <a:ext cx="1375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Browser-based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29000" y="1619250"/>
              <a:ext cx="20955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2400"/>
                </a:scheme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363117" y="176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524500" y="1619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63367" y="176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429500" y="1619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68367" y="176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334500" y="1619250"/>
              <a:ext cx="2095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268617" y="176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2095500"/>
            <a:ext cx="10668000" cy="476250"/>
            <a:chOff x="762000" y="2095500"/>
            <a:chExt cx="10668000" cy="476250"/>
          </a:xfrm>
        </p:grpSpPr>
        <p:sp>
          <p:nvSpPr>
            <p:cNvPr id="26" name="Rectangle 26"/>
            <p:cNvSpPr/>
            <p:nvPr/>
          </p:nvSpPr>
          <p:spPr>
            <a:xfrm>
              <a:off x="762000" y="2095500"/>
              <a:ext cx="2667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6023" y="2243614"/>
              <a:ext cx="1306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 installation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29000" y="2095500"/>
              <a:ext cx="2095500" cy="476250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 w="9525">
              <a:solidFill>
                <a:schemeClr val="accent1">
                  <a:alpha val="1500"/>
                </a:schemeClr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363117" y="2238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524500" y="20955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63367" y="2238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429500" y="20955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68367" y="2238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334500" y="2095500"/>
              <a:ext cx="20955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68617" y="2238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62000" y="2571750"/>
            <a:ext cx="10668000" cy="476250"/>
            <a:chOff x="762000" y="2571750"/>
            <a:chExt cx="10668000" cy="476250"/>
          </a:xfrm>
        </p:grpSpPr>
        <p:sp>
          <p:nvSpPr>
            <p:cNvPr id="37" name="Rectangle 37"/>
            <p:cNvSpPr/>
            <p:nvPr/>
          </p:nvSpPr>
          <p:spPr>
            <a:xfrm>
              <a:off x="762000" y="2571750"/>
              <a:ext cx="2667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6023" y="2719864"/>
              <a:ext cx="910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Visual GUI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429000" y="2571750"/>
              <a:ext cx="20955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2400"/>
                </a:scheme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363117" y="2714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24500" y="25717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63367" y="2714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429500" y="25717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68367" y="2714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334500" y="2571750"/>
              <a:ext cx="2095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268617" y="2714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2000" y="3048000"/>
            <a:ext cx="10668000" cy="476250"/>
            <a:chOff x="762000" y="3048000"/>
            <a:chExt cx="10668000" cy="476250"/>
          </a:xfrm>
        </p:grpSpPr>
        <p:sp>
          <p:nvSpPr>
            <p:cNvPr id="48" name="Rectangle 48"/>
            <p:cNvSpPr/>
            <p:nvPr/>
          </p:nvSpPr>
          <p:spPr>
            <a:xfrm>
              <a:off x="762000" y="3048000"/>
              <a:ext cx="2667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6023" y="3196114"/>
              <a:ext cx="16113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Molecular Docking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429000" y="3048000"/>
              <a:ext cx="2095500" cy="476250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 w="9525">
              <a:solidFill>
                <a:schemeClr val="accent1">
                  <a:alpha val="1500"/>
                </a:schemeClr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363117" y="3190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524500" y="30480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63367" y="3190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429500" y="30480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268367" y="3190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334500" y="3048000"/>
              <a:ext cx="20955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68617" y="3190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62000" y="3524250"/>
            <a:ext cx="10668000" cy="476250"/>
            <a:chOff x="762000" y="3524250"/>
            <a:chExt cx="10668000" cy="476250"/>
          </a:xfrm>
        </p:grpSpPr>
        <p:sp>
          <p:nvSpPr>
            <p:cNvPr id="59" name="Rectangle 59"/>
            <p:cNvSpPr/>
            <p:nvPr/>
          </p:nvSpPr>
          <p:spPr>
            <a:xfrm>
              <a:off x="762000" y="3524250"/>
              <a:ext cx="2667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6023" y="3672364"/>
              <a:ext cx="1643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ADMET Prediction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429000" y="3524250"/>
              <a:ext cx="20955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2400"/>
                </a:schemeClr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363117" y="3667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524500" y="3524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63367" y="3667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429500" y="3524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68367" y="3667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334500" y="3524250"/>
              <a:ext cx="2095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268617" y="3667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62000" y="4000500"/>
            <a:ext cx="10668000" cy="476250"/>
            <a:chOff x="762000" y="4000500"/>
            <a:chExt cx="10668000" cy="476250"/>
          </a:xfrm>
        </p:grpSpPr>
        <p:sp>
          <p:nvSpPr>
            <p:cNvPr id="70" name="Rectangle 70"/>
            <p:cNvSpPr/>
            <p:nvPr/>
          </p:nvSpPr>
          <p:spPr>
            <a:xfrm>
              <a:off x="762000" y="4000500"/>
              <a:ext cx="2667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6023" y="4148614"/>
              <a:ext cx="12693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MD Simulation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3429000" y="4000500"/>
              <a:ext cx="2095500" cy="476250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 w="9525">
              <a:solidFill>
                <a:schemeClr val="accent1">
                  <a:alpha val="1500"/>
                </a:schemeClr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363117" y="4143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524500" y="40005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63367" y="4143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429500" y="40005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268367" y="4143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334500" y="4000500"/>
              <a:ext cx="20955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268617" y="41433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762000" y="4476750"/>
            <a:ext cx="10668000" cy="476250"/>
            <a:chOff x="762000" y="4476750"/>
            <a:chExt cx="10668000" cy="476250"/>
          </a:xfrm>
        </p:grpSpPr>
        <p:sp>
          <p:nvSpPr>
            <p:cNvPr id="81" name="Rectangle 81"/>
            <p:cNvSpPr/>
            <p:nvPr/>
          </p:nvSpPr>
          <p:spPr>
            <a:xfrm>
              <a:off x="762000" y="4476750"/>
              <a:ext cx="2667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46023" y="4624864"/>
              <a:ext cx="11402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Assistant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3429000" y="4476750"/>
              <a:ext cx="20955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2400"/>
                </a:schemeClr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4363117" y="4619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524500" y="44767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363367" y="4619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429500" y="44767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268367" y="4619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9334500" y="4476750"/>
              <a:ext cx="2095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268617" y="46196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62000" y="4953000"/>
            <a:ext cx="10668000" cy="476250"/>
            <a:chOff x="762000" y="4953000"/>
            <a:chExt cx="10668000" cy="476250"/>
          </a:xfrm>
        </p:grpSpPr>
        <p:sp>
          <p:nvSpPr>
            <p:cNvPr id="92" name="Rectangle 92"/>
            <p:cNvSpPr/>
            <p:nvPr/>
          </p:nvSpPr>
          <p:spPr>
            <a:xfrm>
              <a:off x="762000" y="4953000"/>
              <a:ext cx="2667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946023" y="5101114"/>
              <a:ext cx="17380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Free for academics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3429000" y="4953000"/>
              <a:ext cx="2095500" cy="476250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 w="9525">
              <a:solidFill>
                <a:schemeClr val="accent1">
                  <a:alpha val="1500"/>
                </a:schemeClr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4363117" y="5095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5524500" y="49530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363367" y="5095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7429500" y="4953000"/>
              <a:ext cx="19050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268367" y="5095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9334500" y="4953000"/>
              <a:ext cx="2095500" cy="476250"/>
            </a:xfrm>
            <a:prstGeom prst="rect">
              <a:avLst/>
            </a:prstGeom>
            <a:solidFill>
              <a:srgbClr val="0D0F20"/>
            </a:solidFill>
            <a:ln w="9525">
              <a:solidFill>
                <a:srgbClr val="1A1D3A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0268617" y="50958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762000" y="5429250"/>
            <a:ext cx="10668000" cy="476250"/>
            <a:chOff x="762000" y="5429250"/>
            <a:chExt cx="10668000" cy="476250"/>
          </a:xfrm>
        </p:grpSpPr>
        <p:sp>
          <p:nvSpPr>
            <p:cNvPr id="103" name="Rectangle 103"/>
            <p:cNvSpPr/>
            <p:nvPr/>
          </p:nvSpPr>
          <p:spPr>
            <a:xfrm>
              <a:off x="762000" y="5429250"/>
              <a:ext cx="2667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46023" y="5577364"/>
              <a:ext cx="11973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Collaboration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3429000" y="5429250"/>
              <a:ext cx="20955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 w="9525">
              <a:solidFill>
                <a:schemeClr val="accent1">
                  <a:alpha val="2400"/>
                </a:schemeClr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4363117" y="557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5524500" y="5429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6363367" y="557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7429500" y="5429250"/>
              <a:ext cx="19050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8268367" y="557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9334500" y="5429250"/>
              <a:ext cx="2095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1A1D3A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10268617" y="557212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✗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3932107" y="6252210"/>
            <a:ext cx="6596177" cy="234696"/>
            <a:chOff x="3932107" y="6252210"/>
            <a:chExt cx="6596177" cy="234696"/>
          </a:xfrm>
        </p:grpSpPr>
        <p:sp>
          <p:nvSpPr>
            <p:cNvPr id="114" name="TextBox 114"/>
            <p:cNvSpPr txBox="1"/>
            <p:nvPr/>
          </p:nvSpPr>
          <p:spPr>
            <a:xfrm>
              <a:off x="3932107" y="6252210"/>
              <a:ext cx="1089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9/9 features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6330967" y="62522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3/9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235967" y="62522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3/9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0236217" y="62522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5/9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119" name="Rectangle 11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742950" y="1798320"/>
            <a:ext cx="877725" cy="1047750"/>
            <a:chOff x="742950" y="1798320"/>
            <a:chExt cx="877725" cy="1047750"/>
          </a:xfrm>
        </p:grpSpPr>
        <p:sp>
          <p:nvSpPr>
            <p:cNvPr id="3" name="TextBox 3"/>
            <p:cNvSpPr txBox="1"/>
            <p:nvPr/>
          </p:nvSpPr>
          <p:spPr>
            <a:xfrm>
              <a:off x="742950" y="17983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3712" y="2945130"/>
            <a:ext cx="4418144" cy="704088"/>
            <a:chOff x="743712" y="2945130"/>
            <a:chExt cx="4418144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2945130"/>
              <a:ext cx="44181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Docking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856" y="3806190"/>
            <a:ext cx="4978908" cy="352044"/>
            <a:chOff x="752856" y="3806190"/>
            <a:chExt cx="4978908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752856" y="3806190"/>
              <a:ext cx="49789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Find the right key for your protein lock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9" name="Rectangle 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7613616" cy="616077"/>
            <a:chOff x="745998" y="402908"/>
            <a:chExt cx="761361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76136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Core Concepts in Molecular Docking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2000" y="1143000"/>
            <a:ext cx="10668000" cy="1619250"/>
            <a:chOff x="762000" y="1143000"/>
            <a:chExt cx="10668000" cy="161925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10668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32332" y="1344930"/>
              <a:ext cx="17007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Binding Site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3856" y="1805940"/>
              <a:ext cx="50185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specific pocket where a drug binds.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3856" y="2186940"/>
              <a:ext cx="4714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BioDockify auto-detects likely sites.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2952750"/>
            <a:ext cx="10668000" cy="1619250"/>
            <a:chOff x="762000" y="2952750"/>
            <a:chExt cx="10668000" cy="1619250"/>
          </a:xfrm>
        </p:grpSpPr>
        <p:sp>
          <p:nvSpPr>
            <p:cNvPr id="9" name="Rectangle 9"/>
            <p:cNvSpPr/>
            <p:nvPr/>
          </p:nvSpPr>
          <p:spPr>
            <a:xfrm>
              <a:off x="762000" y="2952750"/>
              <a:ext cx="10668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2332" y="3154680"/>
              <a:ext cx="242890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Scoring Function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3856" y="3615690"/>
              <a:ext cx="5541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Mathematical estimate of binding strength.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3856" y="3996690"/>
              <a:ext cx="40853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Lower score = stronger binding.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4762500"/>
            <a:ext cx="10668000" cy="1619250"/>
            <a:chOff x="762000" y="4762500"/>
            <a:chExt cx="10668000" cy="1619250"/>
          </a:xfrm>
        </p:grpSpPr>
        <p:sp>
          <p:nvSpPr>
            <p:cNvPr id="14" name="Rectangle 14"/>
            <p:cNvSpPr/>
            <p:nvPr/>
          </p:nvSpPr>
          <p:spPr>
            <a:xfrm>
              <a:off x="762000" y="4762500"/>
              <a:ext cx="10668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2332" y="4964430"/>
              <a:ext cx="24887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Search Algorithm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3856" y="5425440"/>
              <a:ext cx="46973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How software explores orientations.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3856" y="5806440"/>
              <a:ext cx="40440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Vina uses iterated local search.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19" name="Rectangle 1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6634260" cy="616077"/>
            <a:chOff x="745998" y="402908"/>
            <a:chExt cx="663426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663426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Preparing Your Protein Target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2000" y="1238250"/>
            <a:ext cx="6441596" cy="763715"/>
            <a:chOff x="762000" y="1238250"/>
            <a:chExt cx="6441596" cy="763715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5452" y="1392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609344" y="1265872"/>
              <a:ext cx="2097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Fetch from PDB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10868" y="1679258"/>
              <a:ext cx="55927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Enter PDB ID to download the crystal structure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2476500"/>
            <a:ext cx="6430172" cy="763715"/>
            <a:chOff x="762000" y="2476500"/>
            <a:chExt cx="6430172" cy="763715"/>
          </a:xfrm>
        </p:grpSpPr>
        <p:sp>
          <p:nvSpPr>
            <p:cNvPr id="9" name="Rectangle 9"/>
            <p:cNvSpPr/>
            <p:nvPr/>
          </p:nvSpPr>
          <p:spPr>
            <a:xfrm>
              <a:off x="762000" y="2476500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55452" y="26308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09344" y="2504122"/>
              <a:ext cx="55828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Remove water and co-crystallized ligands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10868" y="2917508"/>
              <a:ext cx="49747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Automatic — cleans the binding environment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3714750"/>
            <a:ext cx="6469523" cy="763715"/>
            <a:chOff x="762000" y="3714750"/>
            <a:chExt cx="6469523" cy="763715"/>
          </a:xfrm>
        </p:grpSpPr>
        <p:sp>
          <p:nvSpPr>
            <p:cNvPr id="14" name="Rectangle 14"/>
            <p:cNvSpPr/>
            <p:nvPr/>
          </p:nvSpPr>
          <p:spPr>
            <a:xfrm>
              <a:off x="762000" y="3714750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55452" y="38690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09344" y="3742372"/>
              <a:ext cx="53072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Add polar hydrogens and assign charges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0868" y="4155758"/>
              <a:ext cx="56206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Automatic — ensures correct protonation states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4953000"/>
            <a:ext cx="6117065" cy="763715"/>
            <a:chOff x="762000" y="4953000"/>
            <a:chExt cx="6117065" cy="763715"/>
          </a:xfrm>
        </p:grpSpPr>
        <p:sp>
          <p:nvSpPr>
            <p:cNvPr id="19" name="Rectangle 19"/>
            <p:cNvSpPr/>
            <p:nvPr/>
          </p:nvSpPr>
          <p:spPr>
            <a:xfrm>
              <a:off x="762000" y="4953000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5452" y="51073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09344" y="4980622"/>
              <a:ext cx="36529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Define the grid box visually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10868" y="5394008"/>
              <a:ext cx="52681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Drag handles to set the docking search region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5142" y="6283642"/>
            <a:ext cx="2366494" cy="264033"/>
            <a:chOff x="755142" y="6283642"/>
            <a:chExt cx="2366494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755142" y="6283642"/>
              <a:ext cx="2366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Steps 2–3 are automated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6" name="Rectangle 2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6521977" cy="616077"/>
            <a:chOff x="745998" y="402908"/>
            <a:chExt cx="652197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652197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Preparing Your Ligand Library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333500"/>
            <a:ext cx="3238500" cy="3619500"/>
            <a:chOff x="762000" y="1333500"/>
            <a:chExt cx="3238500" cy="3619500"/>
          </a:xfrm>
        </p:grpSpPr>
        <p:sp>
          <p:nvSpPr>
            <p:cNvPr id="4" name="Rectangle 4"/>
            <p:cNvSpPr/>
            <p:nvPr/>
          </p:nvSpPr>
          <p:spPr>
            <a:xfrm>
              <a:off x="762000" y="1333500"/>
              <a:ext cx="3238500" cy="3619500"/>
            </a:xfrm>
            <a:prstGeom prst="roundRect">
              <a:avLst>
                <a:gd name="adj" fmla="val 41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3335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009337" y="1964055"/>
              <a:ext cx="7438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Draw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98078" y="2584132"/>
              <a:ext cx="23663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Built-in 2D sketcher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95773" y="2965132"/>
              <a:ext cx="15709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Generates 3D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2250" y="3298508"/>
              <a:ext cx="13780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coordinates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1333500"/>
            <a:ext cx="3238500" cy="3619500"/>
            <a:chOff x="4476750" y="1333500"/>
            <a:chExt cx="3238500" cy="3619500"/>
          </a:xfrm>
        </p:grpSpPr>
        <p:sp>
          <p:nvSpPr>
            <p:cNvPr id="11" name="Rectangle 11"/>
            <p:cNvSpPr/>
            <p:nvPr/>
          </p:nvSpPr>
          <p:spPr>
            <a:xfrm>
              <a:off x="4476750" y="1333500"/>
              <a:ext cx="3238500" cy="3619500"/>
            </a:xfrm>
            <a:prstGeom prst="roundRect">
              <a:avLst>
                <a:gd name="adj" fmla="val 41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04825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28385" y="1964055"/>
              <a:ext cx="9352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Upload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92052" y="2584132"/>
              <a:ext cx="16078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Drag and drop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91177" y="2965132"/>
              <a:ext cx="28096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SDF / MOL2 / SMILES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23585" y="3298508"/>
              <a:ext cx="5448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files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91500" y="1333500"/>
            <a:ext cx="3238500" cy="3619500"/>
            <a:chOff x="8191500" y="1333500"/>
            <a:chExt cx="3238500" cy="3619500"/>
          </a:xfrm>
        </p:grpSpPr>
        <p:sp>
          <p:nvSpPr>
            <p:cNvPr id="18" name="Rectangle 18"/>
            <p:cNvSpPr/>
            <p:nvPr/>
          </p:nvSpPr>
          <p:spPr>
            <a:xfrm>
              <a:off x="8191500" y="1333500"/>
              <a:ext cx="3238500" cy="3619500"/>
            </a:xfrm>
            <a:prstGeom prst="roundRect">
              <a:avLst>
                <a:gd name="adj" fmla="val 41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763000" y="1714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87310" y="196405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Fetch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60263" y="2584132"/>
              <a:ext cx="19009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Search PubChem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65680" y="2965132"/>
              <a:ext cx="18901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or ZINC by name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218811" y="5425440"/>
            <a:ext cx="5754378" cy="352044"/>
            <a:chOff x="3218811" y="5425440"/>
            <a:chExt cx="5754378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3218811" y="5425440"/>
              <a:ext cx="5754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Screen 1 to 10,000 molecules in a single batch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6" name="Rectangle 2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6352752" cy="616077"/>
            <a:chOff x="745998" y="402908"/>
            <a:chExt cx="635275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63527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Running a Docking Experiment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2000" y="1238250"/>
            <a:ext cx="10668000" cy="1524000"/>
            <a:chOff x="762000" y="1238250"/>
            <a:chExt cx="10668000" cy="1524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32332" y="1440180"/>
              <a:ext cx="22417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Exhaustiveness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183380" y="1504950"/>
              <a:ext cx="25193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Range: 1–32 | Default: 8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3856" y="1948815"/>
              <a:ext cx="7379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Controls search thoroughness. Higher values explore more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3856" y="2282190"/>
              <a:ext cx="3973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conformations but take longer.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2952750"/>
            <a:ext cx="10668000" cy="1524000"/>
            <a:chOff x="762000" y="2952750"/>
            <a:chExt cx="10668000" cy="1524000"/>
          </a:xfrm>
        </p:grpSpPr>
        <p:sp>
          <p:nvSpPr>
            <p:cNvPr id="10" name="Rectangle 10"/>
            <p:cNvSpPr/>
            <p:nvPr/>
          </p:nvSpPr>
          <p:spPr>
            <a:xfrm>
              <a:off x="762000" y="295275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2332" y="3154680"/>
              <a:ext cx="24616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Number of Modes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64380" y="3219450"/>
              <a:ext cx="25193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Range: 1–20 | Default: 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663315"/>
              <a:ext cx="5657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Number of binding poses returned per ligand.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3856" y="3996690"/>
              <a:ext cx="73587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 modes help identify alternative binding orientations.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4667250"/>
            <a:ext cx="10668000" cy="1524000"/>
            <a:chOff x="762000" y="4667250"/>
            <a:chExt cx="106680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762000" y="4667250"/>
              <a:ext cx="10668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2332" y="4869180"/>
              <a:ext cx="19256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Energy Range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2380" y="4933950"/>
              <a:ext cx="27462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Unit: kcal/mol | Default: 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3856" y="5377815"/>
              <a:ext cx="59411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Maximum score difference from the best pose.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3856" y="5711190"/>
              <a:ext cx="63109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Wider range returns more diverse conformations.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55142" y="6474142"/>
            <a:ext cx="2222378" cy="264033"/>
            <a:chOff x="755142" y="6474142"/>
            <a:chExt cx="2222378" cy="264033"/>
          </a:xfrm>
        </p:grpSpPr>
        <p:sp>
          <p:nvSpPr>
            <p:cNvPr id="22" name="TextBox 22"/>
            <p:cNvSpPr txBox="1"/>
            <p:nvPr/>
          </p:nvSpPr>
          <p:spPr>
            <a:xfrm>
              <a:off x="755142" y="6474142"/>
              <a:ext cx="2222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Results in 1–10 minutes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4" name="Rectangle 2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6261480" cy="616077"/>
            <a:chOff x="745998" y="402908"/>
            <a:chExt cx="626148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62614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Interpreting Docking Results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143000"/>
            <a:ext cx="5905500" cy="4953000"/>
            <a:chOff x="762000" y="1143000"/>
            <a:chExt cx="5905500" cy="495300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5905500" cy="4953000"/>
            </a:xfrm>
            <a:prstGeom prst="roundRect">
              <a:avLst>
                <a:gd name="adj" fmla="val 269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456359" y="1378268"/>
              <a:ext cx="2516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Binding Affinity (kcal/mol)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333500" y="5524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333500" y="17145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714500" y="2667000"/>
              <a:ext cx="571500" cy="28575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571750" y="2095500"/>
              <a:ext cx="571500" cy="3429000"/>
            </a:xfrm>
            <a:prstGeom prst="roundRect">
              <a:avLst>
                <a:gd name="adj" fmla="val 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429000" y="3048000"/>
              <a:ext cx="571500" cy="24765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286250" y="3619500"/>
              <a:ext cx="571500" cy="19050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143500" y="3333750"/>
              <a:ext cx="571500" cy="219075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00750" y="4000500"/>
              <a:ext cx="571500" cy="1524000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91277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7002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2727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8452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4177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99022" y="569690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L6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048500" y="1238250"/>
            <a:ext cx="4572000" cy="1047750"/>
            <a:chOff x="7048500" y="1238250"/>
            <a:chExt cx="4572000" cy="1047750"/>
          </a:xfrm>
        </p:grpSpPr>
        <p:sp>
          <p:nvSpPr>
            <p:cNvPr id="21" name="Rectangle 21"/>
            <p:cNvSpPr/>
            <p:nvPr/>
          </p:nvSpPr>
          <p:spPr>
            <a:xfrm>
              <a:off x="7048500" y="1238250"/>
              <a:ext cx="4572000" cy="1047750"/>
            </a:xfrm>
            <a:prstGeom prst="roundRect">
              <a:avLst>
                <a:gd name="adj" fmla="val 12727"/>
              </a:avLst>
            </a:prstGeom>
            <a:solidFill>
              <a:srgbClr val="1A3D2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20356" y="1443990"/>
              <a:ext cx="1157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Excellent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21118" y="1822132"/>
              <a:ext cx="17652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 –9.0 kcal/mol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048500" y="2476500"/>
            <a:ext cx="4572000" cy="1047750"/>
            <a:chOff x="7048500" y="2476500"/>
            <a:chExt cx="4572000" cy="1047750"/>
          </a:xfrm>
        </p:grpSpPr>
        <p:sp>
          <p:nvSpPr>
            <p:cNvPr id="25" name="Rectangle 25"/>
            <p:cNvSpPr/>
            <p:nvPr/>
          </p:nvSpPr>
          <p:spPr>
            <a:xfrm>
              <a:off x="7048500" y="2476500"/>
              <a:ext cx="4572000" cy="1047750"/>
            </a:xfrm>
            <a:prstGeom prst="roundRect">
              <a:avLst>
                <a:gd name="adj" fmla="val 12727"/>
              </a:avLst>
            </a:prstGeom>
            <a:solidFill>
              <a:srgbClr val="1A2D4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20356" y="2682240"/>
              <a:ext cx="585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60A5FA"/>
                  </a:solidFill>
                  <a:latin typeface="+mj-lt"/>
                  <a:ea typeface="+mj-ea"/>
                  <a:cs typeface="+mj-cs"/>
                </a:rPr>
                <a:t>Good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21118" y="3060382"/>
              <a:ext cx="2481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–7.0 to –9.0 kcal/mol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048500" y="3714750"/>
            <a:ext cx="4572000" cy="1047750"/>
            <a:chOff x="7048500" y="3714750"/>
            <a:chExt cx="4572000" cy="1047750"/>
          </a:xfrm>
        </p:grpSpPr>
        <p:sp>
          <p:nvSpPr>
            <p:cNvPr id="29" name="Rectangle 29"/>
            <p:cNvSpPr/>
            <p:nvPr/>
          </p:nvSpPr>
          <p:spPr>
            <a:xfrm>
              <a:off x="7048500" y="3714750"/>
              <a:ext cx="4572000" cy="1047750"/>
            </a:xfrm>
            <a:prstGeom prst="roundRect">
              <a:avLst>
                <a:gd name="adj" fmla="val 12727"/>
              </a:avLst>
            </a:prstGeom>
            <a:solidFill>
              <a:srgbClr val="3D332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20356" y="3920490"/>
              <a:ext cx="11969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Moderate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1118" y="4298632"/>
              <a:ext cx="2481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–5.0 to –7.0 kcal/mol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048500" y="4953000"/>
            <a:ext cx="4572000" cy="1047750"/>
            <a:chOff x="7048500" y="4953000"/>
            <a:chExt cx="4572000" cy="1047750"/>
          </a:xfrm>
        </p:grpSpPr>
        <p:sp>
          <p:nvSpPr>
            <p:cNvPr id="33" name="Rectangle 33"/>
            <p:cNvSpPr/>
            <p:nvPr/>
          </p:nvSpPr>
          <p:spPr>
            <a:xfrm>
              <a:off x="7048500" y="4953000"/>
              <a:ext cx="4572000" cy="1047750"/>
            </a:xfrm>
            <a:prstGeom prst="roundRect">
              <a:avLst>
                <a:gd name="adj" fmla="val 12727"/>
              </a:avLst>
            </a:prstGeom>
            <a:solidFill>
              <a:srgbClr val="3D1A1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20356" y="5158740"/>
              <a:ext cx="6375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87171"/>
                  </a:solidFill>
                  <a:latin typeface="+mj-lt"/>
                  <a:ea typeface="+mj-ea"/>
                  <a:cs typeface="+mj-cs"/>
                </a:rPr>
                <a:t>Weak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21118" y="5536882"/>
              <a:ext cx="17652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&gt; –5.0 kcal/mol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7" name="Rectangle 3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742950" y="1798320"/>
            <a:ext cx="877725" cy="1047750"/>
            <a:chOff x="742950" y="1798320"/>
            <a:chExt cx="877725" cy="1047750"/>
          </a:xfrm>
        </p:grpSpPr>
        <p:sp>
          <p:nvSpPr>
            <p:cNvPr id="3" name="TextBox 3"/>
            <p:cNvSpPr txBox="1"/>
            <p:nvPr/>
          </p:nvSpPr>
          <p:spPr>
            <a:xfrm>
              <a:off x="742950" y="17983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3712" y="2945130"/>
            <a:ext cx="4329753" cy="704088"/>
            <a:chOff x="743712" y="2945130"/>
            <a:chExt cx="4329753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2945130"/>
              <a:ext cx="43297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Prediction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856" y="3806190"/>
            <a:ext cx="4032398" cy="352044"/>
            <a:chOff x="752856" y="3806190"/>
            <a:chExt cx="4032398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752856" y="3806190"/>
              <a:ext cx="40323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Will your drug survive the body?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9" name="Rectangle 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9356644" cy="616077"/>
            <a:chOff x="745998" y="402908"/>
            <a:chExt cx="935664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93566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Parameters Predicted by BioDockify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55142" y="1143000"/>
            <a:ext cx="1682153" cy="1867281"/>
            <a:chOff x="755142" y="1143000"/>
            <a:chExt cx="1682153" cy="1867281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7620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3772" y="1238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5142" y="1711642"/>
              <a:ext cx="1021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Absorption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904" y="2108835"/>
              <a:ext cx="1600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Oral bioavailability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5904" y="2442210"/>
              <a:ext cx="16813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Caco-2 permeability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2775585"/>
              <a:ext cx="13646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HIA (intestinal)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945892" y="1143000"/>
            <a:ext cx="1876135" cy="2105406"/>
            <a:chOff x="2945892" y="1143000"/>
            <a:chExt cx="1876135" cy="2105406"/>
          </a:xfrm>
        </p:grpSpPr>
        <p:sp>
          <p:nvSpPr>
            <p:cNvPr id="11" name="Rectangle 11"/>
            <p:cNvSpPr/>
            <p:nvPr/>
          </p:nvSpPr>
          <p:spPr>
            <a:xfrm>
              <a:off x="2952750" y="1143000"/>
              <a:ext cx="7620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264522" y="1238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45892" y="1711642"/>
              <a:ext cx="11353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Distribution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46654" y="2108835"/>
              <a:ext cx="1395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BBB penetration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46654" y="2442210"/>
              <a:ext cx="1252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Plasma protein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46654" y="2680335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binding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46654" y="3013710"/>
              <a:ext cx="18753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Volume of distribution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36642" y="1143000"/>
            <a:ext cx="1463896" cy="1867281"/>
            <a:chOff x="5136642" y="1143000"/>
            <a:chExt cx="1463896" cy="1867281"/>
          </a:xfrm>
        </p:grpSpPr>
        <p:sp>
          <p:nvSpPr>
            <p:cNvPr id="19" name="Rectangle 19"/>
            <p:cNvSpPr/>
            <p:nvPr/>
          </p:nvSpPr>
          <p:spPr>
            <a:xfrm>
              <a:off x="5143500" y="1143000"/>
              <a:ext cx="7620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32870" y="1238250"/>
              <a:ext cx="183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36642" y="1711642"/>
              <a:ext cx="1049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Metabolism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37404" y="2108835"/>
              <a:ext cx="1463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CYP450 inhibition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37404" y="2442210"/>
              <a:ext cx="1253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CYP substrate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37404" y="2775585"/>
              <a:ext cx="1226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Half-life class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327392" y="1143000"/>
            <a:ext cx="1262165" cy="1867281"/>
            <a:chOff x="7327392" y="1143000"/>
            <a:chExt cx="1262165" cy="1867281"/>
          </a:xfrm>
        </p:grpSpPr>
        <p:sp>
          <p:nvSpPr>
            <p:cNvPr id="26" name="Rectangle 26"/>
            <p:cNvSpPr/>
            <p:nvPr/>
          </p:nvSpPr>
          <p:spPr>
            <a:xfrm>
              <a:off x="7334250" y="1143000"/>
              <a:ext cx="7620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46022" y="1238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27392" y="1711642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Excretion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28154" y="2108835"/>
              <a:ext cx="12614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Clearance rate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28154" y="2442210"/>
              <a:ext cx="9948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Renal OCT2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28154" y="2775585"/>
              <a:ext cx="8570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substrate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8142" y="1143000"/>
            <a:ext cx="1631442" cy="1867281"/>
            <a:chOff x="9518142" y="1143000"/>
            <a:chExt cx="1631442" cy="1867281"/>
          </a:xfrm>
        </p:grpSpPr>
        <p:sp>
          <p:nvSpPr>
            <p:cNvPr id="33" name="Rectangle 33"/>
            <p:cNvSpPr/>
            <p:nvPr/>
          </p:nvSpPr>
          <p:spPr>
            <a:xfrm>
              <a:off x="9525000" y="1143000"/>
              <a:ext cx="7620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36772" y="1238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18142" y="1711642"/>
              <a:ext cx="763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Toxicity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18904" y="2108835"/>
              <a:ext cx="12618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hERG inhibition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18904" y="2442210"/>
              <a:ext cx="1630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AMES mutagenicity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18904" y="2775585"/>
              <a:ext cx="12599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Hepatotoxicity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0" name="Rectangle 4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5539293" cy="616077"/>
            <a:chOff x="745998" y="402908"/>
            <a:chExt cx="553929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55392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Running ADMET Prediction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428750"/>
            <a:ext cx="3048000" cy="3238500"/>
            <a:chOff x="762000" y="1428750"/>
            <a:chExt cx="3048000" cy="3238500"/>
          </a:xfrm>
        </p:grpSpPr>
        <p:sp>
          <p:nvSpPr>
            <p:cNvPr id="4" name="Rectangle 4"/>
            <p:cNvSpPr/>
            <p:nvPr/>
          </p:nvSpPr>
          <p:spPr>
            <a:xfrm>
              <a:off x="762000" y="1428750"/>
              <a:ext cx="3048000" cy="3238500"/>
            </a:xfrm>
            <a:prstGeom prst="roundRect">
              <a:avLst>
                <a:gd name="adj" fmla="val 43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905000" y="18097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180516" y="20459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87360" y="2853690"/>
              <a:ext cx="21972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Select Compounds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30032" y="3362325"/>
              <a:ext cx="13119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Import from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78280" y="3648075"/>
              <a:ext cx="1615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docking results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082034" y="2851785"/>
            <a:ext cx="237338" cy="528066"/>
            <a:chOff x="4082034" y="2851785"/>
            <a:chExt cx="237338" cy="528066"/>
          </a:xfrm>
        </p:grpSpPr>
        <p:sp>
          <p:nvSpPr>
            <p:cNvPr id="11" name="TextBox 11"/>
            <p:cNvSpPr txBox="1"/>
            <p:nvPr/>
          </p:nvSpPr>
          <p:spPr>
            <a:xfrm>
              <a:off x="4082034" y="28517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0" y="1428750"/>
            <a:ext cx="3048000" cy="3238500"/>
            <a:chOff x="4572000" y="1428750"/>
            <a:chExt cx="3048000" cy="3238500"/>
          </a:xfrm>
        </p:grpSpPr>
        <p:sp>
          <p:nvSpPr>
            <p:cNvPr id="13" name="Rectangle 13"/>
            <p:cNvSpPr/>
            <p:nvPr/>
          </p:nvSpPr>
          <p:spPr>
            <a:xfrm>
              <a:off x="4572000" y="1428750"/>
              <a:ext cx="3048000" cy="3238500"/>
            </a:xfrm>
            <a:prstGeom prst="roundRect">
              <a:avLst>
                <a:gd name="adj" fmla="val 43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0" y="18097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90516" y="20459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22995" y="2853690"/>
              <a:ext cx="21460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Choose Endpoints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37741" y="3362325"/>
              <a:ext cx="15165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Select ADMET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28310" y="3648075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properties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92034" y="2851785"/>
            <a:ext cx="237338" cy="528066"/>
            <a:chOff x="7892034" y="2851785"/>
            <a:chExt cx="237338" cy="528066"/>
          </a:xfrm>
        </p:grpSpPr>
        <p:sp>
          <p:nvSpPr>
            <p:cNvPr id="20" name="TextBox 20"/>
            <p:cNvSpPr txBox="1"/>
            <p:nvPr/>
          </p:nvSpPr>
          <p:spPr>
            <a:xfrm>
              <a:off x="7892034" y="285178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382000" y="1428750"/>
            <a:ext cx="3048000" cy="3238500"/>
            <a:chOff x="8382000" y="1428750"/>
            <a:chExt cx="3048000" cy="3238500"/>
          </a:xfrm>
        </p:grpSpPr>
        <p:sp>
          <p:nvSpPr>
            <p:cNvPr id="22" name="Rectangle 22"/>
            <p:cNvSpPr/>
            <p:nvPr/>
          </p:nvSpPr>
          <p:spPr>
            <a:xfrm>
              <a:off x="8382000" y="1428750"/>
              <a:ext cx="3048000" cy="3238500"/>
            </a:xfrm>
            <a:prstGeom prst="roundRect">
              <a:avLst>
                <a:gd name="adj" fmla="val 43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525000" y="18097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00516" y="20459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70899" y="2853690"/>
              <a:ext cx="20702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Generate Report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77910" y="3362325"/>
              <a:ext cx="20561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ML models predict;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35564" y="3648075"/>
              <a:ext cx="1940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CSV + radar chart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392119" y="5425440"/>
            <a:ext cx="5407762" cy="352044"/>
            <a:chOff x="3392119" y="5425440"/>
            <a:chExt cx="5407762" cy="352044"/>
          </a:xfrm>
        </p:grpSpPr>
        <p:sp>
          <p:nvSpPr>
            <p:cNvPr id="29" name="TextBox 29"/>
            <p:cNvSpPr txBox="1"/>
            <p:nvPr/>
          </p:nvSpPr>
          <p:spPr>
            <a:xfrm>
              <a:off x="3392119" y="5425440"/>
              <a:ext cx="54077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compounds profiled in under 60 seconds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1" name="Rectangle 3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5934290" cy="616077"/>
            <a:chOff x="745998" y="402908"/>
            <a:chExt cx="593429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593429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Reading Your ADMET Profile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047750"/>
            <a:ext cx="5905500" cy="5334000"/>
            <a:chOff x="762000" y="1047750"/>
            <a:chExt cx="5905500" cy="5334000"/>
          </a:xfrm>
        </p:grpSpPr>
        <p:sp>
          <p:nvSpPr>
            <p:cNvPr id="4" name="Rectangle 4"/>
            <p:cNvSpPr/>
            <p:nvPr/>
          </p:nvSpPr>
          <p:spPr>
            <a:xfrm>
              <a:off x="762000" y="1047750"/>
              <a:ext cx="5905500" cy="5334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Polygon 5"/>
            <p:cNvSpPr/>
            <p:nvPr/>
          </p:nvSpPr>
          <p:spPr>
            <a:xfrm>
              <a:off x="2286000" y="1714500"/>
              <a:ext cx="2857500" cy="3238500"/>
            </a:xfrm>
            <a:custGeom>
              <a:avLst/>
              <a:gdLst/>
              <a:ahLst/>
              <a:cxnLst/>
              <a:rect l="l" t="t" r="r" b="b"/>
              <a:pathLst>
                <a:path w="2857500" h="3238500">
                  <a:moveTo>
                    <a:pt x="1428750" y="0"/>
                  </a:moveTo>
                  <a:lnTo>
                    <a:pt x="2857500" y="857250"/>
                  </a:lnTo>
                  <a:lnTo>
                    <a:pt x="2857500" y="2381250"/>
                  </a:lnTo>
                  <a:lnTo>
                    <a:pt x="1428750" y="3238500"/>
                  </a:lnTo>
                  <a:lnTo>
                    <a:pt x="0" y="2381250"/>
                  </a:lnTo>
                  <a:lnTo>
                    <a:pt x="0" y="857250"/>
                  </a:lnTo>
                  <a:close/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6" name="Polygon 6"/>
            <p:cNvSpPr/>
            <p:nvPr/>
          </p:nvSpPr>
          <p:spPr>
            <a:xfrm>
              <a:off x="2571750" y="2095500"/>
              <a:ext cx="2286000" cy="2476500"/>
            </a:xfrm>
            <a:custGeom>
              <a:avLst/>
              <a:gdLst/>
              <a:ahLst/>
              <a:cxnLst/>
              <a:rect l="l" t="t" r="r" b="b"/>
              <a:pathLst>
                <a:path w="2286000" h="2476500">
                  <a:moveTo>
                    <a:pt x="1143000" y="0"/>
                  </a:moveTo>
                  <a:lnTo>
                    <a:pt x="2286000" y="666750"/>
                  </a:lnTo>
                  <a:lnTo>
                    <a:pt x="2286000" y="1714500"/>
                  </a:lnTo>
                  <a:lnTo>
                    <a:pt x="1143000" y="2476500"/>
                  </a:lnTo>
                  <a:lnTo>
                    <a:pt x="0" y="1714500"/>
                  </a:lnTo>
                  <a:lnTo>
                    <a:pt x="0" y="666750"/>
                  </a:lnTo>
                  <a:close/>
                </a:path>
              </a:pathLst>
            </a:custGeom>
            <a:noFill/>
            <a:ln w="9525">
              <a:solidFill>
                <a:schemeClr val="accent3">
                  <a:alpha val="20000"/>
                </a:schemeClr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2857500" y="2476500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857250" y="0"/>
                  </a:moveTo>
                  <a:lnTo>
                    <a:pt x="1714500" y="476250"/>
                  </a:lnTo>
                  <a:lnTo>
                    <a:pt x="1714500" y="1143000"/>
                  </a:lnTo>
                  <a:lnTo>
                    <a:pt x="857250" y="1714500"/>
                  </a:lnTo>
                  <a:lnTo>
                    <a:pt x="0" y="1143000"/>
                  </a:lnTo>
                  <a:lnTo>
                    <a:pt x="0" y="476250"/>
                  </a:lnTo>
                  <a:close/>
                </a:path>
              </a:pathLst>
            </a:custGeom>
            <a:noFill/>
            <a:ln w="9525">
              <a:solidFill>
                <a:schemeClr val="accent3">
                  <a:alpha val="15000"/>
                </a:schemeClr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2476500" y="2000250"/>
              <a:ext cx="2476500" cy="2667000"/>
            </a:xfrm>
            <a:custGeom>
              <a:avLst/>
              <a:gdLst/>
              <a:ahLst/>
              <a:cxnLst/>
              <a:rect l="l" t="t" r="r" b="b"/>
              <a:pathLst>
                <a:path w="2476500" h="2667000">
                  <a:moveTo>
                    <a:pt x="1238250" y="0"/>
                  </a:moveTo>
                  <a:lnTo>
                    <a:pt x="2476500" y="666750"/>
                  </a:lnTo>
                  <a:lnTo>
                    <a:pt x="2286000" y="2000250"/>
                  </a:lnTo>
                  <a:lnTo>
                    <a:pt x="1238250" y="2667000"/>
                  </a:lnTo>
                  <a:lnTo>
                    <a:pt x="0" y="1905000"/>
                  </a:lnTo>
                  <a:lnTo>
                    <a:pt x="190500" y="66675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336269" y="1505902"/>
              <a:ext cx="7569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Absorption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8666" y="2458402"/>
              <a:ext cx="841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Distribution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28666" y="4077652"/>
              <a:ext cx="778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Metabolism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75152" y="5077778"/>
              <a:ext cx="6791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Excretion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34997" y="4077652"/>
              <a:ext cx="565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Toxicity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50486" y="2458402"/>
              <a:ext cx="650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Solubility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48500" y="1238250"/>
            <a:ext cx="4572000" cy="1428750"/>
            <a:chOff x="7048500" y="1238250"/>
            <a:chExt cx="4572000" cy="1428750"/>
          </a:xfrm>
        </p:grpSpPr>
        <p:sp>
          <p:nvSpPr>
            <p:cNvPr id="16" name="Rectangle 16"/>
            <p:cNvSpPr/>
            <p:nvPr/>
          </p:nvSpPr>
          <p:spPr>
            <a:xfrm>
              <a:off x="7048500" y="12382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1A3D2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315200" y="1600200"/>
              <a:ext cx="228600" cy="228600"/>
            </a:xfrm>
            <a:prstGeom prst="ellipse">
              <a:avLst/>
            </a:prstGeom>
            <a:solidFill>
              <a:srgbClr val="4ADE8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06106" y="1586865"/>
              <a:ext cx="1737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All Acceptable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21118" y="2060258"/>
              <a:ext cx="29435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Advance to MD simulation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48500" y="2952750"/>
            <a:ext cx="4572000" cy="1428750"/>
            <a:chOff x="7048500" y="2952750"/>
            <a:chExt cx="45720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7048500" y="29527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3D3320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7315200" y="3314700"/>
              <a:ext cx="228600" cy="22860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06106" y="3301365"/>
              <a:ext cx="15684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1–2 Marginal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21118" y="3774758"/>
              <a:ext cx="2507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Consider modification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048500" y="4667250"/>
            <a:ext cx="4572000" cy="1428750"/>
            <a:chOff x="7048500" y="4667250"/>
            <a:chExt cx="4572000" cy="1428750"/>
          </a:xfrm>
        </p:grpSpPr>
        <p:sp>
          <p:nvSpPr>
            <p:cNvPr id="26" name="Rectangle 26"/>
            <p:cNvSpPr/>
            <p:nvPr/>
          </p:nvSpPr>
          <p:spPr>
            <a:xfrm>
              <a:off x="7048500" y="46672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3D1A1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315200" y="5029200"/>
              <a:ext cx="228600" cy="22860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06106" y="5015865"/>
              <a:ext cx="16736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F87171"/>
                  </a:solidFill>
                  <a:latin typeface="+mj-lt"/>
                  <a:ea typeface="+mj-ea"/>
                  <a:cs typeface="+mj-cs"/>
                </a:rPr>
                <a:t>Critical Issue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21118" y="5489258"/>
              <a:ext cx="20621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Redesign scaffold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1" name="Rectangle 3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742950" y="1798320"/>
            <a:ext cx="877725" cy="1047750"/>
            <a:chOff x="742950" y="1798320"/>
            <a:chExt cx="877725" cy="1047750"/>
          </a:xfrm>
        </p:grpSpPr>
        <p:sp>
          <p:nvSpPr>
            <p:cNvPr id="3" name="TextBox 3"/>
            <p:cNvSpPr txBox="1"/>
            <p:nvPr/>
          </p:nvSpPr>
          <p:spPr>
            <a:xfrm>
              <a:off x="742950" y="17983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3712" y="2945130"/>
            <a:ext cx="7487107" cy="704088"/>
            <a:chOff x="743712" y="2945130"/>
            <a:chExt cx="7487107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2945130"/>
              <a:ext cx="748710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Molecular Dynamics Simulation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856" y="3806190"/>
            <a:ext cx="2995863" cy="352044"/>
            <a:chOff x="752856" y="3806190"/>
            <a:chExt cx="2995863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752856" y="3806190"/>
              <a:ext cx="29958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From snapshot to movie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9" name="Rectangle 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6004237" cy="616077"/>
            <a:chOff x="745998" y="402908"/>
            <a:chExt cx="600423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600423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Setting Up an MD Simulation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524000"/>
            <a:ext cx="38100" cy="4667250"/>
            <a:chOff x="1028700" y="1524000"/>
            <a:chExt cx="38100" cy="4667250"/>
          </a:xfrm>
        </p:grpSpPr>
        <p:sp>
          <p:nvSpPr>
            <p:cNvPr id="4" name="Rectangle 4"/>
            <p:cNvSpPr/>
            <p:nvPr/>
          </p:nvSpPr>
          <p:spPr>
            <a:xfrm>
              <a:off x="1028700" y="1524000"/>
              <a:ext cx="38100" cy="46672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38200" y="1294448"/>
            <a:ext cx="6267196" cy="694372"/>
            <a:chOff x="838200" y="1294448"/>
            <a:chExt cx="6267196" cy="694372"/>
          </a:xfrm>
        </p:grpSpPr>
        <p:sp>
          <p:nvSpPr>
            <p:cNvPr id="6" name="Rectangle 6"/>
            <p:cNvSpPr/>
            <p:nvPr/>
          </p:nvSpPr>
          <p:spPr>
            <a:xfrm>
              <a:off x="838200" y="133350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75230" y="1441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14094" y="1294448"/>
              <a:ext cx="20633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Import Complex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6380" y="1695450"/>
              <a:ext cx="5589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Load the protein–ligand complex from docking results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38200" y="2342198"/>
            <a:ext cx="6604635" cy="694372"/>
            <a:chOff x="838200" y="2342198"/>
            <a:chExt cx="6604635" cy="694372"/>
          </a:xfrm>
        </p:grpSpPr>
        <p:sp>
          <p:nvSpPr>
            <p:cNvPr id="11" name="Rectangle 11"/>
            <p:cNvSpPr/>
            <p:nvPr/>
          </p:nvSpPr>
          <p:spPr>
            <a:xfrm>
              <a:off x="838200" y="238125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75230" y="2488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4094" y="2342198"/>
              <a:ext cx="24989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Choose Force Field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6380" y="2743200"/>
              <a:ext cx="5926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AMBER ff14SB — industry standard for protein systems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38200" y="3389948"/>
            <a:ext cx="7131827" cy="694372"/>
            <a:chOff x="838200" y="3389948"/>
            <a:chExt cx="7131827" cy="694372"/>
          </a:xfrm>
        </p:grpSpPr>
        <p:sp>
          <p:nvSpPr>
            <p:cNvPr id="16" name="Rectangle 16"/>
            <p:cNvSpPr/>
            <p:nvPr/>
          </p:nvSpPr>
          <p:spPr>
            <a:xfrm>
              <a:off x="838200" y="342900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5230" y="3536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14094" y="338994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Solvate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6380" y="3790950"/>
              <a:ext cx="64536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Automatic — adds explicit water molecules around the complex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38200" y="4437698"/>
            <a:ext cx="6310071" cy="694372"/>
            <a:chOff x="838200" y="4437698"/>
            <a:chExt cx="6310071" cy="694372"/>
          </a:xfrm>
        </p:grpSpPr>
        <p:sp>
          <p:nvSpPr>
            <p:cNvPr id="21" name="Rectangle 21"/>
            <p:cNvSpPr/>
            <p:nvPr/>
          </p:nvSpPr>
          <p:spPr>
            <a:xfrm>
              <a:off x="838200" y="447675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5230" y="45843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4094" y="4437698"/>
              <a:ext cx="21454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Energy Minimize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16380" y="4838700"/>
              <a:ext cx="5631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Automatic — removes steric clashes before simulation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38200" y="5485448"/>
            <a:ext cx="5515356" cy="694372"/>
            <a:chOff x="838200" y="5485448"/>
            <a:chExt cx="5515356" cy="694372"/>
          </a:xfrm>
        </p:grpSpPr>
        <p:sp>
          <p:nvSpPr>
            <p:cNvPr id="26" name="Rectangle 26"/>
            <p:cNvSpPr/>
            <p:nvPr/>
          </p:nvSpPr>
          <p:spPr>
            <a:xfrm>
              <a:off x="838200" y="552450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230" y="563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14094" y="5485448"/>
              <a:ext cx="17184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Set Duration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16380" y="5886450"/>
              <a:ext cx="48371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1–100 ns depending on desired level of analysis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5142" y="6474142"/>
            <a:ext cx="2807077" cy="264033"/>
            <a:chOff x="755142" y="6474142"/>
            <a:chExt cx="2807077" cy="264033"/>
          </a:xfrm>
        </p:grpSpPr>
        <p:sp>
          <p:nvSpPr>
            <p:cNvPr id="31" name="TextBox 31"/>
            <p:cNvSpPr txBox="1"/>
            <p:nvPr/>
          </p:nvSpPr>
          <p:spPr>
            <a:xfrm>
              <a:off x="755142" y="6474142"/>
              <a:ext cx="2807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Steps 2–4 are pre-configured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3" name="Rectangle 3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5126521" cy="616077"/>
            <a:chOff x="745998" y="402908"/>
            <a:chExt cx="512652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51265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Running Your Simulation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238250"/>
            <a:ext cx="3429000" cy="4000500"/>
            <a:chOff x="762000" y="1238250"/>
            <a:chExt cx="3429000" cy="40005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905000" y="16192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112072" y="18878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ns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0606" y="2599372"/>
              <a:ext cx="11717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Duration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26158" y="3028950"/>
              <a:ext cx="900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1–100 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62141" y="3569018"/>
              <a:ext cx="1428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Quick: 5–10 ns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0740" y="3902392"/>
              <a:ext cx="2131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Publication: 50–100 ns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76750" y="1238250"/>
            <a:ext cx="3238500" cy="4000500"/>
            <a:chOff x="4476750" y="1238250"/>
            <a:chExt cx="3238500" cy="4000500"/>
          </a:xfrm>
        </p:grpSpPr>
        <p:sp>
          <p:nvSpPr>
            <p:cNvPr id="12" name="Rectangle 12"/>
            <p:cNvSpPr/>
            <p:nvPr/>
          </p:nvSpPr>
          <p:spPr>
            <a:xfrm>
              <a:off x="4476750" y="1238250"/>
              <a:ext cx="3238500" cy="4000500"/>
            </a:xfrm>
            <a:prstGeom prst="roundRect">
              <a:avLst>
                <a:gd name="adj" fmla="val 41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0" y="16192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08581" y="188785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20304" y="2599372"/>
              <a:ext cx="17513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Temperature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07235" y="3028950"/>
              <a:ext cx="1577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Default: 300 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8170" y="3569018"/>
              <a:ext cx="16956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Physiological body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6536" y="3854768"/>
              <a:ext cx="19389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temperature (37°C)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01000" y="1238250"/>
            <a:ext cx="3429000" cy="4000500"/>
            <a:chOff x="8001000" y="1238250"/>
            <a:chExt cx="3429000" cy="4000500"/>
          </a:xfrm>
        </p:grpSpPr>
        <p:sp>
          <p:nvSpPr>
            <p:cNvPr id="20" name="Rectangle 20"/>
            <p:cNvSpPr/>
            <p:nvPr/>
          </p:nvSpPr>
          <p:spPr>
            <a:xfrm>
              <a:off x="8001000" y="123825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44000" y="1619250"/>
              <a:ext cx="762000" cy="76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51072" y="18878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66354" y="2599372"/>
              <a:ext cx="22982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Frame Frequency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24751" y="3028950"/>
              <a:ext cx="21814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Default: every 10 ps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00358" y="3569018"/>
              <a:ext cx="1630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Saves trajectory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2909" y="3854768"/>
              <a:ext cx="21451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snapshots for analysis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371012" y="5727382"/>
            <a:ext cx="5449976" cy="322707"/>
            <a:chOff x="3371012" y="5727382"/>
            <a:chExt cx="5449976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3371012" y="5727382"/>
              <a:ext cx="54499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ns simulation: ~15–30 minutes cloud compute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0" name="Rectangle 3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02908"/>
            <a:ext cx="8169756" cy="616077"/>
            <a:chOff x="745998" y="402908"/>
            <a:chExt cx="816975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02908"/>
              <a:ext cx="81697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Analyzing MD Results — RMSD &amp; Beyond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047750"/>
            <a:ext cx="5917806" cy="5334000"/>
            <a:chOff x="762000" y="1047750"/>
            <a:chExt cx="5917806" cy="5334000"/>
          </a:xfrm>
        </p:grpSpPr>
        <p:sp>
          <p:nvSpPr>
            <p:cNvPr id="4" name="Rectangle 4"/>
            <p:cNvSpPr/>
            <p:nvPr/>
          </p:nvSpPr>
          <p:spPr>
            <a:xfrm>
              <a:off x="762000" y="1047750"/>
              <a:ext cx="5905500" cy="5334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967144" y="1283018"/>
              <a:ext cx="1495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RMSD Over Time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333500" y="5524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333500" y="17145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25300" y="5744528"/>
              <a:ext cx="6741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Time (ns)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 rot="-5400000">
              <a:off x="849782" y="3516821"/>
              <a:ext cx="660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RMSD (Å)</a:t>
              </a:r>
            </a:p>
          </p:txBody>
        </p:sp>
        <p:sp>
          <p:nvSpPr>
            <p:cNvPr id="10" name="Polyline 10"/>
            <p:cNvSpPr/>
            <p:nvPr/>
          </p:nvSpPr>
          <p:spPr>
            <a:xfrm>
              <a:off x="1524000" y="2514600"/>
              <a:ext cx="4572000" cy="2819400"/>
            </a:xfrm>
            <a:custGeom>
              <a:avLst/>
              <a:gdLst/>
              <a:ahLst/>
              <a:cxnLst/>
              <a:rect l="l" t="t" r="r" b="b"/>
              <a:pathLst>
                <a:path w="4572000" h="2819400">
                  <a:moveTo>
                    <a:pt x="0" y="2819400"/>
                  </a:moveTo>
                  <a:lnTo>
                    <a:pt x="381000" y="2057400"/>
                  </a:lnTo>
                  <a:lnTo>
                    <a:pt x="857250" y="1295400"/>
                  </a:lnTo>
                  <a:lnTo>
                    <a:pt x="1333500" y="723900"/>
                  </a:lnTo>
                  <a:lnTo>
                    <a:pt x="1809750" y="342900"/>
                  </a:lnTo>
                  <a:lnTo>
                    <a:pt x="2286000" y="152400"/>
                  </a:lnTo>
                  <a:lnTo>
                    <a:pt x="2762250" y="104775"/>
                  </a:lnTo>
                  <a:lnTo>
                    <a:pt x="3238500" y="57150"/>
                  </a:lnTo>
                  <a:lnTo>
                    <a:pt x="3714750" y="38100"/>
                  </a:lnTo>
                  <a:lnTo>
                    <a:pt x="4191000" y="9525"/>
                  </a:lnTo>
                  <a:lnTo>
                    <a:pt x="4572000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11" name="Line 11"/>
            <p:cNvSpPr/>
            <p:nvPr/>
          </p:nvSpPr>
          <p:spPr>
            <a:xfrm>
              <a:off x="1333500" y="25717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4ADE80">
                  <a:alpha val="50000"/>
                </a:srgbClr>
              </a:solidFill>
              <a:custDash>
                <a:ds d="600000" sp="400000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34112" y="2522220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plateau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048500" y="1238250"/>
            <a:ext cx="4572000" cy="1428750"/>
            <a:chOff x="7048500" y="1238250"/>
            <a:chExt cx="4572000" cy="1428750"/>
          </a:xfrm>
        </p:grpSpPr>
        <p:sp>
          <p:nvSpPr>
            <p:cNvPr id="14" name="Rectangle 14"/>
            <p:cNvSpPr/>
            <p:nvPr/>
          </p:nvSpPr>
          <p:spPr>
            <a:xfrm>
              <a:off x="7048500" y="12382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1A3D2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21118" y="1488758"/>
              <a:ext cx="12365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4ADE80"/>
                  </a:solidFill>
                  <a:latin typeface="+mj-lt"/>
                  <a:ea typeface="+mj-ea"/>
                  <a:cs typeface="+mj-cs"/>
                </a:rPr>
                <a:t>RMSD &lt; 2 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1118" y="1917382"/>
              <a:ext cx="19252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Stable complex 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21118" y="2250758"/>
              <a:ext cx="2023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binding confirmed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048500" y="2952750"/>
            <a:ext cx="4572000" cy="1428750"/>
            <a:chOff x="7048500" y="2952750"/>
            <a:chExt cx="4572000" cy="1428750"/>
          </a:xfrm>
        </p:grpSpPr>
        <p:sp>
          <p:nvSpPr>
            <p:cNvPr id="19" name="Rectangle 19"/>
            <p:cNvSpPr/>
            <p:nvPr/>
          </p:nvSpPr>
          <p:spPr>
            <a:xfrm>
              <a:off x="7048500" y="29527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3D332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21118" y="3203258"/>
              <a:ext cx="12982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RMSD 2–4 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21118" y="3631882"/>
              <a:ext cx="22847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Partial instability 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1118" y="3965258"/>
              <a:ext cx="1741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 may shift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048500" y="4667250"/>
            <a:ext cx="4572000" cy="1428750"/>
            <a:chOff x="7048500" y="4667250"/>
            <a:chExt cx="4572000" cy="1428750"/>
          </a:xfrm>
        </p:grpSpPr>
        <p:sp>
          <p:nvSpPr>
            <p:cNvPr id="24" name="Rectangle 24"/>
            <p:cNvSpPr/>
            <p:nvPr/>
          </p:nvSpPr>
          <p:spPr>
            <a:xfrm>
              <a:off x="7048500" y="4667250"/>
              <a:ext cx="4572000" cy="1428750"/>
            </a:xfrm>
            <a:prstGeom prst="roundRect">
              <a:avLst>
                <a:gd name="adj" fmla="val 9333"/>
              </a:avLst>
            </a:prstGeom>
            <a:solidFill>
              <a:srgbClr val="3D1A1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21118" y="4917758"/>
              <a:ext cx="12365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F87171"/>
                  </a:solidFill>
                  <a:latin typeface="+mj-lt"/>
                  <a:ea typeface="+mj-ea"/>
                  <a:cs typeface="+mj-cs"/>
                </a:rPr>
                <a:t>RMSD &gt; 4 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21118" y="5346382"/>
              <a:ext cx="24035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Ligand dissociating 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21118" y="5679758"/>
              <a:ext cx="14366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weak binding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9" name="Rectangle 2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742950" y="1893570"/>
            <a:ext cx="877725" cy="1047750"/>
            <a:chOff x="742950" y="1893570"/>
            <a:chExt cx="877725" cy="1047750"/>
          </a:xfrm>
        </p:grpSpPr>
        <p:sp>
          <p:nvSpPr>
            <p:cNvPr id="3" name="TextBox 3"/>
            <p:cNvSpPr txBox="1"/>
            <p:nvPr/>
          </p:nvSpPr>
          <p:spPr>
            <a:xfrm>
              <a:off x="742950" y="18935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3712" y="3040380"/>
            <a:ext cx="4780472" cy="704088"/>
            <a:chOff x="743712" y="3040380"/>
            <a:chExt cx="4780472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3040380"/>
              <a:ext cx="478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Jarvis AI Assistant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856" y="3806190"/>
            <a:ext cx="5887090" cy="352044"/>
            <a:chOff x="752856" y="3806190"/>
            <a:chExt cx="5887090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752856" y="3806190"/>
              <a:ext cx="58870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Your personal computational chemistry mentor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9" name="Rectangle 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387362" cy="616077"/>
            <a:chOff x="745998" y="421958"/>
            <a:chExt cx="638736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3873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Jarvis AI — Four Superpowers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2000" y="1238250"/>
            <a:ext cx="5143500" cy="2286000"/>
            <a:chOff x="762000" y="1238250"/>
            <a:chExt cx="5143500" cy="2286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32332" y="1487805"/>
              <a:ext cx="10237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Explain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4618" y="1917382"/>
              <a:ext cx="34350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Plain-language interpretation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4618" y="2222182"/>
              <a:ext cx="15188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 any result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86500" y="1238250"/>
            <a:ext cx="5143500" cy="2286000"/>
            <a:chOff x="6286500" y="1238250"/>
            <a:chExt cx="5143500" cy="2286000"/>
          </a:xfrm>
        </p:grpSpPr>
        <p:sp>
          <p:nvSpPr>
            <p:cNvPr id="9" name="Rectangle 9"/>
            <p:cNvSpPr/>
            <p:nvPr/>
          </p:nvSpPr>
          <p:spPr>
            <a:xfrm>
              <a:off x="6286500" y="123825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56832" y="1487805"/>
              <a:ext cx="7718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Guide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59118" y="1917382"/>
              <a:ext cx="2736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Step-by-step workflow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59118" y="2222182"/>
              <a:ext cx="19882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recommendations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3810000"/>
            <a:ext cx="5143500" cy="2286000"/>
            <a:chOff x="762000" y="3810000"/>
            <a:chExt cx="5143500" cy="2286000"/>
          </a:xfrm>
        </p:grpSpPr>
        <p:sp>
          <p:nvSpPr>
            <p:cNvPr id="14" name="Rectangle 14"/>
            <p:cNvSpPr/>
            <p:nvPr/>
          </p:nvSpPr>
          <p:spPr>
            <a:xfrm>
              <a:off x="762000" y="381000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2332" y="4059555"/>
              <a:ext cx="19151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Troubleshoot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4618" y="4489132"/>
              <a:ext cx="24510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Diagnose and suggest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4618" y="47939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parameter fixes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86500" y="3810000"/>
            <a:ext cx="5143500" cy="2286000"/>
            <a:chOff x="6286500" y="3810000"/>
            <a:chExt cx="5143500" cy="2286000"/>
          </a:xfrm>
        </p:grpSpPr>
        <p:sp>
          <p:nvSpPr>
            <p:cNvPr id="19" name="Rectangle 19"/>
            <p:cNvSpPr/>
            <p:nvPr/>
          </p:nvSpPr>
          <p:spPr>
            <a:xfrm>
              <a:off x="6286500" y="3810000"/>
              <a:ext cx="5143500" cy="2286000"/>
            </a:xfrm>
            <a:prstGeom prst="roundRect">
              <a:avLst>
                <a:gd name="adj" fmla="val 5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56832" y="405955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Teach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59118" y="4489132"/>
              <a:ext cx="30251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Concept explanations with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9118" y="4793932"/>
              <a:ext cx="28448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pharmaceutical examples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4" name="Rectangle 2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986086" cy="616077"/>
            <a:chOff x="745998" y="421958"/>
            <a:chExt cx="698608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9860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Getting the Most from Jarvis AI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62000" y="1143000"/>
            <a:ext cx="10668000" cy="1143000"/>
            <a:chOff x="762000" y="1143000"/>
            <a:chExt cx="10668000" cy="114300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10668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35380" y="1409700"/>
              <a:ext cx="33237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1"/>
                  </a:solidFill>
                  <a:latin typeface="Courier New"/>
                  <a:ea typeface="Courier New"/>
                  <a:cs typeface="Courier New"/>
                </a:rPr>
                <a:t>Explain [result] in student terms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142" y="1806892"/>
              <a:ext cx="24870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Jargon-free explanation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2476500"/>
            <a:ext cx="10668000" cy="1143000"/>
            <a:chOff x="762000" y="2476500"/>
            <a:chExt cx="10668000" cy="1143000"/>
          </a:xfrm>
        </p:grpSpPr>
        <p:sp>
          <p:nvSpPr>
            <p:cNvPr id="8" name="Rectangle 8"/>
            <p:cNvSpPr/>
            <p:nvPr/>
          </p:nvSpPr>
          <p:spPr>
            <a:xfrm>
              <a:off x="762000" y="2476500"/>
              <a:ext cx="10668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5380" y="2743200"/>
              <a:ext cx="43777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1"/>
                  </a:solidFill>
                  <a:latin typeface="Courier New"/>
                  <a:ea typeface="Courier New"/>
                  <a:cs typeface="Courier New"/>
                </a:rPr>
                <a:t>Compare my results with published IC50 data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6142" y="3140392"/>
              <a:ext cx="2177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Literature validation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3810000"/>
            <a:ext cx="10668000" cy="1143000"/>
            <a:chOff x="762000" y="3810000"/>
            <a:chExt cx="10668000" cy="1143000"/>
          </a:xfrm>
        </p:grpSpPr>
        <p:sp>
          <p:nvSpPr>
            <p:cNvPr id="12" name="Rectangle 12"/>
            <p:cNvSpPr/>
            <p:nvPr/>
          </p:nvSpPr>
          <p:spPr>
            <a:xfrm>
              <a:off x="762000" y="3810000"/>
              <a:ext cx="10668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5380" y="4076700"/>
              <a:ext cx="39922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1"/>
                  </a:solidFill>
                  <a:latin typeface="Courier New"/>
                  <a:ea typeface="Courier New"/>
                  <a:cs typeface="Courier New"/>
                </a:rPr>
                <a:t>Suggest modifications to improve ADMET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142" y="4473892"/>
              <a:ext cx="2380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Structural suggestions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5143500"/>
            <a:ext cx="10668000" cy="1143000"/>
            <a:chOff x="762000" y="5143500"/>
            <a:chExt cx="10668000" cy="1143000"/>
          </a:xfrm>
        </p:grpSpPr>
        <p:sp>
          <p:nvSpPr>
            <p:cNvPr id="16" name="Rectangle 16"/>
            <p:cNvSpPr/>
            <p:nvPr/>
          </p:nvSpPr>
          <p:spPr>
            <a:xfrm>
              <a:off x="762000" y="5143500"/>
              <a:ext cx="10668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5380" y="5410200"/>
              <a:ext cx="4333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accent1"/>
                  </a:solidFill>
                  <a:latin typeface="Courier New"/>
                  <a:ea typeface="Courier New"/>
                  <a:cs typeface="Courier New"/>
                </a:rPr>
                <a:t>Create a teaching exercise about [concept]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6142" y="5807392"/>
              <a:ext cx="22468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Curriculum worksheet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0" name="Rectangle 2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712577" y="421958"/>
            <a:ext cx="6766846" cy="616077"/>
            <a:chOff x="2712577" y="421958"/>
            <a:chExt cx="676684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2712577" y="421958"/>
              <a:ext cx="67668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Integrated Discovery Cycle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905250" y="1333500"/>
            <a:ext cx="4381500" cy="4381500"/>
            <a:chOff x="3905250" y="1333500"/>
            <a:chExt cx="4381500" cy="4381500"/>
          </a:xfrm>
        </p:grpSpPr>
        <p:sp>
          <p:nvSpPr>
            <p:cNvPr id="4" name="Ellipse 4"/>
            <p:cNvSpPr/>
            <p:nvPr/>
          </p:nvSpPr>
          <p:spPr>
            <a:xfrm>
              <a:off x="4381500" y="1809750"/>
              <a:ext cx="3429000" cy="3429000"/>
            </a:xfrm>
            <a:prstGeom prst="ellipse">
              <a:avLst/>
            </a:prstGeom>
            <a:noFill/>
            <a:ln w="19050">
              <a:solidFill>
                <a:srgbClr val="1A1D3A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5619750" y="1333500"/>
              <a:ext cx="952500" cy="952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742882" y="172116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Docking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7334250" y="3048000"/>
              <a:ext cx="952500" cy="952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06245" y="3435668"/>
              <a:ext cx="608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619750" y="4762500"/>
              <a:ext cx="952500" cy="952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58086" y="5150168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MD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3905250" y="3048000"/>
              <a:ext cx="952500" cy="952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961468" y="3435668"/>
              <a:ext cx="840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Optimize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6572250" y="19050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0"/>
                  </a:moveTo>
                  <a:cubicBezTo>
                    <a:pt x="571500" y="254000"/>
                    <a:pt x="952500" y="635000"/>
                    <a:pt x="1143000" y="1143000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Freeform 14"/>
            <p:cNvSpPr/>
            <p:nvPr/>
          </p:nvSpPr>
          <p:spPr>
            <a:xfrm>
              <a:off x="6572250" y="40005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1143000" y="0"/>
                  </a:moveTo>
                  <a:cubicBezTo>
                    <a:pt x="952500" y="508000"/>
                    <a:pt x="571500" y="889000"/>
                    <a:pt x="0" y="1143000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5" name="Freeform 15"/>
            <p:cNvSpPr/>
            <p:nvPr/>
          </p:nvSpPr>
          <p:spPr>
            <a:xfrm>
              <a:off x="4476750" y="40005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1143000" y="1143000"/>
                  </a:moveTo>
                  <a:cubicBezTo>
                    <a:pt x="571500" y="889000"/>
                    <a:pt x="190500" y="508000"/>
                    <a:pt x="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6" name="Freeform 16"/>
            <p:cNvSpPr/>
            <p:nvPr/>
          </p:nvSpPr>
          <p:spPr>
            <a:xfrm>
              <a:off x="4476750" y="190500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1143000"/>
                  </a:moveTo>
                  <a:cubicBezTo>
                    <a:pt x="190500" y="635000"/>
                    <a:pt x="571500" y="254000"/>
                    <a:pt x="114300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87440" y="3298508"/>
              <a:ext cx="10171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Jarvis AI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79694" y="3601402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(center)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60621" y="6219825"/>
            <a:ext cx="9070757" cy="293370"/>
            <a:chOff x="1560621" y="6219825"/>
            <a:chExt cx="9070757" cy="293370"/>
          </a:xfrm>
        </p:grpSpPr>
        <p:sp>
          <p:nvSpPr>
            <p:cNvPr id="20" name="TextBox 20"/>
            <p:cNvSpPr txBox="1"/>
            <p:nvPr/>
          </p:nvSpPr>
          <p:spPr>
            <a:xfrm>
              <a:off x="1560621" y="6219825"/>
              <a:ext cx="9070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Iterate until you find a compound that docks well, passes ADMET, AND is stable in MD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2" name="Rectangle 2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131085" y="1470660"/>
            <a:ext cx="7929831" cy="956691"/>
            <a:chOff x="2131085" y="1470660"/>
            <a:chExt cx="7929831" cy="956691"/>
          </a:xfrm>
        </p:grpSpPr>
        <p:sp>
          <p:nvSpPr>
            <p:cNvPr id="2" name="TextBox 2"/>
            <p:cNvSpPr txBox="1"/>
            <p:nvPr/>
          </p:nvSpPr>
          <p:spPr>
            <a:xfrm>
              <a:off x="2131085" y="1470660"/>
              <a:ext cx="792983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But what if we want BioDockify to do more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278999" y="1899285"/>
              <a:ext cx="363400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than provide tools?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32711" y="2663190"/>
            <a:ext cx="3726578" cy="352044"/>
            <a:chOff x="4232711" y="2663190"/>
            <a:chExt cx="3726578" cy="352044"/>
          </a:xfrm>
        </p:grpSpPr>
        <p:sp>
          <p:nvSpPr>
            <p:cNvPr id="5" name="TextBox 5"/>
            <p:cNvSpPr txBox="1"/>
            <p:nvPr/>
          </p:nvSpPr>
          <p:spPr>
            <a:xfrm>
              <a:off x="4232711" y="2663190"/>
              <a:ext cx="37265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What if the researcher says: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05000" y="3238500"/>
            <a:ext cx="8382000" cy="1596390"/>
            <a:chOff x="1905000" y="3238500"/>
            <a:chExt cx="8382000" cy="1596390"/>
          </a:xfrm>
        </p:grpSpPr>
        <p:sp>
          <p:nvSpPr>
            <p:cNvPr id="7" name="Rectangle 7"/>
            <p:cNvSpPr/>
            <p:nvPr/>
          </p:nvSpPr>
          <p:spPr>
            <a:xfrm>
              <a:off x="1905000" y="3238500"/>
              <a:ext cx="8382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70760" y="3486150"/>
              <a:ext cx="26517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77789" y="3773805"/>
              <a:ext cx="44364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Here is my research question.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39254" y="4154805"/>
              <a:ext cx="45134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Help me figure out what to do.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51314" y="4248150"/>
              <a:ext cx="26517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3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”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02245" y="5346382"/>
            <a:ext cx="5787510" cy="322707"/>
            <a:chOff x="3202245" y="5346382"/>
            <a:chExt cx="5787510" cy="322707"/>
          </a:xfrm>
        </p:grpSpPr>
        <p:sp>
          <p:nvSpPr>
            <p:cNvPr id="13" name="TextBox 13"/>
            <p:cNvSpPr txBox="1"/>
            <p:nvPr/>
          </p:nvSpPr>
          <p:spPr>
            <a:xfrm>
              <a:off x="3202245" y="5346382"/>
              <a:ext cx="57875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That is where the Premium Web Platform comes in.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15" name="Rectangle 15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424666" y="307658"/>
            <a:ext cx="5342668" cy="616077"/>
            <a:chOff x="3424666" y="307658"/>
            <a:chExt cx="534266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3424666" y="307658"/>
              <a:ext cx="53426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 Web Platform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71463" y="840105"/>
            <a:ext cx="3049074" cy="410718"/>
            <a:chOff x="4571463" y="840105"/>
            <a:chExt cx="3049074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4571463" y="840105"/>
              <a:ext cx="30490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www.biodockify.com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834652" y="1373505"/>
            <a:ext cx="6522695" cy="410718"/>
            <a:chOff x="2834652" y="1373505"/>
            <a:chExt cx="6522695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2834652" y="1373505"/>
              <a:ext cx="65226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An AI-native pharmaceutical research platform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3000" y="2000250"/>
            <a:ext cx="9906000" cy="1905000"/>
            <a:chOff x="1143000" y="2000250"/>
            <a:chExt cx="9906000" cy="1905000"/>
          </a:xfrm>
        </p:grpSpPr>
        <p:sp>
          <p:nvSpPr>
            <p:cNvPr id="8" name="Rectangle 8"/>
            <p:cNvSpPr/>
            <p:nvPr/>
          </p:nvSpPr>
          <p:spPr>
            <a:xfrm>
              <a:off x="1143000" y="2000250"/>
              <a:ext cx="9906000" cy="1905000"/>
            </a:xfrm>
            <a:prstGeom prst="roundRect">
              <a:avLst>
                <a:gd name="adj" fmla="val 7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706118" y="2374582"/>
              <a:ext cx="4658509" cy="322707"/>
              <a:chOff x="1706118" y="2374582"/>
              <a:chExt cx="4658509" cy="322707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706118" y="2374582"/>
                <a:ext cx="13503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rgbClr val="7A85A8"/>
                    </a:solidFill>
                    <a:latin typeface="+mn-lt"/>
                    <a:ea typeface="+mn-ea"/>
                    <a:cs typeface="+mn-cs"/>
                  </a:rPr>
                  <a:t>Instead of: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230118" y="2374582"/>
                <a:ext cx="31345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strike="sngStrike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Choose a software module.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3238500" y="2514600"/>
                <a:ext cx="2686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86050" h="9525">
                    <a:moveTo>
                      <a:pt x="0" y="0"/>
                    </a:moveTo>
                    <a:lnTo>
                      <a:pt x="2686050" y="0"/>
                    </a:ln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705356" y="3041332"/>
              <a:ext cx="4747210" cy="716852"/>
              <a:chOff x="1705356" y="3041332"/>
              <a:chExt cx="4747210" cy="716852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1706118" y="3041332"/>
                <a:ext cx="334496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The researcher starts with: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705356" y="3406140"/>
                <a:ext cx="474721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8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“What are you trying to investigate?”</a:t>
                </a: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952500" y="4410075"/>
            <a:ext cx="9382125" cy="1304925"/>
            <a:chOff x="952500" y="4410075"/>
            <a:chExt cx="9382125" cy="1304925"/>
          </a:xfrm>
        </p:grpSpPr>
        <p:sp>
          <p:nvSpPr>
            <p:cNvPr id="17" name="TextBox 17"/>
            <p:cNvSpPr txBox="1"/>
            <p:nvPr/>
          </p:nvSpPr>
          <p:spPr>
            <a:xfrm>
              <a:off x="5122172" y="4410075"/>
              <a:ext cx="1947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Platform Features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52500" y="4762500"/>
              <a:ext cx="1857375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2445" y="4888706"/>
              <a:ext cx="17679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Research Assistant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952750" y="4762500"/>
              <a:ext cx="200025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41712" y="4888706"/>
              <a:ext cx="1822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Literature Intelligence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095875" y="4762500"/>
              <a:ext cx="171450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45113" y="4888706"/>
              <a:ext cx="14160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Scientific Writing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953250" y="4762500"/>
              <a:ext cx="161925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92040" y="4888706"/>
              <a:ext cx="114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Knowledge Hub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15375" y="4762500"/>
              <a:ext cx="161925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47436" y="4888706"/>
              <a:ext cx="1155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Docking Studio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857500" y="5334000"/>
              <a:ext cx="152400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213628" y="5460206"/>
              <a:ext cx="811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MD Engine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572000" y="5334000"/>
              <a:ext cx="152400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08298" y="5460206"/>
              <a:ext cx="8514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Workspace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3" name="Rectangle 3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67587" y="244793"/>
            <a:ext cx="8656826" cy="557403"/>
            <a:chOff x="1767587" y="244793"/>
            <a:chExt cx="8656826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1767587" y="244793"/>
              <a:ext cx="86568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 vs Premium Web Platform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2000" y="809625"/>
            <a:ext cx="10668000" cy="381000"/>
            <a:chOff x="762000" y="809625"/>
            <a:chExt cx="10668000" cy="381000"/>
          </a:xfrm>
        </p:grpSpPr>
        <p:sp>
          <p:nvSpPr>
            <p:cNvPr id="4" name="Rectangle 4"/>
            <p:cNvSpPr/>
            <p:nvPr/>
          </p:nvSpPr>
          <p:spPr>
            <a:xfrm>
              <a:off x="762000" y="809625"/>
              <a:ext cx="106680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522243" y="937260"/>
              <a:ext cx="67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Feature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226150" y="937260"/>
              <a:ext cx="8827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Community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176918" y="937260"/>
              <a:ext cx="696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Premium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190625"/>
            <a:ext cx="10668000" cy="428625"/>
            <a:chOff x="762000" y="1190625"/>
            <a:chExt cx="10668000" cy="428625"/>
          </a:xfrm>
        </p:grpSpPr>
        <p:sp>
          <p:nvSpPr>
            <p:cNvPr id="9" name="Rectangle 9"/>
            <p:cNvSpPr/>
            <p:nvPr/>
          </p:nvSpPr>
          <p:spPr>
            <a:xfrm>
              <a:off x="762000" y="1190625"/>
              <a:ext cx="10668000" cy="4286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376312" y="1327785"/>
              <a:ext cx="962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Deployment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45154" y="1327785"/>
              <a:ext cx="1244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Local / Docker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24366" y="1327785"/>
              <a:ext cx="1001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 / Cloud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619250"/>
            <a:ext cx="10668000" cy="428625"/>
            <a:chOff x="762000" y="1619250"/>
            <a:chExt cx="10668000" cy="428625"/>
          </a:xfrm>
        </p:grpSpPr>
        <p:sp>
          <p:nvSpPr>
            <p:cNvPr id="14" name="Rectangle 14"/>
            <p:cNvSpPr/>
            <p:nvPr/>
          </p:nvSpPr>
          <p:spPr>
            <a:xfrm>
              <a:off x="762000" y="1619250"/>
              <a:ext cx="10668000" cy="4286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97852" y="1756410"/>
              <a:ext cx="1319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Scientific tools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5230" y="174021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22730" y="1740218"/>
              <a:ext cx="204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✓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2047875"/>
            <a:ext cx="10668000" cy="428625"/>
            <a:chOff x="762000" y="2047875"/>
            <a:chExt cx="10668000" cy="428625"/>
          </a:xfrm>
        </p:grpSpPr>
        <p:sp>
          <p:nvSpPr>
            <p:cNvPr id="19" name="Rectangle 19"/>
            <p:cNvSpPr/>
            <p:nvPr/>
          </p:nvSpPr>
          <p:spPr>
            <a:xfrm>
              <a:off x="762000" y="2047875"/>
              <a:ext cx="10668000" cy="4286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332690" y="2185035"/>
              <a:ext cx="1049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AI assistant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3589" y="2185035"/>
              <a:ext cx="407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Core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33332" y="2185035"/>
              <a:ext cx="78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Advanced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2000" y="2476500"/>
            <a:ext cx="10668000" cy="428625"/>
            <a:chOff x="762000" y="2476500"/>
            <a:chExt cx="10668000" cy="428625"/>
          </a:xfrm>
        </p:grpSpPr>
        <p:sp>
          <p:nvSpPr>
            <p:cNvPr id="24" name="Rectangle 24"/>
            <p:cNvSpPr/>
            <p:nvPr/>
          </p:nvSpPr>
          <p:spPr>
            <a:xfrm>
              <a:off x="762000" y="2476500"/>
              <a:ext cx="10668000" cy="4286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85994" y="2613660"/>
              <a:ext cx="15430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Internet research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49158" y="2613660"/>
              <a:ext cx="636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Limited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33332" y="2613660"/>
              <a:ext cx="78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Advanced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2905125"/>
            <a:ext cx="10668000" cy="428625"/>
            <a:chOff x="762000" y="2905125"/>
            <a:chExt cx="10668000" cy="428625"/>
          </a:xfrm>
        </p:grpSpPr>
        <p:sp>
          <p:nvSpPr>
            <p:cNvPr id="29" name="Rectangle 29"/>
            <p:cNvSpPr/>
            <p:nvPr/>
          </p:nvSpPr>
          <p:spPr>
            <a:xfrm>
              <a:off x="762000" y="2905125"/>
              <a:ext cx="10668000" cy="4286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838379" y="3042285"/>
              <a:ext cx="2038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Workflow orchestration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8900" y="3042285"/>
              <a:ext cx="4572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Basic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33332" y="3042285"/>
              <a:ext cx="78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Advanced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3333750"/>
            <a:ext cx="10668000" cy="428625"/>
            <a:chOff x="762000" y="3333750"/>
            <a:chExt cx="10668000" cy="428625"/>
          </a:xfrm>
        </p:grpSpPr>
        <p:sp>
          <p:nvSpPr>
            <p:cNvPr id="34" name="Rectangle 34"/>
            <p:cNvSpPr/>
            <p:nvPr/>
          </p:nvSpPr>
          <p:spPr>
            <a:xfrm>
              <a:off x="762000" y="3333750"/>
              <a:ext cx="10668000" cy="4286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953260" y="3470910"/>
              <a:ext cx="1808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Autonomous research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4465" y="347091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rgbClr val="7A85A8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85840" y="3470910"/>
              <a:ext cx="12783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Core direction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3762375"/>
            <a:ext cx="10668000" cy="428625"/>
            <a:chOff x="762000" y="3762375"/>
            <a:chExt cx="10668000" cy="428625"/>
          </a:xfrm>
        </p:grpSpPr>
        <p:sp>
          <p:nvSpPr>
            <p:cNvPr id="39" name="Rectangle 39"/>
            <p:cNvSpPr/>
            <p:nvPr/>
          </p:nvSpPr>
          <p:spPr>
            <a:xfrm>
              <a:off x="762000" y="3762375"/>
              <a:ext cx="10668000" cy="4286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296199" y="3899535"/>
              <a:ext cx="11226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Collaboration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49158" y="3899535"/>
              <a:ext cx="636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Limited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33332" y="3899535"/>
              <a:ext cx="78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Advanced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4191000"/>
            <a:ext cx="10668000" cy="428625"/>
            <a:chOff x="762000" y="4191000"/>
            <a:chExt cx="10668000" cy="428625"/>
          </a:xfrm>
        </p:grpSpPr>
        <p:sp>
          <p:nvSpPr>
            <p:cNvPr id="44" name="Rectangle 44"/>
            <p:cNvSpPr/>
            <p:nvPr/>
          </p:nvSpPr>
          <p:spPr>
            <a:xfrm>
              <a:off x="762000" y="4191000"/>
              <a:ext cx="10668000" cy="4286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256358" y="4328160"/>
              <a:ext cx="1202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Cloud compute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989864" y="4328160"/>
              <a:ext cx="1355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User-controlled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67078" y="4328160"/>
              <a:ext cx="7158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Premium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62000" y="4619625"/>
            <a:ext cx="10668000" cy="428625"/>
            <a:chOff x="762000" y="4619625"/>
            <a:chExt cx="10668000" cy="428625"/>
          </a:xfrm>
        </p:grpSpPr>
        <p:sp>
          <p:nvSpPr>
            <p:cNvPr id="49" name="Rectangle 49"/>
            <p:cNvSpPr/>
            <p:nvPr/>
          </p:nvSpPr>
          <p:spPr>
            <a:xfrm>
              <a:off x="762000" y="4619625"/>
              <a:ext cx="10668000" cy="4286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412021" y="4756785"/>
              <a:ext cx="8909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Scalability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38900" y="4756785"/>
              <a:ext cx="4572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Local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96400" y="4756785"/>
              <a:ext cx="4572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Cloud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54" name="Rectangle 5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53257" y="307658"/>
            <a:ext cx="6085486" cy="616077"/>
            <a:chOff x="3053257" y="307658"/>
            <a:chExt cx="608548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3053257" y="307658"/>
              <a:ext cx="60854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Fundamental Difference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047750"/>
            <a:ext cx="5143500" cy="4000500"/>
            <a:chOff x="762000" y="1047750"/>
            <a:chExt cx="5143500" cy="4000500"/>
          </a:xfrm>
        </p:grpSpPr>
        <p:sp>
          <p:nvSpPr>
            <p:cNvPr id="4" name="Rectangle 4"/>
            <p:cNvSpPr/>
            <p:nvPr/>
          </p:nvSpPr>
          <p:spPr>
            <a:xfrm>
              <a:off x="762000" y="1047750"/>
              <a:ext cx="5143500" cy="40005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62000" y="10477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015231" y="1392555"/>
              <a:ext cx="2637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Community Edition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27003" y="2407920"/>
              <a:ext cx="34134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“Give me the tools.”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43855" y="3441382"/>
              <a:ext cx="23797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Researcher controls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98065" y="3746182"/>
              <a:ext cx="16713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workflow.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86500" y="1047750"/>
            <a:ext cx="5143500" cy="4000500"/>
            <a:chOff x="6286500" y="1047750"/>
            <a:chExt cx="5143500" cy="4000500"/>
          </a:xfrm>
        </p:grpSpPr>
        <p:sp>
          <p:nvSpPr>
            <p:cNvPr id="11" name="Rectangle 11"/>
            <p:cNvSpPr/>
            <p:nvPr/>
          </p:nvSpPr>
          <p:spPr>
            <a:xfrm>
              <a:off x="6286500" y="1047750"/>
              <a:ext cx="5143500" cy="40005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86500" y="10477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24475" y="1392555"/>
              <a:ext cx="186755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Premium Web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40590" y="2407920"/>
              <a:ext cx="2835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“Help me conduct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82380" y="2788920"/>
              <a:ext cx="25517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research.”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3050" y="3441382"/>
              <a:ext cx="22304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AI helps coordinate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22565" y="3746182"/>
              <a:ext cx="16713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workflow.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829300" y="2686050"/>
            <a:ext cx="533400" cy="533400"/>
            <a:chOff x="5829300" y="2686050"/>
            <a:chExt cx="533400" cy="533400"/>
          </a:xfrm>
        </p:grpSpPr>
        <p:sp>
          <p:nvSpPr>
            <p:cNvPr id="19" name="Ellipse 19"/>
            <p:cNvSpPr/>
            <p:nvPr/>
          </p:nvSpPr>
          <p:spPr>
            <a:xfrm>
              <a:off x="5829300" y="2686050"/>
              <a:ext cx="533400" cy="5334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rgbClr val="7A85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91332" y="289941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VS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905000" y="5286375"/>
            <a:ext cx="8382000" cy="750570"/>
            <a:chOff x="1905000" y="5286375"/>
            <a:chExt cx="8382000" cy="750570"/>
          </a:xfrm>
        </p:grpSpPr>
        <p:sp>
          <p:nvSpPr>
            <p:cNvPr id="22" name="Line 22"/>
            <p:cNvSpPr/>
            <p:nvPr/>
          </p:nvSpPr>
          <p:spPr>
            <a:xfrm>
              <a:off x="1905000" y="528637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4762">
              <a:solidFill>
                <a:srgbClr val="7A85A8">
                  <a:alpha val="40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62797" y="5457825"/>
              <a:ext cx="46664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Community Edition gives you the laboratory.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38198" y="5743575"/>
              <a:ext cx="5515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Premium BioDockify gives you the research partner.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6" name="Rectangle 2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365714" y="307658"/>
            <a:ext cx="7460572" cy="616077"/>
            <a:chOff x="2365714" y="307658"/>
            <a:chExt cx="746057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2365714" y="307658"/>
              <a:ext cx="74605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From Assistant to Research Agent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43000" y="4953000"/>
            <a:ext cx="1905000" cy="523875"/>
            <a:chOff x="1143000" y="4953000"/>
            <a:chExt cx="1905000" cy="523875"/>
          </a:xfrm>
        </p:grpSpPr>
        <p:sp>
          <p:nvSpPr>
            <p:cNvPr id="4" name="Rectangle 4"/>
            <p:cNvSpPr/>
            <p:nvPr/>
          </p:nvSpPr>
          <p:spPr>
            <a:xfrm>
              <a:off x="1143000" y="4953000"/>
              <a:ext cx="1905000" cy="523875"/>
            </a:xfrm>
            <a:prstGeom prst="roundRect">
              <a:avLst>
                <a:gd name="adj" fmla="val 18182"/>
              </a:avLst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760243" y="5042535"/>
              <a:ext cx="67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Chatbot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778470" y="5268278"/>
              <a:ext cx="6340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rgbClr val="7A85A8"/>
                  </a:solidFill>
                  <a:latin typeface="+mn-lt"/>
                  <a:ea typeface="+mn-ea"/>
                  <a:cs typeface="+mn-cs"/>
                </a:rPr>
                <a:t>Answers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38500" y="4095750"/>
            <a:ext cx="2095500" cy="523875"/>
            <a:chOff x="3238500" y="4095750"/>
            <a:chExt cx="2095500" cy="523875"/>
          </a:xfrm>
        </p:grpSpPr>
        <p:sp>
          <p:nvSpPr>
            <p:cNvPr id="8" name="Rectangle 8"/>
            <p:cNvSpPr/>
            <p:nvPr/>
          </p:nvSpPr>
          <p:spPr>
            <a:xfrm>
              <a:off x="3238500" y="4095750"/>
              <a:ext cx="2095500" cy="523875"/>
            </a:xfrm>
            <a:prstGeom prst="roundRect">
              <a:avLst>
                <a:gd name="adj" fmla="val 18182"/>
              </a:avLst>
            </a:prstGeom>
            <a:solidFill>
              <a:schemeClr val="lt2">
                <a:alpha val="65000"/>
              </a:scheme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776353" y="4185285"/>
              <a:ext cx="1019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AI Assistant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43540" y="4411028"/>
              <a:ext cx="685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Suggests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524500" y="3238500"/>
            <a:ext cx="2095500" cy="523875"/>
            <a:chOff x="5524500" y="3238500"/>
            <a:chExt cx="2095500" cy="523875"/>
          </a:xfrm>
        </p:grpSpPr>
        <p:sp>
          <p:nvSpPr>
            <p:cNvPr id="12" name="Rectangle 12"/>
            <p:cNvSpPr/>
            <p:nvPr/>
          </p:nvSpPr>
          <p:spPr>
            <a:xfrm>
              <a:off x="5524500" y="3238500"/>
              <a:ext cx="2095500" cy="523875"/>
            </a:xfrm>
            <a:prstGeom prst="roundRect">
              <a:avLst>
                <a:gd name="adj" fmla="val 18182"/>
              </a:avLst>
            </a:prstGeom>
            <a:solidFill>
              <a:schemeClr val="lt2">
                <a:alpha val="80000"/>
              </a:scheme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177305" y="3328035"/>
              <a:ext cx="789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 Copilot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9853" y="3553778"/>
              <a:ext cx="564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Assists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810500" y="2381250"/>
            <a:ext cx="2095500" cy="523875"/>
            <a:chOff x="7810500" y="2381250"/>
            <a:chExt cx="2095500" cy="523875"/>
          </a:xfrm>
        </p:grpSpPr>
        <p:sp>
          <p:nvSpPr>
            <p:cNvPr id="16" name="Rectangle 16"/>
            <p:cNvSpPr/>
            <p:nvPr/>
          </p:nvSpPr>
          <p:spPr>
            <a:xfrm>
              <a:off x="7810500" y="2381250"/>
              <a:ext cx="2095500" cy="523875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13369" y="2470785"/>
              <a:ext cx="689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 Agent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87409" y="2696528"/>
              <a:ext cx="11416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Executes tasks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238250"/>
            <a:ext cx="3048000" cy="879634"/>
            <a:chOff x="8382000" y="1238250"/>
            <a:chExt cx="3048000" cy="879634"/>
          </a:xfrm>
        </p:grpSpPr>
        <p:sp>
          <p:nvSpPr>
            <p:cNvPr id="20" name="Rectangle 20"/>
            <p:cNvSpPr/>
            <p:nvPr/>
          </p:nvSpPr>
          <p:spPr>
            <a:xfrm>
              <a:off x="8382000" y="1238250"/>
              <a:ext cx="3048000" cy="85725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85126" y="1362075"/>
              <a:ext cx="1841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Research Partner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08451" y="1688306"/>
              <a:ext cx="2195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Plans, Searches, Analyzes,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95685" y="1897856"/>
              <a:ext cx="1420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Verifies, Reports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095500" y="2095500"/>
            <a:ext cx="7429500" cy="2857500"/>
            <a:chOff x="2095500" y="2095500"/>
            <a:chExt cx="7429500" cy="2857500"/>
          </a:xfrm>
        </p:grpSpPr>
        <p:sp>
          <p:nvSpPr>
            <p:cNvPr id="25" name="Line 25"/>
            <p:cNvSpPr/>
            <p:nvPr/>
          </p:nvSpPr>
          <p:spPr>
            <a:xfrm>
              <a:off x="2095500" y="4619625"/>
              <a:ext cx="1143000" cy="333375"/>
            </a:xfrm>
            <a:custGeom>
              <a:avLst/>
              <a:gdLst/>
              <a:ahLst/>
              <a:cxnLst/>
              <a:rect l="l" t="t" r="r" b="b"/>
              <a:pathLst>
                <a:path w="1143000" h="333375">
                  <a:moveTo>
                    <a:pt x="0" y="333375"/>
                  </a:moveTo>
                  <a:lnTo>
                    <a:pt x="1143000" y="0"/>
                  </a:lnTo>
                </a:path>
              </a:pathLst>
            </a:custGeom>
            <a:noFill/>
            <a:ln w="14288">
              <a:solidFill>
                <a:srgbClr val="7A85A8">
                  <a:alpha val="4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286250" y="3762375"/>
              <a:ext cx="1238250" cy="333375"/>
            </a:xfrm>
            <a:custGeom>
              <a:avLst/>
              <a:gdLst/>
              <a:ahLst/>
              <a:cxnLst/>
              <a:rect l="l" t="t" r="r" b="b"/>
              <a:pathLst>
                <a:path w="1238250" h="333375">
                  <a:moveTo>
                    <a:pt x="0" y="333375"/>
                  </a:moveTo>
                  <a:lnTo>
                    <a:pt x="1238250" y="0"/>
                  </a:lnTo>
                </a:path>
              </a:pathLst>
            </a:custGeom>
            <a:noFill/>
            <a:ln w="14288">
              <a:solidFill>
                <a:srgbClr val="7A85A8">
                  <a:alpha val="5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572250" y="2905125"/>
              <a:ext cx="1238250" cy="333375"/>
            </a:xfrm>
            <a:custGeom>
              <a:avLst/>
              <a:gdLst/>
              <a:ahLst/>
              <a:cxnLst/>
              <a:rect l="l" t="t" r="r" b="b"/>
              <a:pathLst>
                <a:path w="1238250" h="333375">
                  <a:moveTo>
                    <a:pt x="0" y="333375"/>
                  </a:moveTo>
                  <a:lnTo>
                    <a:pt x="1238250" y="0"/>
                  </a:lnTo>
                </a:path>
              </a:pathLst>
            </a:custGeom>
            <a:noFill/>
            <a:ln w="14288">
              <a:solidFill>
                <a:schemeClr val="accent3">
                  <a:alpha val="60000"/>
                </a:scheme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858250" y="2095500"/>
              <a:ext cx="666750" cy="285750"/>
            </a:xfrm>
            <a:custGeom>
              <a:avLst/>
              <a:gdLst/>
              <a:ahLst/>
              <a:cxnLst/>
              <a:rect l="l" t="t" r="r" b="b"/>
              <a:pathLst>
                <a:path w="666750" h="285750">
                  <a:moveTo>
                    <a:pt x="0" y="28575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chemeClr val="accent2">
                  <a:alpha val="80000"/>
                </a:schemeClr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895350" y="1143000"/>
            <a:ext cx="2056743" cy="4381500"/>
            <a:chOff x="895350" y="1143000"/>
            <a:chExt cx="2056743" cy="4381500"/>
          </a:xfrm>
        </p:grpSpPr>
        <p:sp>
          <p:nvSpPr>
            <p:cNvPr id="30" name="Freeform 30"/>
            <p:cNvSpPr/>
            <p:nvPr/>
          </p:nvSpPr>
          <p:spPr>
            <a:xfrm>
              <a:off x="952500" y="123825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4286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895350" y="1143000"/>
              <a:ext cx="114300" cy="190500"/>
            </a:xfrm>
            <a:custGeom>
              <a:avLst/>
              <a:gdLst/>
              <a:ahLst/>
              <a:cxnLst/>
              <a:rect l="l" t="t" r="r" b="b"/>
              <a:pathLst>
                <a:path w="114300" h="190500">
                  <a:moveTo>
                    <a:pt x="0" y="190500"/>
                  </a:moveTo>
                  <a:lnTo>
                    <a:pt x="57150" y="0"/>
                  </a:lnTo>
                  <a:lnTo>
                    <a:pt x="114300" y="19050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 rot="-5400000">
              <a:off x="2363810" y="3436144"/>
              <a:ext cx="5882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0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Capability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264934" y="6139815"/>
            <a:ext cx="5662132" cy="352044"/>
            <a:chOff x="3264934" y="6139815"/>
            <a:chExt cx="5662132" cy="352044"/>
          </a:xfrm>
        </p:grpSpPr>
        <p:sp>
          <p:nvSpPr>
            <p:cNvPr id="34" name="TextBox 34"/>
            <p:cNvSpPr txBox="1"/>
            <p:nvPr/>
          </p:nvSpPr>
          <p:spPr>
            <a:xfrm>
              <a:off x="3264934" y="6139815"/>
              <a:ext cx="5662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Researcher remains the scientific authority.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6" name="Rectangle 3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521518" y="421958"/>
            <a:ext cx="5148964" cy="616077"/>
            <a:chOff x="3521518" y="421958"/>
            <a:chExt cx="514896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3521518" y="421958"/>
              <a:ext cx="51489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Live Research Challenge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33500" y="1238250"/>
            <a:ext cx="9525000" cy="4572000"/>
            <a:chOff x="1333500" y="1238250"/>
            <a:chExt cx="9525000" cy="4572000"/>
          </a:xfrm>
        </p:grpSpPr>
        <p:sp>
          <p:nvSpPr>
            <p:cNvPr id="4" name="Rectangle 4"/>
            <p:cNvSpPr/>
            <p:nvPr/>
          </p:nvSpPr>
          <p:spPr>
            <a:xfrm>
              <a:off x="1333500" y="1238250"/>
              <a:ext cx="9525000" cy="4572000"/>
            </a:xfrm>
            <a:prstGeom prst="roundRect">
              <a:avLst>
                <a:gd name="adj" fmla="val 2917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013228" y="1678305"/>
              <a:ext cx="61655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Let’s Give BioDockify a Research Question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905000" y="2286000"/>
              <a:ext cx="8382000" cy="1905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655929" y="2774632"/>
              <a:ext cx="68801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“Identify promising phytochemicals for Alzheimer’s disease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76879" y="3108008"/>
              <a:ext cx="54382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research and develop a computational workflow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90414" y="3441382"/>
              <a:ext cx="22111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 evaluate them.”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905000" y="4000500"/>
              <a:ext cx="8382000" cy="1905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61060" y="4505325"/>
              <a:ext cx="5269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 am not going to select ten different tools first.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17471" y="4838700"/>
              <a:ext cx="55570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 am going to give BioDockify the research objective.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14" name="Rectangle 1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958523" y="279083"/>
            <a:ext cx="6274954" cy="616077"/>
            <a:chOff x="2958523" y="279083"/>
            <a:chExt cx="627495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2958523" y="279083"/>
              <a:ext cx="627495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 Research Planning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4000" y="952500"/>
            <a:ext cx="9144000" cy="495300"/>
            <a:chOff x="1524000" y="952500"/>
            <a:chExt cx="9144000" cy="495300"/>
          </a:xfrm>
        </p:grpSpPr>
        <p:sp>
          <p:nvSpPr>
            <p:cNvPr id="4" name="Rectangle 4"/>
            <p:cNvSpPr/>
            <p:nvPr/>
          </p:nvSpPr>
          <p:spPr>
            <a:xfrm>
              <a:off x="1524000" y="95250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752600" y="10477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58851" y="1143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230755" y="1095375"/>
              <a:ext cx="2010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Objective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24000" y="1543050"/>
            <a:ext cx="9144000" cy="495300"/>
            <a:chOff x="1524000" y="1543050"/>
            <a:chExt cx="9144000" cy="495300"/>
          </a:xfrm>
        </p:grpSpPr>
        <p:sp>
          <p:nvSpPr>
            <p:cNvPr id="9" name="Rectangle 9"/>
            <p:cNvSpPr/>
            <p:nvPr/>
          </p:nvSpPr>
          <p:spPr>
            <a:xfrm>
              <a:off x="1524000" y="154305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752600" y="16383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58851" y="17345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30755" y="1685925"/>
              <a:ext cx="20642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Questions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24000" y="2133600"/>
            <a:ext cx="9144000" cy="495300"/>
            <a:chOff x="1524000" y="2133600"/>
            <a:chExt cx="9144000" cy="495300"/>
          </a:xfrm>
        </p:grpSpPr>
        <p:sp>
          <p:nvSpPr>
            <p:cNvPr id="14" name="Rectangle 14"/>
            <p:cNvSpPr/>
            <p:nvPr/>
          </p:nvSpPr>
          <p:spPr>
            <a:xfrm>
              <a:off x="1524000" y="213360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752600" y="22288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58851" y="2325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30755" y="2276475"/>
              <a:ext cx="1134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Hypothesis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24000" y="2724150"/>
            <a:ext cx="9144000" cy="495300"/>
            <a:chOff x="1524000" y="2724150"/>
            <a:chExt cx="9144000" cy="495300"/>
          </a:xfrm>
        </p:grpSpPr>
        <p:sp>
          <p:nvSpPr>
            <p:cNvPr id="19" name="Rectangle 19"/>
            <p:cNvSpPr/>
            <p:nvPr/>
          </p:nvSpPr>
          <p:spPr>
            <a:xfrm>
              <a:off x="1524000" y="272415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752600" y="2819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58851" y="29156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30755" y="2867025"/>
              <a:ext cx="17349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Target Selection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24000" y="3314700"/>
            <a:ext cx="9144000" cy="495300"/>
            <a:chOff x="1524000" y="3314700"/>
            <a:chExt cx="9144000" cy="495300"/>
          </a:xfrm>
        </p:grpSpPr>
        <p:sp>
          <p:nvSpPr>
            <p:cNvPr id="24" name="Rectangle 24"/>
            <p:cNvSpPr/>
            <p:nvPr/>
          </p:nvSpPr>
          <p:spPr>
            <a:xfrm>
              <a:off x="1524000" y="331470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752600" y="34099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858851" y="35061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30755" y="3457575"/>
              <a:ext cx="1947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Data Requirements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524000" y="3905250"/>
            <a:ext cx="9144000" cy="495300"/>
            <a:chOff x="1524000" y="3905250"/>
            <a:chExt cx="9144000" cy="495300"/>
          </a:xfrm>
        </p:grpSpPr>
        <p:sp>
          <p:nvSpPr>
            <p:cNvPr id="29" name="Rectangle 29"/>
            <p:cNvSpPr/>
            <p:nvPr/>
          </p:nvSpPr>
          <p:spPr>
            <a:xfrm>
              <a:off x="1524000" y="390525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752600" y="40005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858851" y="4096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30755" y="4048125"/>
              <a:ext cx="2403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Computational Methods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524000" y="4495800"/>
            <a:ext cx="9144000" cy="495300"/>
            <a:chOff x="1524000" y="4495800"/>
            <a:chExt cx="9144000" cy="495300"/>
          </a:xfrm>
        </p:grpSpPr>
        <p:sp>
          <p:nvSpPr>
            <p:cNvPr id="34" name="Rectangle 34"/>
            <p:cNvSpPr/>
            <p:nvPr/>
          </p:nvSpPr>
          <p:spPr>
            <a:xfrm>
              <a:off x="1524000" y="449580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752600" y="45910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858851" y="46872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30755" y="4638675"/>
              <a:ext cx="20314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Validation Strategy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524000" y="5086350"/>
            <a:ext cx="9144000" cy="495300"/>
            <a:chOff x="1524000" y="5086350"/>
            <a:chExt cx="9144000" cy="495300"/>
          </a:xfrm>
        </p:grpSpPr>
        <p:sp>
          <p:nvSpPr>
            <p:cNvPr id="39" name="Rectangle 39"/>
            <p:cNvSpPr/>
            <p:nvPr/>
          </p:nvSpPr>
          <p:spPr>
            <a:xfrm>
              <a:off x="1524000" y="5086350"/>
              <a:ext cx="91440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752600" y="5181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858851" y="52778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230755" y="5229225"/>
              <a:ext cx="1884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Expected Outputs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40419" y="6076950"/>
            <a:ext cx="9711162" cy="293370"/>
            <a:chOff x="1240419" y="6076950"/>
            <a:chExt cx="9711162" cy="293370"/>
          </a:xfrm>
        </p:grpSpPr>
        <p:sp>
          <p:nvSpPr>
            <p:cNvPr id="44" name="TextBox 44"/>
            <p:cNvSpPr txBox="1"/>
            <p:nvPr/>
          </p:nvSpPr>
          <p:spPr>
            <a:xfrm>
              <a:off x="1240419" y="6076950"/>
              <a:ext cx="971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AI is not generating the scientific conclusion. It is helping construct the research plan.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6" name="Rectangle 4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863589" y="279083"/>
            <a:ext cx="6464822" cy="616077"/>
            <a:chOff x="2863589" y="279083"/>
            <a:chExt cx="646482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2863589" y="279083"/>
              <a:ext cx="64648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Internet-Connected Research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33500" y="1011555"/>
            <a:ext cx="3810000" cy="4131945"/>
            <a:chOff x="1333500" y="1011555"/>
            <a:chExt cx="3810000" cy="4131945"/>
          </a:xfrm>
        </p:grpSpPr>
        <p:sp>
          <p:nvSpPr>
            <p:cNvPr id="4" name="TextBox 4"/>
            <p:cNvSpPr txBox="1"/>
            <p:nvPr/>
          </p:nvSpPr>
          <p:spPr>
            <a:xfrm>
              <a:off x="2566549" y="1011555"/>
              <a:ext cx="134390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LLM-only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333500" y="1524000"/>
              <a:ext cx="3810000" cy="3619500"/>
            </a:xfrm>
            <a:prstGeom prst="roundRect">
              <a:avLst>
                <a:gd name="adj" fmla="val 3684"/>
              </a:avLst>
            </a:prstGeom>
            <a:solidFill>
              <a:schemeClr val="lt2">
                <a:alpha val="50000"/>
              </a:scheme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286000" y="2095500"/>
              <a:ext cx="1905000" cy="419100"/>
            </a:xfrm>
            <a:prstGeom prst="roundRect">
              <a:avLst>
                <a:gd name="adj" fmla="val 22727"/>
              </a:avLst>
            </a:prstGeom>
            <a:solidFill>
              <a:srgbClr val="2A2D4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595220" y="2216468"/>
              <a:ext cx="1286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Training Data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238500" y="251460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9050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3181350" y="290512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0"/>
                  </a:lnTo>
                  <a:lnTo>
                    <a:pt x="57150" y="95250"/>
                  </a:lnTo>
                  <a:close/>
                </a:path>
              </a:pathLst>
            </a:custGeom>
            <a:solidFill>
              <a:schemeClr val="accent3">
                <a:alpha val="40000"/>
              </a:scheme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286000" y="3048000"/>
              <a:ext cx="1905000" cy="419100"/>
            </a:xfrm>
            <a:prstGeom prst="roundRect">
              <a:avLst>
                <a:gd name="adj" fmla="val 22727"/>
              </a:avLst>
            </a:prstGeom>
            <a:solidFill>
              <a:srgbClr val="2A2D4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883598" y="3168968"/>
              <a:ext cx="709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Answer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34130" y="4061460"/>
              <a:ext cx="220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>
                      <a:alphaMod val="50000"/>
                    </a:schemeClr>
                  </a:solidFill>
                  <a:latin typeface="+mn-lt"/>
                  <a:ea typeface="+mn-ea"/>
                  <a:cs typeface="+mn-cs"/>
                </a:rPr>
                <a:t>Limited to training cutoff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96500" y="4299585"/>
              <a:ext cx="18839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>
                      <a:alphaMod val="50000"/>
                    </a:schemeClr>
                  </a:solidFill>
                  <a:latin typeface="+mn-lt"/>
                  <a:ea typeface="+mn-ea"/>
                  <a:cs typeface="+mn-cs"/>
                </a:rPr>
                <a:t>No source verification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94132" y="4537710"/>
              <a:ext cx="1688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>
                      <a:alphaMod val="50000"/>
                    </a:schemeClr>
                  </a:solidFill>
                  <a:latin typeface="+mn-lt"/>
                  <a:ea typeface="+mn-ea"/>
                  <a:cs typeface="+mn-cs"/>
                </a:rPr>
                <a:t>No current evidence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048500" y="1011555"/>
            <a:ext cx="3810000" cy="5084445"/>
            <a:chOff x="7048500" y="1011555"/>
            <a:chExt cx="3810000" cy="5084445"/>
          </a:xfrm>
        </p:grpSpPr>
        <p:sp>
          <p:nvSpPr>
            <p:cNvPr id="16" name="TextBox 16"/>
            <p:cNvSpPr txBox="1"/>
            <p:nvPr/>
          </p:nvSpPr>
          <p:spPr>
            <a:xfrm>
              <a:off x="7489590" y="1011555"/>
              <a:ext cx="29278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BioDockify Approach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48500" y="1524000"/>
              <a:ext cx="3810000" cy="4572000"/>
            </a:xfrm>
            <a:prstGeom prst="roundRect">
              <a:avLst>
                <a:gd name="adj" fmla="val 3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0" y="1714500"/>
              <a:ext cx="2286000" cy="342900"/>
            </a:xfrm>
            <a:prstGeom prst="roundRect">
              <a:avLst>
                <a:gd name="adj" fmla="val 22222"/>
              </a:avLst>
            </a:prstGeom>
            <a:solidFill>
              <a:srgbClr val="2A2D4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54352" y="1813560"/>
              <a:ext cx="15982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Research Question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953500" y="20574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896350" y="22098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114300" y="0"/>
                  </a:lnTo>
                  <a:lnTo>
                    <a:pt x="5715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0" y="2324100"/>
              <a:ext cx="2286000" cy="342900"/>
            </a:xfrm>
            <a:prstGeom prst="roundRect">
              <a:avLst>
                <a:gd name="adj" fmla="val 22222"/>
              </a:avLst>
            </a:prstGeom>
            <a:solidFill>
              <a:srgbClr val="2A2D4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30121" y="2423160"/>
              <a:ext cx="22467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Live Information Retrieval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953500" y="26670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8896350" y="28194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114300" y="0"/>
                  </a:lnTo>
                  <a:lnTo>
                    <a:pt x="5715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810500" y="2933700"/>
              <a:ext cx="2286000" cy="342900"/>
            </a:xfrm>
            <a:prstGeom prst="roundRect">
              <a:avLst>
                <a:gd name="adj" fmla="val 22222"/>
              </a:avLst>
            </a:prstGeom>
            <a:solidFill>
              <a:srgbClr val="2A2D4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86931" y="3032760"/>
              <a:ext cx="25331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Literature / Databases / Web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953500" y="32766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8896350" y="34290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114300" y="0"/>
                  </a:lnTo>
                  <a:lnTo>
                    <a:pt x="5715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10500" y="3543300"/>
              <a:ext cx="2286000" cy="342900"/>
            </a:xfrm>
            <a:prstGeom prst="roundRect">
              <a:avLst>
                <a:gd name="adj" fmla="val 22222"/>
              </a:avLst>
            </a:prstGeom>
            <a:solidFill>
              <a:srgbClr val="2A2D4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99857" y="3642360"/>
              <a:ext cx="17072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Evidence Extraction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953500" y="38862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8896350" y="40386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114300" y="0"/>
                  </a:lnTo>
                  <a:lnTo>
                    <a:pt x="5715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810500" y="4152900"/>
              <a:ext cx="2286000" cy="342900"/>
            </a:xfrm>
            <a:prstGeom prst="roundRect">
              <a:avLst>
                <a:gd name="adj" fmla="val 22222"/>
              </a:avLst>
            </a:prstGeom>
            <a:solidFill>
              <a:srgbClr val="2A2D4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21701" y="4251960"/>
              <a:ext cx="1663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Source Verification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953500" y="44958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8896350" y="46482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114300" y="0"/>
                  </a:lnTo>
                  <a:lnTo>
                    <a:pt x="5715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810500" y="4762500"/>
              <a:ext cx="2286000" cy="342900"/>
            </a:xfrm>
            <a:prstGeom prst="roundRect">
              <a:avLst>
                <a:gd name="adj" fmla="val 22222"/>
              </a:avLst>
            </a:prstGeom>
            <a:solidFill>
              <a:srgbClr val="2A2D4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36737" y="4861560"/>
              <a:ext cx="833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Synthesis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8953500" y="51054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8896350" y="52578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114300" y="0"/>
                  </a:lnTo>
                  <a:lnTo>
                    <a:pt x="5715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810500" y="5372100"/>
              <a:ext cx="2286000" cy="342900"/>
            </a:xfrm>
            <a:prstGeom prst="roundRect">
              <a:avLst>
                <a:gd name="adj" fmla="val 22222"/>
              </a:avLst>
            </a:prstGeom>
            <a:solidFill>
              <a:srgbClr val="2A2D4A"/>
            </a:solidFill>
            <a:ln w="9525">
              <a:solidFill>
                <a:schemeClr val="accent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981747" y="5471160"/>
              <a:ext cx="19435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Researcher Validation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24699" y="6219825"/>
            <a:ext cx="10742602" cy="293370"/>
            <a:chOff x="724699" y="6219825"/>
            <a:chExt cx="10742602" cy="293370"/>
          </a:xfrm>
        </p:grpSpPr>
        <p:sp>
          <p:nvSpPr>
            <p:cNvPr id="45" name="TextBox 45"/>
            <p:cNvSpPr txBox="1"/>
            <p:nvPr/>
          </p:nvSpPr>
          <p:spPr>
            <a:xfrm>
              <a:off x="724699" y="6219825"/>
              <a:ext cx="10742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Current scientific evidence should come from current sources — not only from an LLM’s memory.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7" name="Rectangle 47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509266" y="212408"/>
            <a:ext cx="5173468" cy="616077"/>
            <a:chOff x="3509266" y="212408"/>
            <a:chExt cx="517346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3509266" y="212408"/>
              <a:ext cx="51734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Agent + Scientific Tools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762500" y="2667000"/>
            <a:ext cx="2667000" cy="1333500"/>
            <a:chOff x="4762500" y="2667000"/>
            <a:chExt cx="2667000" cy="1333500"/>
          </a:xfrm>
        </p:grpSpPr>
        <p:sp>
          <p:nvSpPr>
            <p:cNvPr id="4" name="Rectangle 4"/>
            <p:cNvSpPr/>
            <p:nvPr/>
          </p:nvSpPr>
          <p:spPr>
            <a:xfrm>
              <a:off x="4762500" y="2667000"/>
              <a:ext cx="2667000" cy="13335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497944" y="3108008"/>
              <a:ext cx="11961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63297" y="3393758"/>
              <a:ext cx="6654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Agent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667000" y="1333500"/>
            <a:ext cx="6858000" cy="4000500"/>
            <a:chOff x="2667000" y="1333500"/>
            <a:chExt cx="6858000" cy="4000500"/>
          </a:xfrm>
        </p:grpSpPr>
        <p:sp>
          <p:nvSpPr>
            <p:cNvPr id="8" name="Line 8"/>
            <p:cNvSpPr/>
            <p:nvPr/>
          </p:nvSpPr>
          <p:spPr>
            <a:xfrm>
              <a:off x="2667000" y="1524000"/>
              <a:ext cx="2095500" cy="1524000"/>
            </a:xfrm>
            <a:custGeom>
              <a:avLst/>
              <a:gdLst/>
              <a:ahLst/>
              <a:cxnLst/>
              <a:rect l="l" t="t" r="r" b="b"/>
              <a:pathLst>
                <a:path w="2095500" h="1524000">
                  <a:moveTo>
                    <a:pt x="2095500" y="1524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381500" y="1333500"/>
              <a:ext cx="666750" cy="1333500"/>
            </a:xfrm>
            <a:custGeom>
              <a:avLst/>
              <a:gdLst/>
              <a:ahLst/>
              <a:cxnLst/>
              <a:rect l="l" t="t" r="r" b="b"/>
              <a:pathLst>
                <a:path w="666750" h="1333500">
                  <a:moveTo>
                    <a:pt x="666750" y="1333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13335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1333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143750" y="1333500"/>
              <a:ext cx="666750" cy="1333500"/>
            </a:xfrm>
            <a:custGeom>
              <a:avLst/>
              <a:gdLst/>
              <a:ahLst/>
              <a:cxnLst/>
              <a:rect l="l" t="t" r="r" b="b"/>
              <a:pathLst>
                <a:path w="666750" h="1333500">
                  <a:moveTo>
                    <a:pt x="0" y="133350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429500" y="1524000"/>
              <a:ext cx="2095500" cy="1524000"/>
            </a:xfrm>
            <a:custGeom>
              <a:avLst/>
              <a:gdLst/>
              <a:ahLst/>
              <a:cxnLst/>
              <a:rect l="l" t="t" r="r" b="b"/>
              <a:pathLst>
                <a:path w="2095500" h="1524000">
                  <a:moveTo>
                    <a:pt x="0" y="152400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667000" y="3619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209550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381500" y="4000500"/>
              <a:ext cx="666750" cy="1333500"/>
            </a:xfrm>
            <a:custGeom>
              <a:avLst/>
              <a:gdLst/>
              <a:ahLst/>
              <a:cxnLst/>
              <a:rect l="l" t="t" r="r" b="b"/>
              <a:pathLst>
                <a:path w="666750" h="1333500">
                  <a:moveTo>
                    <a:pt x="66675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096000" y="40005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143750" y="4000500"/>
              <a:ext cx="666750" cy="1333500"/>
            </a:xfrm>
            <a:custGeom>
              <a:avLst/>
              <a:gdLst/>
              <a:ahLst/>
              <a:cxnLst/>
              <a:rect l="l" t="t" r="r" b="b"/>
              <a:pathLst>
                <a:path w="666750" h="1333500">
                  <a:moveTo>
                    <a:pt x="0" y="0"/>
                  </a:moveTo>
                  <a:lnTo>
                    <a:pt x="666750" y="133350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429500" y="3619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0" y="0"/>
                  </a:moveTo>
                  <a:lnTo>
                    <a:pt x="2095500" y="1333500"/>
                  </a:lnTo>
                </a:path>
              </a:pathLst>
            </a:custGeom>
            <a:noFill/>
            <a:ln w="19050">
              <a:solidFill>
                <a:schemeClr val="accent2">
                  <a:alpha val="40000"/>
                </a:schemeClr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619250" y="1143000"/>
            <a:ext cx="2095500" cy="476250"/>
            <a:chOff x="1619250" y="1143000"/>
            <a:chExt cx="2095500" cy="476250"/>
          </a:xfrm>
        </p:grpSpPr>
        <p:sp>
          <p:nvSpPr>
            <p:cNvPr id="19" name="Rectangle 19"/>
            <p:cNvSpPr/>
            <p:nvPr/>
          </p:nvSpPr>
          <p:spPr>
            <a:xfrm>
              <a:off x="1619250" y="1143000"/>
              <a:ext cx="20955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85437" y="1308735"/>
              <a:ext cx="1363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Literature Agent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429000" y="952500"/>
            <a:ext cx="1905000" cy="476250"/>
            <a:chOff x="3429000" y="952500"/>
            <a:chExt cx="1905000" cy="476250"/>
          </a:xfrm>
        </p:grpSpPr>
        <p:sp>
          <p:nvSpPr>
            <p:cNvPr id="22" name="Rectangle 22"/>
            <p:cNvSpPr/>
            <p:nvPr/>
          </p:nvSpPr>
          <p:spPr>
            <a:xfrm>
              <a:off x="3429000" y="952500"/>
              <a:ext cx="19050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48430" y="1118235"/>
              <a:ext cx="1266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Chemistry Tools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43500" y="904875"/>
            <a:ext cx="1905000" cy="476250"/>
            <a:chOff x="5143500" y="904875"/>
            <a:chExt cx="1905000" cy="476250"/>
          </a:xfrm>
        </p:grpSpPr>
        <p:sp>
          <p:nvSpPr>
            <p:cNvPr id="25" name="Rectangle 25"/>
            <p:cNvSpPr/>
            <p:nvPr/>
          </p:nvSpPr>
          <p:spPr>
            <a:xfrm>
              <a:off x="5143500" y="904875"/>
              <a:ext cx="19050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523650" y="1070610"/>
              <a:ext cx="1144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Docking Engine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58000" y="952500"/>
            <a:ext cx="1905000" cy="476250"/>
            <a:chOff x="6858000" y="952500"/>
            <a:chExt cx="1905000" cy="476250"/>
          </a:xfrm>
        </p:grpSpPr>
        <p:sp>
          <p:nvSpPr>
            <p:cNvPr id="28" name="Rectangle 28"/>
            <p:cNvSpPr/>
            <p:nvPr/>
          </p:nvSpPr>
          <p:spPr>
            <a:xfrm>
              <a:off x="6858000" y="952500"/>
              <a:ext cx="19050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99578" y="1118235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QSAR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477250" y="1143000"/>
            <a:ext cx="2095500" cy="476250"/>
            <a:chOff x="8477250" y="1143000"/>
            <a:chExt cx="2095500" cy="476250"/>
          </a:xfrm>
        </p:grpSpPr>
        <p:sp>
          <p:nvSpPr>
            <p:cNvPr id="31" name="Rectangle 31"/>
            <p:cNvSpPr/>
            <p:nvPr/>
          </p:nvSpPr>
          <p:spPr>
            <a:xfrm>
              <a:off x="8477250" y="1143000"/>
              <a:ext cx="20955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22645" y="1308735"/>
              <a:ext cx="1204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Pharmacophore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19250" y="4572000"/>
            <a:ext cx="2095500" cy="476250"/>
            <a:chOff x="1619250" y="4572000"/>
            <a:chExt cx="2095500" cy="476250"/>
          </a:xfrm>
        </p:grpSpPr>
        <p:sp>
          <p:nvSpPr>
            <p:cNvPr id="34" name="Rectangle 34"/>
            <p:cNvSpPr/>
            <p:nvPr/>
          </p:nvSpPr>
          <p:spPr>
            <a:xfrm>
              <a:off x="1619250" y="4572000"/>
              <a:ext cx="20955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09139" y="4737735"/>
              <a:ext cx="515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429000" y="4953000"/>
            <a:ext cx="1905000" cy="476250"/>
            <a:chOff x="3429000" y="4953000"/>
            <a:chExt cx="1905000" cy="476250"/>
          </a:xfrm>
        </p:grpSpPr>
        <p:sp>
          <p:nvSpPr>
            <p:cNvPr id="37" name="Rectangle 37"/>
            <p:cNvSpPr/>
            <p:nvPr/>
          </p:nvSpPr>
          <p:spPr>
            <a:xfrm>
              <a:off x="3429000" y="4953000"/>
              <a:ext cx="19050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838861" y="5118735"/>
              <a:ext cx="10852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MD Simulation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143500" y="4953000"/>
            <a:ext cx="1905000" cy="476250"/>
            <a:chOff x="5143500" y="4953000"/>
            <a:chExt cx="1905000" cy="476250"/>
          </a:xfrm>
        </p:grpSpPr>
        <p:sp>
          <p:nvSpPr>
            <p:cNvPr id="40" name="Rectangle 40"/>
            <p:cNvSpPr/>
            <p:nvPr/>
          </p:nvSpPr>
          <p:spPr>
            <a:xfrm>
              <a:off x="5143500" y="4953000"/>
              <a:ext cx="19050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83758" y="5118735"/>
              <a:ext cx="824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Statistics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858000" y="4953000"/>
            <a:ext cx="1905000" cy="476250"/>
            <a:chOff x="6858000" y="4953000"/>
            <a:chExt cx="1905000" cy="476250"/>
          </a:xfrm>
        </p:grpSpPr>
        <p:sp>
          <p:nvSpPr>
            <p:cNvPr id="43" name="Rectangle 43"/>
            <p:cNvSpPr/>
            <p:nvPr/>
          </p:nvSpPr>
          <p:spPr>
            <a:xfrm>
              <a:off x="6858000" y="4953000"/>
              <a:ext cx="19050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05493" y="5118735"/>
              <a:ext cx="1010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Visualization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477250" y="4572000"/>
            <a:ext cx="2095500" cy="476250"/>
            <a:chOff x="8477250" y="4572000"/>
            <a:chExt cx="2095500" cy="476250"/>
          </a:xfrm>
        </p:grpSpPr>
        <p:sp>
          <p:nvSpPr>
            <p:cNvPr id="46" name="Rectangle 46"/>
            <p:cNvSpPr/>
            <p:nvPr/>
          </p:nvSpPr>
          <p:spPr>
            <a:xfrm>
              <a:off x="8477250" y="4572000"/>
              <a:ext cx="2095500" cy="476250"/>
            </a:xfrm>
            <a:prstGeom prst="roundRect">
              <a:avLst>
                <a:gd name="adj" fmla="val 2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875645" y="4737735"/>
              <a:ext cx="12987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Academic Writer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9" name="Rectangle 4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302858" y="260985"/>
            <a:ext cx="9586283" cy="528066"/>
            <a:chOff x="1302858" y="260985"/>
            <a:chExt cx="9586283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1302858" y="260985"/>
              <a:ext cx="95862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One Research Question → Multiple Scientific Stages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59088" y="710565"/>
            <a:ext cx="3673825" cy="352044"/>
            <a:chOff x="4259088" y="710565"/>
            <a:chExt cx="3673825" cy="352044"/>
          </a:xfrm>
        </p:grpSpPr>
        <p:sp>
          <p:nvSpPr>
            <p:cNvPr id="4" name="TextBox 4"/>
            <p:cNvSpPr txBox="1"/>
            <p:nvPr/>
          </p:nvSpPr>
          <p:spPr>
            <a:xfrm>
              <a:off x="4259088" y="710565"/>
              <a:ext cx="36738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Alzheimer’s + Phytochemicals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19125" y="1428750"/>
            <a:ext cx="9350375" cy="1400175"/>
            <a:chOff x="619125" y="1428750"/>
            <a:chExt cx="9350375" cy="1400175"/>
          </a:xfrm>
        </p:grpSpPr>
        <p:sp>
          <p:nvSpPr>
            <p:cNvPr id="6" name="Rectangle 6"/>
            <p:cNvSpPr/>
            <p:nvPr/>
          </p:nvSpPr>
          <p:spPr>
            <a:xfrm>
              <a:off x="619125" y="142875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74069" y="1582102"/>
              <a:ext cx="7569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Literature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095500" y="16383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2257425" y="1590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381250" y="142875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429895" y="1582102"/>
              <a:ext cx="1369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Disease Mechanisms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857625" y="16383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4019550" y="1590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143375" y="1428750"/>
              <a:ext cx="1476375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50284" y="1582102"/>
              <a:ext cx="6530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Target ID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619750" y="16383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5781675" y="1590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05500" y="1428750"/>
              <a:ext cx="1857375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82277" y="1582102"/>
              <a:ext cx="16942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Phytochemical Discovery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762875" y="16383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7924800" y="1590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048625" y="1428750"/>
              <a:ext cx="1666875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82102" y="1582102"/>
              <a:ext cx="13903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Structure Retrieval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2095500" y="1847850"/>
              <a:ext cx="7874000" cy="914400"/>
            </a:xfrm>
            <a:custGeom>
              <a:avLst/>
              <a:gdLst/>
              <a:ahLst/>
              <a:cxnLst/>
              <a:rect l="l" t="t" r="r" b="b"/>
              <a:pathLst>
                <a:path w="7874000" h="914400">
                  <a:moveTo>
                    <a:pt x="7620000" y="0"/>
                  </a:moveTo>
                  <a:cubicBezTo>
                    <a:pt x="7874000" y="228600"/>
                    <a:pt x="7874000" y="438150"/>
                    <a:pt x="7620000" y="628650"/>
                  </a:cubicBezTo>
                  <a:lnTo>
                    <a:pt x="381000" y="628650"/>
                  </a:lnTo>
                  <a:cubicBezTo>
                    <a:pt x="127000" y="628650"/>
                    <a:pt x="0" y="723900"/>
                    <a:pt x="0" y="914400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2047875" y="2733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0"/>
                  </a:lnTo>
                  <a:lnTo>
                    <a:pt x="47625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619125" y="2952750"/>
            <a:ext cx="9982200" cy="419100"/>
            <a:chOff x="619125" y="2952750"/>
            <a:chExt cx="9982200" cy="419100"/>
          </a:xfrm>
        </p:grpSpPr>
        <p:sp>
          <p:nvSpPr>
            <p:cNvPr id="27" name="Rectangle 27"/>
            <p:cNvSpPr/>
            <p:nvPr/>
          </p:nvSpPr>
          <p:spPr>
            <a:xfrm>
              <a:off x="619125" y="2952750"/>
              <a:ext cx="142875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5957" y="3106102"/>
              <a:ext cx="9550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Drug-likeness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2047875" y="31623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2162175" y="3114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266950" y="2952750"/>
              <a:ext cx="1143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576627" y="3106102"/>
              <a:ext cx="523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Docking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3409950" y="31623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3524250" y="3114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619500" y="2952750"/>
              <a:ext cx="1143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965372" y="3106102"/>
              <a:ext cx="4512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4762500" y="31623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4876800" y="3114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972050" y="2952750"/>
              <a:ext cx="1143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58994" y="3106102"/>
              <a:ext cx="369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QSAR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115050" y="31623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6229350" y="3114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324600" y="2952750"/>
              <a:ext cx="1143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93687" y="3106102"/>
              <a:ext cx="204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MD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467600" y="31623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7581900" y="3114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77150" y="2952750"/>
              <a:ext cx="1571625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77448" y="3106102"/>
              <a:ext cx="1361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Statistical Analysis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9248775" y="31623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9363075" y="3114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458325" y="2952750"/>
              <a:ext cx="1143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789062" y="3106102"/>
              <a:ext cx="481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Report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562788" y="6124575"/>
            <a:ext cx="5066424" cy="293370"/>
            <a:chOff x="3562788" y="6124575"/>
            <a:chExt cx="5066424" cy="293370"/>
          </a:xfrm>
        </p:grpSpPr>
        <p:sp>
          <p:nvSpPr>
            <p:cNvPr id="54" name="TextBox 54"/>
            <p:cNvSpPr txBox="1"/>
            <p:nvPr/>
          </p:nvSpPr>
          <p:spPr>
            <a:xfrm>
              <a:off x="3562788" y="6124575"/>
              <a:ext cx="50664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This demonstrates the real value of BioDockify.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56" name="Rectangle 5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300408" y="212408"/>
            <a:ext cx="7591185" cy="616077"/>
            <a:chOff x="2300408" y="212408"/>
            <a:chExt cx="7591185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2300408" y="212408"/>
              <a:ext cx="75911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 for Pharmacy Education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904875"/>
            <a:ext cx="3524250" cy="1714500"/>
            <a:chOff x="762000" y="904875"/>
            <a:chExt cx="3524250" cy="1714500"/>
          </a:xfrm>
        </p:grpSpPr>
        <p:sp>
          <p:nvSpPr>
            <p:cNvPr id="4" name="Rectangle 4"/>
            <p:cNvSpPr/>
            <p:nvPr/>
          </p:nvSpPr>
          <p:spPr>
            <a:xfrm>
              <a:off x="762000" y="904875"/>
              <a:ext cx="3524250" cy="17145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62000" y="904875"/>
              <a:ext cx="47625" cy="1714500"/>
            </a:xfrm>
            <a:prstGeom prst="roundRect">
              <a:avLst>
                <a:gd name="adj" fmla="val 4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39368" y="1060132"/>
              <a:ext cx="15516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Pharmacology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41654" y="1442085"/>
              <a:ext cx="17891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Target identification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1654" y="1727835"/>
              <a:ext cx="2064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Drug-target interaction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1654" y="2013585"/>
              <a:ext cx="1319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PK/PD modeling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904875"/>
            <a:ext cx="3524250" cy="1714500"/>
            <a:chOff x="4476750" y="904875"/>
            <a:chExt cx="3524250" cy="1714500"/>
          </a:xfrm>
        </p:grpSpPr>
        <p:sp>
          <p:nvSpPr>
            <p:cNvPr id="11" name="Rectangle 11"/>
            <p:cNvSpPr/>
            <p:nvPr/>
          </p:nvSpPr>
          <p:spPr>
            <a:xfrm>
              <a:off x="4476750" y="904875"/>
              <a:ext cx="3524250" cy="17145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476750" y="904875"/>
              <a:ext cx="47625" cy="1714500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54118" y="1060132"/>
              <a:ext cx="17384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Pharmacognosy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6404" y="1442085"/>
              <a:ext cx="1847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Plant → Phytochemical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56404" y="1727835"/>
              <a:ext cx="19844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Phytochemical → Target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56404" y="2013585"/>
              <a:ext cx="18936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Network pharmacology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91500" y="904875"/>
            <a:ext cx="3524250" cy="1714500"/>
            <a:chOff x="8191500" y="904875"/>
            <a:chExt cx="3524250" cy="1714500"/>
          </a:xfrm>
        </p:grpSpPr>
        <p:sp>
          <p:nvSpPr>
            <p:cNvPr id="18" name="Rectangle 18"/>
            <p:cNvSpPr/>
            <p:nvPr/>
          </p:nvSpPr>
          <p:spPr>
            <a:xfrm>
              <a:off x="8191500" y="904875"/>
              <a:ext cx="3524250" cy="17145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91500" y="904875"/>
              <a:ext cx="47625" cy="1714500"/>
            </a:xfrm>
            <a:prstGeom prst="roundRect">
              <a:avLst>
                <a:gd name="adj" fmla="val 4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68868" y="1060132"/>
              <a:ext cx="2969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Pharmaceutical Chemistry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71154" y="1442085"/>
              <a:ext cx="18495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Structure → Property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71154" y="1727835"/>
              <a:ext cx="1618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Property → Docking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71154" y="2013585"/>
              <a:ext cx="1069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SAR analysis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2905125"/>
            <a:ext cx="3524250" cy="1714500"/>
            <a:chOff x="762000" y="2905125"/>
            <a:chExt cx="3524250" cy="1714500"/>
          </a:xfrm>
        </p:grpSpPr>
        <p:sp>
          <p:nvSpPr>
            <p:cNvPr id="25" name="Rectangle 25"/>
            <p:cNvSpPr/>
            <p:nvPr/>
          </p:nvSpPr>
          <p:spPr>
            <a:xfrm>
              <a:off x="762000" y="2905125"/>
              <a:ext cx="3524250" cy="17145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2000" y="2905125"/>
              <a:ext cx="47625" cy="1714500"/>
            </a:xfrm>
            <a:prstGeom prst="roundRect">
              <a:avLst>
                <a:gd name="adj" fmla="val 4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9368" y="3060382"/>
              <a:ext cx="167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Pharmaceutics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1654" y="3442335"/>
              <a:ext cx="1585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Formulation design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1654" y="3728085"/>
              <a:ext cx="1471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DOE optimization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1654" y="4013835"/>
              <a:ext cx="2567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Response surface methodology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76750" y="2905125"/>
            <a:ext cx="3524250" cy="1714500"/>
            <a:chOff x="4476750" y="2905125"/>
            <a:chExt cx="3524250" cy="1714500"/>
          </a:xfrm>
        </p:grpSpPr>
        <p:sp>
          <p:nvSpPr>
            <p:cNvPr id="32" name="Rectangle 32"/>
            <p:cNvSpPr/>
            <p:nvPr/>
          </p:nvSpPr>
          <p:spPr>
            <a:xfrm>
              <a:off x="4476750" y="2905125"/>
              <a:ext cx="3524250" cy="17145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476750" y="2905125"/>
              <a:ext cx="47625" cy="1714500"/>
            </a:xfrm>
            <a:prstGeom prst="roundRect">
              <a:avLst>
                <a:gd name="adj" fmla="val 4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54118" y="3060382"/>
              <a:ext cx="19662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Clinical Pharmacy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56404" y="3442335"/>
              <a:ext cx="19702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Drug-drug interactions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56404" y="3728085"/>
              <a:ext cx="23878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Therapeutic drug monitoring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56404" y="4013835"/>
              <a:ext cx="1362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Safety profiling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91500" y="2905125"/>
            <a:ext cx="3524250" cy="1714500"/>
            <a:chOff x="8191500" y="2905125"/>
            <a:chExt cx="3524250" cy="1714500"/>
          </a:xfrm>
        </p:grpSpPr>
        <p:sp>
          <p:nvSpPr>
            <p:cNvPr id="39" name="Rectangle 39"/>
            <p:cNvSpPr/>
            <p:nvPr/>
          </p:nvSpPr>
          <p:spPr>
            <a:xfrm>
              <a:off x="8191500" y="2905125"/>
              <a:ext cx="3524250" cy="17145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91500" y="2905125"/>
              <a:ext cx="47625" cy="1714500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68868" y="3060382"/>
              <a:ext cx="27361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Pharmaceutical Analysis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71154" y="3442335"/>
              <a:ext cx="1355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Data processing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71154" y="3728085"/>
              <a:ext cx="1652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Statistical analysis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71154" y="4013835"/>
              <a:ext cx="1079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Visualization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6" name="Rectangle 46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98098" y="212408"/>
            <a:ext cx="5995804" cy="616077"/>
            <a:chOff x="3098098" y="212408"/>
            <a:chExt cx="599580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3098098" y="212408"/>
              <a:ext cx="599580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 in the Classroom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2500" y="916305"/>
            <a:ext cx="4762500" cy="2322195"/>
            <a:chOff x="952500" y="916305"/>
            <a:chExt cx="4762500" cy="2322195"/>
          </a:xfrm>
        </p:grpSpPr>
        <p:sp>
          <p:nvSpPr>
            <p:cNvPr id="4" name="TextBox 4"/>
            <p:cNvSpPr txBox="1"/>
            <p:nvPr/>
          </p:nvSpPr>
          <p:spPr>
            <a:xfrm>
              <a:off x="1823033" y="916305"/>
              <a:ext cx="302143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Traditional Practical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952500" y="1333500"/>
              <a:ext cx="4762500" cy="1905000"/>
            </a:xfrm>
            <a:prstGeom prst="roundRect">
              <a:avLst>
                <a:gd name="adj" fmla="val 7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684956" y="1917382"/>
              <a:ext cx="32975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“Explain molecular docking.”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2286000" y="2762250"/>
              <a:ext cx="2095500" cy="304800"/>
            </a:xfrm>
            <a:prstGeom prst="roundRect">
              <a:avLst>
                <a:gd name="adj" fmla="val 25000"/>
              </a:avLst>
            </a:prstGeom>
            <a:solidFill>
              <a:srgbClr val="2A2D4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775067" y="2858452"/>
              <a:ext cx="11173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Theoretical only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477000" y="916305"/>
            <a:ext cx="4762500" cy="3655695"/>
            <a:chOff x="6477000" y="916305"/>
            <a:chExt cx="4762500" cy="3655695"/>
          </a:xfrm>
        </p:grpSpPr>
        <p:sp>
          <p:nvSpPr>
            <p:cNvPr id="10" name="TextBox 10"/>
            <p:cNvSpPr txBox="1"/>
            <p:nvPr/>
          </p:nvSpPr>
          <p:spPr>
            <a:xfrm>
              <a:off x="7387568" y="916305"/>
              <a:ext cx="2941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BioDockify Practical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477000" y="1333500"/>
              <a:ext cx="4762500" cy="3238500"/>
            </a:xfrm>
            <a:prstGeom prst="roundRect">
              <a:avLst>
                <a:gd name="adj" fmla="val 41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51142" y="1568768"/>
              <a:ext cx="22081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e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 protein target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51142" y="1873568"/>
              <a:ext cx="1814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e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 compounds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51142" y="2178368"/>
              <a:ext cx="2035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e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Prepare structures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51142" y="2483168"/>
              <a:ext cx="604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e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51142" y="2787968"/>
              <a:ext cx="1735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e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Visualize results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51142" y="3092768"/>
              <a:ext cx="1652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e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Compare scores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51142" y="3397568"/>
              <a:ext cx="1890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e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Interpret findings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715250" y="4000500"/>
              <a:ext cx="2286000" cy="304800"/>
            </a:xfrm>
            <a:prstGeom prst="roundRect">
              <a:avLst>
                <a:gd name="adj" fmla="val 25000"/>
              </a:avLst>
            </a:prstGeom>
            <a:solidFill>
              <a:srgbClr val="2A2D4A"/>
            </a:solidFill>
            <a:ln w="95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7923" y="4096702"/>
              <a:ext cx="24606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Hands-on computational experiment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285543" y="5362575"/>
            <a:ext cx="7620914" cy="735140"/>
            <a:chOff x="2285543" y="5362575"/>
            <a:chExt cx="7620914" cy="735140"/>
          </a:xfrm>
        </p:grpSpPr>
        <p:sp>
          <p:nvSpPr>
            <p:cNvPr id="22" name="TextBox 22"/>
            <p:cNvSpPr txBox="1"/>
            <p:nvPr/>
          </p:nvSpPr>
          <p:spPr>
            <a:xfrm>
              <a:off x="4586151" y="5362575"/>
              <a:ext cx="30196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strike="sngStrike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Not: I know what docking is.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85543" y="5775008"/>
              <a:ext cx="76209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But: I performed and interpreted a computational experiment.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5" name="Rectangle 25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358779" y="212408"/>
            <a:ext cx="9474442" cy="616077"/>
            <a:chOff x="1358779" y="212408"/>
            <a:chExt cx="947444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1358779" y="212408"/>
              <a:ext cx="94744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Responsible AI for Pharmaceutical Research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920862" y="946785"/>
            <a:ext cx="4350276" cy="528066"/>
            <a:chOff x="3920862" y="946785"/>
            <a:chExt cx="4350276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3920862" y="946785"/>
              <a:ext cx="43502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 ≠ Scientific Evidence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8250" y="1694498"/>
            <a:ext cx="4191000" cy="3258502"/>
            <a:chOff x="1238250" y="1694498"/>
            <a:chExt cx="4191000" cy="3258502"/>
          </a:xfrm>
        </p:grpSpPr>
        <p:sp>
          <p:nvSpPr>
            <p:cNvPr id="6" name="TextBox 6"/>
            <p:cNvSpPr txBox="1"/>
            <p:nvPr/>
          </p:nvSpPr>
          <p:spPr>
            <a:xfrm>
              <a:off x="2851703" y="1694498"/>
              <a:ext cx="9640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rgbClr val="10B981"/>
                  </a:solidFill>
                  <a:latin typeface="+mj-lt"/>
                  <a:ea typeface="+mj-ea"/>
                  <a:cs typeface="+mj-cs"/>
                </a:rPr>
                <a:t>AI can: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238250" y="2095500"/>
              <a:ext cx="4191000" cy="2857500"/>
            </a:xfrm>
            <a:prstGeom prst="roundRect">
              <a:avLst>
                <a:gd name="adj" fmla="val 4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43050" y="2495550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48993" y="2460308"/>
              <a:ext cx="2439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Generate hypotheses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543050" y="3019425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48993" y="2984182"/>
              <a:ext cx="17702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Plan workflows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1543050" y="3543300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48993" y="3508058"/>
              <a:ext cx="23221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Search &amp; Summarize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1543050" y="4067175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48993" y="4031932"/>
              <a:ext cx="22738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Analyze &amp; Automate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62750" y="1694498"/>
            <a:ext cx="4191000" cy="3258502"/>
            <a:chOff x="6762750" y="1694498"/>
            <a:chExt cx="4191000" cy="3258502"/>
          </a:xfrm>
        </p:grpSpPr>
        <p:sp>
          <p:nvSpPr>
            <p:cNvPr id="17" name="TextBox 17"/>
            <p:cNvSpPr txBox="1"/>
            <p:nvPr/>
          </p:nvSpPr>
          <p:spPr>
            <a:xfrm>
              <a:off x="7637568" y="1694498"/>
              <a:ext cx="24413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Researcher must: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762750" y="2095500"/>
              <a:ext cx="4191000" cy="2857500"/>
            </a:xfrm>
            <a:prstGeom prst="roundRect">
              <a:avLst>
                <a:gd name="adj" fmla="val 4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067550" y="24955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73493" y="2460308"/>
              <a:ext cx="19759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Verify &amp; Validate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067550" y="3019425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73493" y="2984182"/>
              <a:ext cx="26118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Interpret &amp; Reproduce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067550" y="35433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73493" y="3508058"/>
              <a:ext cx="24830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Cite &amp; Make decisions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999789" y="5806440"/>
            <a:ext cx="6192422" cy="352044"/>
            <a:chOff x="2999789" y="5806440"/>
            <a:chExt cx="6192422" cy="352044"/>
          </a:xfrm>
        </p:grpSpPr>
        <p:sp>
          <p:nvSpPr>
            <p:cNvPr id="26" name="TextBox 26"/>
            <p:cNvSpPr txBox="1"/>
            <p:nvPr/>
          </p:nvSpPr>
          <p:spPr>
            <a:xfrm>
              <a:off x="2999789" y="5806440"/>
              <a:ext cx="61924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 Principle: Human-in-the-loop Research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8" name="Rectangle 28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8208854" cy="616077"/>
            <a:chOff x="745998" y="421958"/>
            <a:chExt cx="8208854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820885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Case Study — EGFR Inhibitor Screening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143000"/>
            <a:ext cx="5334000" cy="5000625"/>
            <a:chOff x="762000" y="1143000"/>
            <a:chExt cx="5334000" cy="5000625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5334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56210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6851" y="16583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21130" y="1457325"/>
              <a:ext cx="22924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Docked 500 compounds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21892" y="1759268"/>
              <a:ext cx="1648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Top 20 selected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428875"/>
              <a:ext cx="5334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90600" y="2847975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6851" y="29441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21130" y="2743200"/>
              <a:ext cx="17349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ADMET screening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21892" y="3045142"/>
              <a:ext cx="1741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8 pass all filters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714750"/>
              <a:ext cx="5334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90600" y="413385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6851" y="4230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1130" y="4029075"/>
              <a:ext cx="19495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10ns MD simulation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21892" y="4331018"/>
              <a:ext cx="1924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2 stable complexes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5000625"/>
              <a:ext cx="5334000" cy="1143000"/>
            </a:xfrm>
            <a:prstGeom prst="roundRect">
              <a:avLst>
                <a:gd name="adj" fmla="val 11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90600" y="5419725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6851" y="5515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21130" y="5314950"/>
              <a:ext cx="2672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Jarvis interprets results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1892" y="5616892"/>
              <a:ext cx="2658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Publication-ready analysis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67500" y="2667000"/>
            <a:ext cx="4762500" cy="1905000"/>
            <a:chOff x="6667500" y="2667000"/>
            <a:chExt cx="4762500" cy="1905000"/>
          </a:xfrm>
        </p:grpSpPr>
        <p:sp>
          <p:nvSpPr>
            <p:cNvPr id="25" name="Rectangle 25"/>
            <p:cNvSpPr/>
            <p:nvPr/>
          </p:nvSpPr>
          <p:spPr>
            <a:xfrm>
              <a:off x="6667500" y="2667000"/>
              <a:ext cx="4762500" cy="1905000"/>
            </a:xfrm>
            <a:prstGeom prst="roundRect">
              <a:avLst>
                <a:gd name="adj" fmla="val 7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01024" y="3234690"/>
              <a:ext cx="22954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 publishable leads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5330" y="3615690"/>
              <a:ext cx="12268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in 3 hours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60642" y="4902518"/>
            <a:ext cx="1313478" cy="264033"/>
            <a:chOff x="6660642" y="4902518"/>
            <a:chExt cx="1313478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6660642" y="4902518"/>
              <a:ext cx="1313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Scenario data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1" name="Rectangle 31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9495076" cy="616077"/>
            <a:chOff x="745998" y="421958"/>
            <a:chExt cx="949507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94950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Integrating BioDockify into Your Curriculum</a:t>
              </a:r>
            </a:p>
          </p:txBody>
        </p:sp>
      </p:grpSp>
      <p:sp>
        <p:nvSpPr>
          <p:cNvPr id="4" name="Line 4"/>
          <p:cNvSpPr/>
          <p:nvPr/>
        </p:nvSpPr>
        <p:spPr>
          <a:xfrm>
            <a:off x="6096000" y="1143000"/>
            <a:ext cx="9525" cy="5334000"/>
          </a:xfrm>
          <a:custGeom>
            <a:avLst/>
            <a:gdLst/>
            <a:ahLst/>
            <a:cxnLst/>
            <a:rect l="l" t="t" r="r" b="b"/>
            <a:pathLst>
              <a:path w="9525" h="5334000">
                <a:moveTo>
                  <a:pt x="0" y="0"/>
                </a:moveTo>
                <a:lnTo>
                  <a:pt x="0" y="5334000"/>
                </a:lnTo>
              </a:path>
            </a:pathLst>
          </a:custGeom>
          <a:noFill/>
          <a:ln w="19050">
            <a:solidFill>
              <a:srgbClr val="1A1D3A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751332" y="1202055"/>
            <a:ext cx="4963668" cy="5036820"/>
            <a:chOff x="751332" y="1202055"/>
            <a:chExt cx="4963668" cy="5036820"/>
          </a:xfrm>
        </p:grpSpPr>
        <p:sp>
          <p:nvSpPr>
            <p:cNvPr id="5" name="TextBox 5"/>
            <p:cNvSpPr txBox="1"/>
            <p:nvPr/>
          </p:nvSpPr>
          <p:spPr>
            <a:xfrm>
              <a:off x="751332" y="1202055"/>
              <a:ext cx="37949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Undergraduate (B.Pharm)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62000" y="1619250"/>
              <a:ext cx="4953000" cy="1047750"/>
            </a:xfrm>
            <a:prstGeom prst="roundRect">
              <a:avLst>
                <a:gd name="adj" fmla="val 1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0892" y="1759268"/>
              <a:ext cx="1061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Semester 5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0892" y="2025968"/>
              <a:ext cx="4078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Introduction to molecular docking concepts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809875"/>
              <a:ext cx="4953000" cy="1047750"/>
            </a:xfrm>
            <a:prstGeom prst="roundRect">
              <a:avLst>
                <a:gd name="adj" fmla="val 1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0892" y="2949892"/>
              <a:ext cx="1061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Semester 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3216592"/>
              <a:ext cx="4123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ADMET prediction and drug-likeness filters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4000500"/>
              <a:ext cx="4953000" cy="1047750"/>
            </a:xfrm>
            <a:prstGeom prst="roundRect">
              <a:avLst>
                <a:gd name="adj" fmla="val 1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40892" y="4140518"/>
              <a:ext cx="1061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Semester 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4407218"/>
              <a:ext cx="3466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MD simulations and stability analysis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5191125"/>
              <a:ext cx="4953000" cy="1047750"/>
            </a:xfrm>
            <a:prstGeom prst="roundRect">
              <a:avLst>
                <a:gd name="adj" fmla="val 1272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0892" y="5331142"/>
              <a:ext cx="1061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Semester 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0892" y="5597842"/>
              <a:ext cx="33719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Capstone: Full pipeline mini-project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66332" y="1202055"/>
            <a:ext cx="4963668" cy="4703445"/>
            <a:chOff x="6466332" y="1202055"/>
            <a:chExt cx="4963668" cy="4703445"/>
          </a:xfrm>
        </p:grpSpPr>
        <p:sp>
          <p:nvSpPr>
            <p:cNvPr id="19" name="TextBox 19"/>
            <p:cNvSpPr txBox="1"/>
            <p:nvPr/>
          </p:nvSpPr>
          <p:spPr>
            <a:xfrm>
              <a:off x="6466332" y="1202055"/>
              <a:ext cx="43684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Postgraduate (M.Pharm/PhD)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77000" y="1619250"/>
              <a:ext cx="49530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55892" y="1759268"/>
              <a:ext cx="209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Application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55892" y="2025968"/>
              <a:ext cx="3349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Virtual screening for novel targets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55892" y="2292668"/>
              <a:ext cx="2721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as part of dissertation work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477000" y="3095625"/>
              <a:ext cx="49530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5892" y="3235642"/>
              <a:ext cx="209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Application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5892" y="3502342"/>
              <a:ext cx="28500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Drug repurposing studies with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55892" y="3769042"/>
              <a:ext cx="2462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publication-ready outputs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77000" y="4572000"/>
              <a:ext cx="49530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55892" y="4712018"/>
              <a:ext cx="209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Application 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55892" y="4978718"/>
              <a:ext cx="3492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Collaborative multi-target screening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55892" y="5245418"/>
              <a:ext cx="1876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for grant proposals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3" name="Rectangle 33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933402" cy="616077"/>
            <a:chOff x="745998" y="421958"/>
            <a:chExt cx="69334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9334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Five Ready-to-Use UG Activities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2000" y="1047750"/>
            <a:ext cx="10668000" cy="1000125"/>
            <a:chOff x="762000" y="1047750"/>
            <a:chExt cx="10668000" cy="1000125"/>
          </a:xfrm>
        </p:grpSpPr>
        <p:sp>
          <p:nvSpPr>
            <p:cNvPr id="4" name="Rectangle 4"/>
            <p:cNvSpPr/>
            <p:nvPr/>
          </p:nvSpPr>
          <p:spPr>
            <a:xfrm>
              <a:off x="762000" y="1047750"/>
              <a:ext cx="10668000" cy="1000125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" y="1238250"/>
              <a:ext cx="476250" cy="2667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04734" y="13234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6118" y="1250632"/>
              <a:ext cx="2500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Dock aspirin to COX-2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7642" y="1568768"/>
              <a:ext cx="6705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Module: Docking | Objective: Understand binding energy interpretation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2143125"/>
            <a:ext cx="10668000" cy="1000125"/>
            <a:chOff x="762000" y="2143125"/>
            <a:chExt cx="10668000" cy="1000125"/>
          </a:xfrm>
        </p:grpSpPr>
        <p:sp>
          <p:nvSpPr>
            <p:cNvPr id="10" name="Rectangle 10"/>
            <p:cNvSpPr/>
            <p:nvPr/>
          </p:nvSpPr>
          <p:spPr>
            <a:xfrm>
              <a:off x="762000" y="2143125"/>
              <a:ext cx="10668000" cy="1000125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47750" y="2333625"/>
              <a:ext cx="571500" cy="2667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76171" y="2418874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1.5h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01368" y="2346008"/>
              <a:ext cx="29146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Compare NSAIDs by ADMET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02892" y="2664142"/>
              <a:ext cx="7097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Module: ADMET | Objective: Evaluate drug-likeness across compound class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3238500"/>
            <a:ext cx="10668000" cy="1000125"/>
            <a:chOff x="762000" y="3238500"/>
            <a:chExt cx="10668000" cy="1000125"/>
          </a:xfrm>
        </p:grpSpPr>
        <p:sp>
          <p:nvSpPr>
            <p:cNvPr id="16" name="Rectangle 16"/>
            <p:cNvSpPr/>
            <p:nvPr/>
          </p:nvSpPr>
          <p:spPr>
            <a:xfrm>
              <a:off x="762000" y="3238500"/>
              <a:ext cx="10668000" cy="1000125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47750" y="3429000"/>
              <a:ext cx="476250" cy="2667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04734" y="35142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06118" y="3441382"/>
              <a:ext cx="31586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Watch metformin bind AMPK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7642" y="3759518"/>
              <a:ext cx="6614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Module: MD | Objective: Visualize dynamic protein-ligand interactions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4333875"/>
            <a:ext cx="10668000" cy="1000125"/>
            <a:chOff x="762000" y="4333875"/>
            <a:chExt cx="10668000" cy="1000125"/>
          </a:xfrm>
        </p:grpSpPr>
        <p:sp>
          <p:nvSpPr>
            <p:cNvPr id="22" name="Rectangle 22"/>
            <p:cNvSpPr/>
            <p:nvPr/>
          </p:nvSpPr>
          <p:spPr>
            <a:xfrm>
              <a:off x="762000" y="4333875"/>
              <a:ext cx="10668000" cy="1000125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47750" y="4524375"/>
              <a:ext cx="619125" cy="2667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60590" y="4609624"/>
              <a:ext cx="3839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30min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48993" y="4536758"/>
              <a:ext cx="32850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Ask Jarvis to explain results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50517" y="4854892"/>
              <a:ext cx="7060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Module: Jarvis | Objective: Practice AI-assisted scientific communication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5429250"/>
            <a:ext cx="10668000" cy="1000125"/>
            <a:chOff x="762000" y="5429250"/>
            <a:chExt cx="10668000" cy="1000125"/>
          </a:xfrm>
        </p:grpSpPr>
        <p:sp>
          <p:nvSpPr>
            <p:cNvPr id="28" name="Rectangle 28"/>
            <p:cNvSpPr/>
            <p:nvPr/>
          </p:nvSpPr>
          <p:spPr>
            <a:xfrm>
              <a:off x="762000" y="5429250"/>
              <a:ext cx="10668000" cy="1000125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47750" y="5619750"/>
              <a:ext cx="476250" cy="2667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04734" y="57049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9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06118" y="5632132"/>
              <a:ext cx="28224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Full pipeline mini-project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07642" y="5950268"/>
              <a:ext cx="71519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Module: All | Objective: End-to-end computational drug discovery workflow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4" name="Rectangle 3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680998" cy="616077"/>
            <a:chOff x="745998" y="421958"/>
            <a:chExt cx="6680998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6809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PG/PhD Research Project Ideas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143000"/>
            <a:ext cx="3429000" cy="4953000"/>
            <a:chOff x="762000" y="1143000"/>
            <a:chExt cx="3429000" cy="495300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3429000" cy="4953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47750" y="1428750"/>
              <a:ext cx="285750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0130" y="1647825"/>
              <a:ext cx="20889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Virtual screening of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40130" y="1914525"/>
              <a:ext cx="2601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natural products against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0130" y="2181225"/>
              <a:ext cx="18164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SARS-CoV-2 Mpro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0892" y="2711768"/>
              <a:ext cx="2736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Scope: Screen 1000+ natural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0892" y="2978468"/>
              <a:ext cx="2279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compounds for protease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3245168"/>
              <a:ext cx="17899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inhibition potential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1654" y="3870960"/>
              <a:ext cx="1740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Timeline: 3–6 months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654" y="4251960"/>
              <a:ext cx="2220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Output: Research paper 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4499610"/>
              <a:ext cx="1992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lead compound shortlist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81500" y="1143000"/>
            <a:ext cx="3429000" cy="4953000"/>
            <a:chOff x="4381500" y="1143000"/>
            <a:chExt cx="3429000" cy="4953000"/>
          </a:xfrm>
        </p:grpSpPr>
        <p:sp>
          <p:nvSpPr>
            <p:cNvPr id="16" name="Rectangle 16"/>
            <p:cNvSpPr/>
            <p:nvPr/>
          </p:nvSpPr>
          <p:spPr>
            <a:xfrm>
              <a:off x="4381500" y="1143000"/>
              <a:ext cx="3429000" cy="4953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667250" y="1428750"/>
              <a:ext cx="285750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59630" y="1647825"/>
              <a:ext cx="2141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Repurposing existing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59630" y="1914525"/>
              <a:ext cx="2301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drugs for Alzheimer's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9630" y="2181225"/>
              <a:ext cx="831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targets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60392" y="2711768"/>
              <a:ext cx="258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Scope: Dock FDA-approved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60392" y="2978468"/>
              <a:ext cx="2217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drugs against AChE and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60392" y="3245168"/>
              <a:ext cx="14419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BACE1 targets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61154" y="3870960"/>
              <a:ext cx="1740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Timeline: 2–4 months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61154" y="4251960"/>
              <a:ext cx="17883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Output: Repurposing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61154" y="4499610"/>
              <a:ext cx="23353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candidates + ADMET report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001000" y="1143000"/>
            <a:ext cx="3429000" cy="4953000"/>
            <a:chOff x="8001000" y="1143000"/>
            <a:chExt cx="3429000" cy="4953000"/>
          </a:xfrm>
        </p:grpSpPr>
        <p:sp>
          <p:nvSpPr>
            <p:cNvPr id="28" name="Rectangle 28"/>
            <p:cNvSpPr/>
            <p:nvPr/>
          </p:nvSpPr>
          <p:spPr>
            <a:xfrm>
              <a:off x="8001000" y="1143000"/>
              <a:ext cx="3429000" cy="4953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286750" y="1428750"/>
              <a:ext cx="285750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79130" y="1647825"/>
              <a:ext cx="2336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SAR study of quinolone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79130" y="1914525"/>
              <a:ext cx="1138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antibiotics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79892" y="2711768"/>
              <a:ext cx="2916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Scope: Systematic structure-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79892" y="2978468"/>
              <a:ext cx="22123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activity relationship of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79892" y="3245168"/>
              <a:ext cx="2577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fluoroquinolone derivatives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80654" y="3870960"/>
              <a:ext cx="1740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Timeline: 4–6 months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80654" y="4251960"/>
              <a:ext cx="16581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Output: SAR map +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80654" y="4499610"/>
              <a:ext cx="2043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optimized analog designs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9" name="Rectangle 3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9550062" cy="616077"/>
            <a:chOff x="745998" y="421958"/>
            <a:chExt cx="955006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95500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Engaging Students with Computational Tools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238250"/>
            <a:ext cx="3429000" cy="4572000"/>
            <a:chOff x="762000" y="1238250"/>
            <a:chExt cx="3429000" cy="4572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3429000" cy="4572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095500" y="1619250"/>
              <a:ext cx="762000" cy="7620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384202" y="18497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94069" y="2567940"/>
              <a:ext cx="1564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Gamification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66172" y="3076575"/>
              <a:ext cx="1820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Virtual screening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35430" y="3362325"/>
              <a:ext cx="1882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competitions with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50136" y="3648075"/>
              <a:ext cx="1252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leaderboard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238250"/>
            <a:ext cx="3429000" cy="4572000"/>
            <a:chOff x="4381500" y="1238250"/>
            <a:chExt cx="3429000" cy="4572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238250"/>
              <a:ext cx="3429000" cy="4572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715000" y="1619250"/>
              <a:ext cx="762000" cy="7620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03702" y="18497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32889" y="2567940"/>
              <a:ext cx="17262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Peer Teaching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36820" y="3076575"/>
              <a:ext cx="21183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PG students mentor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00154" y="3362325"/>
              <a:ext cx="21916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UG students through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29606" y="3648075"/>
              <a:ext cx="17327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guided exercises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01000" y="1238250"/>
            <a:ext cx="3429000" cy="4572000"/>
            <a:chOff x="8001000" y="1238250"/>
            <a:chExt cx="3429000" cy="4572000"/>
          </a:xfrm>
        </p:grpSpPr>
        <p:sp>
          <p:nvSpPr>
            <p:cNvPr id="20" name="Rectangle 20"/>
            <p:cNvSpPr/>
            <p:nvPr/>
          </p:nvSpPr>
          <p:spPr>
            <a:xfrm>
              <a:off x="8001000" y="1238250"/>
              <a:ext cx="3429000" cy="45720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334500" y="1619250"/>
              <a:ext cx="762000" cy="7620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23202" y="18497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26562" y="2567940"/>
              <a:ext cx="27778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Real-World Connection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08883" y="3076575"/>
              <a:ext cx="18132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Use current drug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21090" y="3362325"/>
              <a:ext cx="1988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targets from news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75776" y="36480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and publications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8" name="Rectangle 28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091487" cy="616077"/>
            <a:chOff x="745998" y="421958"/>
            <a:chExt cx="6091487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0914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Collaboration Opportunities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048250" y="2762250"/>
            <a:ext cx="2095500" cy="1333500"/>
            <a:chOff x="5048250" y="2762250"/>
            <a:chExt cx="2095500" cy="1333500"/>
          </a:xfrm>
        </p:grpSpPr>
        <p:sp>
          <p:nvSpPr>
            <p:cNvPr id="4" name="Rectangle 4"/>
            <p:cNvSpPr/>
            <p:nvPr/>
          </p:nvSpPr>
          <p:spPr>
            <a:xfrm>
              <a:off x="5048250" y="2762250"/>
              <a:ext cx="2095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552313" y="3314700"/>
              <a:ext cx="1087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10208" y="3632835"/>
              <a:ext cx="13715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Shared Platform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3619500" y="2095500"/>
            <a:ext cx="1428750" cy="952500"/>
          </a:xfrm>
          <a:custGeom>
            <a:avLst/>
            <a:gdLst/>
            <a:ahLst/>
            <a:cxnLst/>
            <a:rect l="l" t="t" r="r" b="b"/>
            <a:pathLst>
              <a:path w="1428750" h="952500">
                <a:moveTo>
                  <a:pt x="1428750" y="9525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9" name="Line 9"/>
          <p:cNvSpPr/>
          <p:nvPr/>
        </p:nvSpPr>
        <p:spPr>
          <a:xfrm>
            <a:off x="7143750" y="2095500"/>
            <a:ext cx="1428750" cy="952500"/>
          </a:xfrm>
          <a:custGeom>
            <a:avLst/>
            <a:gdLst/>
            <a:ahLst/>
            <a:cxnLst/>
            <a:rect l="l" t="t" r="r" b="b"/>
            <a:pathLst>
              <a:path w="1428750" h="952500">
                <a:moveTo>
                  <a:pt x="0" y="952500"/>
                </a:moveTo>
                <a:lnTo>
                  <a:pt x="1428750" y="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</p:sp>
      <p:sp>
        <p:nvSpPr>
          <p:cNvPr id="10" name="Line 10"/>
          <p:cNvSpPr/>
          <p:nvPr/>
        </p:nvSpPr>
        <p:spPr>
          <a:xfrm>
            <a:off x="3619500" y="3810000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1428750" y="0"/>
                </a:moveTo>
                <a:lnTo>
                  <a:pt x="0" y="114300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sp>
        <p:nvSpPr>
          <p:cNvPr id="11" name="Line 11"/>
          <p:cNvSpPr/>
          <p:nvPr/>
        </p:nvSpPr>
        <p:spPr>
          <a:xfrm>
            <a:off x="7143750" y="3810000"/>
            <a:ext cx="1428750" cy="1143000"/>
          </a:xfrm>
          <a:custGeom>
            <a:avLst/>
            <a:gdLst/>
            <a:ahLst/>
            <a:cxnLst/>
            <a:rect l="l" t="t" r="r" b="b"/>
            <a:pathLst>
              <a:path w="1428750" h="1143000">
                <a:moveTo>
                  <a:pt x="0" y="0"/>
                </a:moveTo>
                <a:lnTo>
                  <a:pt x="1428750" y="114300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1143000" y="1333500"/>
            <a:ext cx="2857500" cy="1524000"/>
            <a:chOff x="1143000" y="1333500"/>
            <a:chExt cx="2857500" cy="1524000"/>
          </a:xfrm>
        </p:grpSpPr>
        <p:sp>
          <p:nvSpPr>
            <p:cNvPr id="12" name="Rectangle 12"/>
            <p:cNvSpPr/>
            <p:nvPr/>
          </p:nvSpPr>
          <p:spPr>
            <a:xfrm>
              <a:off x="1143000" y="1333500"/>
              <a:ext cx="28575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21130" y="1552575"/>
              <a:ext cx="2057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Inter-departmental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1892" y="1902142"/>
              <a:ext cx="1899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Pool targets across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1892" y="2168842"/>
              <a:ext cx="12138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departments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0" y="1333500"/>
            <a:ext cx="2857500" cy="1524000"/>
            <a:chOff x="8191500" y="1333500"/>
            <a:chExt cx="2857500" cy="1524000"/>
          </a:xfrm>
        </p:grpSpPr>
        <p:sp>
          <p:nvSpPr>
            <p:cNvPr id="17" name="Rectangle 17"/>
            <p:cNvSpPr/>
            <p:nvPr/>
          </p:nvSpPr>
          <p:spPr>
            <a:xfrm>
              <a:off x="8191500" y="1333500"/>
              <a:ext cx="28575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69630" y="1552575"/>
              <a:ext cx="17812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Multi-institution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70392" y="1902142"/>
              <a:ext cx="2216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Shared projects across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70392" y="2168842"/>
              <a:ext cx="762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colleges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43000" y="4191000"/>
            <a:ext cx="2857500" cy="1524000"/>
            <a:chOff x="1143000" y="4191000"/>
            <a:chExt cx="2857500" cy="1524000"/>
          </a:xfrm>
        </p:grpSpPr>
        <p:sp>
          <p:nvSpPr>
            <p:cNvPr id="22" name="Rectangle 22"/>
            <p:cNvSpPr/>
            <p:nvPr/>
          </p:nvSpPr>
          <p:spPr>
            <a:xfrm>
              <a:off x="1143000" y="4191000"/>
              <a:ext cx="28575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21130" y="4410075"/>
              <a:ext cx="19408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Industry-academia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21892" y="4759642"/>
              <a:ext cx="1726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Companies provide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21892" y="5026342"/>
              <a:ext cx="1809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real-world targets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4191000"/>
            <a:ext cx="2857500" cy="1524000"/>
            <a:chOff x="8191500" y="4191000"/>
            <a:chExt cx="2857500" cy="1524000"/>
          </a:xfrm>
        </p:grpSpPr>
        <p:sp>
          <p:nvSpPr>
            <p:cNvPr id="27" name="Rectangle 27"/>
            <p:cNvSpPr/>
            <p:nvPr/>
          </p:nvSpPr>
          <p:spPr>
            <a:xfrm>
              <a:off x="8191500" y="4191000"/>
              <a:ext cx="28575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69630" y="4410075"/>
              <a:ext cx="13781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International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70392" y="4759642"/>
              <a:ext cx="1985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Worldwide via shared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70392" y="5026342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workspace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32" name="Rectangle 32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809840" y="212408"/>
            <a:ext cx="8572320" cy="616077"/>
            <a:chOff x="1809840" y="212408"/>
            <a:chExt cx="8572320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1809840" y="212408"/>
              <a:ext cx="85723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Future of Pharmaceutical Research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139190"/>
            <a:ext cx="2857500" cy="3813810"/>
            <a:chOff x="762000" y="1139190"/>
            <a:chExt cx="2857500" cy="3813810"/>
          </a:xfrm>
        </p:grpSpPr>
        <p:sp>
          <p:nvSpPr>
            <p:cNvPr id="4" name="TextBox 4"/>
            <p:cNvSpPr txBox="1"/>
            <p:nvPr/>
          </p:nvSpPr>
          <p:spPr>
            <a:xfrm>
              <a:off x="1827802" y="113919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Today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1524000"/>
              <a:ext cx="2857500" cy="3429000"/>
            </a:xfrm>
            <a:prstGeom prst="roundRect">
              <a:avLst>
                <a:gd name="adj" fmla="val 4667"/>
              </a:avLst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583817" y="1933575"/>
              <a:ext cx="12138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Researcher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40229" y="22993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+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4540" y="2616518"/>
              <a:ext cx="23124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Many disconnected tools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47355" y="3117056"/>
              <a:ext cx="20867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marL="120904" indent="-120904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Manual literature search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0946" y="3402806"/>
              <a:ext cx="1919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marL="120904" indent="-120904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Separate docking tools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2335" y="3688556"/>
              <a:ext cx="2156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marL="120904" indent="-120904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Individual analysis scripts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4225" y="3974306"/>
              <a:ext cx="1833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marL="120904" indent="-120904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Fragmented workflow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0" y="2971800"/>
            <a:ext cx="571500" cy="152400"/>
            <a:chOff x="3810000" y="2971800"/>
            <a:chExt cx="571500" cy="152400"/>
          </a:xfrm>
        </p:grpSpPr>
        <p:sp>
          <p:nvSpPr>
            <p:cNvPr id="14" name="Line 14"/>
            <p:cNvSpPr/>
            <p:nvPr/>
          </p:nvSpPr>
          <p:spPr>
            <a:xfrm>
              <a:off x="3810000" y="3048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4238625" y="2971800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0" y="0"/>
                  </a:moveTo>
                  <a:lnTo>
                    <a:pt x="142875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667250" y="1139190"/>
            <a:ext cx="2857500" cy="3813810"/>
            <a:chOff x="4667250" y="1139190"/>
            <a:chExt cx="2857500" cy="3813810"/>
          </a:xfrm>
        </p:grpSpPr>
        <p:sp>
          <p:nvSpPr>
            <p:cNvPr id="17" name="TextBox 17"/>
            <p:cNvSpPr txBox="1"/>
            <p:nvPr/>
          </p:nvSpPr>
          <p:spPr>
            <a:xfrm>
              <a:off x="5447176" y="1139190"/>
              <a:ext cx="12976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Transition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667250" y="1524000"/>
              <a:ext cx="2857500" cy="3429000"/>
            </a:xfrm>
            <a:prstGeom prst="roundRect">
              <a:avLst>
                <a:gd name="adj" fmla="val 4667"/>
              </a:avLst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89067" y="1933575"/>
              <a:ext cx="12138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Researcher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45479" y="22993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+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26227" y="2616518"/>
              <a:ext cx="9395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 Copilot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45479" y="29660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+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05204" y="3283268"/>
              <a:ext cx="1581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Integrated tools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81473" y="3783806"/>
              <a:ext cx="1629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marL="120904" indent="-120904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AI-assisted search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47138" y="4069556"/>
              <a:ext cx="14977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marL="120904" indent="-120904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Guided workflows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95841" y="4355306"/>
              <a:ext cx="16003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marL="120904" indent="-120904">
                <a:buClr>
                  <a:schemeClr val="accent3"/>
                </a:buClr>
                <a:buSzTx/>
                <a:buFontTx/>
                <a:buChar char="•"/>
              </a:pPr>
              <a:r>
                <a:rPr lang="e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Partial automation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715250" y="2971800"/>
            <a:ext cx="571500" cy="152400"/>
            <a:chOff x="7715250" y="2971800"/>
            <a:chExt cx="571500" cy="152400"/>
          </a:xfrm>
        </p:grpSpPr>
        <p:sp>
          <p:nvSpPr>
            <p:cNvPr id="28" name="Line 28"/>
            <p:cNvSpPr/>
            <p:nvPr/>
          </p:nvSpPr>
          <p:spPr>
            <a:xfrm>
              <a:off x="7715250" y="3048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8143875" y="2971800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0" y="0"/>
                  </a:moveTo>
                  <a:lnTo>
                    <a:pt x="142875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8572500" y="1139190"/>
            <a:ext cx="2857500" cy="3813810"/>
            <a:chOff x="8572500" y="1139190"/>
            <a:chExt cx="2857500" cy="3813810"/>
          </a:xfrm>
        </p:grpSpPr>
        <p:sp>
          <p:nvSpPr>
            <p:cNvPr id="31" name="TextBox 31"/>
            <p:cNvSpPr txBox="1"/>
            <p:nvPr/>
          </p:nvSpPr>
          <p:spPr>
            <a:xfrm>
              <a:off x="9568333" y="1139190"/>
              <a:ext cx="865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Future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572500" y="1524000"/>
              <a:ext cx="2857500" cy="3429000"/>
            </a:xfrm>
            <a:prstGeom prst="roundRect">
              <a:avLst>
                <a:gd name="adj" fmla="val 4667"/>
              </a:avLst>
            </a:prstGeom>
            <a:solidFill>
              <a:schemeClr val="lt2"/>
            </a:solidFill>
            <a:ln w="23812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29796" y="1838325"/>
              <a:ext cx="27429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Researcher × AI Partner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07042" y="2355056"/>
              <a:ext cx="78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Planning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88951" y="2640806"/>
              <a:ext cx="16245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Evidence gathering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84563" y="2926556"/>
              <a:ext cx="14333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Experimentation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07042" y="3212306"/>
              <a:ext cx="788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Analysis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39912" y="3498056"/>
              <a:ext cx="922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Validation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26617" y="3783806"/>
              <a:ext cx="9492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Knowledge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84855" y="4363402"/>
              <a:ext cx="16327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Full research lifecycle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793057" y="5822632"/>
            <a:ext cx="6605885" cy="322707"/>
            <a:chOff x="2793057" y="5822632"/>
            <a:chExt cx="6605885" cy="322707"/>
          </a:xfrm>
        </p:grpSpPr>
        <p:sp>
          <p:nvSpPr>
            <p:cNvPr id="42" name="TextBox 42"/>
            <p:cNvSpPr txBox="1"/>
            <p:nvPr/>
          </p:nvSpPr>
          <p:spPr>
            <a:xfrm>
              <a:off x="2793057" y="5822632"/>
              <a:ext cx="66058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future is researchers becoming more capable with AI.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4" name="Rectangle 4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5010709" cy="616077"/>
            <a:chOff x="745998" y="421958"/>
            <a:chExt cx="5010709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50107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What You Actually Need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2856" y="1282065"/>
            <a:ext cx="10486644" cy="1718310"/>
            <a:chOff x="752856" y="1282065"/>
            <a:chExt cx="10486644" cy="1718310"/>
          </a:xfrm>
        </p:grpSpPr>
        <p:sp>
          <p:nvSpPr>
            <p:cNvPr id="4" name="TextBox 4"/>
            <p:cNvSpPr txBox="1"/>
            <p:nvPr/>
          </p:nvSpPr>
          <p:spPr>
            <a:xfrm>
              <a:off x="752856" y="1282065"/>
              <a:ext cx="10912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You Need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1666875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743935" y="2203132"/>
              <a:ext cx="12746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✓ Browser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381500" y="1666875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352322" y="2203132"/>
              <a:ext cx="12968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✓ Internet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001000" y="1666875"/>
              <a:ext cx="3238500" cy="1333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8040" y="2203132"/>
              <a:ext cx="1984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✓ Academic email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2856" y="3663315"/>
            <a:ext cx="10677144" cy="2385060"/>
            <a:chOff x="752856" y="3663315"/>
            <a:chExt cx="10677144" cy="2385060"/>
          </a:xfrm>
        </p:grpSpPr>
        <p:sp>
          <p:nvSpPr>
            <p:cNvPr id="12" name="TextBox 12"/>
            <p:cNvSpPr txBox="1"/>
            <p:nvPr/>
          </p:nvSpPr>
          <p:spPr>
            <a:xfrm>
              <a:off x="752856" y="3663315"/>
              <a:ext cx="18784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You Don't Need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4048125"/>
              <a:ext cx="51435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374773" y="4238625"/>
              <a:ext cx="1917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Linux workstation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381250" y="43434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86500" y="4048125"/>
              <a:ext cx="51435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20494" y="4238625"/>
              <a:ext cx="1275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GPU cluster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191500" y="43434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2000" y="4762500"/>
              <a:ext cx="51435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58332" y="4953000"/>
              <a:ext cx="1350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Python skills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2571750" y="50577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4762500"/>
              <a:ext cx="51435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99273" y="4953000"/>
              <a:ext cx="1917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Software licenses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048625" y="50577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5476875"/>
              <a:ext cx="51435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569273" y="5667375"/>
              <a:ext cx="15289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>
                      <a:alphaMod val="60000"/>
                    </a:schemeClr>
                  </a:solidFill>
                  <a:latin typeface="+mn-lt"/>
                  <a:ea typeface="+mn-ea"/>
                  <a:cs typeface="+mn-cs"/>
                </a:rPr>
                <a:t>IT department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2552700" y="5772150"/>
              <a:ext cx="1562100" cy="9525"/>
            </a:xfrm>
            <a:custGeom>
              <a:avLst/>
              <a:gdLst/>
              <a:ahLst/>
              <a:cxnLst/>
              <a:rect l="l" t="t" r="r" b="b"/>
              <a:pathLst>
                <a:path w="1562100" h="9525">
                  <a:moveTo>
                    <a:pt x="0" y="0"/>
                  </a:moveTo>
                  <a:lnTo>
                    <a:pt x="15621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9" name="Rectangle 2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7743933" cy="616077"/>
            <a:chOff x="745998" y="421958"/>
            <a:chExt cx="774393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77439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Hands-On: Dock Celecoxib to COX-2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143000"/>
            <a:ext cx="3429000" cy="1619250"/>
            <a:chOff x="762000" y="1143000"/>
            <a:chExt cx="3429000" cy="1619250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71550" y="1304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6851" y="1429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21892" y="1378268"/>
              <a:ext cx="194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Open biodockify.com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1654" y="1775460"/>
              <a:ext cx="19788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Navigate to the docking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1654" y="2004060"/>
              <a:ext cx="566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module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143000"/>
            <a:ext cx="3429000" cy="1619250"/>
            <a:chOff x="4381500" y="1143000"/>
            <a:chExt cx="34290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4381500" y="1143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591050" y="1304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16351" y="1429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41392" y="1378268"/>
              <a:ext cx="1780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Fetch protein 1CX2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61154" y="1775460"/>
              <a:ext cx="167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Enter PDB ID in the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61154" y="2004060"/>
              <a:ext cx="1539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protein input field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01000" y="1143000"/>
            <a:ext cx="3429000" cy="1619250"/>
            <a:chOff x="8001000" y="1143000"/>
            <a:chExt cx="3429000" cy="1619250"/>
          </a:xfrm>
        </p:grpSpPr>
        <p:sp>
          <p:nvSpPr>
            <p:cNvPr id="18" name="Rectangle 18"/>
            <p:cNvSpPr/>
            <p:nvPr/>
          </p:nvSpPr>
          <p:spPr>
            <a:xfrm>
              <a:off x="8001000" y="1143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210550" y="130492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35851" y="1429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60892" y="1378268"/>
              <a:ext cx="2595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Fetch celecoxib (CID: 2662)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80654" y="1775460"/>
              <a:ext cx="1978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Enter PubChem CID for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80654" y="2004060"/>
              <a:ext cx="822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ligand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048000"/>
            <a:ext cx="3429000" cy="1619250"/>
            <a:chOff x="762000" y="3048000"/>
            <a:chExt cx="3429000" cy="1619250"/>
          </a:xfrm>
        </p:grpSpPr>
        <p:sp>
          <p:nvSpPr>
            <p:cNvPr id="25" name="Rectangle 25"/>
            <p:cNvSpPr/>
            <p:nvPr/>
          </p:nvSpPr>
          <p:spPr>
            <a:xfrm>
              <a:off x="762000" y="3048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971550" y="320992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6851" y="3334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21892" y="3283268"/>
              <a:ext cx="23002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Auto-detect binding site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1654" y="3680460"/>
              <a:ext cx="19692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Platform identifies the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1654" y="390906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active site automatically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381500" y="3048000"/>
            <a:ext cx="3429000" cy="1619250"/>
            <a:chOff x="4381500" y="3048000"/>
            <a:chExt cx="3429000" cy="1619250"/>
          </a:xfrm>
        </p:grpSpPr>
        <p:sp>
          <p:nvSpPr>
            <p:cNvPr id="32" name="Rectangle 32"/>
            <p:cNvSpPr/>
            <p:nvPr/>
          </p:nvSpPr>
          <p:spPr>
            <a:xfrm>
              <a:off x="4381500" y="3048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591050" y="3209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16351" y="3334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41392" y="3283268"/>
              <a:ext cx="2349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Run docking (exhaust. 8)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61154" y="3680460"/>
              <a:ext cx="2023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Set exhaustiveness to 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61154" y="3909060"/>
              <a:ext cx="1437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and start the job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01000" y="3048000"/>
            <a:ext cx="3429000" cy="1619250"/>
            <a:chOff x="8001000" y="3048000"/>
            <a:chExt cx="3429000" cy="1619250"/>
          </a:xfrm>
        </p:grpSpPr>
        <p:sp>
          <p:nvSpPr>
            <p:cNvPr id="39" name="Rectangle 39"/>
            <p:cNvSpPr/>
            <p:nvPr/>
          </p:nvSpPr>
          <p:spPr>
            <a:xfrm>
              <a:off x="8001000" y="3048000"/>
              <a:ext cx="3429000" cy="1619250"/>
            </a:xfrm>
            <a:prstGeom prst="roundRect">
              <a:avLst>
                <a:gd name="adj" fmla="val 82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210550" y="3209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35851" y="3334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60892" y="3283268"/>
              <a:ext cx="1174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View results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80654" y="3680460"/>
              <a:ext cx="1790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Analyze binding poses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80654" y="3909060"/>
              <a:ext cx="1522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and energy scores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5143500"/>
            <a:ext cx="10668000" cy="571500"/>
            <a:chOff x="762000" y="5143500"/>
            <a:chExt cx="10668000" cy="571500"/>
          </a:xfrm>
        </p:grpSpPr>
        <p:sp>
          <p:nvSpPr>
            <p:cNvPr id="46" name="Rectangle 46"/>
            <p:cNvSpPr/>
            <p:nvPr/>
          </p:nvSpPr>
          <p:spPr>
            <a:xfrm>
              <a:off x="762000" y="5143500"/>
              <a:ext cx="10668000" cy="571500"/>
            </a:xfrm>
            <a:prstGeom prst="roundRect">
              <a:avLst>
                <a:gd name="adj" fmla="val 23333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459742" y="5327332"/>
              <a:ext cx="52725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Expected: Binding energy ~-10 to -12 kcal/mol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49" name="Rectangle 4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6085486" cy="616077"/>
            <a:chOff x="745998" y="421958"/>
            <a:chExt cx="6085486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60854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Frequently Asked Questions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62000" y="1143000"/>
            <a:ext cx="10668000" cy="1190625"/>
            <a:chOff x="762000" y="1143000"/>
            <a:chExt cx="10668000" cy="1190625"/>
          </a:xfrm>
        </p:grpSpPr>
        <p:sp>
          <p:nvSpPr>
            <p:cNvPr id="4" name="Rectangle 4"/>
            <p:cNvSpPr/>
            <p:nvPr/>
          </p:nvSpPr>
          <p:spPr>
            <a:xfrm>
              <a:off x="762000" y="1143000"/>
              <a:ext cx="10668000" cy="1190625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35380" y="1362075"/>
              <a:ext cx="1442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Q: Is it free?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5380" y="1743075"/>
              <a:ext cx="55038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Yes, full access for verified academic institutions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2476500"/>
            <a:ext cx="10668000" cy="1190625"/>
            <a:chOff x="762000" y="2476500"/>
            <a:chExt cx="10668000" cy="1190625"/>
          </a:xfrm>
        </p:grpSpPr>
        <p:sp>
          <p:nvSpPr>
            <p:cNvPr id="8" name="Rectangle 8"/>
            <p:cNvSpPr/>
            <p:nvPr/>
          </p:nvSpPr>
          <p:spPr>
            <a:xfrm>
              <a:off x="762000" y="2476500"/>
              <a:ext cx="10668000" cy="1190625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5380" y="2695575"/>
              <a:ext cx="1716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Q: How reliable?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5380" y="3076575"/>
              <a:ext cx="51051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Validated against experimental data (R²=0.72)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3810000"/>
            <a:ext cx="10668000" cy="1190625"/>
            <a:chOff x="762000" y="3810000"/>
            <a:chExt cx="10668000" cy="1190625"/>
          </a:xfrm>
        </p:grpSpPr>
        <p:sp>
          <p:nvSpPr>
            <p:cNvPr id="12" name="Rectangle 12"/>
            <p:cNvSpPr/>
            <p:nvPr/>
          </p:nvSpPr>
          <p:spPr>
            <a:xfrm>
              <a:off x="762000" y="3810000"/>
              <a:ext cx="10668000" cy="1190625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5380" y="4029075"/>
              <a:ext cx="35821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Q: Can students damage anything?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5380" y="4410075"/>
              <a:ext cx="3042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No, sandboxed environment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5143500"/>
            <a:ext cx="10668000" cy="1190625"/>
            <a:chOff x="762000" y="5143500"/>
            <a:chExt cx="10668000" cy="1190625"/>
          </a:xfrm>
        </p:grpSpPr>
        <p:sp>
          <p:nvSpPr>
            <p:cNvPr id="16" name="Rectangle 16"/>
            <p:cNvSpPr/>
            <p:nvPr/>
          </p:nvSpPr>
          <p:spPr>
            <a:xfrm>
              <a:off x="762000" y="5143500"/>
              <a:ext cx="10668000" cy="1190625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5380" y="5362575"/>
              <a:ext cx="1780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Q: Data privacy?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5380" y="5743575"/>
              <a:ext cx="42573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Indian servers, no third-party sharing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0" name="Rectangle 20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4332333" cy="616077"/>
            <a:chOff x="745998" y="421958"/>
            <a:chExt cx="4332333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43323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What's Coming Next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33500" y="2819400"/>
            <a:ext cx="9715500" cy="2038350"/>
            <a:chOff x="1333500" y="2819400"/>
            <a:chExt cx="9715500" cy="2038350"/>
          </a:xfrm>
        </p:grpSpPr>
        <p:sp>
          <p:nvSpPr>
            <p:cNvPr id="4" name="Line 4"/>
            <p:cNvSpPr/>
            <p:nvPr/>
          </p:nvSpPr>
          <p:spPr>
            <a:xfrm>
              <a:off x="1333500" y="30480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38100">
              <a:solidFill>
                <a:srgbClr val="1A1D3A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333500" y="2819400"/>
              <a:ext cx="2286000" cy="2038350"/>
              <a:chOff x="1333500" y="2819400"/>
              <a:chExt cx="2286000" cy="203835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2057400" y="2819400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2119926" y="2991802"/>
                <a:ext cx="33214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NOW</a:t>
                </a: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1333500" y="3524250"/>
                <a:ext cx="2286000" cy="1333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2259736" y="3711892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v2.0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589532" y="4013835"/>
                <a:ext cx="17739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Multi-target docking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988506" y="4315778"/>
                <a:ext cx="97598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Available now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762500" y="2876550"/>
              <a:ext cx="2667000" cy="1981200"/>
              <a:chOff x="4762500" y="2876550"/>
              <a:chExt cx="2667000" cy="198120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5924550" y="2876550"/>
                <a:ext cx="342900" cy="3429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4762500" y="3524250"/>
                <a:ext cx="2667000" cy="1333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5879236" y="3711892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v2.5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956277" y="4013835"/>
                <a:ext cx="227944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AI-guided lead optimization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746090" y="4315778"/>
                <a:ext cx="6998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Q4 2026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382000" y="2876550"/>
              <a:ext cx="2667000" cy="1981200"/>
              <a:chOff x="8382000" y="2876550"/>
              <a:chExt cx="2667000" cy="198120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9544050" y="2876550"/>
                <a:ext cx="342900" cy="3429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8382000" y="3524250"/>
                <a:ext cx="2667000" cy="1333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498736" y="3711892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35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v3.0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22080" y="4013835"/>
                <a:ext cx="13868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LMS integration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545879" y="4315778"/>
                <a:ext cx="3392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0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2027</a:t>
                </a:r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4490603" y="5553075"/>
            <a:ext cx="321079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Your feature requests matter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55142" y="6236018"/>
            <a:ext cx="1313478" cy="264033"/>
            <a:chOff x="755142" y="6236018"/>
            <a:chExt cx="1313478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755142" y="6236018"/>
              <a:ext cx="1313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Scenario data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8" name="Rectangle 28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421958"/>
            <a:ext cx="3911221" cy="616077"/>
            <a:chOff x="745998" y="421958"/>
            <a:chExt cx="391122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421958"/>
              <a:ext cx="39112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Your Next 3 Steps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238250"/>
            <a:ext cx="3429000" cy="4000500"/>
            <a:chOff x="762000" y="1238250"/>
            <a:chExt cx="3429000" cy="40005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33600" y="156210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384202" y="1773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96195" y="2456498"/>
              <a:ext cx="9606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Sign Up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94777" y="2981325"/>
              <a:ext cx="2163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Visit biodockify.com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64880" y="3286125"/>
              <a:ext cx="26232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Create academic account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905000" y="3810000"/>
              <a:ext cx="1143000" cy="304800"/>
            </a:xfrm>
            <a:prstGeom prst="roundRect">
              <a:avLst>
                <a:gd name="adj" fmla="val 375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289353" y="3906202"/>
              <a:ext cx="374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 min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238250"/>
            <a:ext cx="3429000" cy="4000500"/>
            <a:chOff x="4381500" y="1238250"/>
            <a:chExt cx="3429000" cy="40005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23825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753100" y="1562100"/>
              <a:ext cx="685800" cy="685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03702" y="1773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08016" y="2456498"/>
              <a:ext cx="17759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Try the Demo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13852" y="2981325"/>
              <a:ext cx="2364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Repeat COX-2 docking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1540" y="3286125"/>
              <a:ext cx="2788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exercise from this session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001000" y="1238250"/>
            <a:ext cx="3429000" cy="4000500"/>
            <a:chOff x="8001000" y="1238250"/>
            <a:chExt cx="3429000" cy="4000500"/>
          </a:xfrm>
        </p:grpSpPr>
        <p:sp>
          <p:nvSpPr>
            <p:cNvPr id="20" name="Rectangle 20"/>
            <p:cNvSpPr/>
            <p:nvPr/>
          </p:nvSpPr>
          <p:spPr>
            <a:xfrm>
              <a:off x="8001000" y="1238250"/>
              <a:ext cx="3429000" cy="4000500"/>
            </a:xfrm>
            <a:prstGeom prst="roundRect">
              <a:avLst>
                <a:gd name="adj" fmla="val 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372600" y="156210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23202" y="1773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22507" y="2456498"/>
              <a:ext cx="21859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Plan Integration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56572" y="2981325"/>
              <a:ext cx="2717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Pick one practical session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45647" y="3286125"/>
              <a:ext cx="2539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Design a 2-hour activity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437382" y="5838825"/>
            <a:ext cx="5317236" cy="293370"/>
            <a:chOff x="3437382" y="5838825"/>
            <a:chExt cx="5317236" cy="293370"/>
          </a:xfrm>
        </p:grpSpPr>
        <p:sp>
          <p:nvSpPr>
            <p:cNvPr id="27" name="TextBox 27"/>
            <p:cNvSpPr txBox="1"/>
            <p:nvPr/>
          </p:nvSpPr>
          <p:spPr>
            <a:xfrm>
              <a:off x="3437382" y="5838825"/>
              <a:ext cx="5317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support@biodockify.com for onboarding assistance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9" name="Rectangle 29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1285875" y="857250"/>
            <a:ext cx="10001250" cy="5143500"/>
            <a:chOff x="1285875" y="857250"/>
            <a:chExt cx="10001250" cy="5143500"/>
          </a:xfrm>
        </p:grpSpPr>
        <p:sp>
          <p:nvSpPr>
            <p:cNvPr id="2" name="Ellipse 2"/>
            <p:cNvSpPr/>
            <p:nvPr/>
          </p:nvSpPr>
          <p:spPr>
            <a:xfrm>
              <a:off x="1333500" y="857250"/>
              <a:ext cx="1143000" cy="1143000"/>
            </a:xfrm>
            <a:prstGeom prst="ellipse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3048000" y="1619250"/>
              <a:ext cx="571500" cy="571500"/>
            </a:xfrm>
            <a:prstGeom prst="ellipse">
              <a:avLst/>
            </a:prstGeom>
            <a:solidFill>
              <a:schemeClr val="accent2">
                <a:alpha val="5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2190750" y="1619250"/>
              <a:ext cx="1047750" cy="190500"/>
            </a:xfrm>
            <a:custGeom>
              <a:avLst/>
              <a:gdLst/>
              <a:ahLst/>
              <a:cxnLst/>
              <a:rect l="l" t="t" r="r" b="b"/>
              <a:pathLst>
                <a:path w="1047750" h="190500">
                  <a:moveTo>
                    <a:pt x="0" y="0"/>
                  </a:moveTo>
                  <a:lnTo>
                    <a:pt x="1047750" y="190500"/>
                  </a:lnTo>
                </a:path>
              </a:pathLst>
            </a:custGeom>
            <a:noFill/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9239250" y="4476750"/>
              <a:ext cx="1524000" cy="1524000"/>
            </a:xfrm>
            <a:prstGeom prst="ellipse">
              <a:avLst/>
            </a:prstGeom>
            <a:solidFill>
              <a:schemeClr val="accent2">
                <a:alpha val="4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20375" y="4238625"/>
              <a:ext cx="666750" cy="666750"/>
            </a:xfrm>
            <a:prstGeom prst="ellipse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10287000" y="4667250"/>
              <a:ext cx="571500" cy="381000"/>
            </a:xfrm>
            <a:custGeom>
              <a:avLst/>
              <a:gdLst/>
              <a:ahLst/>
              <a:cxnLst/>
              <a:rect l="l" t="t" r="r" b="b"/>
              <a:pathLst>
                <a:path w="571500" h="381000">
                  <a:moveTo>
                    <a:pt x="0" y="381000"/>
                  </a:moveTo>
                  <a:lnTo>
                    <a:pt x="571500" y="0"/>
                  </a:lnTo>
                </a:path>
              </a:pathLst>
            </a:custGeom>
            <a:noFill/>
            <a:ln w="9525">
              <a:solidFill>
                <a:schemeClr val="accent2">
                  <a:alpha val="8000"/>
                </a:scheme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334375" y="904875"/>
              <a:ext cx="476250" cy="476250"/>
            </a:xfrm>
            <a:prstGeom prst="ellipse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85875" y="4810125"/>
              <a:ext cx="857250" cy="857250"/>
            </a:xfrm>
            <a:prstGeom prst="ellipse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524000" y="5143500"/>
              <a:ext cx="476250" cy="190500"/>
            </a:xfrm>
            <a:custGeom>
              <a:avLst/>
              <a:gdLst/>
              <a:ahLst/>
              <a:cxnLst/>
              <a:rect l="l" t="t" r="r" b="b"/>
              <a:pathLst>
                <a:path w="476250" h="190500">
                  <a:moveTo>
                    <a:pt x="0" y="0"/>
                  </a:moveTo>
                  <a:lnTo>
                    <a:pt x="476250" y="190500"/>
                  </a:lnTo>
                </a:path>
              </a:pathLst>
            </a:custGeom>
            <a:noFill/>
            <a:ln w="9525">
              <a:solidFill>
                <a:schemeClr val="accent1">
                  <a:alpha val="6000"/>
                </a:scheme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287000" y="1714500"/>
              <a:ext cx="381000" cy="381000"/>
            </a:xfrm>
            <a:prstGeom prst="ellipse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8667750" y="1238250"/>
              <a:ext cx="1714500" cy="619125"/>
            </a:xfrm>
            <a:custGeom>
              <a:avLst/>
              <a:gdLst/>
              <a:ahLst/>
              <a:cxnLst/>
              <a:rect l="l" t="t" r="r" b="b"/>
              <a:pathLst>
                <a:path w="1714500" h="619125">
                  <a:moveTo>
                    <a:pt x="0" y="0"/>
                  </a:moveTo>
                  <a:lnTo>
                    <a:pt x="1714500" y="619125"/>
                  </a:lnTo>
                </a:path>
              </a:pathLst>
            </a:custGeom>
            <a:noFill/>
            <a:ln w="9525">
              <a:solidFill>
                <a:schemeClr val="accent2">
                  <a:alpha val="5000"/>
                </a:schemeClr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183363" y="2407920"/>
            <a:ext cx="5825275" cy="898017"/>
            <a:chOff x="3183363" y="2407920"/>
            <a:chExt cx="5825275" cy="898017"/>
          </a:xfrm>
        </p:grpSpPr>
        <p:sp>
          <p:nvSpPr>
            <p:cNvPr id="14" name="TextBox 14"/>
            <p:cNvSpPr txBox="1"/>
            <p:nvPr/>
          </p:nvSpPr>
          <p:spPr>
            <a:xfrm>
              <a:off x="3183363" y="2407920"/>
              <a:ext cx="582527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Transforming Pharmacy Education,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79753" y="2836545"/>
              <a:ext cx="4232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One Experiment at a Time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05360" y="3710940"/>
            <a:ext cx="2381280" cy="352044"/>
            <a:chOff x="4905360" y="3710940"/>
            <a:chExt cx="2381280" cy="352044"/>
          </a:xfrm>
        </p:grpSpPr>
        <p:sp>
          <p:nvSpPr>
            <p:cNvPr id="17" name="TextBox 17"/>
            <p:cNvSpPr txBox="1"/>
            <p:nvPr/>
          </p:nvSpPr>
          <p:spPr>
            <a:xfrm>
              <a:off x="4905360" y="3710940"/>
              <a:ext cx="23812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Mr. Tajuddin Shaik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944112" y="4314825"/>
            <a:ext cx="4303776" cy="293370"/>
            <a:chOff x="3944112" y="4314825"/>
            <a:chExt cx="4303776" cy="293370"/>
          </a:xfrm>
        </p:grpSpPr>
        <p:sp>
          <p:nvSpPr>
            <p:cNvPr id="19" name="TextBox 19"/>
            <p:cNvSpPr txBox="1"/>
            <p:nvPr/>
          </p:nvSpPr>
          <p:spPr>
            <a:xfrm>
              <a:off x="3944112" y="4314825"/>
              <a:ext cx="4303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biodockify.com | support@biodockify.com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82829" y="5107305"/>
            <a:ext cx="1426342" cy="410718"/>
            <a:chOff x="5382829" y="5107305"/>
            <a:chExt cx="1426342" cy="410718"/>
          </a:xfrm>
        </p:grpSpPr>
        <p:sp>
          <p:nvSpPr>
            <p:cNvPr id="21" name="TextBox 21"/>
            <p:cNvSpPr txBox="1"/>
            <p:nvPr/>
          </p:nvSpPr>
          <p:spPr>
            <a:xfrm>
              <a:off x="5382829" y="5107305"/>
              <a:ext cx="14263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Thank you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4" name="Rectangle 2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91151" y="611505"/>
            <a:ext cx="2609698" cy="704088"/>
            <a:chOff x="4791151" y="611505"/>
            <a:chExt cx="2609698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4791151" y="611505"/>
              <a:ext cx="260969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BioDockify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18853" y="1249680"/>
            <a:ext cx="6554294" cy="410718"/>
            <a:chOff x="2818853" y="1249680"/>
            <a:chExt cx="6554294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2818853" y="1249680"/>
              <a:ext cx="65542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From Research Question to Scientific Insight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33500" y="1905000"/>
            <a:ext cx="4191000" cy="1524000"/>
            <a:chOff x="1333500" y="1905000"/>
            <a:chExt cx="4191000" cy="1524000"/>
          </a:xfrm>
        </p:grpSpPr>
        <p:sp>
          <p:nvSpPr>
            <p:cNvPr id="6" name="Rectangle 6"/>
            <p:cNvSpPr/>
            <p:nvPr/>
          </p:nvSpPr>
          <p:spPr>
            <a:xfrm>
              <a:off x="1333500" y="1905000"/>
              <a:ext cx="4191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98841" y="2139315"/>
              <a:ext cx="22603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Community Edition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23746" y="2600325"/>
              <a:ext cx="20105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🐳 Docker-powered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14581" y="2949892"/>
              <a:ext cx="1428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Run it yourself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67500" y="1905000"/>
            <a:ext cx="4191000" cy="1524000"/>
            <a:chOff x="6667500" y="1905000"/>
            <a:chExt cx="4191000" cy="1524000"/>
          </a:xfrm>
        </p:grpSpPr>
        <p:sp>
          <p:nvSpPr>
            <p:cNvPr id="11" name="Rectangle 11"/>
            <p:cNvSpPr/>
            <p:nvPr/>
          </p:nvSpPr>
          <p:spPr>
            <a:xfrm>
              <a:off x="6667500" y="1905000"/>
              <a:ext cx="419100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66963" y="2139315"/>
              <a:ext cx="27920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Premium Web Platform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23380" y="2600325"/>
              <a:ext cx="16792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☁ Cloud-hosted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03034" y="2949892"/>
              <a:ext cx="3119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Let AI orchestrate the research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60663" y="3933825"/>
            <a:ext cx="7670673" cy="598170"/>
            <a:chOff x="2260663" y="3933825"/>
            <a:chExt cx="7670673" cy="598170"/>
          </a:xfrm>
        </p:grpSpPr>
        <p:sp>
          <p:nvSpPr>
            <p:cNvPr id="16" name="TextBox 16"/>
            <p:cNvSpPr txBox="1"/>
            <p:nvPr/>
          </p:nvSpPr>
          <p:spPr>
            <a:xfrm>
              <a:off x="2260663" y="3933825"/>
              <a:ext cx="7670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i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“The future of pharmaceutical research is not AI replacing researchers.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54394" y="4238625"/>
              <a:ext cx="52832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500" i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It is researchers becoming more capable with AI.”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686511" y="4953000"/>
            <a:ext cx="6818978" cy="499301"/>
            <a:chOff x="2686511" y="4953000"/>
            <a:chExt cx="6818978" cy="499301"/>
          </a:xfrm>
        </p:grpSpPr>
        <p:sp>
          <p:nvSpPr>
            <p:cNvPr id="19" name="Rectangle 19"/>
            <p:cNvSpPr/>
            <p:nvPr/>
          </p:nvSpPr>
          <p:spPr>
            <a:xfrm>
              <a:off x="3810000" y="4953000"/>
              <a:ext cx="4572000" cy="1905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86511" y="5188268"/>
              <a:ext cx="6818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Mr. Tajuddin Shaik | Co-Founder, BioDockify | Assistant Professor, MRCP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82541" y="5585460"/>
            <a:ext cx="3226918" cy="234696"/>
            <a:chOff x="4482541" y="5585460"/>
            <a:chExt cx="3226918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4482541" y="5585460"/>
              <a:ext cx="3226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www.biodockify.com | ai.biodockify.com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619875"/>
            <a:ext cx="12192000" cy="238125"/>
            <a:chOff x="0" y="6619875"/>
            <a:chExt cx="12192000" cy="238125"/>
          </a:xfrm>
        </p:grpSpPr>
        <p:sp>
          <p:nvSpPr>
            <p:cNvPr id="24" name="Rectangle 24"/>
            <p:cNvSpPr/>
            <p:nvPr/>
          </p:nvSpPr>
          <p:spPr>
            <a:xfrm>
              <a:off x="0" y="6619875"/>
              <a:ext cx="12192000" cy="238125"/>
            </a:xfrm>
            <a:prstGeom prst="rect">
              <a:avLst/>
            </a:prstGeom>
            <a:solidFill>
              <a:srgbClr val="0D0F2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03998" y="6692741"/>
              <a:ext cx="3784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820" dirty="0">
                  <a:solidFill>
                    <a:srgbClr val="7A85A8"/>
                  </a:solidFill>
                  <a:latin typeface="+mj-lt"/>
                  <a:ea typeface="+mj-ea"/>
                  <a:cs typeface="+mj-cs"/>
                </a:rPr>
                <a:t>BioDockify — Building the Future of AI-Driven Pharmaceutical Research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500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biodockify_fdp_2026">
  <a:themeElements>
    <a:clrScheme name="biodockify_fdp_2026">
      <a:dk1>
        <a:srgbClr val="FFFFFF"/>
      </a:dk1>
      <a:lt1>
        <a:srgbClr val="10122B"/>
      </a:lt1>
      <a:dk2>
        <a:srgbClr val="1F497D"/>
      </a:dk2>
      <a:lt2>
        <a:srgbClr val="1A1D3A"/>
      </a:lt2>
      <a:accent1>
        <a:srgbClr val="EE5586"/>
      </a:accent1>
      <a:accent2>
        <a:srgbClr val="C034EB"/>
      </a:accent2>
      <a:accent3>
        <a:srgbClr val="B0BCD5"/>
      </a:accent3>
      <a:accent4>
        <a:srgbClr val="EE5586"/>
      </a:accent4>
      <a:accent5>
        <a:srgbClr val="4BACC6"/>
      </a:accent5>
      <a:accent6>
        <a:srgbClr val="F79646"/>
      </a:accent6>
      <a:hlink>
        <a:srgbClr val="C034EB"/>
      </a:hlink>
      <a:folHlink>
        <a:srgbClr val="B0BCD5"/>
      </a:folHlink>
    </a:clrScheme>
    <a:fontScheme name="biodockify_fdp_2026">
      <a:maj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Serif Pro"/>
        <a:ea typeface="Microsoft YaHei"/>
        <a:cs typeface="Source Serif Pro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iodockify_fdp_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2026-08-18T15:50:51Z</dcterms:created>
  <dcterms:modified xsi:type="dcterms:W3CDTF">2026-08-18T15:50:51Z</dcterms:modified>
  <cp:category/>
  <cp:contentStatus/>
</cp:coreProperties>
</file>