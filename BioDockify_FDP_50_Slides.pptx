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iodockify_fdp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iodockify_fdp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90500" y="-476250"/>
            <a:ext cx="12192000" cy="7715250"/>
            <a:chOff x="190500" y="-476250"/>
            <a:chExt cx="12192000" cy="7715250"/>
          </a:xfrm>
        </p:grpSpPr>
        <p:sp>
          <p:nvSpPr>
            <p:cNvPr id="2" name="Ellipse 2"/>
            <p:cNvSpPr/>
            <p:nvPr/>
          </p:nvSpPr>
          <p:spPr>
            <a:xfrm>
              <a:off x="8572500" y="-476250"/>
              <a:ext cx="3810000" cy="38100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90500" y="4191000"/>
              <a:ext cx="3048000" cy="3048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3712" y="2087880"/>
            <a:ext cx="6484348" cy="2260854"/>
            <a:chOff x="743712" y="2087880"/>
            <a:chExt cx="6484348" cy="226085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087880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0570" y="2805112"/>
              <a:ext cx="64774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AI-Powered Computational Drug Discovery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3233738"/>
              <a:ext cx="37170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for Pharmacy Education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8100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3996690"/>
              <a:ext cx="409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Faculty Development Programme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3618" y="4965382"/>
            <a:ext cx="4217194" cy="982219"/>
            <a:chOff x="753618" y="4965382"/>
            <a:chExt cx="4217194" cy="982219"/>
          </a:xfrm>
        </p:grpSpPr>
        <p:sp>
          <p:nvSpPr>
            <p:cNvPr id="11" name="TextBox 11"/>
            <p:cNvSpPr txBox="1"/>
            <p:nvPr/>
          </p:nvSpPr>
          <p:spPr>
            <a:xfrm>
              <a:off x="753618" y="4965382"/>
              <a:ext cx="2182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Mr. Tajuddin Shaik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5378768"/>
              <a:ext cx="4215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Malla Reddy College of Pharmacy, Hyderabad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5683568"/>
              <a:ext cx="1445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August 2026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53375" y="1381125"/>
            <a:ext cx="3476625" cy="3667125"/>
            <a:chOff x="7953375" y="1381125"/>
            <a:chExt cx="3476625" cy="3667125"/>
          </a:xfrm>
        </p:grpSpPr>
        <p:sp>
          <p:nvSpPr>
            <p:cNvPr id="15" name="Ellipse 15"/>
            <p:cNvSpPr/>
            <p:nvPr/>
          </p:nvSpPr>
          <p:spPr>
            <a:xfrm>
              <a:off x="8763000" y="228600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144000" y="2667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467850" y="2990850"/>
              <a:ext cx="114300" cy="1143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525000" y="257175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0" y="4762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144125" y="2524125"/>
              <a:ext cx="95250" cy="9525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953500" y="2476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905875" y="2428875"/>
              <a:ext cx="95250" cy="9525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9525000" y="3048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571500"/>
                  </a:lnTo>
                </a:path>
              </a:pathLst>
            </a:cu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058400" y="3581400"/>
              <a:ext cx="76200" cy="762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858250" y="304800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6667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820150" y="3486150"/>
              <a:ext cx="76200" cy="762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477500" y="409575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715625" y="4333875"/>
              <a:ext cx="476250" cy="476250"/>
            </a:xfrm>
            <a:prstGeom prst="ellipse">
              <a:avLst/>
            </a:prstGeom>
            <a:noFill/>
            <a:ln w="7620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53375" y="1381125"/>
              <a:ext cx="666750" cy="666750"/>
            </a:xfrm>
            <a:prstGeom prst="ellipse">
              <a:avLst/>
            </a:pr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</p:grpSp>
      <p:sp>
        <p:nvSpPr>
          <p:cNvPr id="30" name="Rectangle 30"/>
          <p:cNvSpPr/>
          <p:nvPr/>
        </p:nvSpPr>
        <p:spPr>
          <a:xfrm>
            <a:off x="0" y="6667500"/>
            <a:ext cx="12192000" cy="381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2">
                  <a:alpha val="60000"/>
                </a:scheme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421958"/>
            <a:ext cx="3600410" cy="616077"/>
            <a:chOff x="555498" y="421958"/>
            <a:chExt cx="360041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36004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Session Roadmap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1405890"/>
            <a:ext cx="5197504" cy="3998785"/>
            <a:chOff x="571500" y="1405890"/>
            <a:chExt cx="5197504" cy="3998785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405890"/>
              <a:ext cx="4406287" cy="569785"/>
              <a:chOff x="571500" y="1405890"/>
              <a:chExt cx="4406287" cy="569785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428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15123" y="1552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71956" y="1405890"/>
                <a:ext cx="15015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Foundations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74242" y="1711642"/>
                <a:ext cx="38035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Drug Discovery Landscape (Slides 3–12)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71500" y="2263140"/>
              <a:ext cx="4017340" cy="569785"/>
              <a:chOff x="571500" y="2263140"/>
              <a:chExt cx="4017340" cy="56978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22860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15123" y="24098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1956" y="2263140"/>
                <a:ext cx="2768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Platform Introduction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74242" y="2568892"/>
                <a:ext cx="3414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BioDockify Overview (Slides 13–20)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1500" y="3120390"/>
              <a:ext cx="5197504" cy="569785"/>
              <a:chOff x="571500" y="3120390"/>
              <a:chExt cx="5197504" cy="56978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31432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5123" y="32670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71956" y="3120390"/>
                <a:ext cx="22183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Module Deep Dives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4242" y="3426142"/>
                <a:ext cx="45947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Docking, ADMET, MD, Jarvis AI (Slides 21–38)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3977640"/>
              <a:ext cx="4542072" cy="569785"/>
              <a:chOff x="571500" y="3977640"/>
              <a:chExt cx="4542072" cy="56978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40005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15123" y="41243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1956" y="3977640"/>
                <a:ext cx="25777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Teaching Integration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74242" y="4283392"/>
                <a:ext cx="39393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Curriculum &amp; Collaboration (Slides 39–44)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4834890"/>
              <a:ext cx="4297404" cy="569785"/>
              <a:chOff x="571500" y="4834890"/>
              <a:chExt cx="4297404" cy="56978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4857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5123" y="4981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1956" y="4834890"/>
                <a:ext cx="2856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Hands-On &amp; Next Steps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4242" y="5140642"/>
                <a:ext cx="3694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Live Demo &amp; Action Plan (Slides 45–50)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9518904" y="1584960"/>
            <a:ext cx="614347" cy="3663696"/>
            <a:chOff x="9518904" y="1584960"/>
            <a:chExt cx="614347" cy="3663696"/>
          </a:xfrm>
        </p:grpSpPr>
        <p:sp>
          <p:nvSpPr>
            <p:cNvPr id="31" name="TextBox 31"/>
            <p:cNvSpPr txBox="1"/>
            <p:nvPr/>
          </p:nvSpPr>
          <p:spPr>
            <a:xfrm>
              <a:off x="9518904" y="15849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~30 min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244221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~25 min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8904" y="32994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~60 min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8904" y="415671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~20 min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904" y="50139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~25 min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117490" cy="616077"/>
            <a:chOff x="555498" y="421958"/>
            <a:chExt cx="81174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1174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Drug Discovery Attrition Problem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6096000" cy="4290251"/>
            <a:chOff x="762000" y="1428750"/>
            <a:chExt cx="6096000" cy="4290251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6096000" cy="857250"/>
            </a:xfrm>
            <a:prstGeom prst="roundRect">
              <a:avLst>
                <a:gd name="adj" fmla="val 8889"/>
              </a:avLst>
            </a:prstGeom>
            <a:solidFill>
              <a:schemeClr val="accent1">
                <a:alpha val="95000"/>
              </a:scheme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492502" y="1678305"/>
              <a:ext cx="2634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10,000 Compounds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29260" y="2025968"/>
              <a:ext cx="1561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Initial Discovery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524000" y="2571750"/>
              <a:ext cx="4572000" cy="857250"/>
            </a:xfrm>
            <a:prstGeom prst="roundRect">
              <a:avLst>
                <a:gd name="adj" fmla="val 8889"/>
              </a:avLst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55056" y="2821305"/>
              <a:ext cx="21098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250 Preclinical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7438" y="3168968"/>
              <a:ext cx="1125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Lab Testing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6000" y="3714750"/>
              <a:ext cx="3048000" cy="857250"/>
            </a:xfrm>
            <a:prstGeom prst="roundRect">
              <a:avLst>
                <a:gd name="adj" fmla="val 8889"/>
              </a:avLst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17344" y="3964305"/>
              <a:ext cx="23853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 Clinical Trials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1971" y="4311968"/>
              <a:ext cx="1376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Human Testing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48000" y="4857750"/>
              <a:ext cx="1524000" cy="857250"/>
            </a:xfrm>
            <a:prstGeom prst="roundRect">
              <a:avLst>
                <a:gd name="adj" fmla="val 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14621" y="5107305"/>
              <a:ext cx="15907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 Approved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49762" y="5454968"/>
              <a:ext cx="1320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Market Ready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762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0"/>
                  </a:moveTo>
                  <a:lnTo>
                    <a:pt x="762000" y="285750"/>
                  </a:lnTo>
                  <a:lnTo>
                    <a:pt x="76200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17" name="Polygon 17"/>
            <p:cNvSpPr/>
            <p:nvPr/>
          </p:nvSpPr>
          <p:spPr>
            <a:xfrm>
              <a:off x="6096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0" y="0"/>
                  </a:moveTo>
                  <a:lnTo>
                    <a:pt x="0" y="285750"/>
                  </a:lnTo>
                  <a:lnTo>
                    <a:pt x="0" y="1905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715250" y="1619250"/>
            <a:ext cx="3810000" cy="4000500"/>
            <a:chOff x="7715250" y="1619250"/>
            <a:chExt cx="3810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7715250" y="16192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7226" y="1756410"/>
              <a:ext cx="22660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12–15 Years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9961" y="2279332"/>
              <a:ext cx="340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Average development timeline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15250" y="304800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3439" y="3185160"/>
              <a:ext cx="28336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$2.6B Per Drug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9831" y="3708082"/>
              <a:ext cx="2440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Total cost to market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15250" y="44767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42714" y="4613910"/>
              <a:ext cx="23550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&gt;90% Failure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0108" y="5136832"/>
              <a:ext cx="3140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Clinical trial attrition rate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64642" y="6331268"/>
            <a:ext cx="4507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Source: Tufts CSDD, PhRMA Industry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9705361" cy="616077"/>
            <a:chOff x="555498" y="421958"/>
            <a:chExt cx="970536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97053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Traditional Lab vs Computational Approaches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238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chemeClr val="accent3">
                <a:alpha val="30000"/>
              </a:scheme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264920"/>
            <a:ext cx="4762500" cy="4164330"/>
            <a:chOff x="762000" y="1264920"/>
            <a:chExt cx="4762500" cy="4164330"/>
          </a:xfrm>
        </p:grpSpPr>
        <p:sp>
          <p:nvSpPr>
            <p:cNvPr id="5" name="TextBox 5"/>
            <p:cNvSpPr txBox="1"/>
            <p:nvPr/>
          </p:nvSpPr>
          <p:spPr>
            <a:xfrm>
              <a:off x="2132190" y="1264920"/>
              <a:ext cx="18316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2057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0368" y="1965008"/>
              <a:ext cx="2476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per compound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254568"/>
              <a:ext cx="2792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Slow iterative wet-lab cycles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9650" y="3009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0368" y="2917508"/>
              <a:ext cx="2442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$10K–50K per screen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207068"/>
              <a:ext cx="2842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Reagents, consumables, labor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09650" y="3962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0368" y="3870008"/>
              <a:ext cx="3424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 by physical resources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892" y="4159568"/>
              <a:ext cx="2736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Equipment, space, personnel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09650" y="4914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0368" y="4822508"/>
              <a:ext cx="2131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Sequential testing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892" y="5112068"/>
              <a:ext cx="2238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compound at a 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7000" y="1264920"/>
            <a:ext cx="4762500" cy="4164330"/>
            <a:chOff x="6477000" y="1264920"/>
            <a:chExt cx="4762500" cy="4164330"/>
          </a:xfrm>
        </p:grpSpPr>
        <p:sp>
          <p:nvSpPr>
            <p:cNvPr id="23" name="TextBox 23"/>
            <p:cNvSpPr txBox="1"/>
            <p:nvPr/>
          </p:nvSpPr>
          <p:spPr>
            <a:xfrm>
              <a:off x="7774344" y="1264920"/>
              <a:ext cx="23583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Computational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724650" y="2057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35368" y="1965008"/>
              <a:ext cx="25460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Minutes per compound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6892" y="2254568"/>
              <a:ext cx="2349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in-silico evaluation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724650" y="3009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35368" y="2917508"/>
              <a:ext cx="2718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Negligible marginal cost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6892" y="3207068"/>
              <a:ext cx="1756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Only compute 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724650" y="3962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35368" y="3870008"/>
              <a:ext cx="31757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Unlimited parallel screening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6892" y="4159568"/>
              <a:ext cx="253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Scale with cloud resources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724650" y="4914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35368" y="4822508"/>
              <a:ext cx="2577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Iterative optimization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6892" y="5112068"/>
              <a:ext cx="1956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feedback loops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148965" y="6139815"/>
            <a:ext cx="3894071" cy="352044"/>
            <a:chOff x="4148965" y="6139815"/>
            <a:chExt cx="3894071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4148965" y="6139815"/>
              <a:ext cx="3894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Not replacement — acceleration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452982" cy="616077"/>
            <a:chOff x="555498" y="421958"/>
            <a:chExt cx="74529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4529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Pharmacy Faculty Should Care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3524250" cy="4191000"/>
            <a:chOff x="571500" y="1428750"/>
            <a:chExt cx="3524250" cy="41910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95262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10502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0939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488" y="272605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Industry Demand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7940" y="3298508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78% of pharma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1409" y="358425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use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1409" y="3870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3707" y="4155758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885" y="4756785"/>
              <a:ext cx="7334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1428750"/>
            <a:ext cx="3524250" cy="4191000"/>
            <a:chOff x="4333875" y="1428750"/>
            <a:chExt cx="3524250" cy="4191000"/>
          </a:xfrm>
        </p:grpSpPr>
        <p:sp>
          <p:nvSpPr>
            <p:cNvPr id="15" name="Rectangle 15"/>
            <p:cNvSpPr/>
            <p:nvPr/>
          </p:nvSpPr>
          <p:spPr>
            <a:xfrm>
              <a:off x="4333875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15000" y="1809750"/>
              <a:ext cx="762000" cy="762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867400" y="19621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1765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4161" y="2726055"/>
              <a:ext cx="25036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Enabler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42262" y="329850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Publish computational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9243" y="3584258"/>
              <a:ext cx="1753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papers without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6591" y="3870008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million-dollar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3375" y="4155758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9947" y="4821555"/>
              <a:ext cx="1192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$0 Infra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428750"/>
            <a:ext cx="3524250" cy="4191000"/>
            <a:chOff x="8096250" y="1428750"/>
            <a:chExt cx="3524250" cy="4191000"/>
          </a:xfrm>
        </p:grpSpPr>
        <p:sp>
          <p:nvSpPr>
            <p:cNvPr id="26" name="Rectangle 26"/>
            <p:cNvSpPr/>
            <p:nvPr/>
          </p:nvSpPr>
          <p:spPr>
            <a:xfrm>
              <a:off x="809625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47737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62977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3414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18" y="2726055"/>
              <a:ext cx="30671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Curriculum Relevance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15832" y="3298508"/>
              <a:ext cx="1685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PCI and AICTE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82635" y="3584258"/>
              <a:ext cx="255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encourage integrating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7585" y="3870008"/>
              <a:ext cx="228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 tools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0237" y="4155758"/>
              <a:ext cx="2516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 pharmacy programs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0151" y="4821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Mandated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2102" cy="616077"/>
            <a:chOff x="555498" y="421958"/>
            <a:chExt cx="102521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2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The Lock-and-Key Principle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2058" y="1714500"/>
            <a:ext cx="3739442" cy="3287839"/>
            <a:chOff x="642058" y="1714500"/>
            <a:chExt cx="3739442" cy="3287839"/>
          </a:xfrm>
        </p:grpSpPr>
        <p:sp>
          <p:nvSpPr>
            <p:cNvPr id="4" name="Rectangle 4"/>
            <p:cNvSpPr/>
            <p:nvPr/>
          </p:nvSpPr>
          <p:spPr>
            <a:xfrm>
              <a:off x="1714500" y="2286000"/>
              <a:ext cx="2667000" cy="20955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667000" y="1714500"/>
              <a:ext cx="762000" cy="762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9875" y="3048000"/>
              <a:ext cx="476250" cy="66675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905125" y="3143250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91352" y="4679632"/>
              <a:ext cx="1713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Protein (Lock)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143250"/>
              <a:ext cx="952500" cy="28575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714500" y="314325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0" y="285750"/>
                  </a:lnTo>
                  <a:lnTo>
                    <a:pt x="190500" y="1428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2058" y="3569018"/>
              <a:ext cx="1192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Ligand (Key)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7356" y="1901190"/>
            <a:ext cx="3282696" cy="2542794"/>
            <a:chOff x="6277356" y="1901190"/>
            <a:chExt cx="3282696" cy="2542794"/>
          </a:xfrm>
        </p:grpSpPr>
        <p:sp>
          <p:nvSpPr>
            <p:cNvPr id="13" name="TextBox 13"/>
            <p:cNvSpPr txBox="1"/>
            <p:nvPr/>
          </p:nvSpPr>
          <p:spPr>
            <a:xfrm>
              <a:off x="6277356" y="1901190"/>
              <a:ext cx="3123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 of the protein as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7356" y="2282190"/>
              <a:ext cx="32826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lock and the drug molecule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6631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 a key.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356" y="3329940"/>
              <a:ext cx="3017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computationally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7356" y="3710940"/>
              <a:ext cx="3065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tests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thousands of keys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7356" y="409194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find the best fit.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4642" y="5524500"/>
            <a:ext cx="11055858" cy="880301"/>
            <a:chOff x="564642" y="5524500"/>
            <a:chExt cx="11055858" cy="880301"/>
          </a:xfrm>
        </p:grpSpPr>
        <p:sp>
          <p:nvSpPr>
            <p:cNvPr id="20" name="Line 20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4642" y="5855018"/>
              <a:ext cx="885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docking predicts the preferred orientation of a ligand within a protein binding site,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6140768"/>
              <a:ext cx="5131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estimating binding affinity through scoring functions.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044085" cy="616077"/>
            <a:chOff x="555498" y="421958"/>
            <a:chExt cx="804408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0440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5-Step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4500" y="2667000"/>
            <a:ext cx="8763000" cy="9525"/>
            <a:chOff x="1714500" y="2667000"/>
            <a:chExt cx="8763000" cy="9525"/>
          </a:xfrm>
        </p:grpSpPr>
        <p:sp>
          <p:nvSpPr>
            <p:cNvPr id="4" name="Line 4"/>
            <p:cNvSpPr/>
            <p:nvPr/>
          </p:nvSpPr>
          <p:spPr>
            <a:xfrm>
              <a:off x="1714500" y="2667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9050">
              <a:solidFill>
                <a:schemeClr val="accent3">
                  <a:alpha val="30000"/>
                </a:scheme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4961" y="2286000"/>
            <a:ext cx="1419078" cy="2070925"/>
            <a:chOff x="1004961" y="2286000"/>
            <a:chExt cx="1419078" cy="2070925"/>
          </a:xfrm>
        </p:grpSpPr>
        <p:sp>
          <p:nvSpPr>
            <p:cNvPr id="6" name="Ellipse 6"/>
            <p:cNvSpPr/>
            <p:nvPr/>
          </p:nvSpPr>
          <p:spPr>
            <a:xfrm>
              <a:off x="1333500" y="228600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22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323850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9093" y="3375660"/>
              <a:ext cx="1150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Target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4961" y="3854768"/>
              <a:ext cx="141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Choose protein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1634" y="4092892"/>
              <a:ext cx="92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PDB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43250" y="2286000"/>
            <a:ext cx="1524000" cy="2070925"/>
            <a:chOff x="3143250" y="2286000"/>
            <a:chExt cx="1524000" cy="2070925"/>
          </a:xfrm>
        </p:grpSpPr>
        <p:sp>
          <p:nvSpPr>
            <p:cNvPr id="13" name="Ellipse 13"/>
            <p:cNvSpPr/>
            <p:nvPr/>
          </p:nvSpPr>
          <p:spPr>
            <a:xfrm>
              <a:off x="3524250" y="2286000"/>
              <a:ext cx="762000" cy="762000"/>
            </a:xfrm>
            <a:prstGeom prst="ellipse">
              <a:avLst/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29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4325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D43E8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36557" y="3375660"/>
              <a:ext cx="133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Protein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3851" y="3854768"/>
              <a:ext cx="1442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Remove water,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5909" y="4092892"/>
              <a:ext cx="1338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add hydrogens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0" y="2286000"/>
            <a:ext cx="1524000" cy="2070925"/>
            <a:chOff x="5334000" y="2286000"/>
            <a:chExt cx="1524000" cy="2070925"/>
          </a:xfrm>
        </p:grpSpPr>
        <p:sp>
          <p:nvSpPr>
            <p:cNvPr id="20" name="Ellipse 20"/>
            <p:cNvSpPr/>
            <p:nvPr/>
          </p:nvSpPr>
          <p:spPr>
            <a:xfrm>
              <a:off x="5715000" y="2286000"/>
              <a:ext cx="762000" cy="762000"/>
            </a:xfrm>
            <a:prstGeom prst="ellipse">
              <a:avLst/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037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B836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3950" y="3375660"/>
              <a:ext cx="1244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Ligand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5813" y="3854768"/>
              <a:ext cx="1160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 3D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7487" y="4092892"/>
              <a:ext cx="897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geometry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5385" y="2286000"/>
            <a:ext cx="1722730" cy="2070925"/>
            <a:chOff x="7425385" y="2286000"/>
            <a:chExt cx="1722730" cy="2070925"/>
          </a:xfrm>
        </p:grpSpPr>
        <p:sp>
          <p:nvSpPr>
            <p:cNvPr id="27" name="Ellipse 27"/>
            <p:cNvSpPr/>
            <p:nvPr/>
          </p:nvSpPr>
          <p:spPr>
            <a:xfrm>
              <a:off x="7905750" y="2286000"/>
              <a:ext cx="762000" cy="762000"/>
            </a:xfrm>
            <a:prstGeom prst="ellipse">
              <a:avLst/>
            </a:prstGeom>
            <a:solidFill>
              <a:srgbClr val="A030D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944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29500" y="323850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A030D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9774" y="3375660"/>
              <a:ext cx="1673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Search Space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6186" y="3854768"/>
              <a:ext cx="1161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grid 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5385" y="4092892"/>
              <a:ext cx="1722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around active site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15500" y="2286000"/>
            <a:ext cx="1524000" cy="2070925"/>
            <a:chOff x="9715500" y="2286000"/>
            <a:chExt cx="1524000" cy="2070925"/>
          </a:xfrm>
        </p:grpSpPr>
        <p:sp>
          <p:nvSpPr>
            <p:cNvPr id="34" name="Ellipse 34"/>
            <p:cNvSpPr/>
            <p:nvPr/>
          </p:nvSpPr>
          <p:spPr>
            <a:xfrm>
              <a:off x="10096500" y="2286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85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40493" y="3375660"/>
              <a:ext cx="874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&amp; Rank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5192" y="3854768"/>
              <a:ext cx="126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Score binding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6609" y="4092892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41" name="Rectangle 41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852364" y="5536882"/>
              <a:ext cx="8487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Output: Ranked list of compounds by predicted binding affinity (kcal/mol)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37091" y="5902642"/>
              <a:ext cx="6317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= stronger predicted binding = better drug candidate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109049" cy="616077"/>
            <a:chOff x="555498" y="421958"/>
            <a:chExt cx="71090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1090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— The Drug Viability Filter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53000" y="2952750"/>
            <a:ext cx="2286000" cy="666750"/>
            <a:chOff x="4953000" y="2952750"/>
            <a:chExt cx="2286000" cy="666750"/>
          </a:xfrm>
        </p:grpSpPr>
        <p:sp>
          <p:nvSpPr>
            <p:cNvPr id="4" name="Rectangle 4"/>
            <p:cNvSpPr/>
            <p:nvPr/>
          </p:nvSpPr>
          <p:spPr>
            <a:xfrm>
              <a:off x="4953000" y="2952750"/>
              <a:ext cx="2286000" cy="666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88908" y="3138488"/>
              <a:ext cx="10141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333500"/>
            <a:ext cx="4381500" cy="1809750"/>
            <a:chOff x="571500" y="1333500"/>
            <a:chExt cx="4381500" cy="1809750"/>
          </a:xfrm>
        </p:grpSpPr>
        <p:sp>
          <p:nvSpPr>
            <p:cNvPr id="7" name="Line 7"/>
            <p:cNvSpPr/>
            <p:nvPr/>
          </p:nvSpPr>
          <p:spPr>
            <a:xfrm>
              <a:off x="342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1143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3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6731" y="1520190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5642" y="1949768"/>
              <a:ext cx="2362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well the drug enters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1878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bloodstream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39000" y="1333500"/>
            <a:ext cx="4381500" cy="1809750"/>
            <a:chOff x="7239000" y="1333500"/>
            <a:chExt cx="4381500" cy="1809750"/>
          </a:xfrm>
        </p:grpSpPr>
        <p:sp>
          <p:nvSpPr>
            <p:cNvPr id="14" name="Line 14"/>
            <p:cNvSpPr/>
            <p:nvPr/>
          </p:nvSpPr>
          <p:spPr>
            <a:xfrm>
              <a:off x="723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0" y="1143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820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08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7231" y="1520190"/>
              <a:ext cx="1513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6142" y="1949768"/>
              <a:ext cx="204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spreads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56142" y="218789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through the body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524250"/>
            <a:ext cx="4381500" cy="2000250"/>
            <a:chOff x="571500" y="3524250"/>
            <a:chExt cx="4381500" cy="2000250"/>
          </a:xfrm>
        </p:grpSpPr>
        <p:sp>
          <p:nvSpPr>
            <p:cNvPr id="21" name="Line 21"/>
            <p:cNvSpPr/>
            <p:nvPr/>
          </p:nvSpPr>
          <p:spPr>
            <a:xfrm>
              <a:off x="342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152400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0308" y="4312920"/>
              <a:ext cx="2932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4356" y="4377690"/>
              <a:ext cx="1399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807268"/>
              <a:ext cx="1940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body breaks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 the drug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3524250"/>
            <a:ext cx="4381500" cy="2000250"/>
            <a:chOff x="7239000" y="3524250"/>
            <a:chExt cx="4381500" cy="2000250"/>
          </a:xfrm>
        </p:grpSpPr>
        <p:sp>
          <p:nvSpPr>
            <p:cNvPr id="28" name="Line 28"/>
            <p:cNvSpPr/>
            <p:nvPr/>
          </p:nvSpPr>
          <p:spPr>
            <a:xfrm>
              <a:off x="723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0" y="0"/>
                  </a:moveTo>
                  <a:lnTo>
                    <a:pt x="152400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820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50808" y="43129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7231" y="43776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6142" y="4807268"/>
              <a:ext cx="2305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is removed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61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the body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76750" y="3619500"/>
            <a:ext cx="3238500" cy="2714625"/>
            <a:chOff x="4476750" y="3619500"/>
            <a:chExt cx="3238500" cy="2714625"/>
          </a:xfrm>
        </p:grpSpPr>
        <p:sp>
          <p:nvSpPr>
            <p:cNvPr id="35" name="Line 35"/>
            <p:cNvSpPr/>
            <p:nvPr/>
          </p:nvSpPr>
          <p:spPr>
            <a:xfrm>
              <a:off x="6096000" y="3619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76750" y="5191125"/>
              <a:ext cx="32385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5558" y="531304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81981" y="5377815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892" y="5807392"/>
              <a:ext cx="2475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Potential harmful effects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0892" y="6045518"/>
              <a:ext cx="178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 organs and cells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102442" cy="616077"/>
            <a:chOff x="555498" y="421958"/>
            <a:chExt cx="101024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1024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— Watching Molecules Move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2500" y="1524000"/>
            <a:ext cx="4191000" cy="3452051"/>
            <a:chOff x="952500" y="1524000"/>
            <a:chExt cx="4191000" cy="3452051"/>
          </a:xfrm>
        </p:grpSpPr>
        <p:sp>
          <p:nvSpPr>
            <p:cNvPr id="4" name="Rectangle 4"/>
            <p:cNvSpPr/>
            <p:nvPr/>
          </p:nvSpPr>
          <p:spPr>
            <a:xfrm>
              <a:off x="952500" y="1524000"/>
              <a:ext cx="4191000" cy="3048000"/>
            </a:xfrm>
            <a:prstGeom prst="roundRect">
              <a:avLst>
                <a:gd name="adj" fmla="val 4375"/>
              </a:avLst>
            </a:prstGeom>
            <a:solidFill>
              <a:schemeClr val="lt2">
                <a:alpha val="50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14500" y="2286000"/>
              <a:ext cx="381000" cy="381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2095500" y="2286000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0" y="142875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333625" y="2238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181350" y="2038350"/>
              <a:ext cx="304800" cy="304800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476625" y="2000250"/>
              <a:ext cx="238125" cy="142875"/>
            </a:xfrm>
            <a:custGeom>
              <a:avLst/>
              <a:gdLst/>
              <a:ahLst/>
              <a:cxnLst/>
              <a:rect l="l" t="t" r="r" b="b"/>
              <a:pathLst>
                <a:path w="238125" h="142875">
                  <a:moveTo>
                    <a:pt x="0" y="142875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667125" y="19526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438400" y="3009900"/>
              <a:ext cx="457200" cy="4572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2857500" y="2952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19050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095625" y="29051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24300" y="2781300"/>
              <a:ext cx="342900" cy="3429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38625" y="266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81500" y="2619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581150" y="3676650"/>
              <a:ext cx="266700" cy="266700"/>
            </a:xfrm>
            <a:prstGeom prst="ellipse">
              <a:avLst/>
            </a:prstGeom>
            <a:solidFill>
              <a:schemeClr val="dk1">
                <a:alpha val="40000"/>
              </a:schemeClr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1828800" y="3600450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0" y="142875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chemeClr val="dk1">
                  <a:alpha val="40000"/>
                </a:scheme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962150" y="3552825"/>
              <a:ext cx="76200" cy="104775"/>
            </a:xfrm>
            <a:custGeom>
              <a:avLst/>
              <a:gdLst/>
              <a:ahLst/>
              <a:cxnLst/>
              <a:rect l="l" t="t" r="r" b="b"/>
              <a:pathLst>
                <a:path w="76200" h="104775">
                  <a:moveTo>
                    <a:pt x="0" y="28575"/>
                  </a:moveTo>
                  <a:lnTo>
                    <a:pt x="7620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chemeClr val="dk1">
                <a:alpha val="40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409950" y="3790950"/>
              <a:ext cx="419100" cy="4191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790950" y="37338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17145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962400" y="3686175"/>
              <a:ext cx="76200" cy="123825"/>
            </a:xfrm>
            <a:custGeom>
              <a:avLst/>
              <a:gdLst/>
              <a:ahLst/>
              <a:cxnLst/>
              <a:rect l="l" t="t" r="r" b="b"/>
              <a:pathLst>
                <a:path w="76200" h="123825">
                  <a:moveTo>
                    <a:pt x="0" y="28575"/>
                  </a:moveTo>
                  <a:lnTo>
                    <a:pt x="76200" y="0"/>
                  </a:lnTo>
                  <a:lnTo>
                    <a:pt x="38100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457700" y="3505200"/>
              <a:ext cx="228600" cy="2286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1905000" y="2476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2190750"/>
              <a:ext cx="666750" cy="1047750"/>
            </a:xfrm>
            <a:custGeom>
              <a:avLst/>
              <a:gdLst/>
              <a:ahLst/>
              <a:cxnLst/>
              <a:rect l="l" t="t" r="r" b="b"/>
              <a:pathLst>
                <a:path w="666750" h="1047750">
                  <a:moveTo>
                    <a:pt x="66675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667000" y="32385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0"/>
                  </a:moveTo>
                  <a:lnTo>
                    <a:pt x="9525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35711" y="4712018"/>
              <a:ext cx="2424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Atoms in motion over time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1714500"/>
            <a:ext cx="5143500" cy="1905000"/>
            <a:chOff x="6286500" y="1714500"/>
            <a:chExt cx="5143500" cy="1905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1714500"/>
              <a:ext cx="5143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47419" y="2075498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Key Difference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3130" y="2663190"/>
              <a:ext cx="3110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Docking is a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photograph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3346" y="3091815"/>
              <a:ext cx="3129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MD simulation is a </a:t>
              </a:r>
              <a:r>
                <a:rPr lang="e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video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77356" y="4282440"/>
            <a:ext cx="4004256" cy="1114044"/>
            <a:chOff x="6277356" y="4282440"/>
            <a:chExt cx="4004256" cy="1114044"/>
          </a:xfrm>
        </p:grpSpPr>
        <p:sp>
          <p:nvSpPr>
            <p:cNvPr id="34" name="TextBox 34"/>
            <p:cNvSpPr txBox="1"/>
            <p:nvPr/>
          </p:nvSpPr>
          <p:spPr>
            <a:xfrm>
              <a:off x="6277356" y="4282440"/>
              <a:ext cx="3247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Confirms binding stability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7356" y="4663440"/>
              <a:ext cx="4004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Reveals conformational changes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7356" y="5044440"/>
              <a:ext cx="3659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Predicts drug residence time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79642" y="5855018"/>
            <a:ext cx="5807367" cy="264033"/>
            <a:chOff x="6279642" y="5855018"/>
            <a:chExt cx="5807367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279642" y="5855018"/>
              <a:ext cx="5807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Simulates nanoseconds to microseconds of molecular behavior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857500"/>
            <a:ext cx="12192000" cy="19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857500"/>
            <a:ext cx="3048000" cy="1905000"/>
          </a:xfrm>
          <a:prstGeom prst="rect">
            <a:avLst/>
          </a:prstGeom>
          <a:solidFill>
            <a:schemeClr val="lt2">
              <a:alpha val="15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048000" y="2857500"/>
            <a:ext cx="3048000" cy="1905000"/>
          </a:xfrm>
          <a:prstGeom prst="rect">
            <a:avLst/>
          </a:prstGeom>
          <a:solidFill>
            <a:schemeClr val="lt2">
              <a:alpha val="10000"/>
            </a:scheme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096000" y="2857500"/>
            <a:ext cx="3048000" cy="1905000"/>
          </a:xfrm>
          <a:prstGeom prst="rect">
            <a:avLst/>
          </a:prstGeom>
          <a:solidFill>
            <a:schemeClr val="lt2">
              <a:alpha val="5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5498" y="421958"/>
            <a:ext cx="11202544" cy="616077"/>
            <a:chOff x="555498" y="421958"/>
            <a:chExt cx="11202544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55498" y="421958"/>
              <a:ext cx="112025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Complete Computational Drug Discovery Pipeline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714500"/>
            <a:ext cx="2095500" cy="2667000"/>
            <a:chOff x="762000" y="1714500"/>
            <a:chExt cx="2095500" cy="2667000"/>
          </a:xfrm>
        </p:grpSpPr>
        <p:sp>
          <p:nvSpPr>
            <p:cNvPr id="8" name="Rectangle 8"/>
            <p:cNvSpPr/>
            <p:nvPr/>
          </p:nvSpPr>
          <p:spPr>
            <a:xfrm>
              <a:off x="762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11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1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7550" y="2584132"/>
              <a:ext cx="804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9832" y="2869882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5889" y="3473768"/>
              <a:ext cx="1307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100K+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210" y="37118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via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7249" y="3950018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48000" y="3381375"/>
            <a:ext cx="285750" cy="285750"/>
            <a:chOff x="3048000" y="3381375"/>
            <a:chExt cx="285750" cy="285750"/>
          </a:xfrm>
        </p:grpSpPr>
        <p:sp>
          <p:nvSpPr>
            <p:cNvPr id="17" name="Polygon 17"/>
            <p:cNvSpPr/>
            <p:nvPr/>
          </p:nvSpPr>
          <p:spPr>
            <a:xfrm>
              <a:off x="3048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619500" y="1714500"/>
            <a:ext cx="2095500" cy="2667000"/>
            <a:chOff x="3619500" y="1714500"/>
            <a:chExt cx="20955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3619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19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69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D43E8E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95383" y="2584132"/>
              <a:ext cx="7437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66006" y="2869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Filtering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6989" y="3473768"/>
              <a:ext cx="1360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Eliminate poor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912" y="371189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drug-likeness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56329" y="3950018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3381375"/>
            <a:ext cx="285750" cy="285750"/>
            <a:chOff x="5905500" y="3381375"/>
            <a:chExt cx="285750" cy="285750"/>
          </a:xfrm>
        </p:grpSpPr>
        <p:sp>
          <p:nvSpPr>
            <p:cNvPr id="28" name="Polygon 28"/>
            <p:cNvSpPr/>
            <p:nvPr/>
          </p:nvSpPr>
          <p:spPr>
            <a:xfrm>
              <a:off x="59055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D43E8E">
                <a:alpha val="700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77000" y="1714500"/>
            <a:ext cx="2095500" cy="2667000"/>
            <a:chOff x="6477000" y="1714500"/>
            <a:chExt cx="2095500" cy="2667000"/>
          </a:xfrm>
        </p:grpSpPr>
        <p:sp>
          <p:nvSpPr>
            <p:cNvPr id="30" name="Rectangle 30"/>
            <p:cNvSpPr/>
            <p:nvPr/>
          </p:nvSpPr>
          <p:spPr>
            <a:xfrm>
              <a:off x="6477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26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B836C8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6188" y="2584132"/>
              <a:ext cx="337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9313" y="2869882"/>
              <a:ext cx="113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1654" y="3473768"/>
              <a:ext cx="1466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Confirm binding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4612" y="3711892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stability over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1466" y="3950018"/>
              <a:ext cx="426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763000" y="3381375"/>
            <a:ext cx="285750" cy="285750"/>
            <a:chOff x="8763000" y="3381375"/>
            <a:chExt cx="285750" cy="285750"/>
          </a:xfrm>
        </p:grpSpPr>
        <p:sp>
          <p:nvSpPr>
            <p:cNvPr id="39" name="Polygon 39"/>
            <p:cNvSpPr/>
            <p:nvPr/>
          </p:nvSpPr>
          <p:spPr>
            <a:xfrm>
              <a:off x="8763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36C8">
                <a:alpha val="700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334500" y="1714500"/>
            <a:ext cx="2095500" cy="2667000"/>
            <a:chOff x="9334500" y="1714500"/>
            <a:chExt cx="20955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9334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334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84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2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13685" y="2584132"/>
              <a:ext cx="5371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41589" y="2869882"/>
              <a:ext cx="1481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67108" y="347376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Refine structure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31299" y="3711892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potency and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6528" y="3950018"/>
              <a:ext cx="1031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selectivity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sp>
          <p:nvSpPr>
            <p:cNvPr id="50" name="Rectangle 50"/>
            <p:cNvSpPr/>
            <p:nvPr/>
          </p:nvSpPr>
          <p:spPr>
            <a:xfrm>
              <a:off x="571500" y="51435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495889" y="5346382"/>
              <a:ext cx="7200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100,000 compounds → 500 hits → 50 validated → 5 optimized leads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89105" y="5740718"/>
              <a:ext cx="4213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Entire pipeline executable in days, not years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0551" cy="616077"/>
            <a:chOff x="555498" y="421958"/>
            <a:chExt cx="1025055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05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Most Pharmacy Departments Don't Do This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3524250" cy="3619500"/>
            <a:chOff x="571500" y="1428750"/>
            <a:chExt cx="3524250" cy="36195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5401" y="1773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Hardware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4209" y="2488882"/>
              <a:ext cx="223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workstations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7586" y="2869882"/>
              <a:ext cx="1532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GPU clusters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7399" y="3250882"/>
              <a:ext cx="2252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High-speed storage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6700" y="3964305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$50K–200K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8652" y="4378642"/>
              <a:ext cx="1849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Capital expenditure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428750"/>
            <a:ext cx="3524250" cy="3619500"/>
            <a:chOff x="4333875" y="1428750"/>
            <a:chExt cx="3524250" cy="3619500"/>
          </a:xfrm>
        </p:grpSpPr>
        <p:sp>
          <p:nvSpPr>
            <p:cNvPr id="16" name="Rectangle 16"/>
            <p:cNvSpPr/>
            <p:nvPr/>
          </p:nvSpPr>
          <p:spPr>
            <a:xfrm>
              <a:off x="4333875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33875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33875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33875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76877" y="1773555"/>
              <a:ext cx="30382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Software Complexity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14875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81665" y="2488882"/>
              <a:ext cx="2228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Command-line 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9472" y="2869882"/>
              <a:ext cx="19330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Python scripting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06837" y="3250882"/>
              <a:ext cx="23783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administration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7393" y="3964305"/>
              <a:ext cx="13572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20+ Tools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5663" y="4378642"/>
              <a:ext cx="2120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 learn and integrate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96250" y="1428750"/>
            <a:ext cx="3524250" cy="3619500"/>
            <a:chOff x="8096250" y="1428750"/>
            <a:chExt cx="3524250" cy="3619500"/>
          </a:xfrm>
        </p:grpSpPr>
        <p:sp>
          <p:nvSpPr>
            <p:cNvPr id="28" name="Rectangle 28"/>
            <p:cNvSpPr/>
            <p:nvPr/>
          </p:nvSpPr>
          <p:spPr>
            <a:xfrm>
              <a:off x="809625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625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9625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69788" y="1773555"/>
              <a:ext cx="2177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Learning Curve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47725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08249" y="2488882"/>
              <a:ext cx="2500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Months of self-study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33474" y="2869882"/>
              <a:ext cx="26498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structured training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5196" y="3250882"/>
              <a:ext cx="1746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Trial and error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8795" y="3964305"/>
              <a:ext cx="18191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6–12 Months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7235" y="4378642"/>
              <a:ext cx="2282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Before first publication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238242" y="5774055"/>
            <a:ext cx="5715517" cy="410718"/>
            <a:chOff x="3238242" y="5774055"/>
            <a:chExt cx="5715517" cy="410718"/>
          </a:xfrm>
        </p:grpSpPr>
        <p:sp>
          <p:nvSpPr>
            <p:cNvPr id="40" name="TextBox 40"/>
            <p:cNvSpPr txBox="1"/>
            <p:nvPr/>
          </p:nvSpPr>
          <p:spPr>
            <a:xfrm>
              <a:off x="3238242" y="5774055"/>
              <a:ext cx="5715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What if all three barriers disappeared?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723900" y="733425"/>
            <a:ext cx="10744200" cy="5495925"/>
            <a:chOff x="723900" y="733425"/>
            <a:chExt cx="10744200" cy="5495925"/>
          </a:xfrm>
        </p:grpSpPr>
        <p:sp>
          <p:nvSpPr>
            <p:cNvPr id="2" name="Ellipse 2"/>
            <p:cNvSpPr/>
            <p:nvPr/>
          </p:nvSpPr>
          <p:spPr>
            <a:xfrm>
              <a:off x="1104900" y="1390650"/>
              <a:ext cx="76200" cy="76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876425" y="923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43000" y="95250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0" y="47625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429875" y="5667375"/>
              <a:ext cx="95250" cy="952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210925" y="5305425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53340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963150" y="6153150"/>
              <a:ext cx="76200" cy="762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0001250" y="57150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chemeClr val="accent3">
                  <a:alpha val="5000"/>
                </a:scheme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400175" y="5495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23900" y="586740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5524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66675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925175" y="1114425"/>
              <a:ext cx="57150" cy="571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391900" y="1485900"/>
              <a:ext cx="76200" cy="762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0953750" y="1143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28925" y="616267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0175" y="73342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790950" y="933450"/>
              <a:ext cx="38100" cy="381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53450" y="6172200"/>
              <a:ext cx="38100" cy="381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115543" y="2422208"/>
            <a:ext cx="7960915" cy="616077"/>
            <a:chOff x="2115543" y="2422208"/>
            <a:chExt cx="7960915" cy="616077"/>
          </a:xfrm>
        </p:grpSpPr>
        <p:sp>
          <p:nvSpPr>
            <p:cNvPr id="21" name="TextBox 21"/>
            <p:cNvSpPr txBox="1"/>
            <p:nvPr/>
          </p:nvSpPr>
          <p:spPr>
            <a:xfrm>
              <a:off x="2115543" y="2422208"/>
              <a:ext cx="79609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If Your Browser Was Your Lab?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2953" y="3550920"/>
            <a:ext cx="9206094" cy="469392"/>
            <a:chOff x="1492953" y="3550920"/>
            <a:chExt cx="9206094" cy="469392"/>
          </a:xfrm>
        </p:grpSpPr>
        <p:sp>
          <p:nvSpPr>
            <p:cNvPr id="23" name="TextBox 23"/>
            <p:cNvSpPr txBox="1"/>
            <p:nvPr/>
          </p:nvSpPr>
          <p:spPr>
            <a:xfrm>
              <a:off x="1492953" y="3550920"/>
              <a:ext cx="92060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installation. No command line. No hardware budget.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4286250"/>
            <a:ext cx="1905000" cy="28575"/>
            <a:chOff x="5143500" y="4286250"/>
            <a:chExt cx="1905000" cy="28575"/>
          </a:xfrm>
        </p:grpSpPr>
        <p:sp>
          <p:nvSpPr>
            <p:cNvPr id="25" name="Rectangle 25"/>
            <p:cNvSpPr/>
            <p:nvPr/>
          </p:nvSpPr>
          <p:spPr>
            <a:xfrm>
              <a:off x="5143500" y="428625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3712" y="1897380"/>
            <a:ext cx="5602392" cy="704088"/>
            <a:chOff x="743712" y="1897380"/>
            <a:chExt cx="5602392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1897380"/>
              <a:ext cx="5602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Introducing BioDockify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2853690"/>
            <a:ext cx="5553222" cy="656844"/>
            <a:chOff x="752856" y="2853690"/>
            <a:chExt cx="5553222" cy="656844"/>
          </a:xfrm>
        </p:grpSpPr>
        <p:sp>
          <p:nvSpPr>
            <p:cNvPr id="5" name="TextBox 5"/>
            <p:cNvSpPr txBox="1"/>
            <p:nvPr/>
          </p:nvSpPr>
          <p:spPr>
            <a:xfrm>
              <a:off x="752856" y="2853690"/>
              <a:ext cx="55532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Democratizing computational drug discovery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31584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pharmacy education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6300" y="4019550"/>
            <a:ext cx="4803977" cy="2175701"/>
            <a:chOff x="876300" y="4019550"/>
            <a:chExt cx="4803977" cy="2175701"/>
          </a:xfrm>
        </p:grpSpPr>
        <p:sp>
          <p:nvSpPr>
            <p:cNvPr id="8" name="Ellipse 8"/>
            <p:cNvSpPr/>
            <p:nvPr/>
          </p:nvSpPr>
          <p:spPr>
            <a:xfrm>
              <a:off x="876300" y="4019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4114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0457" y="4040505"/>
              <a:ext cx="22133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Browser-based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4267" y="4407218"/>
              <a:ext cx="4042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downloads, no installs, just open and go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4781550"/>
              <a:ext cx="342900" cy="3429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0457" y="4802505"/>
              <a:ext cx="1174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No-code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4267" y="5169218"/>
              <a:ext cx="3973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 interface designed for pharmacists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5543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71550" y="5638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0457" y="5564505"/>
              <a:ext cx="14412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All-in-one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4267" y="5931218"/>
              <a:ext cx="4306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Docking, ADMET, MD, and AI in one platform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19950" y="2400300"/>
            <a:ext cx="4229100" cy="2438400"/>
            <a:chOff x="7219950" y="2400300"/>
            <a:chExt cx="4229100" cy="2438400"/>
          </a:xfrm>
        </p:grpSpPr>
        <p:sp>
          <p:nvSpPr>
            <p:cNvPr id="21" name="Ellipse 21"/>
            <p:cNvSpPr/>
            <p:nvPr/>
          </p:nvSpPr>
          <p:spPr>
            <a:xfrm>
              <a:off x="8858250" y="3143250"/>
              <a:ext cx="952500" cy="9525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3505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924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15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47725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47625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210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401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71550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924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115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47725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7625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210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401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971550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21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37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76390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102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118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98107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350949" cy="616077"/>
            <a:chOff x="745998" y="421958"/>
            <a:chExt cx="53509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3509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Four Integrated Modules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09650" y="148590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789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1544955"/>
              <a:ext cx="2577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028825"/>
              <a:ext cx="4339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AutoDock Vina-powered 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392" y="2330768"/>
              <a:ext cx="405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Predict binding affinity and pose of ligands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1392" y="2597468"/>
              <a:ext cx="3258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against protein targets in minutes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34150" y="148590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034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3082" y="1544955"/>
              <a:ext cx="2525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5130" y="2028825"/>
              <a:ext cx="3768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ML-based pharmacokinetic profiling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55892" y="2330768"/>
              <a:ext cx="3638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Absorption, distribution, metabolism,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5892" y="2597468"/>
              <a:ext cx="3287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excretion, and toxicity in one click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20" name="Rectangle 20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09650" y="405765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789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8582" y="4116705"/>
              <a:ext cx="19931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 Simulation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0630" y="4600575"/>
              <a:ext cx="4348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GROMACS-powered dynamics in the cloud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1392" y="4902518"/>
              <a:ext cx="3954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Run nanosecond-scale simulations without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1392" y="5169218"/>
              <a:ext cx="2569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owning HPC infrastructure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8" name="Rectangle 28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34150" y="405765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34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3082" y="4116705"/>
              <a:ext cx="12945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600575"/>
              <a:ext cx="4008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Conversational assistant for guidance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5892" y="4902518"/>
              <a:ext cx="4310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Ask questions, get help interpreting results,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892" y="5169218"/>
              <a:ext cx="3143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and learn computational concepts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2381250"/>
            <a:ext cx="5534025" cy="2581275"/>
            <a:chOff x="3333750" y="2381250"/>
            <a:chExt cx="5534025" cy="2581275"/>
          </a:xfrm>
        </p:grpSpPr>
        <p:sp>
          <p:nvSpPr>
            <p:cNvPr id="36" name="Line 36"/>
            <p:cNvSpPr/>
            <p:nvPr/>
          </p:nvSpPr>
          <p:spPr>
            <a:xfrm>
              <a:off x="33337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88582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2">
                  <a:alpha val="40000"/>
                </a:schemeClr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5905500" y="2381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</p:sp>
        <p:sp>
          <p:nvSpPr>
            <p:cNvPr id="39" name="Line 39"/>
            <p:cNvSpPr/>
            <p:nvPr/>
          </p:nvSpPr>
          <p:spPr>
            <a:xfrm>
              <a:off x="5905500" y="4953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916374" cy="616077"/>
            <a:chOff x="745998" y="421958"/>
            <a:chExt cx="491637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9163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Is BioDockify For?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333500"/>
            <a:ext cx="10668000" cy="1524000"/>
            <a:chOff x="762000" y="133350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333500" y="1714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447800" y="1828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65" y="18383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9852" y="2115502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Faculty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1344" y="1694498"/>
              <a:ext cx="30828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Undergraduate Faculty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3630" y="2124075"/>
              <a:ext cx="771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Demonstrate docking concepts in lectures with live, interactive examples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4392" y="2426018"/>
              <a:ext cx="5519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Turn abstract pharmacology into visual, hands-on learning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048000"/>
            <a:ext cx="10668000" cy="1524000"/>
            <a:chOff x="762000" y="3048000"/>
            <a:chExt cx="106680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762000" y="30480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333500" y="3429000"/>
              <a:ext cx="762000" cy="7620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447800" y="3543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83665" y="35528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6983" y="383000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Mentor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71344" y="3408998"/>
              <a:ext cx="305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Postgraduate Mentors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73630" y="3838575"/>
              <a:ext cx="7871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 dissertation students through computational workflows step by step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4392" y="4140518"/>
              <a:ext cx="6537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Supervise M.Pharm projects without needing a bioinformatics degree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762500"/>
            <a:ext cx="10668000" cy="1524000"/>
            <a:chOff x="762000" y="4762500"/>
            <a:chExt cx="106680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762000" y="4762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33500" y="5143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447800" y="5257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0546" y="53473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R&amp;D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4410" y="5554028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1344" y="5123498"/>
              <a:ext cx="1695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3630" y="5553075"/>
              <a:ext cx="7381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preliminary screening before committing to wet-lab experiments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74392" y="5855018"/>
              <a:ext cx="457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Reduce time-to-hypothesis from weeks to hours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571591" cy="616077"/>
            <a:chOff x="745998" y="421958"/>
            <a:chExt cx="657159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5715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Browser-Based Advantage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143500" cy="5334000"/>
            <a:chOff x="762000" y="1143000"/>
            <a:chExt cx="5143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057180" y="1408748"/>
              <a:ext cx="25531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Without BioDockify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1638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4005" y="2124075"/>
              <a:ext cx="22273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Setup time: 2–5 days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6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4005" y="2647950"/>
              <a:ext cx="3578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Hardware: Dedicated workstation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06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4005" y="3171825"/>
              <a:ext cx="3043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Software: 5+ separate tools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06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4005" y="3695700"/>
              <a:ext cx="318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Updates: Manual, break often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06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4005" y="4219575"/>
              <a:ext cx="4047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Collaboration: Email files back &amp; forth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06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4005" y="4743450"/>
              <a:ext cx="2439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Cost per student: High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143000"/>
            <a:ext cx="5143500" cy="5334000"/>
            <a:chOff x="6286500" y="1143000"/>
            <a:chExt cx="5143500" cy="53340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09152" y="1408748"/>
              <a:ext cx="2098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With BioDockify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7627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8505" y="2124075"/>
              <a:ext cx="3008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Setup time: Under 5 minutes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1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8505" y="2647950"/>
              <a:ext cx="3764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Hardware: Any browser, any device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551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8505" y="3171825"/>
              <a:ext cx="339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Software: One unified platform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1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8505" y="3695700"/>
              <a:ext cx="3229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Updates: Automatic, seamless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8505" y="4219575"/>
              <a:ext cx="326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Collaboration: Shared projects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1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8505" y="4743450"/>
              <a:ext cx="4018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 per student: Free for academics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777362" cy="616077"/>
            <a:chOff x="745998" y="421958"/>
            <a:chExt cx="577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77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Started in 4 Steps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4500" y="2667000"/>
            <a:ext cx="8763000" cy="762000"/>
            <a:chOff x="1714500" y="2667000"/>
            <a:chExt cx="8763000" cy="762000"/>
          </a:xfrm>
        </p:grpSpPr>
        <p:sp>
          <p:nvSpPr>
            <p:cNvPr id="4" name="Line 4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19050">
              <a:solidFill>
                <a:schemeClr val="accent1">
                  <a:alpha val="40000"/>
                </a:schemeClr>
              </a:solidFill>
              <a:custDash>
                <a:ds d="300000" sp="3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1714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16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4381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83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048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50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715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17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82594" y="3727132"/>
            <a:ext cx="9720841" cy="582169"/>
            <a:chOff x="1382594" y="3727132"/>
            <a:chExt cx="9720841" cy="582169"/>
          </a:xfrm>
        </p:grpSpPr>
        <p:sp>
          <p:nvSpPr>
            <p:cNvPr id="15" name="TextBox 15"/>
            <p:cNvSpPr txBox="1"/>
            <p:nvPr/>
          </p:nvSpPr>
          <p:spPr>
            <a:xfrm>
              <a:off x="1821765" y="3727132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Visit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2594" y="4045268"/>
              <a:ext cx="1425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biodockify.com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65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Create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7599" y="4045268"/>
              <a:ext cx="2149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Free academic account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32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58743" y="4045268"/>
              <a:ext cx="1141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module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7342" y="3727132"/>
              <a:ext cx="13983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Upload &amp; Run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9565" y="4045268"/>
              <a:ext cx="201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Get results instantly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619500" y="5334000"/>
            <a:ext cx="4953000" cy="666750"/>
            <a:chOff x="3619500" y="5334000"/>
            <a:chExt cx="4953000" cy="666750"/>
          </a:xfrm>
        </p:grpSpPr>
        <p:sp>
          <p:nvSpPr>
            <p:cNvPr id="24" name="Rectangle 24"/>
            <p:cNvSpPr/>
            <p:nvPr/>
          </p:nvSpPr>
          <p:spPr>
            <a:xfrm>
              <a:off x="3619500" y="5334000"/>
              <a:ext cx="495300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26689" y="5539740"/>
              <a:ext cx="3338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5 minutes to first result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520028" cy="616077"/>
            <a:chOff x="745998" y="421958"/>
            <a:chExt cx="552002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5200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BioDockify Dashboard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000" y="1143000"/>
            <a:ext cx="9144000" cy="4191000"/>
            <a:chOff x="1524000" y="1143000"/>
            <a:chExt cx="9144000" cy="4191000"/>
          </a:xfrm>
        </p:grpSpPr>
        <p:sp>
          <p:nvSpPr>
            <p:cNvPr id="4" name="Rectangle 4"/>
            <p:cNvSpPr/>
            <p:nvPr/>
          </p:nvSpPr>
          <p:spPr>
            <a:xfrm>
              <a:off x="1524000" y="1143000"/>
              <a:ext cx="9144000" cy="4191000"/>
            </a:xfrm>
            <a:prstGeom prst="roundRect">
              <a:avLst>
                <a:gd name="adj" fmla="val 2273"/>
              </a:avLst>
            </a:prstGeom>
            <a:solidFill>
              <a:srgbClr val="0D0F20"/>
            </a:solidFill>
            <a:ln w="19050">
              <a:solidFill>
                <a:srgbClr val="2A2D4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524000" y="1143000"/>
              <a:ext cx="9144000" cy="304800"/>
            </a:xfrm>
            <a:prstGeom prst="roundRect">
              <a:avLst>
                <a:gd name="adj" fmla="val 31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14500" y="12477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76425" y="1247775"/>
              <a:ext cx="95250" cy="9525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38350" y="1247775"/>
              <a:ext cx="95250" cy="9525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524000" y="1447800"/>
              <a:ext cx="1714500" cy="388620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66875" y="1666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666875" y="2047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666875" y="2428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66875" y="2809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66875" y="3190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29000" y="1524000"/>
              <a:ext cx="4572000" cy="3619500"/>
            </a:xfrm>
            <a:prstGeom prst="roundRect">
              <a:avLst>
                <a:gd name="adj" fmla="val 1053"/>
              </a:avLst>
            </a:prstGeom>
            <a:solidFill>
              <a:srgbClr val="0A0C1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257175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238750" y="285750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3067050"/>
              <a:ext cx="152400" cy="1524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848350" y="3371850"/>
              <a:ext cx="114300" cy="1143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72125" y="3571875"/>
              <a:ext cx="95250" cy="95250"/>
            </a:xfrm>
            <a:prstGeom prst="ellipse">
              <a:avLst/>
            </a:prstGeom>
            <a:solidFill>
              <a:srgbClr val="4ADE80">
                <a:alpha val="6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91500" y="1524000"/>
              <a:ext cx="2333625" cy="3619500"/>
            </a:xfrm>
            <a:prstGeom prst="roundRect">
              <a:avLst>
                <a:gd name="adj" fmla="val 1633"/>
              </a:avLst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34375" y="17145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34375" y="20574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34375" y="27432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334375" y="30861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34375" y="37719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334375" y="4114800"/>
              <a:ext cx="1333500" cy="1524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29000" y="1524000"/>
              <a:ext cx="4572000" cy="28575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718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2912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2863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75666" y="2248852"/>
            <a:ext cx="1148334" cy="395859"/>
            <a:chOff x="375666" y="2248852"/>
            <a:chExt cx="1148334" cy="395859"/>
          </a:xfrm>
        </p:grpSpPr>
        <p:sp>
          <p:nvSpPr>
            <p:cNvPr id="33" name="Line 33"/>
            <p:cNvSpPr/>
            <p:nvPr/>
          </p:nvSpPr>
          <p:spPr>
            <a:xfrm>
              <a:off x="952500" y="2476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14400" y="2438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5666" y="2248852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Module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666" y="243935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Navigation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37374" y="5143500"/>
            <a:ext cx="1155251" cy="568261"/>
            <a:chOff x="5137374" y="5143500"/>
            <a:chExt cx="1155251" cy="568261"/>
          </a:xfrm>
        </p:grpSpPr>
        <p:sp>
          <p:nvSpPr>
            <p:cNvPr id="38" name="Line 38"/>
            <p:cNvSpPr/>
            <p:nvPr/>
          </p:nvSpPr>
          <p:spPr>
            <a:xfrm>
              <a:off x="5715000" y="5143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676900" y="5295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37374" y="550640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Molecule Viewer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25125" y="2887028"/>
            <a:ext cx="924961" cy="395859"/>
            <a:chOff x="10525125" y="2887028"/>
            <a:chExt cx="924961" cy="395859"/>
          </a:xfrm>
        </p:grpSpPr>
        <p:sp>
          <p:nvSpPr>
            <p:cNvPr id="42" name="Line 42"/>
            <p:cNvSpPr/>
            <p:nvPr/>
          </p:nvSpPr>
          <p:spPr>
            <a:xfrm>
              <a:off x="10525125" y="3048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25150" y="3009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00791" y="2887028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Results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00791" y="30775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Panel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025072" y="839152"/>
            <a:ext cx="1474856" cy="303848"/>
            <a:chOff x="4025072" y="839152"/>
            <a:chExt cx="1474856" cy="303848"/>
          </a:xfrm>
        </p:grpSpPr>
        <p:sp>
          <p:nvSpPr>
            <p:cNvPr id="47" name="Line 47"/>
            <p:cNvSpPr/>
            <p:nvPr/>
          </p:nvSpPr>
          <p:spPr>
            <a:xfrm>
              <a:off x="4762500" y="10953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4724400" y="990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025072" y="839152"/>
              <a:ext cx="1474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Project Management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37300" y="6315075"/>
            <a:ext cx="6517401" cy="293370"/>
            <a:chOff x="2837300" y="6315075"/>
            <a:chExt cx="6517401" cy="293370"/>
          </a:xfrm>
        </p:grpSpPr>
        <p:sp>
          <p:nvSpPr>
            <p:cNvPr id="51" name="TextBox 51"/>
            <p:cNvSpPr txBox="1"/>
            <p:nvPr/>
          </p:nvSpPr>
          <p:spPr>
            <a:xfrm>
              <a:off x="2837300" y="6315075"/>
              <a:ext cx="6517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Designed for pharmacy professionals, not software engineers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106112" cy="616077"/>
            <a:chOff x="745998" y="421958"/>
            <a:chExt cx="510611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1061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Supported File Formats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1238250"/>
            <a:ext cx="5143500" cy="3810000"/>
            <a:chOff x="762000" y="1238250"/>
            <a:chExt cx="5143500" cy="3810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370890" y="1503998"/>
              <a:ext cx="19257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Input Formats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33500" y="2190750"/>
              <a:ext cx="952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6551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437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0" y="2190750"/>
              <a:ext cx="10477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64904" y="2292668"/>
              <a:ext cx="537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MOL2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889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SDF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81250" y="2762250"/>
              <a:ext cx="1238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65876" y="28641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SMILES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0" y="27622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97407" y="286416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FASTA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3024" y="3569018"/>
              <a:ext cx="3081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and drop any supported 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0118" y="3835718"/>
              <a:ext cx="3247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paste a SMILES string directly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1238250"/>
            <a:ext cx="5143500" cy="3810000"/>
            <a:chOff x="6286500" y="1238250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57058" y="1503998"/>
              <a:ext cx="2202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Output Formats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627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252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21907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46926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CSV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39250" y="21907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1013" y="22926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XTC/TRR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0" y="27622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9763" y="28641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PNG/SVG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374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PDF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49782" y="3569018"/>
              <a:ext cx="3216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Download results, share reports,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3191" y="3835718"/>
              <a:ext cx="3230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continue analysis in other tools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50648" y="5727382"/>
            <a:ext cx="5690703" cy="322707"/>
            <a:chOff x="3250648" y="5727382"/>
            <a:chExt cx="5690703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3250648" y="5727382"/>
              <a:ext cx="5690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more spending hours on file format conversion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557370" cy="616077"/>
            <a:chOff x="745998" y="421958"/>
            <a:chExt cx="45573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5573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Platform Comparison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143000"/>
            <a:ext cx="10668000" cy="476250"/>
            <a:chOff x="762000" y="11430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2667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718336" y="13020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Feature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429000" y="1143000"/>
              <a:ext cx="20955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87432" y="130206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40249" y="1318260"/>
              <a:ext cx="1073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AutoDock CLI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42717" y="1318260"/>
              <a:ext cx="1078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GROMACS CLI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334500" y="1143000"/>
              <a:ext cx="20955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55355" y="1318260"/>
              <a:ext cx="853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SwissDock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619250"/>
            <a:ext cx="10668000" cy="476250"/>
            <a:chOff x="762000" y="1619250"/>
            <a:chExt cx="10668000" cy="476250"/>
          </a:xfrm>
        </p:grpSpPr>
        <p:sp>
          <p:nvSpPr>
            <p:cNvPr id="15" name="Rectangle 15"/>
            <p:cNvSpPr/>
            <p:nvPr/>
          </p:nvSpPr>
          <p:spPr>
            <a:xfrm>
              <a:off x="762000" y="161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6023" y="1767364"/>
              <a:ext cx="1375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Browser-based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161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631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3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29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68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34500" y="161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686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2095500"/>
            <a:ext cx="10668000" cy="476250"/>
            <a:chOff x="762000" y="2095500"/>
            <a:chExt cx="10668000" cy="476250"/>
          </a:xfrm>
        </p:grpSpPr>
        <p:sp>
          <p:nvSpPr>
            <p:cNvPr id="26" name="Rectangle 26"/>
            <p:cNvSpPr/>
            <p:nvPr/>
          </p:nvSpPr>
          <p:spPr>
            <a:xfrm>
              <a:off x="762000" y="2095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2243614"/>
              <a:ext cx="130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installation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2095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631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24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3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29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8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34500" y="2095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86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000" y="2571750"/>
            <a:ext cx="10668000" cy="476250"/>
            <a:chOff x="762000" y="2571750"/>
            <a:chExt cx="10668000" cy="476250"/>
          </a:xfrm>
        </p:grpSpPr>
        <p:sp>
          <p:nvSpPr>
            <p:cNvPr id="37" name="Rectangle 37"/>
            <p:cNvSpPr/>
            <p:nvPr/>
          </p:nvSpPr>
          <p:spPr>
            <a:xfrm>
              <a:off x="762000" y="2571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023" y="2719864"/>
              <a:ext cx="910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Visual GUI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29000" y="2571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631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24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3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29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68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34500" y="2571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686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048000"/>
            <a:ext cx="10668000" cy="476250"/>
            <a:chOff x="762000" y="3048000"/>
            <a:chExt cx="10668000" cy="476250"/>
          </a:xfrm>
        </p:grpSpPr>
        <p:sp>
          <p:nvSpPr>
            <p:cNvPr id="48" name="Rectangle 48"/>
            <p:cNvSpPr/>
            <p:nvPr/>
          </p:nvSpPr>
          <p:spPr>
            <a:xfrm>
              <a:off x="762000" y="3048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6023" y="3196114"/>
              <a:ext cx="1611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Molecular Docking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429000" y="3048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631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24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63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429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68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048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686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3524250"/>
            <a:ext cx="10668000" cy="476250"/>
            <a:chOff x="762000" y="3524250"/>
            <a:chExt cx="10668000" cy="476250"/>
          </a:xfrm>
        </p:grpSpPr>
        <p:sp>
          <p:nvSpPr>
            <p:cNvPr id="59" name="Rectangle 59"/>
            <p:cNvSpPr/>
            <p:nvPr/>
          </p:nvSpPr>
          <p:spPr>
            <a:xfrm>
              <a:off x="762000" y="3524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6023" y="3672364"/>
              <a:ext cx="1643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ADMET Prediction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429000" y="3524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3631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24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63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29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68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334500" y="3524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2686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62000" y="4000500"/>
            <a:ext cx="10668000" cy="476250"/>
            <a:chOff x="762000" y="4000500"/>
            <a:chExt cx="10668000" cy="476250"/>
          </a:xfrm>
        </p:grpSpPr>
        <p:sp>
          <p:nvSpPr>
            <p:cNvPr id="70" name="Rectangle 70"/>
            <p:cNvSpPr/>
            <p:nvPr/>
          </p:nvSpPr>
          <p:spPr>
            <a:xfrm>
              <a:off x="762000" y="4000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6023" y="4148614"/>
              <a:ext cx="126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Simulation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429000" y="4000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3631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24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63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429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68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34500" y="4000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2686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4476750"/>
            <a:ext cx="10668000" cy="476250"/>
            <a:chOff x="762000" y="4476750"/>
            <a:chExt cx="10668000" cy="476250"/>
          </a:xfrm>
        </p:grpSpPr>
        <p:sp>
          <p:nvSpPr>
            <p:cNvPr id="81" name="Rectangle 81"/>
            <p:cNvSpPr/>
            <p:nvPr/>
          </p:nvSpPr>
          <p:spPr>
            <a:xfrm>
              <a:off x="762000" y="4476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6023" y="4624864"/>
              <a:ext cx="1140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Assistant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429000" y="4476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3631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524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63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429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68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334500" y="4476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2686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2000" y="4953000"/>
            <a:ext cx="10668000" cy="476250"/>
            <a:chOff x="762000" y="4953000"/>
            <a:chExt cx="10668000" cy="476250"/>
          </a:xfrm>
        </p:grpSpPr>
        <p:sp>
          <p:nvSpPr>
            <p:cNvPr id="92" name="Rectangle 92"/>
            <p:cNvSpPr/>
            <p:nvPr/>
          </p:nvSpPr>
          <p:spPr>
            <a:xfrm>
              <a:off x="762000" y="4953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46023" y="5101114"/>
              <a:ext cx="1738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 for academics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429000" y="4953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3631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524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63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429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268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334500" y="4953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2686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62000" y="5429250"/>
            <a:ext cx="10668000" cy="476250"/>
            <a:chOff x="762000" y="5429250"/>
            <a:chExt cx="10668000" cy="476250"/>
          </a:xfrm>
        </p:grpSpPr>
        <p:sp>
          <p:nvSpPr>
            <p:cNvPr id="103" name="Rectangle 103"/>
            <p:cNvSpPr/>
            <p:nvPr/>
          </p:nvSpPr>
          <p:spPr>
            <a:xfrm>
              <a:off x="762000" y="542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46023" y="5577364"/>
              <a:ext cx="11973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3429000" y="542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3631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524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363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429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268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334500" y="542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2686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3932107" y="6252210"/>
            <a:ext cx="6596177" cy="234696"/>
            <a:chOff x="3932107" y="6252210"/>
            <a:chExt cx="6596177" cy="234696"/>
          </a:xfrm>
        </p:grpSpPr>
        <p:sp>
          <p:nvSpPr>
            <p:cNvPr id="114" name="TextBox 114"/>
            <p:cNvSpPr txBox="1"/>
            <p:nvPr/>
          </p:nvSpPr>
          <p:spPr>
            <a:xfrm>
              <a:off x="3932107" y="6252210"/>
              <a:ext cx="1089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9/9 features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330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235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23621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5/9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418144" cy="704088"/>
            <a:chOff x="743712" y="2945130"/>
            <a:chExt cx="441814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4181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978908" cy="352044"/>
            <a:chOff x="752856" y="3806190"/>
            <a:chExt cx="497890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9789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Find the right key for your protein lock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7613616" cy="616077"/>
            <a:chOff x="745998" y="402908"/>
            <a:chExt cx="761361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76136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Core Concepts in 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0668000" cy="1619250"/>
            <a:chOff x="762000" y="1143000"/>
            <a:chExt cx="10668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344930"/>
              <a:ext cx="17007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Binding Site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856" y="1805940"/>
              <a:ext cx="501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specific pocket where a drug binds.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2186940"/>
              <a:ext cx="471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BioDockify auto-detects likely sites.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952750"/>
            <a:ext cx="10668000" cy="1619250"/>
            <a:chOff x="762000" y="2952750"/>
            <a:chExt cx="10668000" cy="1619250"/>
          </a:xfrm>
        </p:grpSpPr>
        <p:sp>
          <p:nvSpPr>
            <p:cNvPr id="9" name="Rectangle 9"/>
            <p:cNvSpPr/>
            <p:nvPr/>
          </p:nvSpPr>
          <p:spPr>
            <a:xfrm>
              <a:off x="762000" y="295275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2332" y="3154680"/>
              <a:ext cx="24289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Scoring Function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3856" y="3615690"/>
              <a:ext cx="5541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Mathematical estimate of binding strength.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3996690"/>
              <a:ext cx="40853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score = stronger binding.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762500"/>
            <a:ext cx="10668000" cy="1619250"/>
            <a:chOff x="762000" y="4762500"/>
            <a:chExt cx="10668000" cy="1619250"/>
          </a:xfrm>
        </p:grpSpPr>
        <p:sp>
          <p:nvSpPr>
            <p:cNvPr id="14" name="Rectangle 14"/>
            <p:cNvSpPr/>
            <p:nvPr/>
          </p:nvSpPr>
          <p:spPr>
            <a:xfrm>
              <a:off x="762000" y="47625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2332" y="4964430"/>
              <a:ext cx="24887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Search Algorithm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5425440"/>
              <a:ext cx="4697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software explores orientations.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5806440"/>
              <a:ext cx="40440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Vina uses iterated local search.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634260" cy="616077"/>
            <a:chOff x="745998" y="402908"/>
            <a:chExt cx="663426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6342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Protein Target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6441596" cy="763715"/>
            <a:chOff x="762000" y="1238250"/>
            <a:chExt cx="6441596" cy="763715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452" y="1392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09344" y="1265872"/>
              <a:ext cx="2097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from PDB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10868" y="1679258"/>
              <a:ext cx="5592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to download the crystal structure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476500"/>
            <a:ext cx="6430172" cy="763715"/>
            <a:chOff x="762000" y="2476500"/>
            <a:chExt cx="6430172" cy="763715"/>
          </a:xfrm>
        </p:grpSpPr>
        <p:sp>
          <p:nvSpPr>
            <p:cNvPr id="9" name="Rectangle 9"/>
            <p:cNvSpPr/>
            <p:nvPr/>
          </p:nvSpPr>
          <p:spPr>
            <a:xfrm>
              <a:off x="762000" y="24765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5452" y="2630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9344" y="2504122"/>
              <a:ext cx="55828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Remove water and co-crystallized ligands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0868" y="2917508"/>
              <a:ext cx="4974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cleans the binding environment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714750"/>
            <a:ext cx="6469523" cy="763715"/>
            <a:chOff x="762000" y="3714750"/>
            <a:chExt cx="6469523" cy="763715"/>
          </a:xfrm>
        </p:grpSpPr>
        <p:sp>
          <p:nvSpPr>
            <p:cNvPr id="14" name="Rectangle 14"/>
            <p:cNvSpPr/>
            <p:nvPr/>
          </p:nvSpPr>
          <p:spPr>
            <a:xfrm>
              <a:off x="762000" y="37147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5452" y="38690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9344" y="3742372"/>
              <a:ext cx="53072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Add polar hydrogens and assign charges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4155758"/>
              <a:ext cx="5620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ensures correct protonation states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953000"/>
            <a:ext cx="6117065" cy="763715"/>
            <a:chOff x="762000" y="4953000"/>
            <a:chExt cx="6117065" cy="763715"/>
          </a:xfrm>
        </p:grpSpPr>
        <p:sp>
          <p:nvSpPr>
            <p:cNvPr id="19" name="Rectangle 19"/>
            <p:cNvSpPr/>
            <p:nvPr/>
          </p:nvSpPr>
          <p:spPr>
            <a:xfrm>
              <a:off x="762000" y="49530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5452" y="51073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9344" y="4980622"/>
              <a:ext cx="36529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the grid box visually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0868" y="5394008"/>
              <a:ext cx="52681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handles to set the docking search region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142" y="6283642"/>
            <a:ext cx="2366494" cy="264033"/>
            <a:chOff x="755142" y="6283642"/>
            <a:chExt cx="236649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55142" y="6283642"/>
              <a:ext cx="2366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2–3 are automated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521977" cy="616077"/>
            <a:chOff x="745998" y="402908"/>
            <a:chExt cx="652197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52197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Ligand Library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333500"/>
            <a:ext cx="3238500" cy="3619500"/>
            <a:chOff x="762000" y="1333500"/>
            <a:chExt cx="3238500" cy="36195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333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09337" y="1964055"/>
              <a:ext cx="743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Draw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98078" y="2584132"/>
              <a:ext cx="2366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Built-in 2D sketcher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73" y="2965132"/>
              <a:ext cx="1570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Generates 3D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2250" y="3298508"/>
              <a:ext cx="13780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coordinates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1333500"/>
            <a:ext cx="3238500" cy="3619500"/>
            <a:chOff x="4476750" y="1333500"/>
            <a:chExt cx="3238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28385" y="1964055"/>
              <a:ext cx="935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Upload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92052" y="2584132"/>
              <a:ext cx="16078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Drag and drop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1177" y="2965132"/>
              <a:ext cx="28096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SDF / MOL2 / SMILES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23585" y="3298508"/>
              <a:ext cx="5448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333500"/>
            <a:ext cx="3238500" cy="3619500"/>
            <a:chOff x="8191500" y="1333500"/>
            <a:chExt cx="32385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763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87310" y="19640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Fetch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0263" y="2584132"/>
              <a:ext cx="1900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 PubChem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65680" y="2965132"/>
              <a:ext cx="1890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ZINC by name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18811" y="5425440"/>
            <a:ext cx="5754378" cy="352044"/>
            <a:chOff x="3218811" y="5425440"/>
            <a:chExt cx="5754378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3218811" y="5425440"/>
              <a:ext cx="575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 to 10,000 molecules in a single batch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352752" cy="616077"/>
            <a:chOff x="745998" y="402908"/>
            <a:chExt cx="63527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3527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 Docking Experiment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238250"/>
            <a:ext cx="10668000" cy="1524000"/>
            <a:chOff x="762000" y="123825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440180"/>
              <a:ext cx="22417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Exhaustiveness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83380" y="15049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1–32 | Default: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1948815"/>
              <a:ext cx="7379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Controls search thoroughness. Higher values explore more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228219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conformations but take longer.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952750"/>
            <a:ext cx="10668000" cy="1524000"/>
            <a:chOff x="762000" y="2952750"/>
            <a:chExt cx="106680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762000" y="29527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2332" y="3154680"/>
              <a:ext cx="24616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Number of Modes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4380" y="32194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1–20 | Default: 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663315"/>
              <a:ext cx="5657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Number of binding poses returned per ligand.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96690"/>
              <a:ext cx="7358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modes help identify alternative binding orientations.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667250"/>
            <a:ext cx="10668000" cy="1524000"/>
            <a:chOff x="762000" y="4667250"/>
            <a:chExt cx="106680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762000" y="4667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2332" y="4869180"/>
              <a:ext cx="19256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Energy Range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2380" y="4933950"/>
              <a:ext cx="2746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Unit: kcal/mol | Default: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3856" y="5377815"/>
              <a:ext cx="5941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Maximum score difference from the best pose.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5711190"/>
              <a:ext cx="6310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Wider range returns more diverse conformations.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5142" y="6474142"/>
            <a:ext cx="2222378" cy="264033"/>
            <a:chOff x="755142" y="6474142"/>
            <a:chExt cx="2222378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755142" y="6474142"/>
              <a:ext cx="2222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Results in 1–10 minutes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261480" cy="616077"/>
            <a:chOff x="745998" y="402908"/>
            <a:chExt cx="626148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2614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Interpreting Docking Results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905500" cy="4953000"/>
            <a:chOff x="762000" y="1143000"/>
            <a:chExt cx="59055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905500" cy="4953000"/>
            </a:xfrm>
            <a:prstGeom prst="roundRect">
              <a:avLst>
                <a:gd name="adj" fmla="val 2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456359" y="1378268"/>
              <a:ext cx="2516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Binding Affinity (kcal/mol)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714500" y="2667000"/>
              <a:ext cx="571500" cy="2857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571750" y="2095500"/>
              <a:ext cx="571500" cy="34290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29000" y="3048000"/>
              <a:ext cx="571500" cy="2476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86250" y="3619500"/>
              <a:ext cx="571500" cy="1905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43500" y="3333750"/>
              <a:ext cx="571500" cy="219075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00750" y="4000500"/>
              <a:ext cx="571500" cy="1524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12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70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272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45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1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9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500" y="1238250"/>
            <a:ext cx="4572000" cy="1047750"/>
            <a:chOff x="7048500" y="1238250"/>
            <a:chExt cx="45720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12382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20356" y="14439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Excellent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1118" y="182213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 –9.0 kcal/mol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2476500"/>
            <a:ext cx="4572000" cy="1047750"/>
            <a:chOff x="7048500" y="2476500"/>
            <a:chExt cx="4572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7048500" y="24765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2D4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0356" y="268224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Good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306038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–7.0 to –9.0 kcal/mol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48500" y="3714750"/>
            <a:ext cx="4572000" cy="1047750"/>
            <a:chOff x="7048500" y="3714750"/>
            <a:chExt cx="4572000" cy="1047750"/>
          </a:xfrm>
        </p:grpSpPr>
        <p:sp>
          <p:nvSpPr>
            <p:cNvPr id="29" name="Rectangle 29"/>
            <p:cNvSpPr/>
            <p:nvPr/>
          </p:nvSpPr>
          <p:spPr>
            <a:xfrm>
              <a:off x="7048500" y="37147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0356" y="3920490"/>
              <a:ext cx="1196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Moderate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1118" y="429863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–5.0 to –7.0 kcal/mol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48500" y="4953000"/>
            <a:ext cx="4572000" cy="1047750"/>
            <a:chOff x="7048500" y="4953000"/>
            <a:chExt cx="4572000" cy="1047750"/>
          </a:xfrm>
        </p:grpSpPr>
        <p:sp>
          <p:nvSpPr>
            <p:cNvPr id="33" name="Rectangle 33"/>
            <p:cNvSpPr/>
            <p:nvPr/>
          </p:nvSpPr>
          <p:spPr>
            <a:xfrm>
              <a:off x="7048500" y="49530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20356" y="5158740"/>
              <a:ext cx="637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Weak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1118" y="553688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 –5.0 kcal/mol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329753" cy="704088"/>
            <a:chOff x="743712" y="2945130"/>
            <a:chExt cx="4329753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3297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032398" cy="352044"/>
            <a:chOff x="752856" y="3806190"/>
            <a:chExt cx="403239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03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Will your drug survive the body?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9356644" cy="616077"/>
            <a:chOff x="745998" y="402908"/>
            <a:chExt cx="935664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93566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Parameters Predicted by BioDockify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5142" y="1143000"/>
            <a:ext cx="1682153" cy="1867281"/>
            <a:chOff x="755142" y="1143000"/>
            <a:chExt cx="1682153" cy="1867281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711642"/>
              <a:ext cx="102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2108835"/>
              <a:ext cx="160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Oral bioavailability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2442210"/>
              <a:ext cx="16813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Caco-2 permeability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775585"/>
              <a:ext cx="13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HIA (intestinal)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45892" y="1143000"/>
            <a:ext cx="1876135" cy="2105406"/>
            <a:chOff x="2945892" y="1143000"/>
            <a:chExt cx="1876135" cy="2105406"/>
          </a:xfrm>
        </p:grpSpPr>
        <p:sp>
          <p:nvSpPr>
            <p:cNvPr id="11" name="Rectangle 11"/>
            <p:cNvSpPr/>
            <p:nvPr/>
          </p:nvSpPr>
          <p:spPr>
            <a:xfrm>
              <a:off x="29527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645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5892" y="1711642"/>
              <a:ext cx="1135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6654" y="2108835"/>
              <a:ext cx="1395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BBB penetration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6654" y="2442210"/>
              <a:ext cx="1252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Plasma protein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654" y="2680335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46654" y="3013710"/>
              <a:ext cx="1875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Volume of distribution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36642" y="1143000"/>
            <a:ext cx="1463896" cy="1867281"/>
            <a:chOff x="5136642" y="1143000"/>
            <a:chExt cx="1463896" cy="1867281"/>
          </a:xfrm>
        </p:grpSpPr>
        <p:sp>
          <p:nvSpPr>
            <p:cNvPr id="19" name="Rectangle 19"/>
            <p:cNvSpPr/>
            <p:nvPr/>
          </p:nvSpPr>
          <p:spPr>
            <a:xfrm>
              <a:off x="51435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32870" y="1238250"/>
              <a:ext cx="18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6642" y="1711642"/>
              <a:ext cx="104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7404" y="2108835"/>
              <a:ext cx="146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CYP450 inhibition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7404" y="2442210"/>
              <a:ext cx="1253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 substrate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7404" y="2775585"/>
              <a:ext cx="1226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Half-life class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27392" y="1143000"/>
            <a:ext cx="1262165" cy="1867281"/>
            <a:chOff x="7327392" y="1143000"/>
            <a:chExt cx="1262165" cy="1867281"/>
          </a:xfrm>
        </p:grpSpPr>
        <p:sp>
          <p:nvSpPr>
            <p:cNvPr id="26" name="Rectangle 26"/>
            <p:cNvSpPr/>
            <p:nvPr/>
          </p:nvSpPr>
          <p:spPr>
            <a:xfrm>
              <a:off x="73342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460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7392" y="1711642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154" y="2108835"/>
              <a:ext cx="12614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Clearance rate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8154" y="2442210"/>
              <a:ext cx="994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Renal OCT2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8154" y="2775585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substrate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8142" y="1143000"/>
            <a:ext cx="1631442" cy="1867281"/>
            <a:chOff x="9518142" y="1143000"/>
            <a:chExt cx="1631442" cy="1867281"/>
          </a:xfrm>
        </p:grpSpPr>
        <p:sp>
          <p:nvSpPr>
            <p:cNvPr id="33" name="Rectangle 33"/>
            <p:cNvSpPr/>
            <p:nvPr/>
          </p:nvSpPr>
          <p:spPr>
            <a:xfrm>
              <a:off x="9525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36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142" y="1711642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2108835"/>
              <a:ext cx="1261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hERG inhibition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8904" y="2442210"/>
              <a:ext cx="1630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AMES mutagenicity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8904" y="2775585"/>
              <a:ext cx="125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Hepatotoxicity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539293" cy="616077"/>
            <a:chOff x="745998" y="402908"/>
            <a:chExt cx="553929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539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ADMET Prediction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428750"/>
            <a:ext cx="3048000" cy="3238500"/>
            <a:chOff x="762000" y="1428750"/>
            <a:chExt cx="3048000" cy="32385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90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8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87360" y="2853690"/>
              <a:ext cx="2197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0032" y="3362325"/>
              <a:ext cx="1311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Import from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8280" y="364807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 results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82034" y="2851785"/>
            <a:ext cx="237338" cy="528066"/>
            <a:chOff x="4082034" y="2851785"/>
            <a:chExt cx="237338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408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0" y="1428750"/>
            <a:ext cx="3048000" cy="3238500"/>
            <a:chOff x="4572000" y="1428750"/>
            <a:chExt cx="3048000" cy="3238500"/>
          </a:xfrm>
        </p:grpSpPr>
        <p:sp>
          <p:nvSpPr>
            <p:cNvPr id="13" name="Rectangle 13"/>
            <p:cNvSpPr/>
            <p:nvPr/>
          </p:nvSpPr>
          <p:spPr>
            <a:xfrm>
              <a:off x="457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9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2995" y="2853690"/>
              <a:ext cx="2146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Endpoints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7741" y="3362325"/>
              <a:ext cx="15165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 ADMET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8310" y="36480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properties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92034" y="2851785"/>
            <a:ext cx="237338" cy="528066"/>
            <a:chOff x="7892034" y="2851785"/>
            <a:chExt cx="237338" cy="528066"/>
          </a:xfrm>
        </p:grpSpPr>
        <p:sp>
          <p:nvSpPr>
            <p:cNvPr id="20" name="TextBox 20"/>
            <p:cNvSpPr txBox="1"/>
            <p:nvPr/>
          </p:nvSpPr>
          <p:spPr>
            <a:xfrm>
              <a:off x="789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0" y="1428750"/>
            <a:ext cx="3048000" cy="3238500"/>
            <a:chOff x="8382000" y="1428750"/>
            <a:chExt cx="304800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8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0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70899" y="285369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Generate Report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7910" y="3362325"/>
              <a:ext cx="2056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 models predict;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5564" y="3648075"/>
              <a:ext cx="194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CSV + radar chart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92119" y="5425440"/>
            <a:ext cx="5407762" cy="352044"/>
            <a:chOff x="3392119" y="5425440"/>
            <a:chExt cx="5407762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3392119" y="5425440"/>
              <a:ext cx="54077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compounds profiled in under 60 seconds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934290" cy="616077"/>
            <a:chOff x="745998" y="402908"/>
            <a:chExt cx="59342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9342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Reading Your ADMET Profile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047750"/>
            <a:ext cx="5905500" cy="5334000"/>
            <a:chOff x="762000" y="1047750"/>
            <a:chExt cx="5905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2286000" y="1714500"/>
              <a:ext cx="2857500" cy="3238500"/>
            </a:xfrm>
            <a:custGeom>
              <a:avLst/>
              <a:gdLst/>
              <a:ahLst/>
              <a:cxnLst/>
              <a:rect l="l" t="t" r="r" b="b"/>
              <a:pathLst>
                <a:path w="2857500" h="3238500">
                  <a:moveTo>
                    <a:pt x="1428750" y="0"/>
                  </a:moveTo>
                  <a:lnTo>
                    <a:pt x="2857500" y="857250"/>
                  </a:lnTo>
                  <a:lnTo>
                    <a:pt x="2857500" y="2381250"/>
                  </a:lnTo>
                  <a:lnTo>
                    <a:pt x="1428750" y="3238500"/>
                  </a:lnTo>
                  <a:lnTo>
                    <a:pt x="0" y="2381250"/>
                  </a:lnTo>
                  <a:lnTo>
                    <a:pt x="0" y="857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2571750" y="2095500"/>
              <a:ext cx="2286000" cy="2476500"/>
            </a:xfrm>
            <a:custGeom>
              <a:avLst/>
              <a:gdLst/>
              <a:ahLst/>
              <a:cxnLst/>
              <a:rect l="l" t="t" r="r" b="b"/>
              <a:pathLst>
                <a:path w="2286000" h="2476500">
                  <a:moveTo>
                    <a:pt x="1143000" y="0"/>
                  </a:moveTo>
                  <a:lnTo>
                    <a:pt x="2286000" y="666750"/>
                  </a:lnTo>
                  <a:lnTo>
                    <a:pt x="2286000" y="1714500"/>
                  </a:lnTo>
                  <a:lnTo>
                    <a:pt x="1143000" y="2476500"/>
                  </a:lnTo>
                  <a:lnTo>
                    <a:pt x="0" y="1714500"/>
                  </a:lnTo>
                  <a:lnTo>
                    <a:pt x="0" y="6667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857500" y="24765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50" y="0"/>
                  </a:moveTo>
                  <a:lnTo>
                    <a:pt x="1714500" y="476250"/>
                  </a:lnTo>
                  <a:lnTo>
                    <a:pt x="1714500" y="1143000"/>
                  </a:lnTo>
                  <a:lnTo>
                    <a:pt x="857250" y="1714500"/>
                  </a:lnTo>
                  <a:lnTo>
                    <a:pt x="0" y="114300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2476500" y="200025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1238250" y="0"/>
                  </a:moveTo>
                  <a:lnTo>
                    <a:pt x="2476500" y="666750"/>
                  </a:lnTo>
                  <a:lnTo>
                    <a:pt x="2286000" y="2000250"/>
                  </a:lnTo>
                  <a:lnTo>
                    <a:pt x="1238250" y="2667000"/>
                  </a:lnTo>
                  <a:lnTo>
                    <a:pt x="0" y="1905000"/>
                  </a:lnTo>
                  <a:lnTo>
                    <a:pt x="190500" y="66675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36269" y="150590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666" y="2458402"/>
              <a:ext cx="841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8666" y="4077652"/>
              <a:ext cx="778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75152" y="5077778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4997" y="4077652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0486" y="2458402"/>
              <a:ext cx="650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Solubility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315200" y="1600200"/>
              <a:ext cx="228600" cy="228600"/>
            </a:xfrm>
            <a:prstGeom prst="ellipse">
              <a:avLst/>
            </a:prstGeom>
            <a:solidFill>
              <a:srgbClr val="4ADE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06106" y="15868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All Acceptable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1118" y="2060258"/>
              <a:ext cx="2943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 to MD simulation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315200" y="3314700"/>
              <a:ext cx="228600" cy="2286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06106" y="3301365"/>
              <a:ext cx="1568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1–2 Marginal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1118" y="377475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Consider modification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6" name="Rectangle 26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315200" y="5029200"/>
              <a:ext cx="228600" cy="2286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06106" y="5015865"/>
              <a:ext cx="1673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Critical Issue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1118" y="5489258"/>
              <a:ext cx="20621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Redesign scaffold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7487107" cy="704088"/>
            <a:chOff x="743712" y="2945130"/>
            <a:chExt cx="748710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748710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Simulation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2995863" cy="352044"/>
            <a:chOff x="752856" y="3806190"/>
            <a:chExt cx="2995863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2995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snapshot to movie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004237" cy="616077"/>
            <a:chOff x="745998" y="402908"/>
            <a:chExt cx="600423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0042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Setting Up an MD Simulation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24000"/>
            <a:ext cx="38100" cy="4667250"/>
            <a:chOff x="1028700" y="1524000"/>
            <a:chExt cx="38100" cy="4667250"/>
          </a:xfrm>
        </p:grpSpPr>
        <p:sp>
          <p:nvSpPr>
            <p:cNvPr id="4" name="Rectangle 4"/>
            <p:cNvSpPr/>
            <p:nvPr/>
          </p:nvSpPr>
          <p:spPr>
            <a:xfrm>
              <a:off x="1028700" y="1524000"/>
              <a:ext cx="38100" cy="4667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38200" y="1294448"/>
            <a:ext cx="6267196" cy="694372"/>
            <a:chOff x="838200" y="1294448"/>
            <a:chExt cx="6267196" cy="694372"/>
          </a:xfrm>
        </p:grpSpPr>
        <p:sp>
          <p:nvSpPr>
            <p:cNvPr id="6" name="Rectangle 6"/>
            <p:cNvSpPr/>
            <p:nvPr/>
          </p:nvSpPr>
          <p:spPr>
            <a:xfrm>
              <a:off x="838200" y="1333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5230" y="1441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094" y="1294448"/>
              <a:ext cx="20633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Import Complex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1695450"/>
              <a:ext cx="5589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Load the protein–ligand complex from docking results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8200" y="2342198"/>
            <a:ext cx="6604635" cy="694372"/>
            <a:chOff x="838200" y="2342198"/>
            <a:chExt cx="6604635" cy="694372"/>
          </a:xfrm>
        </p:grpSpPr>
        <p:sp>
          <p:nvSpPr>
            <p:cNvPr id="11" name="Rectangle 11"/>
            <p:cNvSpPr/>
            <p:nvPr/>
          </p:nvSpPr>
          <p:spPr>
            <a:xfrm>
              <a:off x="838200" y="23812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5230" y="2488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094" y="2342198"/>
              <a:ext cx="2498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Force Field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2743200"/>
              <a:ext cx="5926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AMBER ff14SB — industry standard for protein systems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3389948"/>
            <a:ext cx="7131827" cy="694372"/>
            <a:chOff x="838200" y="3389948"/>
            <a:chExt cx="7131827" cy="694372"/>
          </a:xfrm>
        </p:grpSpPr>
        <p:sp>
          <p:nvSpPr>
            <p:cNvPr id="16" name="Rectangle 16"/>
            <p:cNvSpPr/>
            <p:nvPr/>
          </p:nvSpPr>
          <p:spPr>
            <a:xfrm>
              <a:off x="838200" y="34290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5230" y="3536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4094" y="33899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Solvate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6380" y="3790950"/>
              <a:ext cx="6453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adds explicit water molecules around the complex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8200" y="4437698"/>
            <a:ext cx="6310071" cy="694372"/>
            <a:chOff x="838200" y="4437698"/>
            <a:chExt cx="6310071" cy="694372"/>
          </a:xfrm>
        </p:grpSpPr>
        <p:sp>
          <p:nvSpPr>
            <p:cNvPr id="21" name="Rectangle 21"/>
            <p:cNvSpPr/>
            <p:nvPr/>
          </p:nvSpPr>
          <p:spPr>
            <a:xfrm>
              <a:off x="838200" y="44767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5230" y="45843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4094" y="4437698"/>
              <a:ext cx="21454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Energy Minimize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380" y="4838700"/>
              <a:ext cx="5631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removes steric clashes before simulation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" y="5485448"/>
            <a:ext cx="5515356" cy="694372"/>
            <a:chOff x="838200" y="5485448"/>
            <a:chExt cx="5515356" cy="694372"/>
          </a:xfrm>
        </p:grpSpPr>
        <p:sp>
          <p:nvSpPr>
            <p:cNvPr id="26" name="Rectangle 26"/>
            <p:cNvSpPr/>
            <p:nvPr/>
          </p:nvSpPr>
          <p:spPr>
            <a:xfrm>
              <a:off x="838200" y="5524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230" y="563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4094" y="5485448"/>
              <a:ext cx="17184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 Duration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6380" y="5886450"/>
              <a:ext cx="483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 depending on desired level of analysis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142" y="6474142"/>
            <a:ext cx="2807077" cy="264033"/>
            <a:chOff x="755142" y="6474142"/>
            <a:chExt cx="2807077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755142" y="6474142"/>
              <a:ext cx="280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2–4 are pre-configured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126521" cy="616077"/>
            <a:chOff x="745998" y="402908"/>
            <a:chExt cx="51265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1265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Your Simulation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905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12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0606" y="2599372"/>
              <a:ext cx="11717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Duration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6158" y="3028950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2141" y="3569018"/>
              <a:ext cx="1428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Quick: 5–10 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0740" y="3902392"/>
              <a:ext cx="2131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Publication: 50–100 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76750" y="1238250"/>
            <a:ext cx="3238500" cy="4000500"/>
            <a:chOff x="4476750" y="1238250"/>
            <a:chExt cx="3238500" cy="4000500"/>
          </a:xfrm>
        </p:grpSpPr>
        <p:sp>
          <p:nvSpPr>
            <p:cNvPr id="12" name="Rectangle 12"/>
            <p:cNvSpPr/>
            <p:nvPr/>
          </p:nvSpPr>
          <p:spPr>
            <a:xfrm>
              <a:off x="4476750" y="1238250"/>
              <a:ext cx="3238500" cy="4000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08581" y="188785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0304" y="2599372"/>
              <a:ext cx="17513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Temperature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07235" y="3028950"/>
              <a:ext cx="1577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300 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8170" y="3569018"/>
              <a:ext cx="169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Physiological body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6536" y="3854768"/>
              <a:ext cx="1938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temperature (37°C)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51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6354" y="2599372"/>
              <a:ext cx="22982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Frame Frequency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4751" y="3028950"/>
              <a:ext cx="2181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every 10 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358" y="356901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Saves trajectory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2909" y="3854768"/>
              <a:ext cx="2145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snapshots for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71012" y="5727382"/>
            <a:ext cx="5449976" cy="322707"/>
            <a:chOff x="3371012" y="5727382"/>
            <a:chExt cx="5449976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3371012" y="5727382"/>
              <a:ext cx="54499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ns simulation: ~15–30 minutes cloud compute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8169756" cy="616077"/>
            <a:chOff x="745998" y="402908"/>
            <a:chExt cx="816975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8169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Analyzing MD Results — RMSD &amp; Beyond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047750"/>
            <a:ext cx="5917806" cy="5334000"/>
            <a:chOff x="762000" y="1047750"/>
            <a:chExt cx="5917806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967144" y="1283018"/>
              <a:ext cx="1495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Over Time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25300" y="5744528"/>
              <a:ext cx="67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Time (ns)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849782" y="3516821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(Å)</a:t>
              </a:r>
            </a:p>
          </p:txBody>
        </p:sp>
        <p:sp>
          <p:nvSpPr>
            <p:cNvPr id="10" name="Polyline 10"/>
            <p:cNvSpPr/>
            <p:nvPr/>
          </p:nvSpPr>
          <p:spPr>
            <a:xfrm>
              <a:off x="1524000" y="2514600"/>
              <a:ext cx="4572000" cy="2819400"/>
            </a:xfrm>
            <a:custGeom>
              <a:avLst/>
              <a:gdLst/>
              <a:ahLst/>
              <a:cxnLst/>
              <a:rect l="l" t="t" r="r" b="b"/>
              <a:pathLst>
                <a:path w="4572000" h="2819400">
                  <a:moveTo>
                    <a:pt x="0" y="2819400"/>
                  </a:moveTo>
                  <a:lnTo>
                    <a:pt x="381000" y="2057400"/>
                  </a:lnTo>
                  <a:lnTo>
                    <a:pt x="857250" y="1295400"/>
                  </a:lnTo>
                  <a:lnTo>
                    <a:pt x="1333500" y="723900"/>
                  </a:lnTo>
                  <a:lnTo>
                    <a:pt x="1809750" y="342900"/>
                  </a:lnTo>
                  <a:lnTo>
                    <a:pt x="2286000" y="152400"/>
                  </a:lnTo>
                  <a:lnTo>
                    <a:pt x="2762250" y="104775"/>
                  </a:lnTo>
                  <a:lnTo>
                    <a:pt x="3238500" y="57150"/>
                  </a:lnTo>
                  <a:lnTo>
                    <a:pt x="3714750" y="38100"/>
                  </a:lnTo>
                  <a:lnTo>
                    <a:pt x="4191000" y="9525"/>
                  </a:lnTo>
                  <a:lnTo>
                    <a:pt x="457200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1" name="Line 11"/>
            <p:cNvSpPr/>
            <p:nvPr/>
          </p:nvSpPr>
          <p:spPr>
            <a:xfrm>
              <a:off x="1333500" y="2571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4ADE80">
                  <a:alpha val="5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34112" y="252222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plateau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4" name="Rectangle 14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1118" y="1488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RMSD &lt; 2 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1118" y="1917382"/>
              <a:ext cx="1925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complex 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21118" y="2250758"/>
              <a:ext cx="2023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binding confirmed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1118" y="3203258"/>
              <a:ext cx="1298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RMSD 2–4 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1118" y="3631882"/>
              <a:ext cx="2284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Partial instability 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118" y="3965258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may shift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21118" y="4917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RMSD &gt; 4 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118" y="5346382"/>
              <a:ext cx="2403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Ligand dissociating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5679758"/>
              <a:ext cx="1436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weak binding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893570"/>
            <a:ext cx="877725" cy="1047750"/>
            <a:chOff x="742950" y="189357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893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3040380"/>
            <a:ext cx="4780472" cy="704088"/>
            <a:chOff x="743712" y="3040380"/>
            <a:chExt cx="478047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3040380"/>
              <a:ext cx="478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Assistant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5887090" cy="352044"/>
            <a:chOff x="752856" y="3806190"/>
            <a:chExt cx="5887090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5887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personal computational chemistry mentor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387362" cy="616077"/>
            <a:chOff x="745998" y="421958"/>
            <a:chExt cx="638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38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— Four Superpowers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487805"/>
              <a:ext cx="10237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Explain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4618" y="1917382"/>
              <a:ext cx="3435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Plain-language interpretation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4618" y="2222182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any result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9" name="Rectangle 9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6832" y="1487805"/>
              <a:ext cx="771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Guide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9118" y="1917382"/>
              <a:ext cx="2736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Step-by-step workflow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222182"/>
              <a:ext cx="1988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recommendations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2332" y="4059555"/>
              <a:ext cx="1915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Troubleshoot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618" y="4489132"/>
              <a:ext cx="2451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Diagnose and suggest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4618" y="47939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parameter fixes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6832" y="40595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Teach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9118" y="4489132"/>
              <a:ext cx="3025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Concept explanations with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118" y="4793932"/>
              <a:ext cx="2844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pharmaceutical examples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86086" cy="616077"/>
            <a:chOff x="745998" y="421958"/>
            <a:chExt cx="69860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860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the Most from Jarvis AI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43000"/>
            <a:chOff x="762000" y="1143000"/>
            <a:chExt cx="10668000" cy="114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5380" y="1409700"/>
              <a:ext cx="3323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Explain [result] in student terms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1806892"/>
              <a:ext cx="2487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Jargon-free explanation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43000"/>
            <a:chOff x="762000" y="2476500"/>
            <a:chExt cx="10668000" cy="1143000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743200"/>
              <a:ext cx="4377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Compare my results with published IC50 data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3140392"/>
              <a:ext cx="217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Literature validation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43000"/>
            <a:chOff x="762000" y="3810000"/>
            <a:chExt cx="10668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4076700"/>
              <a:ext cx="3992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Suggest modifications to improve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4473892"/>
              <a:ext cx="2380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Structural suggestions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43000"/>
            <a:chOff x="762000" y="5143500"/>
            <a:chExt cx="10668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5410200"/>
              <a:ext cx="433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Create a teaching exercise about [concept]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5807392"/>
              <a:ext cx="2246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Curriculum worksheet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712577" y="421958"/>
            <a:ext cx="6766846" cy="616077"/>
            <a:chOff x="2712577" y="421958"/>
            <a:chExt cx="676684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712577" y="421958"/>
              <a:ext cx="6766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Integrated Discovery Cycle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05250" y="1333500"/>
            <a:ext cx="4381500" cy="4381500"/>
            <a:chOff x="3905250" y="1333500"/>
            <a:chExt cx="4381500" cy="4381500"/>
          </a:xfrm>
        </p:grpSpPr>
        <p:sp>
          <p:nvSpPr>
            <p:cNvPr id="4" name="Ellipse 4"/>
            <p:cNvSpPr/>
            <p:nvPr/>
          </p:nvSpPr>
          <p:spPr>
            <a:xfrm>
              <a:off x="4381500" y="180975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1A1D3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5619750" y="1333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42882" y="172116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7334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06245" y="3435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619750" y="4762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58086" y="515016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05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61468" y="3435668"/>
              <a:ext cx="840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5722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571500" y="254000"/>
                    <a:pt x="952500" y="635000"/>
                    <a:pt x="114300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722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0"/>
                  </a:moveTo>
                  <a:cubicBezTo>
                    <a:pt x="952500" y="508000"/>
                    <a:pt x="571500" y="889000"/>
                    <a:pt x="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767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1143000"/>
                  </a:moveTo>
                  <a:cubicBezTo>
                    <a:pt x="571500" y="889000"/>
                    <a:pt x="190500" y="5080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44767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1143000"/>
                  </a:moveTo>
                  <a:cubicBezTo>
                    <a:pt x="190500" y="635000"/>
                    <a:pt x="571500" y="254000"/>
                    <a:pt x="1143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87440" y="3298508"/>
              <a:ext cx="1017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79694" y="360140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(center)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60621" y="6219825"/>
            <a:ext cx="9070757" cy="293370"/>
            <a:chOff x="1560621" y="6219825"/>
            <a:chExt cx="9070757" cy="293370"/>
          </a:xfrm>
        </p:grpSpPr>
        <p:sp>
          <p:nvSpPr>
            <p:cNvPr id="20" name="TextBox 20"/>
            <p:cNvSpPr txBox="1"/>
            <p:nvPr/>
          </p:nvSpPr>
          <p:spPr>
            <a:xfrm>
              <a:off x="1560621" y="6219825"/>
              <a:ext cx="9070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Iterate until you find a compound that docks well, passes ADMET, AND is stable in MD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8208854" cy="616077"/>
            <a:chOff x="745998" y="421958"/>
            <a:chExt cx="820885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82088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Case Study — EGFR Inhibitor Screening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143000"/>
            <a:ext cx="5334000" cy="5000625"/>
            <a:chOff x="762000" y="1143000"/>
            <a:chExt cx="5334000" cy="500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5621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6851" y="1658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130" y="1457325"/>
              <a:ext cx="22924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Docked 500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1892" y="1759268"/>
              <a:ext cx="164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Top 20 selected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2887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28479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51" y="2944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1130" y="2743200"/>
              <a:ext cx="173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045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8 pass all filters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0600" y="41338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6851" y="4230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130" y="4029075"/>
              <a:ext cx="1949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10ns MD simulation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1892" y="4331018"/>
              <a:ext cx="1924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2 stable complexes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00062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90600" y="54197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6851" y="551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130" y="5314950"/>
              <a:ext cx="2672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interprets results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892" y="5616892"/>
              <a:ext cx="2658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Publication-ready analysis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0" y="2667000"/>
            <a:ext cx="4762500" cy="1905000"/>
            <a:chOff x="6667500" y="2667000"/>
            <a:chExt cx="4762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667500" y="26670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1024" y="3234690"/>
              <a:ext cx="22954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publishable leads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5330" y="3615690"/>
              <a:ext cx="1226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 3 hours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0642" y="4902518"/>
            <a:ext cx="1313478" cy="264033"/>
            <a:chOff x="6660642" y="4902518"/>
            <a:chExt cx="1313478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660642" y="49025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495076" cy="616077"/>
            <a:chOff x="745998" y="421958"/>
            <a:chExt cx="949507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4950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Integrating BioDockify into Your Curriculum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1430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19050">
            <a:solidFill>
              <a:srgbClr val="1A1D3A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751332" y="1202055"/>
            <a:ext cx="4963668" cy="5036820"/>
            <a:chOff x="751332" y="1202055"/>
            <a:chExt cx="4963668" cy="5036820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1202055"/>
              <a:ext cx="3794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Undergraduate (B.Pharm)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61925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0892" y="175926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025968"/>
              <a:ext cx="4078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Introduction to molecular docking concepts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80987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94989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16592"/>
              <a:ext cx="4123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ADMET prediction and drug-likeness filters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400050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0892" y="414051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4407218"/>
              <a:ext cx="3466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simulations and stability analysis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519112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892" y="533114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0892" y="5597842"/>
              <a:ext cx="3371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Capstone: Full pipeline mini-project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6332" y="1202055"/>
            <a:ext cx="4963668" cy="4703445"/>
            <a:chOff x="6466332" y="1202055"/>
            <a:chExt cx="4963668" cy="4703445"/>
          </a:xfrm>
        </p:grpSpPr>
        <p:sp>
          <p:nvSpPr>
            <p:cNvPr id="19" name="TextBox 19"/>
            <p:cNvSpPr txBox="1"/>
            <p:nvPr/>
          </p:nvSpPr>
          <p:spPr>
            <a:xfrm>
              <a:off x="6466332" y="1202055"/>
              <a:ext cx="43684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Postgraduate (M.Pharm/PhD)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61925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55892" y="175926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349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 for novel targets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292668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 part of dissertation work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3095625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5892" y="3235642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502342"/>
              <a:ext cx="285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 repurposing studies with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5892" y="3769042"/>
              <a:ext cx="2462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publication-ready outputs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457200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55892" y="471201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892" y="4978718"/>
              <a:ext cx="3492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Collaborative multi-target screening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5892" y="52454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grant proposals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33402" cy="616077"/>
            <a:chOff x="745998" y="421958"/>
            <a:chExt cx="69334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334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Five Ready-to-Use UG Activities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047750"/>
            <a:ext cx="10668000" cy="1000125"/>
            <a:chOff x="762000" y="1047750"/>
            <a:chExt cx="10668000" cy="1000125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12382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04734" y="13234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6118" y="1250632"/>
              <a:ext cx="2500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 aspirin to COX-2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7642" y="1568768"/>
              <a:ext cx="6705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Docking | Objective: Understand binding energy interpretation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143125"/>
            <a:ext cx="10668000" cy="1000125"/>
            <a:chOff x="762000" y="2143125"/>
            <a:chExt cx="10668000" cy="1000125"/>
          </a:xfrm>
        </p:grpSpPr>
        <p:sp>
          <p:nvSpPr>
            <p:cNvPr id="10" name="Rectangle 10"/>
            <p:cNvSpPr/>
            <p:nvPr/>
          </p:nvSpPr>
          <p:spPr>
            <a:xfrm>
              <a:off x="762000" y="214312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333625"/>
              <a:ext cx="57150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6171" y="241887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1.5h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1368" y="2346008"/>
              <a:ext cx="291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Compare NSAIDs by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2892" y="2664142"/>
              <a:ext cx="7097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ADMET | Objective: Evaluate drug-likeness across compound class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238500"/>
            <a:ext cx="10668000" cy="1000125"/>
            <a:chOff x="762000" y="3238500"/>
            <a:chExt cx="10668000" cy="1000125"/>
          </a:xfrm>
        </p:grpSpPr>
        <p:sp>
          <p:nvSpPr>
            <p:cNvPr id="16" name="Rectangle 16"/>
            <p:cNvSpPr/>
            <p:nvPr/>
          </p:nvSpPr>
          <p:spPr>
            <a:xfrm>
              <a:off x="762000" y="323850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7750" y="342900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734" y="3514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6118" y="3441382"/>
              <a:ext cx="31586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Watch metformin bind AMPK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7642" y="3759518"/>
              <a:ext cx="6614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MD | Objective: Visualize dynamic protein-ligand interactions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4333875"/>
            <a:ext cx="10668000" cy="1000125"/>
            <a:chOff x="762000" y="4333875"/>
            <a:chExt cx="10668000" cy="1000125"/>
          </a:xfrm>
        </p:grpSpPr>
        <p:sp>
          <p:nvSpPr>
            <p:cNvPr id="22" name="Rectangle 22"/>
            <p:cNvSpPr/>
            <p:nvPr/>
          </p:nvSpPr>
          <p:spPr>
            <a:xfrm>
              <a:off x="762000" y="433387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7750" y="4524375"/>
              <a:ext cx="619125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0590" y="4609624"/>
              <a:ext cx="383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30min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8993" y="4536758"/>
              <a:ext cx="3285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Ask Jarvis to explain results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0517" y="4854892"/>
              <a:ext cx="7060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Jarvis | Objective: Practice AI-assisted scientific communication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5429250"/>
            <a:ext cx="10668000" cy="1000125"/>
            <a:chOff x="762000" y="5429250"/>
            <a:chExt cx="10668000" cy="1000125"/>
          </a:xfrm>
        </p:grpSpPr>
        <p:sp>
          <p:nvSpPr>
            <p:cNvPr id="28" name="Rectangle 28"/>
            <p:cNvSpPr/>
            <p:nvPr/>
          </p:nvSpPr>
          <p:spPr>
            <a:xfrm>
              <a:off x="762000" y="54292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47750" y="56197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04734" y="57049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6118" y="5632132"/>
              <a:ext cx="2822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Full pipeline mini-project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7642" y="5950268"/>
              <a:ext cx="7151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All | Objective: End-to-end computational drug discovery workflow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680998" cy="616077"/>
            <a:chOff x="745998" y="421958"/>
            <a:chExt cx="668099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6809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PG/PhD Research Project Ideas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143000"/>
            <a:ext cx="3429000" cy="4953000"/>
            <a:chOff x="762000" y="1143000"/>
            <a:chExt cx="34290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0130" y="1647825"/>
              <a:ext cx="2088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 screening of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0130" y="1914525"/>
              <a:ext cx="2601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natural products against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130" y="2181225"/>
              <a:ext cx="1816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SARS-CoV-2 Mpro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711768"/>
              <a:ext cx="2736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Screen 1000+ natural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978468"/>
              <a:ext cx="227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for protease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45168"/>
              <a:ext cx="1789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inhibition potential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3–6 months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4251960"/>
              <a:ext cx="2220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Research paper 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4499610"/>
              <a:ext cx="1992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 compound shortlist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143000"/>
            <a:ext cx="3429000" cy="4953000"/>
            <a:chOff x="4381500" y="1143000"/>
            <a:chExt cx="3429000" cy="4953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672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59630" y="16478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Repurposing existing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9630" y="1914525"/>
              <a:ext cx="2301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drugs for Alzheimer's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9630" y="218122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0392" y="2711768"/>
              <a:ext cx="258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Dock FDA-approved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0392" y="2978468"/>
              <a:ext cx="2217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drugs against AChE 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0392" y="3245168"/>
              <a:ext cx="1441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BACE1 targets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1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Timeline: 2–4 months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154" y="4251960"/>
              <a:ext cx="1788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Repurposing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154" y="4499610"/>
              <a:ext cx="2335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 + ADMET report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0" y="1143000"/>
            <a:ext cx="3429000" cy="4953000"/>
            <a:chOff x="8001000" y="1143000"/>
            <a:chExt cx="3429000" cy="495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86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79130" y="1647825"/>
              <a:ext cx="233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 study of quinolone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9130" y="191452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antibiotics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9892" y="2711768"/>
              <a:ext cx="2916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Systematic structure-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9892" y="2978468"/>
              <a:ext cx="2212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activity relationship of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9892" y="3245168"/>
              <a:ext cx="25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fluoroquinolone derivatives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0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4–6 months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0654" y="4251960"/>
              <a:ext cx="1658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SAR map 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0654" y="4499610"/>
              <a:ext cx="204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optimized analog designs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550062" cy="616077"/>
            <a:chOff x="745998" y="421958"/>
            <a:chExt cx="95500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5500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Engaging Students with Computational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572000"/>
            <a:chOff x="762000" y="1238250"/>
            <a:chExt cx="3429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095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4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94069" y="2567940"/>
              <a:ext cx="1564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Gamification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172" y="3076575"/>
              <a:ext cx="18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5430" y="3362325"/>
              <a:ext cx="1882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competitions with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136" y="3648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leaderboard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572000"/>
            <a:chOff x="4381500" y="1238250"/>
            <a:chExt cx="3429000" cy="4572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7150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037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2889" y="2567940"/>
              <a:ext cx="1726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Peer Teaching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36820" y="3076575"/>
              <a:ext cx="211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PG students mentor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0154" y="3362325"/>
              <a:ext cx="2191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UG students through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29606" y="3648075"/>
              <a:ext cx="1732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guided exercises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572000"/>
            <a:chOff x="8001000" y="1238250"/>
            <a:chExt cx="3429000" cy="45720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334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3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6562" y="2567940"/>
              <a:ext cx="2777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Real-World Connection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08883" y="3076575"/>
              <a:ext cx="1813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current drug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1090" y="3362325"/>
              <a:ext cx="1988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targets from news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5776" y="36480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publications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91487" cy="616077"/>
            <a:chOff x="745998" y="421958"/>
            <a:chExt cx="609148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914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Collaboration Opportunities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48250" y="2762250"/>
            <a:ext cx="2095500" cy="1333500"/>
            <a:chOff x="5048250" y="2762250"/>
            <a:chExt cx="2095500" cy="1333500"/>
          </a:xfrm>
        </p:grpSpPr>
        <p:sp>
          <p:nvSpPr>
            <p:cNvPr id="4" name="Rectangle 4"/>
            <p:cNvSpPr/>
            <p:nvPr/>
          </p:nvSpPr>
          <p:spPr>
            <a:xfrm>
              <a:off x="5048250" y="2762250"/>
              <a:ext cx="2095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52313" y="3314700"/>
              <a:ext cx="1087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10208" y="3632835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Shared Platform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361950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1428750" y="95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9" name="Line 9"/>
          <p:cNvSpPr/>
          <p:nvPr/>
        </p:nvSpPr>
        <p:spPr>
          <a:xfrm>
            <a:off x="714375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0" y="95250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10" name="Line 10"/>
          <p:cNvSpPr/>
          <p:nvPr/>
        </p:nvSpPr>
        <p:spPr>
          <a:xfrm>
            <a:off x="361950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428750" y="0"/>
                </a:moveTo>
                <a:lnTo>
                  <a:pt x="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1" name="Line 11"/>
          <p:cNvSpPr/>
          <p:nvPr/>
        </p:nvSpPr>
        <p:spPr>
          <a:xfrm>
            <a:off x="714375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0" y="0"/>
                </a:moveTo>
                <a:lnTo>
                  <a:pt x="142875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143000" y="1333500"/>
            <a:ext cx="2857500" cy="1524000"/>
            <a:chOff x="1143000" y="1333500"/>
            <a:chExt cx="28575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1430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1130" y="1552575"/>
              <a:ext cx="2057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Inter-departmental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1902142"/>
              <a:ext cx="1899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Pool targets across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892" y="2168842"/>
              <a:ext cx="1213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departments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1333500"/>
            <a:ext cx="2857500" cy="1524000"/>
            <a:chOff x="8191500" y="1333500"/>
            <a:chExt cx="2857500" cy="15240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69630" y="1552575"/>
              <a:ext cx="1781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Multi-institution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0392" y="1902142"/>
              <a:ext cx="221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Shared projects across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0392" y="2168842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colleges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4191000"/>
            <a:ext cx="2857500" cy="1524000"/>
            <a:chOff x="1143000" y="4191000"/>
            <a:chExt cx="28575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11430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130" y="4410075"/>
              <a:ext cx="1940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Industry-academia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1892" y="4759642"/>
              <a:ext cx="172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provide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1892" y="5026342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real-world targets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191000"/>
            <a:ext cx="2857500" cy="1524000"/>
            <a:chOff x="8191500" y="4191000"/>
            <a:chExt cx="2857500" cy="1524000"/>
          </a:xfrm>
        </p:grpSpPr>
        <p:sp>
          <p:nvSpPr>
            <p:cNvPr id="27" name="Rectangle 27"/>
            <p:cNvSpPr/>
            <p:nvPr/>
          </p:nvSpPr>
          <p:spPr>
            <a:xfrm>
              <a:off x="81915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69630" y="4410075"/>
              <a:ext cx="1378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International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70392" y="4759642"/>
              <a:ext cx="1985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Worldwide via shared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0392" y="50263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workspace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010709" cy="616077"/>
            <a:chOff x="745998" y="421958"/>
            <a:chExt cx="501070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0107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You Actually Need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2856" y="1282065"/>
            <a:ext cx="10486644" cy="1718310"/>
            <a:chOff x="752856" y="1282065"/>
            <a:chExt cx="10486644" cy="1718310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1282065"/>
              <a:ext cx="1091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You Need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43935" y="2203132"/>
              <a:ext cx="1274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Browser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3815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52322" y="2203132"/>
              <a:ext cx="1296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Internet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01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8040" y="2203132"/>
              <a:ext cx="1984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Academic email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856" y="3663315"/>
            <a:ext cx="10677144" cy="2385060"/>
            <a:chOff x="752856" y="3663315"/>
            <a:chExt cx="10677144" cy="2385060"/>
          </a:xfrm>
        </p:grpSpPr>
        <p:sp>
          <p:nvSpPr>
            <p:cNvPr id="12" name="TextBox 12"/>
            <p:cNvSpPr txBox="1"/>
            <p:nvPr/>
          </p:nvSpPr>
          <p:spPr>
            <a:xfrm>
              <a:off x="752856" y="3663315"/>
              <a:ext cx="18784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You Don't Need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74773" y="4238625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Linux workstation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81250" y="43434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0494" y="4238625"/>
              <a:ext cx="1275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GPU cluster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0" y="4343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8332" y="4953000"/>
              <a:ext cx="1350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Python skills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571750" y="50577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99273" y="4953000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Software licenses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48625" y="50577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547687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69273" y="5667375"/>
              <a:ext cx="1528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IT department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52700" y="577215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7743933" cy="616077"/>
            <a:chOff x="745998" y="421958"/>
            <a:chExt cx="77439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77439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Hands-On: Dock Celecoxib to COX-2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143000"/>
            <a:ext cx="3429000" cy="1619250"/>
            <a:chOff x="762000" y="1143000"/>
            <a:chExt cx="3429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6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892" y="1378268"/>
              <a:ext cx="194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Open biodockify.com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75460"/>
              <a:ext cx="19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Navigate to the docking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00406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143000"/>
            <a:ext cx="3429000" cy="1619250"/>
            <a:chOff x="4381500" y="1143000"/>
            <a:chExt cx="3429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43815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5910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63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1392" y="1378268"/>
              <a:ext cx="1780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protein 1CX2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61154" y="1775460"/>
              <a:ext cx="167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in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61154" y="2004060"/>
              <a:ext cx="1539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protein input field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1143000"/>
            <a:ext cx="3429000" cy="1619250"/>
            <a:chOff x="8001000" y="1143000"/>
            <a:chExt cx="34290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8001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210550" y="130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5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0892" y="1378268"/>
              <a:ext cx="2595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celecoxib (CID: 2662)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0654" y="1775460"/>
              <a:ext cx="1978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PubChem CID for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80654" y="2004060"/>
              <a:ext cx="822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ligand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48000"/>
            <a:ext cx="3429000" cy="1619250"/>
            <a:chOff x="762000" y="3048000"/>
            <a:chExt cx="3429000" cy="1619250"/>
          </a:xfrm>
        </p:grpSpPr>
        <p:sp>
          <p:nvSpPr>
            <p:cNvPr id="25" name="Rectangle 25"/>
            <p:cNvSpPr/>
            <p:nvPr/>
          </p:nvSpPr>
          <p:spPr>
            <a:xfrm>
              <a:off x="762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1550" y="3209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6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1892" y="3283268"/>
              <a:ext cx="2300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Auto-detect binding site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680460"/>
              <a:ext cx="19692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Platform identifies the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654" y="390906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active site automatically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3048000"/>
            <a:ext cx="3429000" cy="1619250"/>
            <a:chOff x="4381500" y="3048000"/>
            <a:chExt cx="34290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43815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5910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163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41392" y="3283268"/>
              <a:ext cx="2349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docking (exhaust. 8)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61154" y="3680460"/>
              <a:ext cx="202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exhaustiveness to 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1154" y="3909060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start the job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3048000"/>
            <a:ext cx="3429000" cy="1619250"/>
            <a:chOff x="8001000" y="3048000"/>
            <a:chExt cx="3429000" cy="1619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105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5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0892" y="3283268"/>
              <a:ext cx="1174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View results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0654" y="3680460"/>
              <a:ext cx="1790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Analyze binding poses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0654" y="3909060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energy scores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143500"/>
            <a:ext cx="10668000" cy="571500"/>
            <a:chOff x="762000" y="5143500"/>
            <a:chExt cx="10668000" cy="571500"/>
          </a:xfrm>
        </p:grpSpPr>
        <p:sp>
          <p:nvSpPr>
            <p:cNvPr id="46" name="Rectangle 46"/>
            <p:cNvSpPr/>
            <p:nvPr/>
          </p:nvSpPr>
          <p:spPr>
            <a:xfrm>
              <a:off x="762000" y="5143500"/>
              <a:ext cx="106680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459742" y="5327332"/>
              <a:ext cx="5272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Expected: Binding energy ~-10 to -12 kcal/mol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85486" cy="616077"/>
            <a:chOff x="745998" y="421958"/>
            <a:chExt cx="60854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85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Frequently Asked Questions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90625"/>
            <a:chOff x="762000" y="1143000"/>
            <a:chExt cx="10668000" cy="119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5380" y="1362075"/>
              <a:ext cx="144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Is it free?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5380" y="1743075"/>
              <a:ext cx="5503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Yes, full access for verified academic institutions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90625"/>
            <a:chOff x="762000" y="2476500"/>
            <a:chExt cx="10668000" cy="1190625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695575"/>
              <a:ext cx="1716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How reliable?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380" y="3076575"/>
              <a:ext cx="5105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Validated against experimental data (R²=0.72)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90625"/>
            <a:chOff x="762000" y="3810000"/>
            <a:chExt cx="10668000" cy="1190625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4029075"/>
              <a:ext cx="3582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Can students damage anything?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5380" y="4410075"/>
              <a:ext cx="3042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No, sandboxed environment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90625"/>
            <a:chOff x="762000" y="5143500"/>
            <a:chExt cx="10668000" cy="1190625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5362575"/>
              <a:ext cx="1780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Data privacy?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5380" y="5743575"/>
              <a:ext cx="4257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Indian servers, no third-party sharing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332333" cy="616077"/>
            <a:chOff x="745998" y="421958"/>
            <a:chExt cx="43323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3323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What's Coming Next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3500" y="2819400"/>
            <a:ext cx="9715500" cy="2038350"/>
            <a:chOff x="1333500" y="2819400"/>
            <a:chExt cx="9715500" cy="2038350"/>
          </a:xfrm>
        </p:grpSpPr>
        <p:sp>
          <p:nvSpPr>
            <p:cNvPr id="4" name="Line 4"/>
            <p:cNvSpPr/>
            <p:nvPr/>
          </p:nvSpPr>
          <p:spPr>
            <a:xfrm>
              <a:off x="1333500" y="3048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33500" y="2819400"/>
              <a:ext cx="2286000" cy="2038350"/>
              <a:chOff x="1333500" y="2819400"/>
              <a:chExt cx="2286000" cy="20383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057400" y="28194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2119926" y="2991802"/>
                <a:ext cx="332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333500" y="3524250"/>
                <a:ext cx="2286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259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v2.0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89532" y="4013835"/>
                <a:ext cx="1773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Multi-target docking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88506" y="4315778"/>
                <a:ext cx="9759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Available now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762500" y="2876550"/>
              <a:ext cx="2667000" cy="1981200"/>
              <a:chOff x="4762500" y="2876550"/>
              <a:chExt cx="2667000" cy="19812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9245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47625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8792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v2.5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956277" y="4013835"/>
                <a:ext cx="22794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AI-guided lead optimization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746090" y="4315778"/>
                <a:ext cx="6998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Q4 2026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0" y="2876550"/>
              <a:ext cx="2667000" cy="1981200"/>
              <a:chOff x="8382000" y="2876550"/>
              <a:chExt cx="2667000" cy="19812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5440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3820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498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v3.0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22080" y="4013835"/>
                <a:ext cx="13868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LMS integration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545879" y="4315778"/>
                <a:ext cx="3392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490603" y="5553075"/>
            <a:ext cx="3210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Your feature requests matter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55142" y="6236018"/>
            <a:ext cx="1313478" cy="264033"/>
            <a:chOff x="755142" y="6236018"/>
            <a:chExt cx="1313478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62360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3911221" cy="616077"/>
            <a:chOff x="745998" y="421958"/>
            <a:chExt cx="39112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39112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Your Next 3 Steps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33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4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6195" y="2456498"/>
              <a:ext cx="960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Sign Up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4777" y="2981325"/>
              <a:ext cx="2163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Visit biodockify.com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4880" y="3286125"/>
              <a:ext cx="2623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Create academic account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3810000"/>
              <a:ext cx="1143000" cy="304800"/>
            </a:xfrm>
            <a:prstGeom prst="roundRect">
              <a:avLst>
                <a:gd name="adj" fmla="val 375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89353" y="3906202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min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000500"/>
            <a:chOff x="4381500" y="1238250"/>
            <a:chExt cx="34290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37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08016" y="2456498"/>
              <a:ext cx="17759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Try the Demo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3852" y="2981325"/>
              <a:ext cx="2364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Repeat COX-2 docking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1540" y="328612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exercise from this session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372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3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2507" y="2456498"/>
              <a:ext cx="21859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Plan Integration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56572" y="2981325"/>
              <a:ext cx="2717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Pick one practical session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45647" y="3286125"/>
              <a:ext cx="2539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a 2-hour activity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37382" y="5838825"/>
            <a:ext cx="5317236" cy="293370"/>
            <a:chOff x="3437382" y="5838825"/>
            <a:chExt cx="5317236" cy="293370"/>
          </a:xfrm>
        </p:grpSpPr>
        <p:sp>
          <p:nvSpPr>
            <p:cNvPr id="27" name="TextBox 27"/>
            <p:cNvSpPr txBox="1"/>
            <p:nvPr/>
          </p:nvSpPr>
          <p:spPr>
            <a:xfrm>
              <a:off x="3437382" y="5838825"/>
              <a:ext cx="531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support@biodockify.com for onboarding assistance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285875" y="857250"/>
            <a:ext cx="10001250" cy="5143500"/>
            <a:chOff x="1285875" y="857250"/>
            <a:chExt cx="10001250" cy="5143500"/>
          </a:xfrm>
        </p:grpSpPr>
        <p:sp>
          <p:nvSpPr>
            <p:cNvPr id="2" name="Ellipse 2"/>
            <p:cNvSpPr/>
            <p:nvPr/>
          </p:nvSpPr>
          <p:spPr>
            <a:xfrm>
              <a:off x="1333500" y="857250"/>
              <a:ext cx="1143000" cy="1143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048000" y="1619250"/>
              <a:ext cx="571500" cy="5715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2190750" y="1619250"/>
              <a:ext cx="1047750" cy="190500"/>
            </a:xfrm>
            <a:custGeom>
              <a:avLst/>
              <a:gdLst/>
              <a:ahLst/>
              <a:cxnLst/>
              <a:rect l="l" t="t" r="r" b="b"/>
              <a:pathLst>
                <a:path w="1047750" h="190500">
                  <a:moveTo>
                    <a:pt x="0" y="0"/>
                  </a:moveTo>
                  <a:lnTo>
                    <a:pt x="1047750" y="190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239250" y="4476750"/>
              <a:ext cx="1524000" cy="15240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20375" y="4238625"/>
              <a:ext cx="666750" cy="666750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0287000" y="466725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38100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34375" y="904875"/>
              <a:ext cx="476250" cy="47625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85875" y="4810125"/>
              <a:ext cx="857250" cy="85725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524000" y="5143500"/>
              <a:ext cx="476250" cy="190500"/>
            </a:xfrm>
            <a:custGeom>
              <a:avLst/>
              <a:gdLst/>
              <a:ahLst/>
              <a:cxnLst/>
              <a:rect l="l" t="t" r="r" b="b"/>
              <a:pathLst>
                <a:path w="476250" h="190500">
                  <a:moveTo>
                    <a:pt x="0" y="0"/>
                  </a:moveTo>
                  <a:lnTo>
                    <a:pt x="476250" y="19050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287000" y="1714500"/>
              <a:ext cx="381000" cy="381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8667750" y="1238250"/>
              <a:ext cx="1714500" cy="619125"/>
            </a:xfrm>
            <a:custGeom>
              <a:avLst/>
              <a:gdLst/>
              <a:ahLst/>
              <a:cxnLst/>
              <a:rect l="l" t="t" r="r" b="b"/>
              <a:pathLst>
                <a:path w="1714500" h="619125">
                  <a:moveTo>
                    <a:pt x="0" y="0"/>
                  </a:moveTo>
                  <a:lnTo>
                    <a:pt x="1714500" y="619125"/>
                  </a:lnTo>
                </a:path>
              </a:pathLst>
            </a:custGeom>
            <a:noFill/>
            <a:ln w="9525">
              <a:solidFill>
                <a:schemeClr val="accent2">
                  <a:alpha val="5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183363" y="2407920"/>
            <a:ext cx="5825275" cy="898017"/>
            <a:chOff x="3183363" y="2407920"/>
            <a:chExt cx="5825275" cy="898017"/>
          </a:xfrm>
        </p:grpSpPr>
        <p:sp>
          <p:nvSpPr>
            <p:cNvPr id="14" name="TextBox 14"/>
            <p:cNvSpPr txBox="1"/>
            <p:nvPr/>
          </p:nvSpPr>
          <p:spPr>
            <a:xfrm>
              <a:off x="3183363" y="2407920"/>
              <a:ext cx="58252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Transforming Pharmacy Education,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79753" y="2836545"/>
              <a:ext cx="4232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Experiment at a Time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05360" y="3710940"/>
            <a:ext cx="2381280" cy="352044"/>
            <a:chOff x="4905360" y="3710940"/>
            <a:chExt cx="2381280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4905360" y="3710940"/>
              <a:ext cx="2381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Mr. Tajuddin Shaik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944112" y="4314825"/>
            <a:ext cx="4303776" cy="293370"/>
            <a:chOff x="3944112" y="4314825"/>
            <a:chExt cx="4303776" cy="293370"/>
          </a:xfrm>
        </p:grpSpPr>
        <p:sp>
          <p:nvSpPr>
            <p:cNvPr id="19" name="TextBox 19"/>
            <p:cNvSpPr txBox="1"/>
            <p:nvPr/>
          </p:nvSpPr>
          <p:spPr>
            <a:xfrm>
              <a:off x="3944112" y="4314825"/>
              <a:ext cx="4303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biodockify.com | support@biodockify.com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82829" y="5107305"/>
            <a:ext cx="1426342" cy="410718"/>
            <a:chOff x="5382829" y="5107305"/>
            <a:chExt cx="1426342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5382829" y="5107305"/>
              <a:ext cx="1426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Thank you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iodockify_fdp_2026">
  <a:themeElements>
    <a:clrScheme name="biodockify_fdp_2026">
      <a:dk1>
        <a:srgbClr val="FFFFFF"/>
      </a:dk1>
      <a:lt1>
        <a:srgbClr val="10122B"/>
      </a:lt1>
      <a:dk2>
        <a:srgbClr val="1F497D"/>
      </a:dk2>
      <a:lt2>
        <a:srgbClr val="1A1D3A"/>
      </a:lt2>
      <a:accent1>
        <a:srgbClr val="EE5586"/>
      </a:accent1>
      <a:accent2>
        <a:srgbClr val="C034EB"/>
      </a:accent2>
      <a:accent3>
        <a:srgbClr val="B0BCD5"/>
      </a:accent3>
      <a:accent4>
        <a:srgbClr val="EE5586"/>
      </a:accent4>
      <a:accent5>
        <a:srgbClr val="4BACC6"/>
      </a:accent5>
      <a:accent6>
        <a:srgbClr val="F79646"/>
      </a:accent6>
      <a:hlink>
        <a:srgbClr val="C034EB"/>
      </a:hlink>
      <a:folHlink>
        <a:srgbClr val="B0BCD5"/>
      </a:folHlink>
    </a:clrScheme>
    <a:fontScheme name="biodockify_fdp_2026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erif Pro"/>
        <a:ea typeface="Microsoft YaHei"/>
        <a:cs typeface="Source Serif Pro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odockify_fdp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2026-08-18T15:04:17Z</dcterms:created>
  <dcterms:modified xsi:type="dcterms:W3CDTF">2026-08-18T15:04:17Z</dcterms:modified>
  <cp:category/>
  <cp:contentStatus/>
</cp:coreProperties>
</file>